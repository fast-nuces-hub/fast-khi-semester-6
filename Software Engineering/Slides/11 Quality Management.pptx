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6"/>
  </p:notesMasterIdLst>
  <p:handoutMasterIdLst>
    <p:handoutMasterId r:id="rId37"/>
  </p:handoutMasterIdLst>
  <p:sldIdLst>
    <p:sldId id="256" r:id="rId2"/>
    <p:sldId id="385" r:id="rId3"/>
    <p:sldId id="263" r:id="rId4"/>
    <p:sldId id="322" r:id="rId5"/>
    <p:sldId id="386" r:id="rId6"/>
    <p:sldId id="387" r:id="rId7"/>
    <p:sldId id="352" r:id="rId8"/>
    <p:sldId id="394" r:id="rId9"/>
    <p:sldId id="395" r:id="rId10"/>
    <p:sldId id="324" r:id="rId11"/>
    <p:sldId id="280" r:id="rId12"/>
    <p:sldId id="397" r:id="rId13"/>
    <p:sldId id="398" r:id="rId14"/>
    <p:sldId id="399" r:id="rId15"/>
    <p:sldId id="400" r:id="rId16"/>
    <p:sldId id="325" r:id="rId17"/>
    <p:sldId id="283" r:id="rId18"/>
    <p:sldId id="405" r:id="rId19"/>
    <p:sldId id="406" r:id="rId20"/>
    <p:sldId id="407" r:id="rId21"/>
    <p:sldId id="408" r:id="rId22"/>
    <p:sldId id="409" r:id="rId23"/>
    <p:sldId id="410" r:id="rId24"/>
    <p:sldId id="411" r:id="rId25"/>
    <p:sldId id="412" r:id="rId26"/>
    <p:sldId id="413" r:id="rId27"/>
    <p:sldId id="414" r:id="rId28"/>
    <p:sldId id="415" r:id="rId29"/>
    <p:sldId id="315" r:id="rId30"/>
    <p:sldId id="384" r:id="rId31"/>
    <p:sldId id="331" r:id="rId32"/>
    <p:sldId id="332" r:id="rId33"/>
    <p:sldId id="358" r:id="rId34"/>
    <p:sldId id="333" r:id="rId35"/>
  </p:sldIdLst>
  <p:sldSz cx="9144000" cy="6858000" type="screen4x3"/>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frame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00FF"/>
    <a:srgbClr val="00FFFF"/>
    <a:srgbClr val="0000FF"/>
    <a:srgbClr val="00FF00"/>
    <a:srgbClr val="FF0000"/>
    <a:srgbClr val="FFFFFF"/>
    <a:srgbClr val="6C7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78" autoAdjust="0"/>
    <p:restoredTop sz="90929"/>
  </p:normalViewPr>
  <p:slideViewPr>
    <p:cSldViewPr>
      <p:cViewPr varScale="1">
        <p:scale>
          <a:sx n="98" d="100"/>
          <a:sy n="98" d="100"/>
        </p:scale>
        <p:origin x="15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4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8125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GB"/>
              <a:t>Click to edit Master notes styles</a:t>
            </a:r>
          </a:p>
          <a:p>
            <a:pPr lvl="1"/>
            <a:r>
              <a:rPr lang="en-GB"/>
              <a:t>Second Level</a:t>
            </a:r>
          </a:p>
          <a:p>
            <a:pPr lvl="2"/>
            <a:r>
              <a:rPr lang="en-GB"/>
              <a:t>Third Level</a:t>
            </a:r>
          </a:p>
          <a:p>
            <a:pPr lvl="3"/>
            <a:r>
              <a:rPr lang="en-GB"/>
              <a:t>Fourth Level</a:t>
            </a:r>
          </a:p>
          <a:p>
            <a:pPr lvl="4"/>
            <a:r>
              <a:rPr lang="en-GB"/>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300180096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en-US"/>
          </a:p>
        </p:txBody>
      </p:sp>
      <p:sp>
        <p:nvSpPr>
          <p:cNvPr id="5123"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44358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ln/>
        </p:spPr>
        <p:txBody>
          <a:bodyPr/>
          <a:lstStyle/>
          <a:p>
            <a:endParaRPr lang="en-US"/>
          </a:p>
        </p:txBody>
      </p:sp>
      <p:sp>
        <p:nvSpPr>
          <p:cNvPr id="11267" name="Rectangle 3"/>
          <p:cNvSpPr>
            <a:spLocks noGrp="1" noRot="1" noChangeAspect="1" noChangeArrowheads="1" noTextEdit="1"/>
          </p:cNvSpPr>
          <p:nvPr>
            <p:ph type="sldImg"/>
          </p:nvPr>
        </p:nvSpPr>
        <p:spPr>
          <a:xfrm>
            <a:off x="1570038" y="833438"/>
            <a:ext cx="3692525" cy="2768600"/>
          </a:xfrm>
          <a:ln cap="flat"/>
        </p:spPr>
      </p:sp>
    </p:spTree>
    <p:extLst>
      <p:ext uri="{BB962C8B-B14F-4D97-AF65-F5344CB8AC3E}">
        <p14:creationId xmlns:p14="http://schemas.microsoft.com/office/powerpoint/2010/main" val="911850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ln/>
        </p:spPr>
        <p:txBody>
          <a:bodyPr/>
          <a:lstStyle/>
          <a:p>
            <a:endParaRPr lang="en-US"/>
          </a:p>
        </p:txBody>
      </p:sp>
      <p:sp>
        <p:nvSpPr>
          <p:cNvPr id="2355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768845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ln/>
        </p:spPr>
        <p:txBody>
          <a:bodyPr/>
          <a:lstStyle/>
          <a:p>
            <a:endParaRPr lang="en-US"/>
          </a:p>
        </p:txBody>
      </p:sp>
      <p:sp>
        <p:nvSpPr>
          <p:cNvPr id="39939" name="Rectangle 3"/>
          <p:cNvSpPr>
            <a:spLocks noGrp="1" noRot="1" noChangeAspect="1" noChangeArrowheads="1" noTextEdit="1"/>
          </p:cNvSpPr>
          <p:nvPr>
            <p:ph type="sldImg"/>
          </p:nvPr>
        </p:nvSpPr>
        <p:spPr>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ln/>
        </p:spPr>
        <p:txBody>
          <a:bodyPr/>
          <a:lstStyle/>
          <a:p>
            <a:endParaRPr lang="en-US"/>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583645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a:ln/>
        </p:spPr>
        <p:txBody>
          <a:bodyPr/>
          <a:lstStyle/>
          <a:p>
            <a:endParaRPr lang="en-US"/>
          </a:p>
        </p:txBody>
      </p:sp>
      <p:sp>
        <p:nvSpPr>
          <p:cNvPr id="696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682497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781E3146-30AF-46A3-A043-A07638493B86}" type="datetime1">
              <a:rPr lang="en-US" smtClean="0"/>
              <a:t>4/20/2026</a:t>
            </a:fld>
            <a:endParaRPr lang="en-US"/>
          </a:p>
        </p:txBody>
      </p:sp>
      <p:sp>
        <p:nvSpPr>
          <p:cNvPr id="5" name="Footer Placeholder 4"/>
          <p:cNvSpPr>
            <a:spLocks noGrp="1"/>
          </p:cNvSpPr>
          <p:nvPr>
            <p:ph type="ftr" sz="quarter" idx="11"/>
          </p:nvPr>
        </p:nvSpPr>
        <p:spPr/>
        <p:txBody>
          <a:bodyPr/>
          <a:lstStyle>
            <a:lvl1pPr>
              <a:defRPr/>
            </a:lvl1pPr>
          </a:lstStyle>
          <a:p>
            <a:r>
              <a:rPr lang="en-US"/>
              <a:t>Chapter 24 Quality management</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720F76E1-8804-4257-A0CB-41F00069AFF7}" type="datetime1">
              <a:rPr lang="en-US" smtClean="0"/>
              <a:t>4/20/2026</a:t>
            </a:fld>
            <a:endParaRPr lang="en-US"/>
          </a:p>
        </p:txBody>
      </p:sp>
      <p:sp>
        <p:nvSpPr>
          <p:cNvPr id="5" name="Footer Placeholder 4"/>
          <p:cNvSpPr>
            <a:spLocks noGrp="1"/>
          </p:cNvSpPr>
          <p:nvPr>
            <p:ph type="ftr" sz="quarter" idx="11"/>
          </p:nvPr>
        </p:nvSpPr>
        <p:spPr/>
        <p:txBody>
          <a:bodyPr/>
          <a:lstStyle>
            <a:lvl1pPr>
              <a:defRPr/>
            </a:lvl1pPr>
          </a:lstStyle>
          <a:p>
            <a:r>
              <a:rPr lang="en-US"/>
              <a:t>Chapter 24 Quality management</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83E7F1EC-D381-4D9B-8DFD-55C8163BD101}" type="datetime1">
              <a:rPr lang="en-US" smtClean="0"/>
              <a:t>4/20/2026</a:t>
            </a:fld>
            <a:endParaRPr lang="en-US"/>
          </a:p>
        </p:txBody>
      </p:sp>
      <p:sp>
        <p:nvSpPr>
          <p:cNvPr id="5" name="Footer Placeholder 4"/>
          <p:cNvSpPr>
            <a:spLocks noGrp="1"/>
          </p:cNvSpPr>
          <p:nvPr>
            <p:ph type="ftr" sz="quarter" idx="11"/>
          </p:nvPr>
        </p:nvSpPr>
        <p:spPr/>
        <p:txBody>
          <a:bodyPr/>
          <a:lstStyle>
            <a:lvl1pPr>
              <a:defRPr/>
            </a:lvl1pPr>
          </a:lstStyle>
          <a:p>
            <a:r>
              <a:rPr lang="en-US"/>
              <a:t>Chapter 24 Quality management</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153D28B1-6145-4649-9CA5-03F67A5FC835}" type="datetime1">
              <a:rPr lang="en-US" smtClean="0"/>
              <a:t>4/20/2026</a:t>
            </a:fld>
            <a:endParaRPr lang="en-US"/>
          </a:p>
        </p:txBody>
      </p:sp>
      <p:sp>
        <p:nvSpPr>
          <p:cNvPr id="6" name="Footer Placeholder 4"/>
          <p:cNvSpPr>
            <a:spLocks noGrp="1"/>
          </p:cNvSpPr>
          <p:nvPr>
            <p:ph type="ftr" sz="quarter" idx="11"/>
          </p:nvPr>
        </p:nvSpPr>
        <p:spPr/>
        <p:txBody>
          <a:bodyPr/>
          <a:lstStyle>
            <a:lvl1pPr>
              <a:defRPr/>
            </a:lvl1pPr>
          </a:lstStyle>
          <a:p>
            <a:r>
              <a:rPr lang="en-US"/>
              <a:t>Chapter 24 Quality management</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C77D5D27-CC73-4AA5-BD06-73E83145D4B5}" type="datetime1">
              <a:rPr lang="en-US" smtClean="0"/>
              <a:t>4/20/2026</a:t>
            </a:fld>
            <a:endParaRPr lang="en-US"/>
          </a:p>
        </p:txBody>
      </p:sp>
      <p:sp>
        <p:nvSpPr>
          <p:cNvPr id="8" name="Footer Placeholder 4"/>
          <p:cNvSpPr>
            <a:spLocks noGrp="1"/>
          </p:cNvSpPr>
          <p:nvPr>
            <p:ph type="ftr" sz="quarter" idx="11"/>
          </p:nvPr>
        </p:nvSpPr>
        <p:spPr/>
        <p:txBody>
          <a:bodyPr/>
          <a:lstStyle>
            <a:lvl1pPr>
              <a:defRPr/>
            </a:lvl1pPr>
          </a:lstStyle>
          <a:p>
            <a:r>
              <a:rPr lang="en-US"/>
              <a:t>Chapter 24 Quality management</a:t>
            </a:r>
          </a:p>
        </p:txBody>
      </p:sp>
      <p:sp>
        <p:nvSpPr>
          <p:cNvPr id="9"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CC8BC092-C07F-4F61-B1B0-1C52ACA424CB}" type="datetime1">
              <a:rPr lang="en-US" smtClean="0"/>
              <a:t>4/20/2026</a:t>
            </a:fld>
            <a:endParaRPr lang="en-US"/>
          </a:p>
        </p:txBody>
      </p:sp>
      <p:sp>
        <p:nvSpPr>
          <p:cNvPr id="4" name="Footer Placeholder 4"/>
          <p:cNvSpPr>
            <a:spLocks noGrp="1"/>
          </p:cNvSpPr>
          <p:nvPr>
            <p:ph type="ftr" sz="quarter" idx="11"/>
          </p:nvPr>
        </p:nvSpPr>
        <p:spPr/>
        <p:txBody>
          <a:bodyPr/>
          <a:lstStyle>
            <a:lvl1pPr>
              <a:defRPr/>
            </a:lvl1pPr>
          </a:lstStyle>
          <a:p>
            <a:r>
              <a:rPr lang="en-US"/>
              <a:t>Chapter 24 Quality management</a:t>
            </a:r>
          </a:p>
        </p:txBody>
      </p:sp>
      <p:sp>
        <p:nvSpPr>
          <p:cNvPr id="5"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8AEFF4A5-FCFE-42CB-A60E-ED07F6363C1B}" type="datetime1">
              <a:rPr lang="en-US" smtClean="0"/>
              <a:t>4/20/2026</a:t>
            </a:fld>
            <a:endParaRPr lang="en-US"/>
          </a:p>
        </p:txBody>
      </p:sp>
      <p:sp>
        <p:nvSpPr>
          <p:cNvPr id="3" name="Footer Placeholder 4"/>
          <p:cNvSpPr>
            <a:spLocks noGrp="1"/>
          </p:cNvSpPr>
          <p:nvPr>
            <p:ph type="ftr" sz="quarter" idx="11"/>
          </p:nvPr>
        </p:nvSpPr>
        <p:spPr/>
        <p:txBody>
          <a:bodyPr/>
          <a:lstStyle>
            <a:lvl1pPr>
              <a:defRPr/>
            </a:lvl1pPr>
          </a:lstStyle>
          <a:p>
            <a:r>
              <a:rPr lang="en-US"/>
              <a:t>Chapter 24 Quality management</a:t>
            </a:r>
          </a:p>
        </p:txBody>
      </p:sp>
      <p:sp>
        <p:nvSpPr>
          <p:cNvPr id="4"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3BB5580B-4954-409B-BA9C-280CDF574605}" type="datetime1">
              <a:rPr lang="en-US" smtClean="0"/>
              <a:t>4/20/2026</a:t>
            </a:fld>
            <a:endParaRPr lang="en-US"/>
          </a:p>
        </p:txBody>
      </p:sp>
      <p:sp>
        <p:nvSpPr>
          <p:cNvPr id="6" name="Footer Placeholder 4"/>
          <p:cNvSpPr>
            <a:spLocks noGrp="1"/>
          </p:cNvSpPr>
          <p:nvPr>
            <p:ph type="ftr" sz="quarter" idx="11"/>
          </p:nvPr>
        </p:nvSpPr>
        <p:spPr/>
        <p:txBody>
          <a:bodyPr/>
          <a:lstStyle>
            <a:lvl1pPr>
              <a:defRPr/>
            </a:lvl1pPr>
          </a:lstStyle>
          <a:p>
            <a:r>
              <a:rPr lang="en-US"/>
              <a:t>Chapter 24 Quality management</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3C471DB6-C0C1-418D-A1EB-204EFF81D1B7}" type="datetime1">
              <a:rPr lang="en-US" smtClean="0"/>
              <a:t>4/20/2026</a:t>
            </a:fld>
            <a:endParaRPr lang="en-US"/>
          </a:p>
        </p:txBody>
      </p:sp>
      <p:sp>
        <p:nvSpPr>
          <p:cNvPr id="6" name="Footer Placeholder 4"/>
          <p:cNvSpPr>
            <a:spLocks noGrp="1"/>
          </p:cNvSpPr>
          <p:nvPr>
            <p:ph type="ftr" sz="quarter" idx="11"/>
          </p:nvPr>
        </p:nvSpPr>
        <p:spPr/>
        <p:txBody>
          <a:bodyPr/>
          <a:lstStyle>
            <a:lvl1pPr>
              <a:defRPr/>
            </a:lvl1pPr>
          </a:lstStyle>
          <a:p>
            <a:r>
              <a:rPr lang="en-US"/>
              <a:t>Chapter 24 Quality management</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EFF88ED3-A8B7-4717-9642-07FB52DBD375}" type="datetime1">
              <a:rPr lang="en-US" smtClean="0"/>
              <a:t>4/20/2026</a:t>
            </a:fld>
            <a:endParaRPr lang="en-US"/>
          </a:p>
        </p:txBody>
      </p:sp>
      <p:sp>
        <p:nvSpPr>
          <p:cNvPr id="5" name="Footer Placeholder 4"/>
          <p:cNvSpPr>
            <a:spLocks noGrp="1"/>
          </p:cNvSpPr>
          <p:nvPr>
            <p:ph type="ftr" sz="quarter" idx="11"/>
          </p:nvPr>
        </p:nvSpPr>
        <p:spPr/>
        <p:txBody>
          <a:bodyPr/>
          <a:lstStyle>
            <a:lvl1pPr>
              <a:defRPr/>
            </a:lvl1pPr>
          </a:lstStyle>
          <a:p>
            <a:r>
              <a:rPr lang="en-US"/>
              <a:t>Chapter 24 Quality management</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CC1E7FC0-7DFB-493D-8A83-B434C574885A}" type="datetime1">
              <a:rPr lang="en-US" smtClean="0"/>
              <a:t>4/20/2026</a:t>
            </a:fld>
            <a:endParaRPr lang="en-US"/>
          </a:p>
        </p:txBody>
      </p:sp>
      <p:sp>
        <p:nvSpPr>
          <p:cNvPr id="5" name="Footer Placeholder 4"/>
          <p:cNvSpPr>
            <a:spLocks noGrp="1"/>
          </p:cNvSpPr>
          <p:nvPr>
            <p:ph type="ftr" sz="quarter" idx="11"/>
          </p:nvPr>
        </p:nvSpPr>
        <p:spPr/>
        <p:txBody>
          <a:bodyPr/>
          <a:lstStyle>
            <a:lvl1pPr>
              <a:defRPr/>
            </a:lvl1pPr>
          </a:lstStyle>
          <a:p>
            <a:r>
              <a:rPr lang="en-US"/>
              <a:t>Chapter 24 Quality management</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6BDEDC24-5026-4C87-B64F-75D7C115D04D}" type="datetime1">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24 Quality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745CE82A-87C3-2841-AAF3-37DF1E34DC62}"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483768" y="2996952"/>
            <a:ext cx="3888432" cy="1470025"/>
          </a:xfrm>
        </p:spPr>
        <p:txBody>
          <a:bodyPr/>
          <a:lstStyle/>
          <a:p>
            <a:r>
              <a:rPr lang="en-GB" dirty="0"/>
              <a:t>Quality Management</a:t>
            </a:r>
          </a:p>
        </p:txBody>
      </p:sp>
      <p:sp>
        <p:nvSpPr>
          <p:cNvPr id="8" name="Footer Placeholder 7"/>
          <p:cNvSpPr>
            <a:spLocks noGrp="1"/>
          </p:cNvSpPr>
          <p:nvPr>
            <p:ph type="ftr" sz="quarter" idx="11"/>
          </p:nvPr>
        </p:nvSpPr>
        <p:spPr/>
        <p:txBody>
          <a:bodyPr/>
          <a:lstStyle/>
          <a:p>
            <a:r>
              <a:rPr lang="en-US"/>
              <a:t>Chapter 24 Quality management</a:t>
            </a:r>
          </a:p>
        </p:txBody>
      </p:sp>
      <p:sp>
        <p:nvSpPr>
          <p:cNvPr id="7" name="Slide Number Placeholder 6"/>
          <p:cNvSpPr>
            <a:spLocks noGrp="1"/>
          </p:cNvSpPr>
          <p:nvPr>
            <p:ph type="sldNum" sz="quarter" idx="12"/>
          </p:nvPr>
        </p:nvSpPr>
        <p:spPr/>
        <p:txBody>
          <a:bodyPr/>
          <a:lstStyle/>
          <a:p>
            <a:fld id="{745CE82A-87C3-2841-AAF3-37DF1E34DC62}" type="slidenum">
              <a:rPr lang="en-US" smtClean="0"/>
              <a:pPr/>
              <a:t>1</a:t>
            </a:fld>
            <a:endParaRPr lang="en-US"/>
          </a:p>
        </p:txBody>
      </p:sp>
      <p:sp>
        <p:nvSpPr>
          <p:cNvPr id="3" name="Date Placeholder 2"/>
          <p:cNvSpPr>
            <a:spLocks noGrp="1"/>
          </p:cNvSpPr>
          <p:nvPr>
            <p:ph type="dt" sz="half" idx="10"/>
          </p:nvPr>
        </p:nvSpPr>
        <p:spPr/>
        <p:txBody>
          <a:bodyPr/>
          <a:lstStyle/>
          <a:p>
            <a:fld id="{D1865934-B15C-4235-BBB6-3DCB3B6BAA98}" type="datetime1">
              <a:rPr lang="en-US" smtClean="0"/>
              <a:t>4/20/2026</a:t>
            </a:fld>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t>Parts of Quality management</a:t>
            </a:r>
          </a:p>
        </p:txBody>
      </p:sp>
      <p:sp>
        <p:nvSpPr>
          <p:cNvPr id="15363" name="Rectangle 3"/>
          <p:cNvSpPr>
            <a:spLocks noGrp="1" noChangeArrowheads="1"/>
          </p:cNvSpPr>
          <p:nvPr>
            <p:ph idx="1"/>
          </p:nvPr>
        </p:nvSpPr>
        <p:spPr>
          <a:xfrm>
            <a:off x="31626" y="1340768"/>
            <a:ext cx="8357348" cy="6189041"/>
          </a:xfrm>
        </p:spPr>
        <p:txBody>
          <a:bodyPr/>
          <a:lstStyle/>
          <a:p>
            <a:pPr algn="just"/>
            <a:r>
              <a:rPr lang="en-US" b="1" dirty="0"/>
              <a:t>Quality Planning:</a:t>
            </a:r>
          </a:p>
          <a:p>
            <a:pPr lvl="1" algn="just"/>
            <a:r>
              <a:rPr lang="en-US" i="1" u="sng" dirty="0"/>
              <a:t>What could be improved </a:t>
            </a:r>
            <a:r>
              <a:rPr lang="en-US" i="1" dirty="0"/>
              <a:t>to enhance overall software quality</a:t>
            </a:r>
          </a:p>
          <a:p>
            <a:pPr algn="just"/>
            <a:r>
              <a:rPr lang="en-US" b="1" dirty="0"/>
              <a:t>Quality Assurance :</a:t>
            </a:r>
          </a:p>
          <a:p>
            <a:pPr lvl="1" algn="just"/>
            <a:r>
              <a:rPr lang="en-US" i="1" u="sng" dirty="0"/>
              <a:t>Using quality process &amp; standard procedures </a:t>
            </a:r>
            <a:r>
              <a:rPr lang="en-US" i="1" dirty="0"/>
              <a:t>to develop a quality product.</a:t>
            </a:r>
          </a:p>
          <a:p>
            <a:pPr lvl="1" algn="just"/>
            <a:r>
              <a:rPr lang="en-US" i="1" u="sng" dirty="0"/>
              <a:t>Involves verification &amp; validation </a:t>
            </a:r>
            <a:r>
              <a:rPr lang="en-US" u="sng" dirty="0"/>
              <a:t>of the product </a:t>
            </a:r>
            <a:r>
              <a:rPr lang="en-US" dirty="0"/>
              <a:t>delivered by the development team.</a:t>
            </a:r>
          </a:p>
          <a:p>
            <a:pPr algn="just"/>
            <a:r>
              <a:rPr lang="en-US" b="1" dirty="0"/>
              <a:t>Quality Control:</a:t>
            </a:r>
          </a:p>
          <a:p>
            <a:pPr lvl="1" algn="just"/>
            <a:r>
              <a:rPr lang="en-US" i="1" u="sng" dirty="0"/>
              <a:t>testing the products and identifying defects </a:t>
            </a:r>
            <a:r>
              <a:rPr lang="en-US" i="1" dirty="0"/>
              <a:t>to improve product quality.</a:t>
            </a:r>
            <a:endParaRPr lang="en-US" dirty="0"/>
          </a:p>
          <a:p>
            <a:pPr algn="just"/>
            <a:r>
              <a:rPr lang="en-US" b="1" dirty="0"/>
              <a:t>Quality improvement:</a:t>
            </a:r>
          </a:p>
          <a:p>
            <a:pPr lvl="1" algn="just"/>
            <a:r>
              <a:rPr lang="en-US" i="1" u="sng" dirty="0"/>
              <a:t>improving the product quality with the emerging requirements.</a:t>
            </a:r>
          </a:p>
          <a:p>
            <a:pPr lvl="1" algn="just"/>
            <a:endParaRPr lang="en-US" dirty="0"/>
          </a:p>
          <a:p>
            <a:pPr marL="0" indent="0" algn="just">
              <a:buNone/>
            </a:pPr>
            <a:endParaRPr lang="en-GB" dirty="0"/>
          </a:p>
        </p:txBody>
      </p:sp>
      <p:sp>
        <p:nvSpPr>
          <p:cNvPr id="7" name="Footer Placeholder 6"/>
          <p:cNvSpPr>
            <a:spLocks noGrp="1"/>
          </p:cNvSpPr>
          <p:nvPr>
            <p:ph type="ftr" sz="quarter" idx="11"/>
          </p:nvPr>
        </p:nvSpPr>
        <p:spPr/>
        <p:txBody>
          <a:bodyPr/>
          <a:lstStyle/>
          <a:p>
            <a:pPr eaLnBrk="0" hangingPunct="0"/>
            <a:r>
              <a:rPr lang="en-US" dirty="0">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43A87CEC-F31C-4186-A9CE-6A448C8333C1}"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t>Quality management activities-</a:t>
            </a:r>
          </a:p>
        </p:txBody>
      </p:sp>
      <p:sp>
        <p:nvSpPr>
          <p:cNvPr id="15363" name="Rectangle 3"/>
          <p:cNvSpPr>
            <a:spLocks noGrp="1" noChangeArrowheads="1"/>
          </p:cNvSpPr>
          <p:nvPr>
            <p:ph idx="1"/>
          </p:nvPr>
        </p:nvSpPr>
        <p:spPr/>
        <p:txBody>
          <a:bodyPr/>
          <a:lstStyle/>
          <a:p>
            <a:pPr algn="just"/>
            <a:r>
              <a:rPr lang="en-GB" dirty="0"/>
              <a:t>Ensure that </a:t>
            </a:r>
            <a:r>
              <a:rPr lang="en-GB" u="sng" dirty="0"/>
              <a:t>the required level of quality is achieved in a software product.</a:t>
            </a:r>
          </a:p>
          <a:p>
            <a:pPr algn="just"/>
            <a:r>
              <a:rPr lang="en-US" dirty="0"/>
              <a:t>Continuously </a:t>
            </a:r>
            <a:r>
              <a:rPr lang="en-US" u="sng" dirty="0"/>
              <a:t>checking the software development process. </a:t>
            </a:r>
            <a:endParaRPr lang="en-GB" u="sng" dirty="0"/>
          </a:p>
          <a:p>
            <a:pPr algn="just"/>
            <a:r>
              <a:rPr lang="en-US" dirty="0"/>
              <a:t>checks the </a:t>
            </a:r>
            <a:r>
              <a:rPr lang="en-US" u="sng" dirty="0"/>
              <a:t>project deliverables are inline with organizational standards and goals </a:t>
            </a:r>
          </a:p>
          <a:p>
            <a:pPr algn="just"/>
            <a:r>
              <a:rPr lang="en-US" b="1" dirty="0"/>
              <a:t>QM team should be independent from the development team. </a:t>
            </a:r>
          </a:p>
          <a:p>
            <a:pPr lvl="1" algn="just"/>
            <a:r>
              <a:rPr lang="en-US" b="1" dirty="0"/>
              <a:t>Reason: </a:t>
            </a:r>
            <a:r>
              <a:rPr lang="en-US" dirty="0"/>
              <a:t>report on software quality without being influenced by software development issues.</a:t>
            </a:r>
            <a:r>
              <a:rPr lang="en-GB" dirty="0"/>
              <a:t> </a:t>
            </a:r>
          </a:p>
        </p:txBody>
      </p:sp>
      <p:sp>
        <p:nvSpPr>
          <p:cNvPr id="7" name="Footer Placeholder 6"/>
          <p:cNvSpPr>
            <a:spLocks noGrp="1"/>
          </p:cNvSpPr>
          <p:nvPr>
            <p:ph type="ftr" sz="quarter" idx="11"/>
          </p:nvPr>
        </p:nvSpPr>
        <p:spPr/>
        <p:txBody>
          <a:bodyPr/>
          <a:lstStyle/>
          <a:p>
            <a:r>
              <a:rPr lang="en-US"/>
              <a:t>Chapter 24 Quality management</a:t>
            </a:r>
          </a:p>
        </p:txBody>
      </p:sp>
      <p:sp>
        <p:nvSpPr>
          <p:cNvPr id="6" name="Slide Number Placeholder 5"/>
          <p:cNvSpPr>
            <a:spLocks noGrp="1"/>
          </p:cNvSpPr>
          <p:nvPr>
            <p:ph type="sldNum" sz="quarter" idx="12"/>
          </p:nvPr>
        </p:nvSpPr>
        <p:spPr/>
        <p:txBody>
          <a:bodyPr/>
          <a:lstStyle/>
          <a:p>
            <a:fld id="{745CE82A-87C3-2841-AAF3-37DF1E34DC62}" type="slidenum">
              <a:rPr lang="en-US" smtClean="0"/>
              <a:pPr/>
              <a:t>3</a:t>
            </a:fld>
            <a:endParaRPr lang="en-US"/>
          </a:p>
        </p:txBody>
      </p:sp>
      <p:sp>
        <p:nvSpPr>
          <p:cNvPr id="2" name="Date Placeholder 1"/>
          <p:cNvSpPr>
            <a:spLocks noGrp="1"/>
          </p:cNvSpPr>
          <p:nvPr>
            <p:ph type="dt" sz="half" idx="10"/>
          </p:nvPr>
        </p:nvSpPr>
        <p:spPr/>
        <p:txBody>
          <a:bodyPr/>
          <a:lstStyle/>
          <a:p>
            <a:fld id="{2E4F856D-282A-454F-A3DF-66406D617313}" type="datetime1">
              <a:rPr lang="en-US" smtClean="0"/>
              <a:t>4/20/2026</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management and software development</a:t>
            </a:r>
            <a:r>
              <a:rPr lang="en-GB" dirty="0"/>
              <a:t> </a:t>
            </a:r>
            <a:endParaRPr lang="en-US" dirty="0"/>
          </a:p>
        </p:txBody>
      </p:sp>
      <p:pic>
        <p:nvPicPr>
          <p:cNvPr id="4" name="Content Placeholder 3" descr="24.1 QMandDevelopment.eps"/>
          <p:cNvPicPr>
            <a:picLocks noGrp="1" noChangeAspect="1"/>
          </p:cNvPicPr>
          <p:nvPr>
            <p:ph idx="1"/>
          </p:nvPr>
        </p:nvPicPr>
        <p:blipFill>
          <a:blip r:embed="rId2"/>
          <a:srcRect t="-29272" b="-29272"/>
          <a:stretch>
            <a:fillRect/>
          </a:stretch>
        </p:blipFill>
        <p:spPr>
          <a:xfrm>
            <a:off x="777548" y="1600200"/>
            <a:ext cx="7345375" cy="4039673"/>
          </a:xfrm>
        </p:spPr>
      </p:pic>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4</a:t>
            </a:fld>
            <a:endParaRPr lang="en-US"/>
          </a:p>
        </p:txBody>
      </p:sp>
      <p:sp>
        <p:nvSpPr>
          <p:cNvPr id="3" name="Date Placeholder 2"/>
          <p:cNvSpPr>
            <a:spLocks noGrp="1"/>
          </p:cNvSpPr>
          <p:nvPr>
            <p:ph type="dt" sz="half" idx="10"/>
          </p:nvPr>
        </p:nvSpPr>
        <p:spPr/>
        <p:txBody>
          <a:bodyPr/>
          <a:lstStyle/>
          <a:p>
            <a:fld id="{77CDF279-E19F-4256-A5B7-3A417E7E6D41}" type="datetime1">
              <a:rPr lang="en-US" smtClean="0"/>
              <a:t>4/20/2026</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a:t>Quality planning</a:t>
            </a:r>
          </a:p>
        </p:txBody>
      </p:sp>
      <p:sp>
        <p:nvSpPr>
          <p:cNvPr id="21507" name="Rectangle 3"/>
          <p:cNvSpPr>
            <a:spLocks noGrp="1" noChangeArrowheads="1"/>
          </p:cNvSpPr>
          <p:nvPr>
            <p:ph idx="1"/>
          </p:nvPr>
        </p:nvSpPr>
        <p:spPr>
          <a:xfrm>
            <a:off x="323528" y="1396703"/>
            <a:ext cx="8229600" cy="3708194"/>
          </a:xfrm>
        </p:spPr>
        <p:txBody>
          <a:bodyPr/>
          <a:lstStyle/>
          <a:p>
            <a:r>
              <a:rPr lang="en-GB" dirty="0"/>
              <a:t>Quality plan:</a:t>
            </a:r>
          </a:p>
          <a:p>
            <a:pPr lvl="1"/>
            <a:r>
              <a:rPr lang="en-GB" dirty="0"/>
              <a:t>Lists the desired product qualities,</a:t>
            </a:r>
          </a:p>
          <a:p>
            <a:pPr lvl="1"/>
            <a:r>
              <a:rPr lang="en-GB" dirty="0"/>
              <a:t>How they should be assessed?</a:t>
            </a:r>
          </a:p>
          <a:p>
            <a:pPr lvl="1"/>
            <a:r>
              <a:rPr lang="en-GB" dirty="0"/>
              <a:t>What are the most significant quality attributes?(reliability or efficiency ? etc.)</a:t>
            </a:r>
          </a:p>
          <a:p>
            <a:r>
              <a:rPr lang="en-GB" dirty="0"/>
              <a:t>Quality plans should be short, succinct documents</a:t>
            </a:r>
          </a:p>
          <a:p>
            <a:pPr lvl="1"/>
            <a:endParaRPr lang="en-GB" dirty="0"/>
          </a:p>
        </p:txBody>
      </p:sp>
      <p:sp>
        <p:nvSpPr>
          <p:cNvPr id="7" name="Footer Placeholder 6"/>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5</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1F62DB76-1EC3-418B-8B7B-ECE928B12A16}" type="datetime1">
              <a:rPr lang="en-US" smtClean="0">
                <a:solidFill>
                  <a:prstClr val="black">
                    <a:tint val="75000"/>
                  </a:prstClr>
                </a:solidFill>
                <a:latin typeface="Calibri"/>
              </a:rPr>
              <a:t>4/20/2026</a:t>
            </a:fld>
            <a:endParaRPr lang="en-US" dirty="0">
              <a:solidFill>
                <a:prstClr val="black">
                  <a:tint val="75000"/>
                </a:prstClr>
              </a:solidFill>
              <a:latin typeface="Calibri"/>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dirty="0"/>
              <a:t>Software quality</a:t>
            </a:r>
          </a:p>
        </p:txBody>
      </p:sp>
      <p:sp>
        <p:nvSpPr>
          <p:cNvPr id="10243" name="Rectangle 3"/>
          <p:cNvSpPr>
            <a:spLocks noGrp="1" noChangeArrowheads="1"/>
          </p:cNvSpPr>
          <p:nvPr>
            <p:ph idx="1"/>
          </p:nvPr>
        </p:nvSpPr>
        <p:spPr>
          <a:xfrm>
            <a:off x="447303" y="1595227"/>
            <a:ext cx="8229600" cy="3667546"/>
          </a:xfrm>
        </p:spPr>
        <p:txBody>
          <a:bodyPr/>
          <a:lstStyle/>
          <a:p>
            <a:pPr algn="just"/>
            <a:r>
              <a:rPr lang="en-GB" b="1" dirty="0"/>
              <a:t>Quality:</a:t>
            </a:r>
            <a:r>
              <a:rPr lang="en-GB" dirty="0"/>
              <a:t> a product should meet its specification.</a:t>
            </a:r>
          </a:p>
          <a:p>
            <a:pPr algn="just"/>
            <a:r>
              <a:rPr lang="en-GB" b="1" dirty="0"/>
              <a:t>Conformance to software specs is difficult</a:t>
            </a:r>
            <a:r>
              <a:rPr lang="en-GB" dirty="0"/>
              <a:t> because:</a:t>
            </a:r>
          </a:p>
          <a:p>
            <a:pPr lvl="1" algn="just"/>
            <a:r>
              <a:rPr lang="en-GB" u="sng" dirty="0"/>
              <a:t>Trade-off between different stakeholder </a:t>
            </a:r>
            <a:r>
              <a:rPr lang="en-GB" dirty="0"/>
              <a:t>req., like customer quality requirements (efficiency, reliability, etc.) and developer quality requirements (maintainability, reusability, etc.);</a:t>
            </a:r>
          </a:p>
          <a:p>
            <a:pPr lvl="1" algn="just"/>
            <a:r>
              <a:rPr lang="en-GB" u="sng" dirty="0"/>
              <a:t>The requirements might be ambiguous.</a:t>
            </a:r>
            <a:endParaRPr lang="en-GB" dirty="0"/>
          </a:p>
          <a:p>
            <a:pPr lvl="1" algn="just"/>
            <a:r>
              <a:rPr lang="en-GB" dirty="0"/>
              <a:t>Software </a:t>
            </a:r>
            <a:r>
              <a:rPr lang="en-GB" u="sng" dirty="0"/>
              <a:t>specs are usually incomplete and often inconsistent.</a:t>
            </a:r>
          </a:p>
          <a:p>
            <a:pPr algn="just"/>
            <a:r>
              <a:rPr lang="en-GB" dirty="0"/>
              <a:t>So, </a:t>
            </a:r>
            <a:r>
              <a:rPr lang="en-GB" b="1" dirty="0"/>
              <a:t>The focus should be ‘fitness for purpose’ rather than specification conformance.</a:t>
            </a:r>
          </a:p>
        </p:txBody>
      </p:sp>
      <p:sp>
        <p:nvSpPr>
          <p:cNvPr id="4" name="Slide Number Placeholder 3"/>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6</a:t>
            </a:fld>
            <a:endParaRPr lang="en-US">
              <a:solidFill>
                <a:prstClr val="black">
                  <a:tint val="75000"/>
                </a:prstClr>
              </a:solidFill>
              <a:latin typeface="Calibri"/>
            </a:endParaRPr>
          </a:p>
        </p:txBody>
      </p:sp>
      <p:sp>
        <p:nvSpPr>
          <p:cNvPr id="2" name="Date Placeholder 1">
            <a:extLst>
              <a:ext uri="{FF2B5EF4-FFF2-40B4-BE49-F238E27FC236}">
                <a16:creationId xmlns:a16="http://schemas.microsoft.com/office/drawing/2014/main" id="{8903EEB6-F680-79CF-ACE2-FF6BF928AE6D}"/>
              </a:ext>
            </a:extLst>
          </p:cNvPr>
          <p:cNvSpPr>
            <a:spLocks noGrp="1"/>
          </p:cNvSpPr>
          <p:nvPr>
            <p:ph type="dt" sz="half" idx="10"/>
          </p:nvPr>
        </p:nvSpPr>
        <p:spPr/>
        <p:txBody>
          <a:bodyPr/>
          <a:lstStyle/>
          <a:p>
            <a:fld id="{87CDD697-8C26-4B1A-ADB6-0B20D9C9B4EE}" type="datetime1">
              <a:rPr lang="en-US" smtClean="0"/>
              <a:t>4/20/2026</a:t>
            </a:fld>
            <a:endParaRPr lang="en-US"/>
          </a:p>
        </p:txBody>
      </p:sp>
      <p:sp>
        <p:nvSpPr>
          <p:cNvPr id="3" name="Footer Placeholder 2">
            <a:extLst>
              <a:ext uri="{FF2B5EF4-FFF2-40B4-BE49-F238E27FC236}">
                <a16:creationId xmlns:a16="http://schemas.microsoft.com/office/drawing/2014/main" id="{D2E2BD8A-87F3-3F77-3BCA-ECABB080854F}"/>
              </a:ext>
            </a:extLst>
          </p:cNvPr>
          <p:cNvSpPr>
            <a:spLocks noGrp="1"/>
          </p:cNvSpPr>
          <p:nvPr>
            <p:ph type="ftr" sz="quarter" idx="11"/>
          </p:nvPr>
        </p:nvSpPr>
        <p:spPr/>
        <p:txBody>
          <a:bodyPr/>
          <a:lstStyle/>
          <a:p>
            <a:r>
              <a:rPr lang="en-US"/>
              <a:t>Chapter 24 Quality management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fitness for purpose checks include:</a:t>
            </a:r>
          </a:p>
        </p:txBody>
      </p:sp>
      <p:sp>
        <p:nvSpPr>
          <p:cNvPr id="3" name="Content Placeholder 2"/>
          <p:cNvSpPr>
            <a:spLocks noGrp="1"/>
          </p:cNvSpPr>
          <p:nvPr>
            <p:ph idx="1"/>
          </p:nvPr>
        </p:nvSpPr>
        <p:spPr/>
        <p:txBody>
          <a:bodyPr/>
          <a:lstStyle/>
          <a:p>
            <a:r>
              <a:rPr lang="en-US" dirty="0"/>
              <a:t>Has the </a:t>
            </a:r>
            <a:r>
              <a:rPr lang="en-US" u="sng" dirty="0"/>
              <a:t>software been properly tested</a:t>
            </a:r>
            <a:r>
              <a:rPr lang="en-US" dirty="0"/>
              <a:t>?</a:t>
            </a:r>
            <a:r>
              <a:rPr lang="en-GB" dirty="0"/>
              <a:t> </a:t>
            </a:r>
          </a:p>
          <a:p>
            <a:r>
              <a:rPr lang="en-US" dirty="0"/>
              <a:t>Is the </a:t>
            </a:r>
            <a:r>
              <a:rPr lang="en-US" u="sng" dirty="0"/>
              <a:t>performance of the software acceptable</a:t>
            </a:r>
            <a:r>
              <a:rPr lang="en-US" dirty="0"/>
              <a:t> for normal use? </a:t>
            </a:r>
            <a:endParaRPr lang="en-GB" dirty="0"/>
          </a:p>
          <a:p>
            <a:r>
              <a:rPr lang="en-US" dirty="0"/>
              <a:t>Is the </a:t>
            </a:r>
            <a:r>
              <a:rPr lang="en-US" u="sng" dirty="0"/>
              <a:t>software usable</a:t>
            </a:r>
            <a:r>
              <a:rPr lang="en-US" dirty="0"/>
              <a:t>?</a:t>
            </a:r>
            <a:endParaRPr lang="en-GB" dirty="0"/>
          </a:p>
          <a:p>
            <a:r>
              <a:rPr lang="en-US" dirty="0"/>
              <a:t>Is the </a:t>
            </a:r>
            <a:r>
              <a:rPr lang="en-US" u="sng" dirty="0"/>
              <a:t>software well-structured and understandable</a:t>
            </a:r>
            <a:r>
              <a:rPr lang="en-US" dirty="0"/>
              <a:t>?</a:t>
            </a:r>
          </a:p>
          <a:p>
            <a:r>
              <a:rPr lang="en-US" dirty="0"/>
              <a:t>Have </a:t>
            </a:r>
            <a:r>
              <a:rPr lang="en-US" u="sng" dirty="0"/>
              <a:t>programming and documentation standards been followed in the development process?</a:t>
            </a:r>
            <a:endParaRPr lang="en-GB" u="sng" dirty="0"/>
          </a:p>
          <a:p>
            <a:endParaRPr lang="en-GB" dirty="0"/>
          </a:p>
          <a:p>
            <a:endParaRPr lang="en-US" dirty="0"/>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4" name="Slide Number Placeholder 3"/>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7</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eaLnBrk="0" hangingPunct="0"/>
            <a:fld id="{F2EF1D72-C4C6-4935-B895-C49CF71F8CF5}"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characteristics</a:t>
            </a:r>
          </a:p>
        </p:txBody>
      </p:sp>
      <p:sp>
        <p:nvSpPr>
          <p:cNvPr id="3" name="Content Placeholder 2"/>
          <p:cNvSpPr>
            <a:spLocks noGrp="1"/>
          </p:cNvSpPr>
          <p:nvPr>
            <p:ph idx="1"/>
          </p:nvPr>
        </p:nvSpPr>
        <p:spPr/>
        <p:txBody>
          <a:bodyPr/>
          <a:lstStyle/>
          <a:p>
            <a:pPr algn="just"/>
            <a:r>
              <a:rPr lang="en-US" dirty="0"/>
              <a:t>Practically, </a:t>
            </a:r>
            <a:r>
              <a:rPr lang="en-US" b="1" dirty="0"/>
              <a:t>software quality is mostly assessed on  its non-functional characteristics. </a:t>
            </a:r>
          </a:p>
          <a:p>
            <a:pPr algn="just"/>
            <a:r>
              <a:rPr lang="en-US" dirty="0"/>
              <a:t>Software quality attributes are:</a:t>
            </a:r>
          </a:p>
        </p:txBody>
      </p:sp>
      <p:sp>
        <p:nvSpPr>
          <p:cNvPr id="4" name="Date Placeholder 3"/>
          <p:cNvSpPr>
            <a:spLocks noGrp="1"/>
          </p:cNvSpPr>
          <p:nvPr>
            <p:ph type="dt" sz="half" idx="10"/>
          </p:nvPr>
        </p:nvSpPr>
        <p:spPr/>
        <p:txBody>
          <a:bodyPr/>
          <a:lstStyle/>
          <a:p>
            <a:pPr eaLnBrk="0" hangingPunct="0"/>
            <a:fld id="{289DA8B8-8BCC-43B4-B79A-C0ADFE06CCC4}"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8</a:t>
            </a:fld>
            <a:endParaRPr lang="en-US">
              <a:solidFill>
                <a:prstClr val="black">
                  <a:tint val="75000"/>
                </a:prstClr>
              </a:solidFill>
              <a:latin typeface="Calibri"/>
            </a:endParaRPr>
          </a:p>
        </p:txBody>
      </p:sp>
      <p:graphicFrame>
        <p:nvGraphicFramePr>
          <p:cNvPr id="9" name="Content Placeholder 3">
            <a:extLst>
              <a:ext uri="{FF2B5EF4-FFF2-40B4-BE49-F238E27FC236}">
                <a16:creationId xmlns:a16="http://schemas.microsoft.com/office/drawing/2014/main" id="{2B044B2F-215C-FEC6-41DB-2CD45A087890}"/>
              </a:ext>
            </a:extLst>
          </p:cNvPr>
          <p:cNvGraphicFramePr>
            <a:graphicFrameLocks/>
          </p:cNvGraphicFramePr>
          <p:nvPr/>
        </p:nvGraphicFramePr>
        <p:xfrm>
          <a:off x="1485900" y="3055346"/>
          <a:ext cx="6172200" cy="1390650"/>
        </p:xfrm>
        <a:graphic>
          <a:graphicData uri="http://schemas.openxmlformats.org/drawingml/2006/table">
            <a:tbl>
              <a:tblPr firstRow="1" bandRow="1">
                <a:tableStyleId>{BC89EF96-8CEA-46FF-86C4-4CE0E7609802}</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8130">
                <a:tc>
                  <a:txBody>
                    <a:bodyPr/>
                    <a:lstStyle/>
                    <a:p>
                      <a:pPr indent="347345" algn="just">
                        <a:spcBef>
                          <a:spcPts val="300"/>
                        </a:spcBef>
                        <a:spcAft>
                          <a:spcPts val="0"/>
                        </a:spcAft>
                        <a:tabLst>
                          <a:tab pos="342900" algn="l"/>
                          <a:tab pos="685800" algn="l"/>
                          <a:tab pos="1028700" algn="l"/>
                        </a:tabLst>
                      </a:pPr>
                      <a:r>
                        <a:rPr lang="en-GB" sz="1200" b="0" dirty="0">
                          <a:latin typeface="Arial"/>
                          <a:cs typeface="Arial"/>
                        </a:rPr>
                        <a:t>Safety</a:t>
                      </a:r>
                      <a:endParaRPr lang="en-GB" sz="1200" b="0" dirty="0">
                        <a:solidFill>
                          <a:srgbClr val="000000"/>
                        </a:solidFill>
                        <a:latin typeface="Arial"/>
                        <a:ea typeface="Times New Roman"/>
                        <a:cs typeface="Arial"/>
                      </a:endParaRPr>
                    </a:p>
                  </a:txBody>
                  <a:tcPr marL="51435" marR="51435" marT="0" marB="0"/>
                </a:tc>
                <a:tc>
                  <a:txBody>
                    <a:bodyPr/>
                    <a:lstStyle/>
                    <a:p>
                      <a:pPr algn="just">
                        <a:spcBef>
                          <a:spcPts val="300"/>
                        </a:spcBef>
                        <a:spcAft>
                          <a:spcPts val="0"/>
                        </a:spcAft>
                        <a:tabLst>
                          <a:tab pos="342900" algn="l"/>
                          <a:tab pos="685800" algn="l"/>
                          <a:tab pos="1028700" algn="l"/>
                        </a:tabLst>
                      </a:pPr>
                      <a:r>
                        <a:rPr lang="en-GB" sz="1200" b="0" dirty="0">
                          <a:latin typeface="Arial"/>
                          <a:cs typeface="Arial"/>
                        </a:rPr>
                        <a:t>Understandability</a:t>
                      </a:r>
                      <a:endParaRPr lang="en-GB" sz="1200" b="0" dirty="0">
                        <a:solidFill>
                          <a:srgbClr val="000000"/>
                        </a:solidFill>
                        <a:latin typeface="Arial"/>
                        <a:ea typeface="Times New Roman"/>
                        <a:cs typeface="Arial"/>
                      </a:endParaRPr>
                    </a:p>
                  </a:txBody>
                  <a:tcPr marL="51435" marR="51435" marT="0" marB="0"/>
                </a:tc>
                <a:tc>
                  <a:txBody>
                    <a:bodyPr/>
                    <a:lstStyle/>
                    <a:p>
                      <a:pPr indent="347345" algn="just">
                        <a:spcBef>
                          <a:spcPts val="300"/>
                        </a:spcBef>
                        <a:spcAft>
                          <a:spcPts val="0"/>
                        </a:spcAft>
                        <a:tabLst>
                          <a:tab pos="342900" algn="l"/>
                          <a:tab pos="685800" algn="l"/>
                          <a:tab pos="1028700" algn="l"/>
                        </a:tabLst>
                      </a:pPr>
                      <a:r>
                        <a:rPr lang="en-GB" sz="1200" b="0" dirty="0">
                          <a:latin typeface="Arial"/>
                          <a:cs typeface="Arial"/>
                        </a:rPr>
                        <a:t>Portability</a:t>
                      </a:r>
                      <a:endParaRPr lang="en-GB" sz="1200" b="0" dirty="0">
                        <a:solidFill>
                          <a:srgbClr val="000000"/>
                        </a:solidFill>
                        <a:latin typeface="Arial"/>
                        <a:ea typeface="Times New Roman"/>
                        <a:cs typeface="Arial"/>
                      </a:endParaRPr>
                    </a:p>
                  </a:txBody>
                  <a:tcPr marL="51435" marR="51435" marT="0" marB="0"/>
                </a:tc>
                <a:extLst>
                  <a:ext uri="{0D108BD9-81ED-4DB2-BD59-A6C34878D82A}">
                    <a16:rowId xmlns:a16="http://schemas.microsoft.com/office/drawing/2014/main" val="10000"/>
                  </a:ext>
                </a:extLst>
              </a:tr>
              <a:tr h="278130">
                <a:tc>
                  <a:txBody>
                    <a:bodyPr/>
                    <a:lstStyle/>
                    <a:p>
                      <a:pPr indent="347345" algn="just">
                        <a:spcBef>
                          <a:spcPts val="300"/>
                        </a:spcBef>
                        <a:spcAft>
                          <a:spcPts val="0"/>
                        </a:spcAft>
                        <a:tabLst>
                          <a:tab pos="342900" algn="l"/>
                          <a:tab pos="685800" algn="l"/>
                          <a:tab pos="1028700" algn="l"/>
                        </a:tabLst>
                      </a:pPr>
                      <a:r>
                        <a:rPr lang="en-GB" sz="1200" dirty="0">
                          <a:latin typeface="Arial"/>
                          <a:cs typeface="Arial"/>
                        </a:rPr>
                        <a:t>Security</a:t>
                      </a:r>
                      <a:endParaRPr lang="en-GB" sz="1200" dirty="0">
                        <a:solidFill>
                          <a:srgbClr val="000000"/>
                        </a:solidFill>
                        <a:latin typeface="Arial"/>
                        <a:ea typeface="Times New Roman"/>
                        <a:cs typeface="Arial"/>
                      </a:endParaRPr>
                    </a:p>
                  </a:txBody>
                  <a:tcPr marL="51435" marR="51435" marT="0" marB="0"/>
                </a:tc>
                <a:tc>
                  <a:txBody>
                    <a:bodyPr/>
                    <a:lstStyle/>
                    <a:p>
                      <a:pPr algn="just">
                        <a:spcBef>
                          <a:spcPts val="300"/>
                        </a:spcBef>
                        <a:spcAft>
                          <a:spcPts val="0"/>
                        </a:spcAft>
                        <a:tabLst>
                          <a:tab pos="342900" algn="l"/>
                          <a:tab pos="685800" algn="l"/>
                          <a:tab pos="1028700" algn="l"/>
                        </a:tabLst>
                      </a:pPr>
                      <a:r>
                        <a:rPr lang="en-GB" sz="1200" dirty="0">
                          <a:latin typeface="Arial"/>
                          <a:cs typeface="Arial"/>
                        </a:rPr>
                        <a:t>Testability</a:t>
                      </a:r>
                      <a:endParaRPr lang="en-GB" sz="1200" dirty="0">
                        <a:solidFill>
                          <a:srgbClr val="000000"/>
                        </a:solidFill>
                        <a:latin typeface="Arial"/>
                        <a:ea typeface="Times New Roman"/>
                        <a:cs typeface="Arial"/>
                      </a:endParaRPr>
                    </a:p>
                  </a:txBody>
                  <a:tcPr marL="51435" marR="51435" marT="0" marB="0"/>
                </a:tc>
                <a:tc>
                  <a:txBody>
                    <a:bodyPr/>
                    <a:lstStyle/>
                    <a:p>
                      <a:pPr indent="347345" algn="just">
                        <a:spcBef>
                          <a:spcPts val="300"/>
                        </a:spcBef>
                        <a:spcAft>
                          <a:spcPts val="0"/>
                        </a:spcAft>
                        <a:tabLst>
                          <a:tab pos="342900" algn="l"/>
                          <a:tab pos="685800" algn="l"/>
                          <a:tab pos="1028700" algn="l"/>
                        </a:tabLst>
                      </a:pPr>
                      <a:r>
                        <a:rPr lang="en-GB" sz="1200" dirty="0">
                          <a:latin typeface="Arial"/>
                          <a:cs typeface="Arial"/>
                        </a:rPr>
                        <a:t>Usability</a:t>
                      </a:r>
                      <a:endParaRPr lang="en-GB" sz="1200" dirty="0">
                        <a:solidFill>
                          <a:srgbClr val="000000"/>
                        </a:solidFill>
                        <a:latin typeface="Arial"/>
                        <a:ea typeface="Times New Roman"/>
                        <a:cs typeface="Arial"/>
                      </a:endParaRPr>
                    </a:p>
                  </a:txBody>
                  <a:tcPr marL="51435" marR="51435" marT="0" marB="0"/>
                </a:tc>
                <a:extLst>
                  <a:ext uri="{0D108BD9-81ED-4DB2-BD59-A6C34878D82A}">
                    <a16:rowId xmlns:a16="http://schemas.microsoft.com/office/drawing/2014/main" val="10001"/>
                  </a:ext>
                </a:extLst>
              </a:tr>
              <a:tr h="278130">
                <a:tc>
                  <a:txBody>
                    <a:bodyPr/>
                    <a:lstStyle/>
                    <a:p>
                      <a:pPr indent="347345" algn="just">
                        <a:spcBef>
                          <a:spcPts val="300"/>
                        </a:spcBef>
                        <a:spcAft>
                          <a:spcPts val="0"/>
                        </a:spcAft>
                        <a:tabLst>
                          <a:tab pos="342900" algn="l"/>
                          <a:tab pos="685800" algn="l"/>
                          <a:tab pos="1028700" algn="l"/>
                        </a:tabLst>
                      </a:pPr>
                      <a:r>
                        <a:rPr lang="en-GB" sz="1200">
                          <a:latin typeface="Arial"/>
                          <a:cs typeface="Arial"/>
                        </a:rPr>
                        <a:t>Reliability</a:t>
                      </a:r>
                      <a:endParaRPr lang="en-GB" sz="1200">
                        <a:solidFill>
                          <a:srgbClr val="000000"/>
                        </a:solidFill>
                        <a:latin typeface="Arial"/>
                        <a:ea typeface="Times New Roman"/>
                        <a:cs typeface="Arial"/>
                      </a:endParaRPr>
                    </a:p>
                  </a:txBody>
                  <a:tcPr marL="51435" marR="51435" marT="0" marB="0"/>
                </a:tc>
                <a:tc>
                  <a:txBody>
                    <a:bodyPr/>
                    <a:lstStyle/>
                    <a:p>
                      <a:pPr algn="just">
                        <a:spcBef>
                          <a:spcPts val="300"/>
                        </a:spcBef>
                        <a:spcAft>
                          <a:spcPts val="0"/>
                        </a:spcAft>
                        <a:tabLst>
                          <a:tab pos="342900" algn="l"/>
                          <a:tab pos="685800" algn="l"/>
                          <a:tab pos="1028700" algn="l"/>
                        </a:tabLst>
                      </a:pPr>
                      <a:r>
                        <a:rPr lang="en-GB" sz="1200">
                          <a:latin typeface="Arial"/>
                          <a:cs typeface="Arial"/>
                        </a:rPr>
                        <a:t>Adaptability</a:t>
                      </a:r>
                      <a:endParaRPr lang="en-GB" sz="1200">
                        <a:solidFill>
                          <a:srgbClr val="000000"/>
                        </a:solidFill>
                        <a:latin typeface="Arial"/>
                        <a:ea typeface="Times New Roman"/>
                        <a:cs typeface="Arial"/>
                      </a:endParaRPr>
                    </a:p>
                  </a:txBody>
                  <a:tcPr marL="51435" marR="51435" marT="0" marB="0"/>
                </a:tc>
                <a:tc>
                  <a:txBody>
                    <a:bodyPr/>
                    <a:lstStyle/>
                    <a:p>
                      <a:pPr indent="347345" algn="just">
                        <a:spcBef>
                          <a:spcPts val="300"/>
                        </a:spcBef>
                        <a:spcAft>
                          <a:spcPts val="0"/>
                        </a:spcAft>
                        <a:tabLst>
                          <a:tab pos="342900" algn="l"/>
                          <a:tab pos="685800" algn="l"/>
                          <a:tab pos="1028700" algn="l"/>
                        </a:tabLst>
                      </a:pPr>
                      <a:r>
                        <a:rPr lang="en-GB" sz="1200">
                          <a:latin typeface="Arial"/>
                          <a:cs typeface="Arial"/>
                        </a:rPr>
                        <a:t>Reusability</a:t>
                      </a:r>
                      <a:endParaRPr lang="en-GB" sz="1200">
                        <a:solidFill>
                          <a:srgbClr val="000000"/>
                        </a:solidFill>
                        <a:latin typeface="Arial"/>
                        <a:ea typeface="Times New Roman"/>
                        <a:cs typeface="Arial"/>
                      </a:endParaRPr>
                    </a:p>
                  </a:txBody>
                  <a:tcPr marL="51435" marR="51435" marT="0" marB="0"/>
                </a:tc>
                <a:extLst>
                  <a:ext uri="{0D108BD9-81ED-4DB2-BD59-A6C34878D82A}">
                    <a16:rowId xmlns:a16="http://schemas.microsoft.com/office/drawing/2014/main" val="10002"/>
                  </a:ext>
                </a:extLst>
              </a:tr>
              <a:tr h="278130">
                <a:tc>
                  <a:txBody>
                    <a:bodyPr/>
                    <a:lstStyle/>
                    <a:p>
                      <a:pPr indent="347345" algn="just">
                        <a:spcBef>
                          <a:spcPts val="300"/>
                        </a:spcBef>
                        <a:spcAft>
                          <a:spcPts val="0"/>
                        </a:spcAft>
                        <a:tabLst>
                          <a:tab pos="342900" algn="l"/>
                          <a:tab pos="685800" algn="l"/>
                          <a:tab pos="1028700" algn="l"/>
                        </a:tabLst>
                      </a:pPr>
                      <a:r>
                        <a:rPr lang="en-GB" sz="1200" dirty="0">
                          <a:latin typeface="Arial"/>
                          <a:cs typeface="Arial"/>
                        </a:rPr>
                        <a:t>Resilience</a:t>
                      </a:r>
                      <a:endParaRPr lang="en-GB" sz="1200" dirty="0">
                        <a:solidFill>
                          <a:srgbClr val="000000"/>
                        </a:solidFill>
                        <a:latin typeface="Arial"/>
                        <a:ea typeface="Times New Roman"/>
                        <a:cs typeface="Arial"/>
                      </a:endParaRPr>
                    </a:p>
                  </a:txBody>
                  <a:tcPr marL="51435" marR="51435" marT="0" marB="0"/>
                </a:tc>
                <a:tc>
                  <a:txBody>
                    <a:bodyPr/>
                    <a:lstStyle/>
                    <a:p>
                      <a:pPr algn="just">
                        <a:spcBef>
                          <a:spcPts val="300"/>
                        </a:spcBef>
                        <a:spcAft>
                          <a:spcPts val="0"/>
                        </a:spcAft>
                        <a:tabLst>
                          <a:tab pos="342900" algn="l"/>
                          <a:tab pos="685800" algn="l"/>
                          <a:tab pos="1028700" algn="l"/>
                        </a:tabLst>
                      </a:pPr>
                      <a:r>
                        <a:rPr lang="en-GB" sz="1200" dirty="0">
                          <a:latin typeface="Arial"/>
                          <a:cs typeface="Arial"/>
                        </a:rPr>
                        <a:t>Modularity</a:t>
                      </a:r>
                      <a:endParaRPr lang="en-GB" sz="1200" dirty="0">
                        <a:solidFill>
                          <a:srgbClr val="000000"/>
                        </a:solidFill>
                        <a:latin typeface="Arial"/>
                        <a:ea typeface="Times New Roman"/>
                        <a:cs typeface="Arial"/>
                      </a:endParaRPr>
                    </a:p>
                  </a:txBody>
                  <a:tcPr marL="51435" marR="51435" marT="0" marB="0"/>
                </a:tc>
                <a:tc>
                  <a:txBody>
                    <a:bodyPr/>
                    <a:lstStyle/>
                    <a:p>
                      <a:pPr indent="347345" algn="just">
                        <a:spcBef>
                          <a:spcPts val="300"/>
                        </a:spcBef>
                        <a:spcAft>
                          <a:spcPts val="0"/>
                        </a:spcAft>
                        <a:tabLst>
                          <a:tab pos="342900" algn="l"/>
                          <a:tab pos="685800" algn="l"/>
                          <a:tab pos="1028700" algn="l"/>
                        </a:tabLst>
                      </a:pPr>
                      <a:r>
                        <a:rPr lang="en-GB" sz="1200">
                          <a:latin typeface="Arial"/>
                          <a:cs typeface="Arial"/>
                        </a:rPr>
                        <a:t>Efficiency</a:t>
                      </a:r>
                      <a:endParaRPr lang="en-GB" sz="1200">
                        <a:solidFill>
                          <a:srgbClr val="000000"/>
                        </a:solidFill>
                        <a:latin typeface="Arial"/>
                        <a:ea typeface="Times New Roman"/>
                        <a:cs typeface="Arial"/>
                      </a:endParaRPr>
                    </a:p>
                  </a:txBody>
                  <a:tcPr marL="51435" marR="51435" marT="0" marB="0"/>
                </a:tc>
                <a:extLst>
                  <a:ext uri="{0D108BD9-81ED-4DB2-BD59-A6C34878D82A}">
                    <a16:rowId xmlns:a16="http://schemas.microsoft.com/office/drawing/2014/main" val="10003"/>
                  </a:ext>
                </a:extLst>
              </a:tr>
              <a:tr h="278130">
                <a:tc>
                  <a:txBody>
                    <a:bodyPr/>
                    <a:lstStyle/>
                    <a:p>
                      <a:pPr indent="347345" algn="just">
                        <a:spcBef>
                          <a:spcPts val="300"/>
                        </a:spcBef>
                        <a:spcAft>
                          <a:spcPts val="300"/>
                        </a:spcAft>
                        <a:tabLst>
                          <a:tab pos="342900" algn="l"/>
                          <a:tab pos="685800" algn="l"/>
                          <a:tab pos="1028700" algn="l"/>
                        </a:tabLst>
                      </a:pPr>
                      <a:r>
                        <a:rPr lang="en-GB" sz="1200" dirty="0">
                          <a:latin typeface="Arial"/>
                          <a:cs typeface="Arial"/>
                        </a:rPr>
                        <a:t>Robustness</a:t>
                      </a:r>
                      <a:endParaRPr lang="en-GB" sz="1200" dirty="0">
                        <a:solidFill>
                          <a:srgbClr val="000000"/>
                        </a:solidFill>
                        <a:latin typeface="Arial"/>
                        <a:ea typeface="Times New Roman"/>
                        <a:cs typeface="Arial"/>
                      </a:endParaRPr>
                    </a:p>
                  </a:txBody>
                  <a:tcPr marL="51435" marR="51435" marT="0" marB="0"/>
                </a:tc>
                <a:tc>
                  <a:txBody>
                    <a:bodyPr/>
                    <a:lstStyle/>
                    <a:p>
                      <a:pPr algn="just">
                        <a:spcBef>
                          <a:spcPts val="300"/>
                        </a:spcBef>
                        <a:spcAft>
                          <a:spcPts val="300"/>
                        </a:spcAft>
                        <a:tabLst>
                          <a:tab pos="342900" algn="l"/>
                          <a:tab pos="685800" algn="l"/>
                          <a:tab pos="1028700" algn="l"/>
                        </a:tabLst>
                      </a:pPr>
                      <a:r>
                        <a:rPr lang="en-GB" sz="1200" dirty="0">
                          <a:latin typeface="Arial"/>
                          <a:cs typeface="Arial"/>
                        </a:rPr>
                        <a:t>Complexity</a:t>
                      </a:r>
                      <a:endParaRPr lang="en-GB" sz="1200" dirty="0">
                        <a:solidFill>
                          <a:srgbClr val="000000"/>
                        </a:solidFill>
                        <a:latin typeface="Arial"/>
                        <a:ea typeface="Times New Roman"/>
                        <a:cs typeface="Arial"/>
                      </a:endParaRPr>
                    </a:p>
                  </a:txBody>
                  <a:tcPr marL="51435" marR="51435" marT="0" marB="0"/>
                </a:tc>
                <a:tc>
                  <a:txBody>
                    <a:bodyPr/>
                    <a:lstStyle/>
                    <a:p>
                      <a:pPr indent="347345" algn="just">
                        <a:spcBef>
                          <a:spcPts val="300"/>
                        </a:spcBef>
                        <a:spcAft>
                          <a:spcPts val="300"/>
                        </a:spcAft>
                        <a:tabLst>
                          <a:tab pos="342900" algn="l"/>
                          <a:tab pos="685800" algn="l"/>
                          <a:tab pos="1028700" algn="l"/>
                        </a:tabLst>
                      </a:pPr>
                      <a:r>
                        <a:rPr lang="en-GB" sz="1200" dirty="0">
                          <a:latin typeface="Arial"/>
                          <a:cs typeface="Arial"/>
                        </a:rPr>
                        <a:t>Learnability</a:t>
                      </a:r>
                      <a:endParaRPr lang="en-GB" sz="1200" dirty="0">
                        <a:solidFill>
                          <a:srgbClr val="000000"/>
                        </a:solidFill>
                        <a:latin typeface="Arial"/>
                        <a:ea typeface="Times New Roman"/>
                        <a:cs typeface="Arial"/>
                      </a:endParaRPr>
                    </a:p>
                  </a:txBody>
                  <a:tcPr marL="51435" marR="51435" marT="0" marB="0"/>
                </a:tc>
                <a:extLst>
                  <a:ext uri="{0D108BD9-81ED-4DB2-BD59-A6C34878D82A}">
                    <a16:rowId xmlns:a16="http://schemas.microsoft.com/office/drawing/2014/main" val="10004"/>
                  </a:ext>
                </a:extLst>
              </a:tr>
            </a:tbl>
          </a:graphicData>
        </a:graphic>
      </p:graphicFrame>
      <p:sp>
        <p:nvSpPr>
          <p:cNvPr id="10" name="Content Placeholder 2">
            <a:extLst>
              <a:ext uri="{FF2B5EF4-FFF2-40B4-BE49-F238E27FC236}">
                <a16:creationId xmlns:a16="http://schemas.microsoft.com/office/drawing/2014/main" id="{A59A4129-0F05-2D47-C7C2-11578ED45646}"/>
              </a:ext>
            </a:extLst>
          </p:cNvPr>
          <p:cNvSpPr txBox="1">
            <a:spLocks/>
          </p:cNvSpPr>
          <p:nvPr/>
        </p:nvSpPr>
        <p:spPr>
          <a:xfrm>
            <a:off x="381000" y="4414437"/>
            <a:ext cx="8229600" cy="167089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1800" b="1" dirty="0"/>
              <a:t>Impossible for a system to be optimized for all these attributes </a:t>
            </a:r>
          </a:p>
          <a:p>
            <a:pPr lvl="1" algn="just"/>
            <a:r>
              <a:rPr lang="en-US" sz="1500" b="1" dirty="0"/>
              <a:t>List the attributes over which quality should be assessed for the product</a:t>
            </a:r>
          </a:p>
        </p:txBody>
      </p:sp>
    </p:spTree>
    <p:extLst>
      <p:ext uri="{BB962C8B-B14F-4D97-AF65-F5344CB8AC3E}">
        <p14:creationId xmlns:p14="http://schemas.microsoft.com/office/powerpoint/2010/main" val="4239795447"/>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a:xfrm>
            <a:off x="389238" y="542143"/>
            <a:ext cx="5469924" cy="857250"/>
          </a:xfrm>
        </p:spPr>
        <p:txBody>
          <a:bodyPr/>
          <a:lstStyle/>
          <a:p>
            <a:r>
              <a:rPr lang="en-GB" dirty="0"/>
              <a:t>Process and product quality</a:t>
            </a:r>
          </a:p>
        </p:txBody>
      </p:sp>
      <p:sp>
        <p:nvSpPr>
          <p:cNvPr id="22530" name="Rectangle 2"/>
          <p:cNvSpPr>
            <a:spLocks noGrp="1" noChangeArrowheads="1"/>
          </p:cNvSpPr>
          <p:nvPr>
            <p:ph idx="1"/>
          </p:nvPr>
        </p:nvSpPr>
        <p:spPr>
          <a:xfrm>
            <a:off x="161364" y="1556792"/>
            <a:ext cx="8821271" cy="3394472"/>
          </a:xfrm>
        </p:spPr>
        <p:txBody>
          <a:bodyPr/>
          <a:lstStyle/>
          <a:p>
            <a:pPr algn="just"/>
            <a:r>
              <a:rPr lang="en-GB" dirty="0"/>
              <a:t>Traditionally, </a:t>
            </a:r>
          </a:p>
          <a:p>
            <a:pPr marL="0" indent="0" algn="just">
              <a:buNone/>
            </a:pPr>
            <a:r>
              <a:rPr lang="en-GB" b="1" dirty="0"/>
              <a:t>	</a:t>
            </a:r>
            <a:r>
              <a:rPr lang="en-GB" b="1" dirty="0" err="1">
                <a:solidFill>
                  <a:schemeClr val="accent5">
                    <a:lumMod val="75000"/>
                  </a:schemeClr>
                </a:solidFill>
              </a:rPr>
              <a:t>quality</a:t>
            </a:r>
            <a:r>
              <a:rPr lang="en-GB" b="1" baseline="-25000" dirty="0" err="1">
                <a:solidFill>
                  <a:schemeClr val="accent5">
                    <a:lumMod val="75000"/>
                  </a:schemeClr>
                </a:solidFill>
              </a:rPr>
              <a:t>product</a:t>
            </a:r>
            <a:r>
              <a:rPr lang="en-GB" b="1" baseline="-25000" dirty="0">
                <a:solidFill>
                  <a:schemeClr val="accent5">
                    <a:lumMod val="75000"/>
                  </a:schemeClr>
                </a:solidFill>
              </a:rPr>
              <a:t> </a:t>
            </a:r>
            <a:r>
              <a:rPr lang="en-US" b="1" dirty="0">
                <a:solidFill>
                  <a:schemeClr val="accent5">
                    <a:lumMod val="75000"/>
                  </a:schemeClr>
                </a:solidFill>
              </a:rPr>
              <a:t>is influenced by the</a:t>
            </a:r>
            <a:r>
              <a:rPr lang="en-GB" b="1" dirty="0">
                <a:solidFill>
                  <a:schemeClr val="accent5">
                    <a:lumMod val="75000"/>
                  </a:schemeClr>
                </a:solidFill>
              </a:rPr>
              <a:t> </a:t>
            </a:r>
            <a:r>
              <a:rPr lang="en-GB" b="1" dirty="0" err="1">
                <a:solidFill>
                  <a:schemeClr val="accent5">
                    <a:lumMod val="75000"/>
                  </a:schemeClr>
                </a:solidFill>
              </a:rPr>
              <a:t>quality</a:t>
            </a:r>
            <a:r>
              <a:rPr lang="en-GB" b="1" baseline="-25000" dirty="0" err="1">
                <a:solidFill>
                  <a:schemeClr val="accent5">
                    <a:lumMod val="75000"/>
                  </a:schemeClr>
                </a:solidFill>
              </a:rPr>
              <a:t>production</a:t>
            </a:r>
            <a:r>
              <a:rPr lang="en-GB" b="1" baseline="-25000" dirty="0">
                <a:solidFill>
                  <a:schemeClr val="accent5">
                    <a:lumMod val="75000"/>
                  </a:schemeClr>
                </a:solidFill>
              </a:rPr>
              <a:t> process.</a:t>
            </a:r>
          </a:p>
          <a:p>
            <a:pPr algn="just"/>
            <a:r>
              <a:rPr lang="en-GB" b="1" dirty="0"/>
              <a:t>some product quality attributes are hard to assess.</a:t>
            </a:r>
          </a:p>
          <a:p>
            <a:pPr lvl="1" algn="just"/>
            <a:r>
              <a:rPr lang="en-GB" dirty="0"/>
              <a:t>E.g., reliability and maintainability are difficult to assess without using product for a long time.</a:t>
            </a:r>
          </a:p>
          <a:p>
            <a:pPr algn="just"/>
            <a:r>
              <a:rPr lang="en-GB" b="1" dirty="0"/>
              <a:t>There is a complex relationship between software processes and product quality.</a:t>
            </a:r>
          </a:p>
          <a:p>
            <a:pPr lvl="1" algn="just"/>
            <a:r>
              <a:rPr lang="en-GB" dirty="0"/>
              <a:t>The </a:t>
            </a:r>
            <a:r>
              <a:rPr lang="en-GB" b="1" u="sng" dirty="0"/>
              <a:t>development team’s experience matter in the product development</a:t>
            </a:r>
          </a:p>
          <a:p>
            <a:pPr lvl="1" algn="just"/>
            <a:r>
              <a:rPr lang="en-GB" b="1" u="sng" dirty="0"/>
              <a:t>novelty of an application </a:t>
            </a:r>
            <a:r>
              <a:rPr lang="en-GB" u="sng" dirty="0"/>
              <a:t>or a </a:t>
            </a:r>
            <a:r>
              <a:rPr lang="en-GB" b="1" u="sng" dirty="0"/>
              <a:t>fast-paced development schedule </a:t>
            </a:r>
            <a:r>
              <a:rPr lang="en-GB" dirty="0"/>
              <a:t>may reduce the product quality.</a:t>
            </a:r>
          </a:p>
        </p:txBody>
      </p:sp>
      <p:sp>
        <p:nvSpPr>
          <p:cNvPr id="7" name="Footer Placeholder 6"/>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9</a:t>
            </a:fld>
            <a:endParaRPr lang="en-US">
              <a:solidFill>
                <a:prstClr val="black">
                  <a:tint val="75000"/>
                </a:prstClr>
              </a:solidFill>
              <a:latin typeface="Calibri"/>
            </a:endParaRPr>
          </a:p>
        </p:txBody>
      </p:sp>
      <p:sp>
        <p:nvSpPr>
          <p:cNvPr id="2" name="Date Placeholder 1">
            <a:extLst>
              <a:ext uri="{FF2B5EF4-FFF2-40B4-BE49-F238E27FC236}">
                <a16:creationId xmlns:a16="http://schemas.microsoft.com/office/drawing/2014/main" id="{C932F74A-2563-C2BC-4334-6A5C1327F1F8}"/>
              </a:ext>
            </a:extLst>
          </p:cNvPr>
          <p:cNvSpPr>
            <a:spLocks noGrp="1"/>
          </p:cNvSpPr>
          <p:nvPr>
            <p:ph type="dt" sz="half" idx="10"/>
          </p:nvPr>
        </p:nvSpPr>
        <p:spPr/>
        <p:txBody>
          <a:bodyPr/>
          <a:lstStyle/>
          <a:p>
            <a:fld id="{A289F636-7037-4EB6-8F40-CA593A58148E}" type="datetime1">
              <a:rPr lang="en-US" smtClean="0"/>
              <a:t>4/20/2026</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Process-based quality</a:t>
            </a:r>
            <a:r>
              <a:rPr lang="en-GB" dirty="0"/>
              <a:t> </a:t>
            </a:r>
            <a:endParaRPr lang="en-US" dirty="0"/>
          </a:p>
        </p:txBody>
      </p:sp>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10</a:t>
            </a:fld>
            <a:endParaRPr lang="en-US"/>
          </a:p>
        </p:txBody>
      </p:sp>
      <p:sp>
        <p:nvSpPr>
          <p:cNvPr id="3" name="Date Placeholder 2"/>
          <p:cNvSpPr>
            <a:spLocks noGrp="1"/>
          </p:cNvSpPr>
          <p:nvPr>
            <p:ph type="dt" sz="half" idx="10"/>
          </p:nvPr>
        </p:nvSpPr>
        <p:spPr/>
        <p:txBody>
          <a:bodyPr/>
          <a:lstStyle/>
          <a:p>
            <a:fld id="{4A68440C-7D78-4C6E-85A6-7FF4F41DCB9F}" type="datetime1">
              <a:rPr lang="en-US" smtClean="0"/>
              <a:t>4/20/2026</a:t>
            </a:fld>
            <a:endParaRPr lang="en-US"/>
          </a:p>
        </p:txBody>
      </p:sp>
      <p:pic>
        <p:nvPicPr>
          <p:cNvPr id="8" name="Picture 7" descr="24.3 Process quality.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276872"/>
            <a:ext cx="8288186" cy="2448272"/>
          </a:xfrm>
          <a:prstGeom prst="rect">
            <a:avLst/>
          </a:prstGeom>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p:txBody>
          <a:bodyPr/>
          <a:lstStyle/>
          <a:p>
            <a:r>
              <a:rPr lang="en-GB"/>
              <a:t>Software standards</a:t>
            </a:r>
            <a:endParaRPr lang="en-GB" dirty="0"/>
          </a:p>
        </p:txBody>
      </p:sp>
      <p:sp>
        <p:nvSpPr>
          <p:cNvPr id="38914" name="Rectangle 2"/>
          <p:cNvSpPr>
            <a:spLocks noGrp="1" noChangeArrowheads="1"/>
          </p:cNvSpPr>
          <p:nvPr>
            <p:ph idx="1"/>
          </p:nvPr>
        </p:nvSpPr>
        <p:spPr/>
        <p:txBody>
          <a:bodyPr/>
          <a:lstStyle/>
          <a:p>
            <a:pPr algn="just"/>
            <a:r>
              <a:rPr lang="en-GB" dirty="0"/>
              <a:t>Standards define how the software process should be put into practice.</a:t>
            </a:r>
          </a:p>
          <a:p>
            <a:pPr algn="just"/>
            <a:r>
              <a:rPr lang="en-GB" dirty="0"/>
              <a:t>They play an important role in quality management.</a:t>
            </a:r>
          </a:p>
          <a:p>
            <a:pPr algn="just"/>
            <a:r>
              <a:rPr lang="en-GB" dirty="0"/>
              <a:t>Standards may classified as:</a:t>
            </a:r>
          </a:p>
          <a:p>
            <a:pPr lvl="1" algn="just"/>
            <a:r>
              <a:rPr lang="en-GB" dirty="0"/>
              <a:t>External Standards : international, national</a:t>
            </a:r>
          </a:p>
          <a:p>
            <a:pPr lvl="1" algn="just"/>
            <a:r>
              <a:rPr lang="en-GB" dirty="0"/>
              <a:t>Internal Standards: organizational, project standards (set by stakeholders).</a:t>
            </a:r>
          </a:p>
          <a:p>
            <a:pPr marL="400050" lvl="1" indent="0" algn="just">
              <a:buNone/>
            </a:pPr>
            <a:endParaRPr lang="en-GB" dirty="0"/>
          </a:p>
          <a:p>
            <a:pPr marL="0" indent="0">
              <a:buNone/>
            </a:pPr>
            <a:endParaRPr lang="en-GB" dirty="0"/>
          </a:p>
        </p:txBody>
      </p:sp>
      <p:sp>
        <p:nvSpPr>
          <p:cNvPr id="9" name="Footer Placeholder 8"/>
          <p:cNvSpPr>
            <a:spLocks noGrp="1"/>
          </p:cNvSpPr>
          <p:nvPr>
            <p:ph type="ftr" sz="quarter" idx="11"/>
          </p:nvPr>
        </p:nvSpPr>
        <p:spPr/>
        <p:txBody>
          <a:bodyPr/>
          <a:lstStyle/>
          <a:p>
            <a:r>
              <a:rPr lang="en-US"/>
              <a:t>Chapter 24 Quality management</a:t>
            </a:r>
          </a:p>
        </p:txBody>
      </p:sp>
      <p:sp>
        <p:nvSpPr>
          <p:cNvPr id="8" name="Slide Number Placeholder 7"/>
          <p:cNvSpPr>
            <a:spLocks noGrp="1"/>
          </p:cNvSpPr>
          <p:nvPr>
            <p:ph type="sldNum" sz="quarter" idx="12"/>
          </p:nvPr>
        </p:nvSpPr>
        <p:spPr/>
        <p:txBody>
          <a:bodyPr/>
          <a:lstStyle/>
          <a:p>
            <a:fld id="{745CE82A-87C3-2841-AAF3-37DF1E34DC62}" type="slidenum">
              <a:rPr lang="en-US" smtClean="0"/>
              <a:pPr/>
              <a:t>11</a:t>
            </a:fld>
            <a:endParaRPr lang="en-US"/>
          </a:p>
        </p:txBody>
      </p:sp>
      <p:sp>
        <p:nvSpPr>
          <p:cNvPr id="2" name="Date Placeholder 1"/>
          <p:cNvSpPr>
            <a:spLocks noGrp="1"/>
          </p:cNvSpPr>
          <p:nvPr>
            <p:ph type="dt" sz="half" idx="10"/>
          </p:nvPr>
        </p:nvSpPr>
        <p:spPr/>
        <p:txBody>
          <a:bodyPr/>
          <a:lstStyle/>
          <a:p>
            <a:fld id="{19F9F27C-9976-4B34-9056-CF0EC4507464}" type="datetime1">
              <a:rPr lang="en-US" smtClean="0"/>
              <a:t>4/20/2026</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p:txBody>
          <a:bodyPr/>
          <a:lstStyle/>
          <a:p>
            <a:r>
              <a:rPr lang="en-GB"/>
              <a:t>Importance of standards</a:t>
            </a:r>
          </a:p>
        </p:txBody>
      </p:sp>
      <p:sp>
        <p:nvSpPr>
          <p:cNvPr id="40962" name="Rectangle 2"/>
          <p:cNvSpPr>
            <a:spLocks noGrp="1" noChangeArrowheads="1"/>
          </p:cNvSpPr>
          <p:nvPr>
            <p:ph idx="1"/>
          </p:nvPr>
        </p:nvSpPr>
        <p:spPr/>
        <p:txBody>
          <a:bodyPr/>
          <a:lstStyle/>
          <a:p>
            <a:pPr algn="just"/>
            <a:r>
              <a:rPr lang="en-GB" dirty="0"/>
              <a:t>Defining &amp; practicing standards is important because:</a:t>
            </a:r>
          </a:p>
          <a:p>
            <a:pPr lvl="1" algn="just"/>
            <a:r>
              <a:rPr lang="en-GB" sz="1800" dirty="0"/>
              <a:t>They are </a:t>
            </a:r>
            <a:r>
              <a:rPr lang="en-GB" sz="1800" u="sng" dirty="0"/>
              <a:t>based on the best practices of an organization</a:t>
            </a:r>
          </a:p>
          <a:p>
            <a:pPr lvl="2" algn="just"/>
            <a:r>
              <a:rPr lang="en-GB" sz="1500" b="1" dirty="0"/>
              <a:t>Learning from past experiences</a:t>
            </a:r>
          </a:p>
          <a:p>
            <a:pPr lvl="1" algn="just"/>
            <a:r>
              <a:rPr lang="en-GB" sz="1800" dirty="0"/>
              <a:t>They </a:t>
            </a:r>
            <a:r>
              <a:rPr lang="en-GB" sz="1800" u="sng" dirty="0"/>
              <a:t>give protocols for developing a quality product</a:t>
            </a:r>
          </a:p>
          <a:p>
            <a:pPr lvl="2" algn="just"/>
            <a:r>
              <a:rPr lang="en-GB" sz="1500" b="1" dirty="0"/>
              <a:t>Which product is said to be a quality product. </a:t>
            </a:r>
            <a:r>
              <a:rPr lang="en-GB" sz="1500" dirty="0"/>
              <a:t>(depends on users’ expectations of product like dependability, usability etc.)</a:t>
            </a:r>
          </a:p>
          <a:p>
            <a:pPr lvl="1" algn="just"/>
            <a:r>
              <a:rPr lang="en-GB" sz="1800" dirty="0"/>
              <a:t>They</a:t>
            </a:r>
            <a:r>
              <a:rPr lang="en-GB" sz="1800" b="1" dirty="0"/>
              <a:t> </a:t>
            </a:r>
            <a:r>
              <a:rPr lang="en-GB" sz="1800" u="sng" dirty="0"/>
              <a:t>ensure continuity of work </a:t>
            </a:r>
            <a:endParaRPr lang="en-GB" sz="1800" i="1" u="sng" dirty="0"/>
          </a:p>
          <a:p>
            <a:pPr lvl="2" algn="just"/>
            <a:r>
              <a:rPr lang="en-GB" sz="1650" b="1" dirty="0"/>
              <a:t>new staff can understand the organisation by understanding the standards that are used.</a:t>
            </a:r>
          </a:p>
          <a:p>
            <a:pPr lvl="2" algn="just"/>
            <a:r>
              <a:rPr lang="en-GB" sz="1650" dirty="0"/>
              <a:t>Ensure all workers are adapting the same practices to reduce learning effort required on a new project.</a:t>
            </a:r>
          </a:p>
        </p:txBody>
      </p:sp>
      <p:sp>
        <p:nvSpPr>
          <p:cNvPr id="7" name="Footer Placeholder 6"/>
          <p:cNvSpPr>
            <a:spLocks noGrp="1"/>
          </p:cNvSpPr>
          <p:nvPr>
            <p:ph type="ftr" sz="quarter" idx="11"/>
          </p:nvPr>
        </p:nvSpPr>
        <p:spPr/>
        <p:txBody>
          <a:bodyPr/>
          <a:lstStyle/>
          <a:p>
            <a:pPr defTabSz="685800">
              <a:defRPr/>
            </a:pPr>
            <a:r>
              <a:rPr lang="en-US" sz="900">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defTabSz="685800">
              <a:defRPr/>
            </a:pPr>
            <a:fld id="{745CE82A-87C3-2841-AAF3-37DF1E34DC62}" type="slidenum">
              <a:rPr lang="en-US" sz="900">
                <a:solidFill>
                  <a:prstClr val="black">
                    <a:tint val="75000"/>
                  </a:prstClr>
                </a:solidFill>
                <a:latin typeface="Calibri"/>
              </a:rPr>
              <a:pPr defTabSz="685800">
                <a:defRPr/>
              </a:pPr>
              <a:t>12</a:t>
            </a:fld>
            <a:endParaRPr lang="en-US" sz="900">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685800">
              <a:defRPr/>
            </a:pPr>
            <a:fld id="{3B31120C-615D-4848-8FA2-BA727ECE5ADA}" type="datetime1">
              <a:rPr lang="en-US" sz="900" smtClean="0">
                <a:solidFill>
                  <a:prstClr val="black">
                    <a:tint val="75000"/>
                  </a:prstClr>
                </a:solidFill>
                <a:latin typeface="Calibri"/>
              </a:rPr>
              <a:t>4/20/2026</a:t>
            </a:fld>
            <a:endParaRPr lang="en-US" sz="900">
              <a:solidFill>
                <a:prstClr val="black">
                  <a:tint val="75000"/>
                </a:prstClr>
              </a:solidFill>
              <a:latin typeface="Calibri"/>
            </a:endParaRPr>
          </a:p>
        </p:txBody>
      </p:sp>
    </p:spTree>
    <p:extLst>
      <p:ext uri="{BB962C8B-B14F-4D97-AF65-F5344CB8AC3E}">
        <p14:creationId xmlns:p14="http://schemas.microsoft.com/office/powerpoint/2010/main" val="9216941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Software standards used in SQM</a:t>
            </a:r>
          </a:p>
        </p:txBody>
      </p:sp>
      <p:sp>
        <p:nvSpPr>
          <p:cNvPr id="3" name="Content Placeholder 2"/>
          <p:cNvSpPr>
            <a:spLocks noGrp="1"/>
          </p:cNvSpPr>
          <p:nvPr>
            <p:ph idx="1"/>
          </p:nvPr>
        </p:nvSpPr>
        <p:spPr>
          <a:xfrm>
            <a:off x="457200" y="2491532"/>
            <a:ext cx="8229600" cy="2153348"/>
          </a:xfrm>
        </p:spPr>
        <p:txBody>
          <a:bodyPr/>
          <a:lstStyle/>
          <a:p>
            <a:pPr algn="just"/>
            <a:r>
              <a:rPr lang="en-US" dirty="0"/>
              <a:t>Product standards</a:t>
            </a:r>
          </a:p>
          <a:p>
            <a:pPr lvl="1" algn="just"/>
            <a:r>
              <a:rPr lang="en-US" dirty="0"/>
              <a:t>Applied to the product that is being developed</a:t>
            </a:r>
          </a:p>
          <a:p>
            <a:pPr algn="just"/>
            <a:r>
              <a:rPr lang="en-US" dirty="0"/>
              <a:t>Process standards</a:t>
            </a:r>
          </a:p>
          <a:p>
            <a:pPr lvl="1" algn="just"/>
            <a:r>
              <a:rPr lang="en-US" dirty="0"/>
              <a:t>Applied to the process that is followed to make the end product.</a:t>
            </a:r>
          </a:p>
          <a:p>
            <a:pPr lvl="1" algn="just"/>
            <a:endParaRPr lang="en-US" dirty="0"/>
          </a:p>
        </p:txBody>
      </p:sp>
      <p:sp>
        <p:nvSpPr>
          <p:cNvPr id="4" name="Date Placeholder 3"/>
          <p:cNvSpPr>
            <a:spLocks noGrp="1"/>
          </p:cNvSpPr>
          <p:nvPr>
            <p:ph type="dt" sz="half" idx="10"/>
          </p:nvPr>
        </p:nvSpPr>
        <p:spPr/>
        <p:txBody>
          <a:bodyPr/>
          <a:lstStyle/>
          <a:p>
            <a:pPr defTabSz="685800">
              <a:defRPr/>
            </a:pPr>
            <a:fld id="{E1944090-CDE6-4476-998F-C344A55A7708}" type="datetime1">
              <a:rPr lang="en-US" sz="900" smtClean="0">
                <a:solidFill>
                  <a:prstClr val="black">
                    <a:tint val="75000"/>
                  </a:prstClr>
                </a:solidFill>
                <a:latin typeface="Calibri"/>
              </a:rPr>
              <a:t>4/20/2026</a:t>
            </a:fld>
            <a:endParaRPr lang="en-US" sz="900">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685800">
              <a:defRPr/>
            </a:pPr>
            <a:r>
              <a:rPr lang="en-US" sz="900">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defTabSz="685800">
              <a:defRPr/>
            </a:pPr>
            <a:fld id="{745CE82A-87C3-2841-AAF3-37DF1E34DC62}" type="slidenum">
              <a:rPr lang="en-US" sz="900">
                <a:solidFill>
                  <a:prstClr val="black">
                    <a:tint val="75000"/>
                  </a:prstClr>
                </a:solidFill>
                <a:latin typeface="Calibri"/>
              </a:rPr>
              <a:pPr defTabSz="685800">
                <a:defRPr/>
              </a:pPr>
              <a:t>13</a:t>
            </a:fld>
            <a:endParaRPr lang="en-US" sz="900">
              <a:solidFill>
                <a:prstClr val="black">
                  <a:tint val="75000"/>
                </a:prstClr>
              </a:solidFill>
              <a:latin typeface="Calibri"/>
            </a:endParaRPr>
          </a:p>
        </p:txBody>
      </p:sp>
    </p:spTree>
    <p:extLst>
      <p:ext uri="{BB962C8B-B14F-4D97-AF65-F5344CB8AC3E}">
        <p14:creationId xmlns:p14="http://schemas.microsoft.com/office/powerpoint/2010/main" val="256330618"/>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standards</a:t>
            </a:r>
          </a:p>
        </p:txBody>
      </p:sp>
      <p:sp>
        <p:nvSpPr>
          <p:cNvPr id="3" name="Content Placeholder 2"/>
          <p:cNvSpPr>
            <a:spLocks noGrp="1"/>
          </p:cNvSpPr>
          <p:nvPr>
            <p:ph idx="1"/>
          </p:nvPr>
        </p:nvSpPr>
        <p:spPr>
          <a:xfrm>
            <a:off x="-108520" y="1556792"/>
            <a:ext cx="8229600" cy="3394472"/>
          </a:xfrm>
        </p:spPr>
        <p:txBody>
          <a:bodyPr/>
          <a:lstStyle/>
          <a:p>
            <a:pPr algn="just"/>
            <a:r>
              <a:rPr lang="en-US" i="1" dirty="0"/>
              <a:t>Product standards</a:t>
            </a:r>
            <a:r>
              <a:rPr lang="en-US" dirty="0"/>
              <a:t> </a:t>
            </a:r>
          </a:p>
          <a:p>
            <a:pPr lvl="1" algn="just"/>
            <a:r>
              <a:rPr lang="en-US" dirty="0"/>
              <a:t>They include:</a:t>
            </a:r>
          </a:p>
          <a:p>
            <a:pPr lvl="2" algn="just"/>
            <a:r>
              <a:rPr lang="en-US" b="1" u="sng" dirty="0"/>
              <a:t>document standards</a:t>
            </a:r>
          </a:p>
          <a:p>
            <a:pPr lvl="3" algn="just"/>
            <a:r>
              <a:rPr lang="en-US" dirty="0"/>
              <a:t>such as </a:t>
            </a:r>
            <a:r>
              <a:rPr lang="en-US" b="1" dirty="0"/>
              <a:t>the structure of SRS/SDS documents</a:t>
            </a:r>
            <a:r>
              <a:rPr lang="en-US" dirty="0"/>
              <a:t>, </a:t>
            </a:r>
          </a:p>
          <a:p>
            <a:pPr lvl="2" algn="just"/>
            <a:r>
              <a:rPr lang="en-US" b="1" u="sng" dirty="0"/>
              <a:t>Code’s documentation standards</a:t>
            </a:r>
          </a:p>
          <a:p>
            <a:pPr lvl="3" algn="just"/>
            <a:r>
              <a:rPr lang="en-US" dirty="0"/>
              <a:t>such as a standard </a:t>
            </a:r>
            <a:r>
              <a:rPr lang="en-US" b="1" dirty="0"/>
              <a:t>comment header for an object class definition</a:t>
            </a:r>
            <a:r>
              <a:rPr lang="en-US" dirty="0"/>
              <a:t>,</a:t>
            </a:r>
          </a:p>
          <a:p>
            <a:pPr lvl="2" algn="just"/>
            <a:r>
              <a:rPr lang="en-US" b="1" u="sng" dirty="0"/>
              <a:t>coding standards</a:t>
            </a:r>
          </a:p>
          <a:p>
            <a:pPr lvl="3" algn="just"/>
            <a:r>
              <a:rPr lang="en-US" dirty="0"/>
              <a:t>which defines how a programming language should be used. Like:</a:t>
            </a:r>
          </a:p>
          <a:p>
            <a:pPr lvl="4">
              <a:buFont typeface="Arial" panose="020B0604020202020204" pitchFamily="34" charset="0"/>
              <a:buChar char="•"/>
            </a:pPr>
            <a:r>
              <a:rPr lang="en-US" dirty="0"/>
              <a:t>Use Proper Naming Conventions.</a:t>
            </a:r>
          </a:p>
          <a:p>
            <a:pPr lvl="4">
              <a:buFont typeface="Arial" panose="020B0604020202020204" pitchFamily="34" charset="0"/>
              <a:buChar char="•"/>
            </a:pPr>
            <a:r>
              <a:rPr lang="en-US" dirty="0"/>
              <a:t>Class Members must be accessed privately.</a:t>
            </a:r>
          </a:p>
          <a:p>
            <a:pPr lvl="4">
              <a:buFont typeface="Arial" panose="020B0604020202020204" pitchFamily="34" charset="0"/>
              <a:buChar char="•"/>
            </a:pPr>
            <a:r>
              <a:rPr lang="en-US" dirty="0"/>
              <a:t>Use Underscores in lengthy Numeric Literals.</a:t>
            </a:r>
          </a:p>
          <a:p>
            <a:pPr lvl="4">
              <a:buFont typeface="Arial" panose="020B0604020202020204" pitchFamily="34" charset="0"/>
              <a:buChar char="•"/>
            </a:pPr>
            <a:r>
              <a:rPr lang="en-US" dirty="0"/>
              <a:t>Never leave a Catch Block empty etc.</a:t>
            </a:r>
            <a:endParaRPr lang="en-GB" dirty="0"/>
          </a:p>
          <a:p>
            <a:pPr marL="0" indent="0" algn="just">
              <a:buNone/>
            </a:pPr>
            <a:endParaRPr lang="en-US" dirty="0"/>
          </a:p>
        </p:txBody>
      </p:sp>
      <p:sp>
        <p:nvSpPr>
          <p:cNvPr id="4" name="Date Placeholder 3"/>
          <p:cNvSpPr>
            <a:spLocks noGrp="1"/>
          </p:cNvSpPr>
          <p:nvPr>
            <p:ph type="dt" sz="half" idx="10"/>
          </p:nvPr>
        </p:nvSpPr>
        <p:spPr/>
        <p:txBody>
          <a:bodyPr/>
          <a:lstStyle/>
          <a:p>
            <a:pPr defTabSz="685800">
              <a:defRPr/>
            </a:pPr>
            <a:fld id="{F7E25FA0-1053-423D-AE57-BA5CE1A70B73}" type="datetime1">
              <a:rPr lang="en-US" sz="900" smtClean="0">
                <a:solidFill>
                  <a:prstClr val="black">
                    <a:tint val="75000"/>
                  </a:prstClr>
                </a:solidFill>
                <a:latin typeface="Calibri"/>
              </a:rPr>
              <a:t>4/20/2026</a:t>
            </a:fld>
            <a:endParaRPr lang="en-US" sz="900" dirty="0">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685800">
              <a:defRPr/>
            </a:pPr>
            <a:r>
              <a:rPr lang="en-US" sz="900" dirty="0">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defTabSz="685800">
              <a:defRPr/>
            </a:pPr>
            <a:fld id="{745CE82A-87C3-2841-AAF3-37DF1E34DC62}" type="slidenum">
              <a:rPr lang="en-US" sz="900">
                <a:solidFill>
                  <a:prstClr val="black">
                    <a:tint val="75000"/>
                  </a:prstClr>
                </a:solidFill>
                <a:latin typeface="Calibri"/>
              </a:rPr>
              <a:pPr defTabSz="685800">
                <a:defRPr/>
              </a:pPr>
              <a:t>14</a:t>
            </a:fld>
            <a:endParaRPr lang="en-US" sz="900">
              <a:solidFill>
                <a:prstClr val="black">
                  <a:tint val="75000"/>
                </a:prstClr>
              </a:solidFill>
              <a:latin typeface="Calibri"/>
            </a:endParaRPr>
          </a:p>
        </p:txBody>
      </p:sp>
      <p:pic>
        <p:nvPicPr>
          <p:cNvPr id="7" name="Picture 6">
            <a:extLst>
              <a:ext uri="{FF2B5EF4-FFF2-40B4-BE49-F238E27FC236}">
                <a16:creationId xmlns:a16="http://schemas.microsoft.com/office/drawing/2014/main" id="{F73CDE6B-F8CF-B876-C788-60C012A9823D}"/>
              </a:ext>
            </a:extLst>
          </p:cNvPr>
          <p:cNvPicPr>
            <a:picLocks noChangeAspect="1"/>
          </p:cNvPicPr>
          <p:nvPr/>
        </p:nvPicPr>
        <p:blipFill rotWithShape="1">
          <a:blip r:embed="rId2"/>
          <a:srcRect r="54759"/>
          <a:stretch/>
        </p:blipFill>
        <p:spPr>
          <a:xfrm>
            <a:off x="4860033" y="27780"/>
            <a:ext cx="4283968" cy="2753147"/>
          </a:xfrm>
          <a:prstGeom prst="rect">
            <a:avLst/>
          </a:prstGeom>
        </p:spPr>
      </p:pic>
    </p:spTree>
    <p:extLst>
      <p:ext uri="{BB962C8B-B14F-4D97-AF65-F5344CB8AC3E}">
        <p14:creationId xmlns:p14="http://schemas.microsoft.com/office/powerpoint/2010/main" val="136671144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standards</a:t>
            </a:r>
          </a:p>
        </p:txBody>
      </p:sp>
      <p:sp>
        <p:nvSpPr>
          <p:cNvPr id="3" name="Content Placeholder 2"/>
          <p:cNvSpPr>
            <a:spLocks noGrp="1"/>
          </p:cNvSpPr>
          <p:nvPr>
            <p:ph idx="1"/>
          </p:nvPr>
        </p:nvSpPr>
        <p:spPr>
          <a:xfrm>
            <a:off x="195" y="1389522"/>
            <a:ext cx="8229600" cy="1782137"/>
          </a:xfrm>
        </p:spPr>
        <p:txBody>
          <a:bodyPr/>
          <a:lstStyle/>
          <a:p>
            <a:pPr algn="just"/>
            <a:r>
              <a:rPr lang="en-US" i="1" dirty="0"/>
              <a:t>Process standards</a:t>
            </a:r>
            <a:r>
              <a:rPr lang="en-US" dirty="0"/>
              <a:t> </a:t>
            </a:r>
          </a:p>
          <a:p>
            <a:pPr lvl="1" algn="just"/>
            <a:r>
              <a:rPr lang="en-US" dirty="0"/>
              <a:t>It includes:</a:t>
            </a:r>
          </a:p>
          <a:p>
            <a:pPr lvl="2" algn="just"/>
            <a:r>
              <a:rPr lang="en-US" b="1" dirty="0"/>
              <a:t>The underlying process to better product development</a:t>
            </a:r>
          </a:p>
          <a:p>
            <a:pPr lvl="2" algn="just"/>
            <a:r>
              <a:rPr lang="en-US" b="1" dirty="0"/>
              <a:t>Focus on design &amp; validation</a:t>
            </a:r>
            <a:endParaRPr lang="en-US" dirty="0"/>
          </a:p>
          <a:p>
            <a:pPr lvl="2" algn="just"/>
            <a:r>
              <a:rPr lang="en-US" b="1" dirty="0"/>
              <a:t>process support tools</a:t>
            </a:r>
            <a:r>
              <a:rPr lang="en-US" dirty="0"/>
              <a:t> (like creating a fishbone diagram to identify the cause &amp; effects of a problem on a product)</a:t>
            </a:r>
          </a:p>
          <a:p>
            <a:pPr lvl="2" algn="just"/>
            <a:r>
              <a:rPr lang="en-US" b="1" dirty="0"/>
              <a:t>a description of the documents </a:t>
            </a:r>
            <a:r>
              <a:rPr lang="en-US" dirty="0"/>
              <a:t>that should be written during these processes.</a:t>
            </a:r>
            <a:endParaRPr lang="en-GB" dirty="0"/>
          </a:p>
          <a:p>
            <a:pPr marL="0" indent="0" algn="just">
              <a:buNone/>
            </a:pPr>
            <a:endParaRPr lang="en-US" dirty="0"/>
          </a:p>
        </p:txBody>
      </p:sp>
      <p:sp>
        <p:nvSpPr>
          <p:cNvPr id="4" name="Date Placeholder 3"/>
          <p:cNvSpPr>
            <a:spLocks noGrp="1"/>
          </p:cNvSpPr>
          <p:nvPr>
            <p:ph type="dt" sz="half" idx="10"/>
          </p:nvPr>
        </p:nvSpPr>
        <p:spPr/>
        <p:txBody>
          <a:bodyPr/>
          <a:lstStyle/>
          <a:p>
            <a:pPr defTabSz="685800">
              <a:defRPr/>
            </a:pPr>
            <a:fld id="{B5B21F2E-52E5-4DED-8D6F-16C0FF28F9A6}" type="datetime1">
              <a:rPr lang="en-US" sz="900" smtClean="0">
                <a:solidFill>
                  <a:prstClr val="black">
                    <a:tint val="75000"/>
                  </a:prstClr>
                </a:solidFill>
                <a:latin typeface="Calibri"/>
              </a:rPr>
              <a:t>4/20/2026</a:t>
            </a:fld>
            <a:endParaRPr lang="en-US" sz="900"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745CE82A-87C3-2841-AAF3-37DF1E34DC62}" type="slidenum">
              <a:rPr lang="en-US" sz="900">
                <a:solidFill>
                  <a:prstClr val="black">
                    <a:tint val="75000"/>
                  </a:prstClr>
                </a:solidFill>
                <a:latin typeface="Calibri"/>
              </a:rPr>
              <a:pPr defTabSz="685800">
                <a:defRPr/>
              </a:pPr>
              <a:t>15</a:t>
            </a:fld>
            <a:endParaRPr lang="en-US" sz="900">
              <a:solidFill>
                <a:prstClr val="black">
                  <a:tint val="75000"/>
                </a:prstClr>
              </a:solidFill>
              <a:latin typeface="Calibri"/>
            </a:endParaRPr>
          </a:p>
        </p:txBody>
      </p:sp>
      <p:grpSp>
        <p:nvGrpSpPr>
          <p:cNvPr id="7" name="Group 6">
            <a:extLst>
              <a:ext uri="{FF2B5EF4-FFF2-40B4-BE49-F238E27FC236}">
                <a16:creationId xmlns:a16="http://schemas.microsoft.com/office/drawing/2014/main" id="{E7656BA6-DBD1-6355-5378-730F07655243}"/>
              </a:ext>
            </a:extLst>
          </p:cNvPr>
          <p:cNvGrpSpPr/>
          <p:nvPr/>
        </p:nvGrpSpPr>
        <p:grpSpPr>
          <a:xfrm>
            <a:off x="1259632" y="4214650"/>
            <a:ext cx="6794920" cy="1583878"/>
            <a:chOff x="1287888" y="4333713"/>
            <a:chExt cx="9059893" cy="2111838"/>
          </a:xfrm>
        </p:grpSpPr>
        <p:sp>
          <p:nvSpPr>
            <p:cNvPr id="50" name="TextBox 49">
              <a:extLst>
                <a:ext uri="{FF2B5EF4-FFF2-40B4-BE49-F238E27FC236}">
                  <a16:creationId xmlns:a16="http://schemas.microsoft.com/office/drawing/2014/main" id="{7E2CF0B5-59E5-82CE-E5A1-EFED59752E46}"/>
                </a:ext>
              </a:extLst>
            </p:cNvPr>
            <p:cNvSpPr txBox="1"/>
            <p:nvPr/>
          </p:nvSpPr>
          <p:spPr>
            <a:xfrm>
              <a:off x="2464683" y="4500400"/>
              <a:ext cx="1775205" cy="307776"/>
            </a:xfrm>
            <a:prstGeom prst="rect">
              <a:avLst/>
            </a:prstGeom>
            <a:noFill/>
          </p:spPr>
          <p:txBody>
            <a:bodyPr wrap="square" rtlCol="0">
              <a:spAutoFit/>
            </a:bodyPr>
            <a:lstStyle/>
            <a:p>
              <a:r>
                <a:rPr lang="en-US" sz="900" dirty="0"/>
                <a:t>Missing requirements</a:t>
              </a:r>
            </a:p>
          </p:txBody>
        </p:sp>
        <p:sp>
          <p:nvSpPr>
            <p:cNvPr id="51" name="TextBox 50">
              <a:extLst>
                <a:ext uri="{FF2B5EF4-FFF2-40B4-BE49-F238E27FC236}">
                  <a16:creationId xmlns:a16="http://schemas.microsoft.com/office/drawing/2014/main" id="{6900FC00-9B6D-7882-D662-0FC9154E0315}"/>
                </a:ext>
              </a:extLst>
            </p:cNvPr>
            <p:cNvSpPr txBox="1"/>
            <p:nvPr/>
          </p:nvSpPr>
          <p:spPr>
            <a:xfrm>
              <a:off x="4477112" y="4333713"/>
              <a:ext cx="1775205" cy="492443"/>
            </a:xfrm>
            <a:prstGeom prst="rect">
              <a:avLst/>
            </a:prstGeom>
            <a:noFill/>
          </p:spPr>
          <p:txBody>
            <a:bodyPr wrap="square" rtlCol="0">
              <a:spAutoFit/>
            </a:bodyPr>
            <a:lstStyle/>
            <a:p>
              <a:r>
                <a:rPr lang="en-US" sz="900" dirty="0"/>
                <a:t>Ambiguous requirements</a:t>
              </a:r>
            </a:p>
          </p:txBody>
        </p:sp>
        <p:cxnSp>
          <p:nvCxnSpPr>
            <p:cNvPr id="38" name="Straight Arrow Connector 37">
              <a:extLst>
                <a:ext uri="{FF2B5EF4-FFF2-40B4-BE49-F238E27FC236}">
                  <a16:creationId xmlns:a16="http://schemas.microsoft.com/office/drawing/2014/main" id="{BFA92F7B-7929-35DB-9CB1-3582C223C7F0}"/>
                </a:ext>
              </a:extLst>
            </p:cNvPr>
            <p:cNvCxnSpPr/>
            <p:nvPr/>
          </p:nvCxnSpPr>
          <p:spPr>
            <a:xfrm>
              <a:off x="2865268" y="5304714"/>
              <a:ext cx="50483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3DB9475-0D51-C1D0-4447-B4C77C08D0AE}"/>
                </a:ext>
              </a:extLst>
            </p:cNvPr>
            <p:cNvCxnSpPr>
              <a:cxnSpLocks/>
            </p:cNvCxnSpPr>
            <p:nvPr/>
          </p:nvCxnSpPr>
          <p:spPr>
            <a:xfrm>
              <a:off x="3341576" y="4776208"/>
              <a:ext cx="572316" cy="5201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13FAF7D3-169D-E480-BDDD-5C417B6C42A8}"/>
                </a:ext>
              </a:extLst>
            </p:cNvPr>
            <p:cNvCxnSpPr/>
            <p:nvPr/>
          </p:nvCxnSpPr>
          <p:spPr>
            <a:xfrm>
              <a:off x="5179697" y="4776208"/>
              <a:ext cx="419450" cy="5285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A16700A-07E6-E753-1047-5EB95F2A0D32}"/>
                </a:ext>
              </a:extLst>
            </p:cNvPr>
            <p:cNvCxnSpPr>
              <a:cxnSpLocks/>
            </p:cNvCxnSpPr>
            <p:nvPr/>
          </p:nvCxnSpPr>
          <p:spPr>
            <a:xfrm flipV="1">
              <a:off x="2930981" y="5321492"/>
              <a:ext cx="1301692" cy="740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36E32C0-AD88-4894-D817-E84450C58A66}"/>
                </a:ext>
              </a:extLst>
            </p:cNvPr>
            <p:cNvCxnSpPr>
              <a:cxnSpLocks/>
            </p:cNvCxnSpPr>
            <p:nvPr/>
          </p:nvCxnSpPr>
          <p:spPr>
            <a:xfrm flipH="1" flipV="1">
              <a:off x="6666878" y="5296325"/>
              <a:ext cx="500544" cy="704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B17AD3C-8D96-277D-0D5A-40C4659F22B8}"/>
                </a:ext>
              </a:extLst>
            </p:cNvPr>
            <p:cNvSpPr txBox="1"/>
            <p:nvPr/>
          </p:nvSpPr>
          <p:spPr>
            <a:xfrm>
              <a:off x="7982552" y="5111659"/>
              <a:ext cx="2365229" cy="861775"/>
            </a:xfrm>
            <a:prstGeom prst="rect">
              <a:avLst/>
            </a:prstGeom>
            <a:noFill/>
          </p:spPr>
          <p:txBody>
            <a:bodyPr wrap="square" rtlCol="0">
              <a:spAutoFit/>
            </a:bodyPr>
            <a:lstStyle/>
            <a:p>
              <a:r>
                <a:rPr lang="en-US" sz="1800" dirty="0"/>
                <a:t>Specifications defect</a:t>
              </a:r>
            </a:p>
          </p:txBody>
        </p:sp>
        <p:sp>
          <p:nvSpPr>
            <p:cNvPr id="52" name="TextBox 51">
              <a:extLst>
                <a:ext uri="{FF2B5EF4-FFF2-40B4-BE49-F238E27FC236}">
                  <a16:creationId xmlns:a16="http://schemas.microsoft.com/office/drawing/2014/main" id="{C6691464-C54E-6CA6-9F54-F8C9279F023D}"/>
                </a:ext>
              </a:extLst>
            </p:cNvPr>
            <p:cNvSpPr txBox="1"/>
            <p:nvPr/>
          </p:nvSpPr>
          <p:spPr>
            <a:xfrm>
              <a:off x="6917150" y="6001000"/>
              <a:ext cx="1775205" cy="307776"/>
            </a:xfrm>
            <a:prstGeom prst="rect">
              <a:avLst/>
            </a:prstGeom>
            <a:noFill/>
          </p:spPr>
          <p:txBody>
            <a:bodyPr wrap="square" rtlCol="0">
              <a:spAutoFit/>
            </a:bodyPr>
            <a:lstStyle/>
            <a:p>
              <a:r>
                <a:rPr lang="en-US" sz="900" dirty="0"/>
                <a:t>Change in requirements</a:t>
              </a:r>
            </a:p>
          </p:txBody>
        </p:sp>
        <p:sp>
          <p:nvSpPr>
            <p:cNvPr id="53" name="TextBox 52">
              <a:extLst>
                <a:ext uri="{FF2B5EF4-FFF2-40B4-BE49-F238E27FC236}">
                  <a16:creationId xmlns:a16="http://schemas.microsoft.com/office/drawing/2014/main" id="{18BBC108-CC16-74CE-B345-C9A679326CA5}"/>
                </a:ext>
              </a:extLst>
            </p:cNvPr>
            <p:cNvSpPr txBox="1"/>
            <p:nvPr/>
          </p:nvSpPr>
          <p:spPr>
            <a:xfrm>
              <a:off x="2336761" y="6010998"/>
              <a:ext cx="1775205" cy="307776"/>
            </a:xfrm>
            <a:prstGeom prst="rect">
              <a:avLst/>
            </a:prstGeom>
            <a:noFill/>
          </p:spPr>
          <p:txBody>
            <a:bodyPr wrap="square" rtlCol="0">
              <a:spAutoFit/>
            </a:bodyPr>
            <a:lstStyle/>
            <a:p>
              <a:r>
                <a:rPr lang="en-US" sz="900" dirty="0"/>
                <a:t>incorrect requirements</a:t>
              </a:r>
            </a:p>
          </p:txBody>
        </p:sp>
        <p:cxnSp>
          <p:nvCxnSpPr>
            <p:cNvPr id="55" name="Straight Arrow Connector 54">
              <a:extLst>
                <a:ext uri="{FF2B5EF4-FFF2-40B4-BE49-F238E27FC236}">
                  <a16:creationId xmlns:a16="http://schemas.microsoft.com/office/drawing/2014/main" id="{60AFD97A-125E-F2B9-0941-E77DDF9A8935}"/>
                </a:ext>
              </a:extLst>
            </p:cNvPr>
            <p:cNvCxnSpPr>
              <a:cxnSpLocks/>
            </p:cNvCxnSpPr>
            <p:nvPr/>
          </p:nvCxnSpPr>
          <p:spPr>
            <a:xfrm flipH="1">
              <a:off x="3627734" y="5643663"/>
              <a:ext cx="1671741" cy="4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B7622A98-177F-E532-59AE-712C1D6F74A4}"/>
                </a:ext>
              </a:extLst>
            </p:cNvPr>
            <p:cNvSpPr txBox="1"/>
            <p:nvPr/>
          </p:nvSpPr>
          <p:spPr>
            <a:xfrm>
              <a:off x="4111967" y="5390049"/>
              <a:ext cx="2232371" cy="307776"/>
            </a:xfrm>
            <a:prstGeom prst="rect">
              <a:avLst/>
            </a:prstGeom>
            <a:noFill/>
          </p:spPr>
          <p:txBody>
            <a:bodyPr wrap="square" rtlCol="0">
              <a:spAutoFit/>
            </a:bodyPr>
            <a:lstStyle/>
            <a:p>
              <a:r>
                <a:rPr lang="en-US" sz="900" dirty="0"/>
                <a:t>Customer give wrong info.</a:t>
              </a:r>
            </a:p>
          </p:txBody>
        </p:sp>
        <p:sp>
          <p:nvSpPr>
            <p:cNvPr id="61" name="TextBox 60">
              <a:extLst>
                <a:ext uri="{FF2B5EF4-FFF2-40B4-BE49-F238E27FC236}">
                  <a16:creationId xmlns:a16="http://schemas.microsoft.com/office/drawing/2014/main" id="{179AA9C9-DF61-3B74-B72D-77DF98D8BC1F}"/>
                </a:ext>
              </a:extLst>
            </p:cNvPr>
            <p:cNvSpPr txBox="1"/>
            <p:nvPr/>
          </p:nvSpPr>
          <p:spPr>
            <a:xfrm>
              <a:off x="4355981" y="6137775"/>
              <a:ext cx="2232371" cy="307776"/>
            </a:xfrm>
            <a:prstGeom prst="rect">
              <a:avLst/>
            </a:prstGeom>
            <a:noFill/>
          </p:spPr>
          <p:txBody>
            <a:bodyPr wrap="square" rtlCol="0">
              <a:spAutoFit/>
            </a:bodyPr>
            <a:lstStyle/>
            <a:p>
              <a:r>
                <a:rPr lang="en-US" sz="900" dirty="0"/>
                <a:t>Wrong customer enquired</a:t>
              </a:r>
            </a:p>
          </p:txBody>
        </p:sp>
        <p:sp>
          <p:nvSpPr>
            <p:cNvPr id="62" name="TextBox 61">
              <a:extLst>
                <a:ext uri="{FF2B5EF4-FFF2-40B4-BE49-F238E27FC236}">
                  <a16:creationId xmlns:a16="http://schemas.microsoft.com/office/drawing/2014/main" id="{5F95DE51-2203-A579-654F-C97B3ED88E73}"/>
                </a:ext>
              </a:extLst>
            </p:cNvPr>
            <p:cNvSpPr txBox="1"/>
            <p:nvPr/>
          </p:nvSpPr>
          <p:spPr>
            <a:xfrm>
              <a:off x="1287888" y="5488948"/>
              <a:ext cx="1775205" cy="307776"/>
            </a:xfrm>
            <a:prstGeom prst="rect">
              <a:avLst/>
            </a:prstGeom>
            <a:noFill/>
          </p:spPr>
          <p:txBody>
            <a:bodyPr wrap="square" rtlCol="0">
              <a:spAutoFit/>
            </a:bodyPr>
            <a:lstStyle/>
            <a:p>
              <a:r>
                <a:rPr lang="en-US" sz="900" dirty="0"/>
                <a:t>Using outdated info.</a:t>
              </a:r>
            </a:p>
          </p:txBody>
        </p:sp>
        <p:cxnSp>
          <p:nvCxnSpPr>
            <p:cNvPr id="64" name="Straight Arrow Connector 63">
              <a:extLst>
                <a:ext uri="{FF2B5EF4-FFF2-40B4-BE49-F238E27FC236}">
                  <a16:creationId xmlns:a16="http://schemas.microsoft.com/office/drawing/2014/main" id="{13FF0351-3E72-B7F4-B91D-71D565280132}"/>
                </a:ext>
              </a:extLst>
            </p:cNvPr>
            <p:cNvCxnSpPr/>
            <p:nvPr/>
          </p:nvCxnSpPr>
          <p:spPr>
            <a:xfrm flipV="1">
              <a:off x="2680710" y="5480991"/>
              <a:ext cx="1233182" cy="138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8B4C0150-B504-F343-26FE-ABFEB3A00A6D}"/>
                </a:ext>
              </a:extLst>
            </p:cNvPr>
            <p:cNvCxnSpPr>
              <a:stCxn id="61" idx="0"/>
              <a:endCxn id="60" idx="2"/>
            </p:cNvCxnSpPr>
            <p:nvPr/>
          </p:nvCxnSpPr>
          <p:spPr>
            <a:xfrm flipH="1" flipV="1">
              <a:off x="5228152" y="5697826"/>
              <a:ext cx="244015" cy="4399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0" name="Footer Placeholder 69">
            <a:extLst>
              <a:ext uri="{FF2B5EF4-FFF2-40B4-BE49-F238E27FC236}">
                <a16:creationId xmlns:a16="http://schemas.microsoft.com/office/drawing/2014/main" id="{9E033818-C954-804C-C8A1-29E2F4D32DD1}"/>
              </a:ext>
            </a:extLst>
          </p:cNvPr>
          <p:cNvSpPr>
            <a:spLocks noGrp="1"/>
          </p:cNvSpPr>
          <p:nvPr>
            <p:ph type="ftr" sz="quarter" idx="11"/>
          </p:nvPr>
        </p:nvSpPr>
        <p:spPr/>
        <p:txBody>
          <a:bodyPr/>
          <a:lstStyle/>
          <a:p>
            <a:r>
              <a:rPr lang="en-US"/>
              <a:t>Chapter 24 Quality management</a:t>
            </a:r>
          </a:p>
        </p:txBody>
      </p:sp>
    </p:spTree>
    <p:extLst>
      <p:ext uri="{BB962C8B-B14F-4D97-AF65-F5344CB8AC3E}">
        <p14:creationId xmlns:p14="http://schemas.microsoft.com/office/powerpoint/2010/main" val="355153589"/>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and process standards</a:t>
            </a:r>
            <a:r>
              <a:rPr lang="en-GB" dirty="0"/>
              <a:t> </a:t>
            </a:r>
            <a:endParaRPr lang="en-US" dirty="0"/>
          </a:p>
        </p:txBody>
      </p:sp>
      <p:graphicFrame>
        <p:nvGraphicFramePr>
          <p:cNvPr id="4" name="Content Placeholder 3"/>
          <p:cNvGraphicFramePr>
            <a:graphicFrameLocks noGrp="1"/>
          </p:cNvGraphicFramePr>
          <p:nvPr>
            <p:ph idx="1"/>
          </p:nvPr>
        </p:nvGraphicFramePr>
        <p:xfrm>
          <a:off x="457200" y="1972456"/>
          <a:ext cx="8229600" cy="27508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indent="347345" algn="just">
                        <a:spcBef>
                          <a:spcPts val="300"/>
                        </a:spcBef>
                        <a:spcAft>
                          <a:spcPts val="300"/>
                        </a:spcAft>
                        <a:tabLst>
                          <a:tab pos="342900" algn="l"/>
                          <a:tab pos="685800" algn="l"/>
                          <a:tab pos="1028700" algn="l"/>
                        </a:tabLst>
                      </a:pPr>
                      <a:r>
                        <a:rPr lang="en-GB" sz="1600" b="1" dirty="0">
                          <a:solidFill>
                            <a:srgbClr val="000000"/>
                          </a:solidFill>
                          <a:latin typeface="Arial"/>
                          <a:ea typeface="Times New Roman"/>
                          <a:cs typeface="Arial"/>
                        </a:rPr>
                        <a:t>Product standards</a:t>
                      </a:r>
                    </a:p>
                  </a:txBody>
                  <a:tcPr marL="68580" marR="68580" marT="0" marB="0"/>
                </a:tc>
                <a:tc>
                  <a:txBody>
                    <a:bodyPr/>
                    <a:lstStyle/>
                    <a:p>
                      <a:pPr indent="347345" algn="just">
                        <a:spcBef>
                          <a:spcPts val="300"/>
                        </a:spcBef>
                        <a:spcAft>
                          <a:spcPts val="300"/>
                        </a:spcAft>
                        <a:tabLst>
                          <a:tab pos="342900" algn="l"/>
                          <a:tab pos="685800" algn="l"/>
                          <a:tab pos="1028700" algn="l"/>
                        </a:tabLst>
                      </a:pPr>
                      <a:r>
                        <a:rPr lang="en-GB" sz="1600" b="1" dirty="0">
                          <a:solidFill>
                            <a:srgbClr val="000000"/>
                          </a:solidFill>
                          <a:latin typeface="Arial"/>
                          <a:ea typeface="Times New Roman"/>
                          <a:cs typeface="Arial"/>
                        </a:rPr>
                        <a:t>Process standards</a:t>
                      </a:r>
                    </a:p>
                  </a:txBody>
                  <a:tcPr marL="68580" marR="68580" marT="0" marB="0"/>
                </a:tc>
                <a:extLst>
                  <a:ext uri="{0D108BD9-81ED-4DB2-BD59-A6C34878D82A}">
                    <a16:rowId xmlns:a16="http://schemas.microsoft.com/office/drawing/2014/main" val="10000"/>
                  </a:ext>
                </a:extLst>
              </a:tr>
              <a:tr h="370840">
                <a:tc>
                  <a:txBody>
                    <a:bodyPr/>
                    <a:lstStyle/>
                    <a:p>
                      <a:pPr indent="347345" algn="l">
                        <a:spcAft>
                          <a:spcPts val="300"/>
                        </a:spcAft>
                        <a:tabLst>
                          <a:tab pos="342900" algn="l"/>
                          <a:tab pos="685800" algn="l"/>
                          <a:tab pos="1028700" algn="l"/>
                        </a:tabLst>
                      </a:pPr>
                      <a:r>
                        <a:rPr lang="en-GB" sz="1600" dirty="0">
                          <a:solidFill>
                            <a:srgbClr val="000000"/>
                          </a:solidFill>
                          <a:latin typeface="Arial"/>
                          <a:ea typeface="Times New Roman"/>
                          <a:cs typeface="Arial"/>
                        </a:rPr>
                        <a:t>Design review form</a:t>
                      </a:r>
                    </a:p>
                  </a:txBody>
                  <a:tcPr marL="68580" marR="68580" marT="0" marB="0"/>
                </a:tc>
                <a:tc>
                  <a:txBody>
                    <a:bodyPr/>
                    <a:lstStyle/>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Design review conduct</a:t>
                      </a:r>
                    </a:p>
                  </a:txBody>
                  <a:tcPr marL="68580" marR="68580" marT="0" marB="0"/>
                </a:tc>
                <a:extLst>
                  <a:ext uri="{0D108BD9-81ED-4DB2-BD59-A6C34878D82A}">
                    <a16:rowId xmlns:a16="http://schemas.microsoft.com/office/drawing/2014/main" val="10001"/>
                  </a:ext>
                </a:extLst>
              </a:tr>
              <a:tr h="370840">
                <a:tc>
                  <a:txBody>
                    <a:bodyPr/>
                    <a:lstStyle/>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Requirements document  </a:t>
                      </a:r>
                    </a:p>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structure</a:t>
                      </a:r>
                    </a:p>
                  </a:txBody>
                  <a:tcPr marL="68580" marR="68580" marT="0" marB="0"/>
                </a:tc>
                <a:tc>
                  <a:txBody>
                    <a:bodyPr/>
                    <a:lstStyle/>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Submission of new code for </a:t>
                      </a:r>
                    </a:p>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system building</a:t>
                      </a:r>
                    </a:p>
                  </a:txBody>
                  <a:tcPr marL="68580" marR="68580" marT="0" marB="0"/>
                </a:tc>
                <a:extLst>
                  <a:ext uri="{0D108BD9-81ED-4DB2-BD59-A6C34878D82A}">
                    <a16:rowId xmlns:a16="http://schemas.microsoft.com/office/drawing/2014/main" val="10002"/>
                  </a:ext>
                </a:extLst>
              </a:tr>
              <a:tr h="370840">
                <a:tc>
                  <a:txBody>
                    <a:bodyPr/>
                    <a:lstStyle/>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Method header format</a:t>
                      </a:r>
                    </a:p>
                  </a:txBody>
                  <a:tcPr marL="68580" marR="68580" marT="0" marB="0"/>
                </a:tc>
                <a:tc>
                  <a:txBody>
                    <a:bodyPr/>
                    <a:lstStyle/>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Version release process</a:t>
                      </a:r>
                    </a:p>
                  </a:txBody>
                  <a:tcPr marL="68580" marR="68580" marT="0" marB="0"/>
                </a:tc>
                <a:extLst>
                  <a:ext uri="{0D108BD9-81ED-4DB2-BD59-A6C34878D82A}">
                    <a16:rowId xmlns:a16="http://schemas.microsoft.com/office/drawing/2014/main" val="10003"/>
                  </a:ext>
                </a:extLst>
              </a:tr>
              <a:tr h="370840">
                <a:tc>
                  <a:txBody>
                    <a:bodyPr/>
                    <a:lstStyle/>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Java programming style</a:t>
                      </a:r>
                    </a:p>
                  </a:txBody>
                  <a:tcPr marL="68580" marR="68580" marT="0" marB="0"/>
                </a:tc>
                <a:tc>
                  <a:txBody>
                    <a:bodyPr/>
                    <a:lstStyle/>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Project plan approval process</a:t>
                      </a:r>
                    </a:p>
                  </a:txBody>
                  <a:tcPr marL="68580" marR="68580" marT="0" marB="0"/>
                </a:tc>
                <a:extLst>
                  <a:ext uri="{0D108BD9-81ED-4DB2-BD59-A6C34878D82A}">
                    <a16:rowId xmlns:a16="http://schemas.microsoft.com/office/drawing/2014/main" val="10004"/>
                  </a:ext>
                </a:extLst>
              </a:tr>
              <a:tr h="370840">
                <a:tc>
                  <a:txBody>
                    <a:bodyPr/>
                    <a:lstStyle/>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Project plan format</a:t>
                      </a:r>
                    </a:p>
                  </a:txBody>
                  <a:tcPr marL="68580" marR="68580" marT="0" marB="0"/>
                </a:tc>
                <a:tc>
                  <a:txBody>
                    <a:bodyPr/>
                    <a:lstStyle/>
                    <a:p>
                      <a:pPr indent="347345" algn="just">
                        <a:spcAft>
                          <a:spcPts val="300"/>
                        </a:spcAft>
                        <a:tabLst>
                          <a:tab pos="342900" algn="l"/>
                          <a:tab pos="685800" algn="l"/>
                          <a:tab pos="1028700" algn="l"/>
                        </a:tabLst>
                      </a:pPr>
                      <a:r>
                        <a:rPr lang="en-GB" sz="1600">
                          <a:solidFill>
                            <a:srgbClr val="000000"/>
                          </a:solidFill>
                          <a:latin typeface="Arial"/>
                          <a:ea typeface="Times New Roman"/>
                          <a:cs typeface="Arial"/>
                        </a:rPr>
                        <a:t>Change control process</a:t>
                      </a:r>
                    </a:p>
                  </a:txBody>
                  <a:tcPr marL="68580" marR="68580" marT="0" marB="0"/>
                </a:tc>
                <a:extLst>
                  <a:ext uri="{0D108BD9-81ED-4DB2-BD59-A6C34878D82A}">
                    <a16:rowId xmlns:a16="http://schemas.microsoft.com/office/drawing/2014/main" val="10005"/>
                  </a:ext>
                </a:extLst>
              </a:tr>
              <a:tr h="370840">
                <a:tc>
                  <a:txBody>
                    <a:bodyPr/>
                    <a:lstStyle/>
                    <a:p>
                      <a:pPr indent="347345" algn="l">
                        <a:spcAft>
                          <a:spcPts val="300"/>
                        </a:spcAft>
                        <a:tabLst>
                          <a:tab pos="342900" algn="l"/>
                          <a:tab pos="685800" algn="l"/>
                          <a:tab pos="1028700" algn="l"/>
                        </a:tabLst>
                      </a:pPr>
                      <a:r>
                        <a:rPr lang="en-GB" sz="1600">
                          <a:solidFill>
                            <a:srgbClr val="000000"/>
                          </a:solidFill>
                          <a:latin typeface="Arial"/>
                          <a:ea typeface="Times New Roman"/>
                          <a:cs typeface="Arial"/>
                        </a:rPr>
                        <a:t>Change request form</a:t>
                      </a:r>
                    </a:p>
                  </a:txBody>
                  <a:tcPr marL="68580" marR="68580" marT="0" marB="0"/>
                </a:tc>
                <a:tc>
                  <a:txBody>
                    <a:bodyPr/>
                    <a:lstStyle/>
                    <a:p>
                      <a:pPr indent="347345" algn="just">
                        <a:spcAft>
                          <a:spcPts val="300"/>
                        </a:spcAft>
                        <a:tabLst>
                          <a:tab pos="342900" algn="l"/>
                          <a:tab pos="685800" algn="l"/>
                          <a:tab pos="1028700" algn="l"/>
                        </a:tabLst>
                      </a:pPr>
                      <a:r>
                        <a:rPr lang="en-GB" sz="1600" dirty="0">
                          <a:solidFill>
                            <a:srgbClr val="000000"/>
                          </a:solidFill>
                          <a:latin typeface="Arial"/>
                          <a:ea typeface="Times New Roman"/>
                          <a:cs typeface="Arial"/>
                        </a:rPr>
                        <a:t>Test recording process</a:t>
                      </a:r>
                    </a:p>
                  </a:txBody>
                  <a:tcPr marL="68580" marR="68580" marT="0" marB="0"/>
                </a:tc>
                <a:extLst>
                  <a:ext uri="{0D108BD9-81ED-4DB2-BD59-A6C34878D82A}">
                    <a16:rowId xmlns:a16="http://schemas.microsoft.com/office/drawing/2014/main" val="10006"/>
                  </a:ext>
                </a:extLst>
              </a:tr>
            </a:tbl>
          </a:graphicData>
        </a:graphic>
      </p:graphicFrame>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16</a:t>
            </a:fld>
            <a:endParaRPr lang="en-US"/>
          </a:p>
        </p:txBody>
      </p:sp>
      <p:sp>
        <p:nvSpPr>
          <p:cNvPr id="3" name="Date Placeholder 2"/>
          <p:cNvSpPr>
            <a:spLocks noGrp="1"/>
          </p:cNvSpPr>
          <p:nvPr>
            <p:ph type="dt" sz="half" idx="10"/>
          </p:nvPr>
        </p:nvSpPr>
        <p:spPr/>
        <p:txBody>
          <a:bodyPr/>
          <a:lstStyle/>
          <a:p>
            <a:fld id="{03014FB3-7AD5-435F-B827-3811ACF794AD}" type="datetime1">
              <a:rPr lang="en-US" smtClean="0"/>
              <a:t>4/20/2026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a:t>Problems with standards</a:t>
            </a:r>
          </a:p>
        </p:txBody>
      </p:sp>
      <p:sp>
        <p:nvSpPr>
          <p:cNvPr id="45059" name="Rectangle 3"/>
          <p:cNvSpPr>
            <a:spLocks noGrp="1" noChangeArrowheads="1"/>
          </p:cNvSpPr>
          <p:nvPr>
            <p:ph idx="1"/>
          </p:nvPr>
        </p:nvSpPr>
        <p:spPr/>
        <p:txBody>
          <a:body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Arial"/>
                <a:ea typeface="ＭＳ Ｐゴシック" charset="-128"/>
                <a:cs typeface="Arial"/>
              </a:rPr>
              <a:t>They might </a:t>
            </a:r>
            <a:r>
              <a:rPr kumimoji="0" lang="en-GB" sz="2400" b="1" i="0" u="none" strike="noStrike" kern="1200" cap="none" spc="0" normalizeH="0" baseline="0" noProof="0" dirty="0">
                <a:ln>
                  <a:noFill/>
                </a:ln>
                <a:solidFill>
                  <a:srgbClr val="46424D"/>
                </a:solidFill>
                <a:effectLst/>
                <a:uLnTx/>
                <a:uFillTx/>
                <a:latin typeface="Arial"/>
                <a:ea typeface="ＭＳ Ｐゴシック" charset="-128"/>
                <a:cs typeface="Arial"/>
              </a:rPr>
              <a:t>get outdated with fast evolving technologies.</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2000" b="0" i="0" u="none" strike="noStrike" kern="1200" cap="none" spc="0" normalizeH="0" baseline="0" noProof="0" dirty="0">
                <a:ln>
                  <a:noFill/>
                </a:ln>
                <a:solidFill>
                  <a:srgbClr val="46424D"/>
                </a:solidFill>
                <a:effectLst/>
                <a:uLnTx/>
                <a:uFillTx/>
                <a:latin typeface="Arial"/>
                <a:ea typeface="ＭＳ Ｐゴシック" charset="-128"/>
                <a:cs typeface="Arial"/>
              </a:rPr>
              <a:t>Standards should be revised on regular basis to improve product quality</a:t>
            </a:r>
            <a:endParaRPr kumimoji="0" lang="en-GB" sz="2400" b="0" i="0" u="none" strike="noStrike" kern="1200" cap="none" spc="0" normalizeH="0" baseline="0" noProof="0" dirty="0">
              <a:ln>
                <a:noFill/>
              </a:ln>
              <a:solidFill>
                <a:srgbClr val="46424D"/>
              </a:solidFill>
              <a:effectLst/>
              <a:uLnTx/>
              <a:uFillTx/>
              <a:latin typeface="Arial"/>
              <a:ea typeface="ＭＳ Ｐゴシック" charset="-128"/>
              <a:cs typeface="Arial"/>
            </a:endParaRP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Arial"/>
                <a:ea typeface="ＭＳ Ｐゴシック" charset="-128"/>
                <a:cs typeface="Arial"/>
              </a:rPr>
              <a:t>Have </a:t>
            </a:r>
            <a:r>
              <a:rPr kumimoji="0" lang="en-GB" sz="2400" b="1" i="0" strike="noStrike" kern="1200" cap="none" spc="0" normalizeH="0" baseline="0" noProof="0" dirty="0">
                <a:ln>
                  <a:noFill/>
                </a:ln>
                <a:solidFill>
                  <a:srgbClr val="46424D"/>
                </a:solidFill>
                <a:effectLst/>
                <a:uLnTx/>
                <a:uFillTx/>
                <a:latin typeface="Arial"/>
                <a:ea typeface="ＭＳ Ｐゴシック" charset="-128"/>
                <a:cs typeface="Arial"/>
              </a:rPr>
              <a:t>too much form filling &amp; documentation overhead.</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Arial"/>
                <a:ea typeface="ＭＳ Ｐゴシック" charset="-128"/>
                <a:cs typeface="Arial"/>
              </a:rPr>
              <a:t>Standards should not be rigid </a:t>
            </a:r>
          </a:p>
          <a:p>
            <a:pPr lvl="1" indent="-342900" algn="just">
              <a:spcBef>
                <a:spcPts val="600"/>
              </a:spcBef>
              <a:spcAft>
                <a:spcPts val="600"/>
              </a:spcAft>
              <a:buFont typeface="Wingdings" charset="2"/>
              <a:buChar char="²"/>
              <a:defRPr/>
            </a:pPr>
            <a:r>
              <a:rPr lang="en-GB" dirty="0"/>
              <a:t>As different type of software need different development processes.</a:t>
            </a:r>
          </a:p>
        </p:txBody>
      </p:sp>
      <p:sp>
        <p:nvSpPr>
          <p:cNvPr id="7" name="Footer Placeholder 6"/>
          <p:cNvSpPr>
            <a:spLocks noGrp="1"/>
          </p:cNvSpPr>
          <p:nvPr>
            <p:ph type="ftr" sz="quarter" idx="11"/>
          </p:nvPr>
        </p:nvSpPr>
        <p:spPr/>
        <p:txBody>
          <a:bodyPr/>
          <a:lstStyle/>
          <a:p>
            <a:r>
              <a:rPr lang="en-US"/>
              <a:t>Chapter 24 Quality management</a:t>
            </a:r>
          </a:p>
        </p:txBody>
      </p:sp>
      <p:sp>
        <p:nvSpPr>
          <p:cNvPr id="6" name="Slide Number Placeholder 5"/>
          <p:cNvSpPr>
            <a:spLocks noGrp="1"/>
          </p:cNvSpPr>
          <p:nvPr>
            <p:ph type="sldNum" sz="quarter" idx="12"/>
          </p:nvPr>
        </p:nvSpPr>
        <p:spPr/>
        <p:txBody>
          <a:bodyPr/>
          <a:lstStyle/>
          <a:p>
            <a:fld id="{745CE82A-87C3-2841-AAF3-37DF1E34DC62}" type="slidenum">
              <a:rPr lang="en-US" smtClean="0"/>
              <a:pPr/>
              <a:t>17</a:t>
            </a:fld>
            <a:endParaRPr lang="en-US"/>
          </a:p>
        </p:txBody>
      </p:sp>
      <p:sp>
        <p:nvSpPr>
          <p:cNvPr id="2" name="Date Placeholder 1"/>
          <p:cNvSpPr>
            <a:spLocks noGrp="1"/>
          </p:cNvSpPr>
          <p:nvPr>
            <p:ph type="dt" sz="half" idx="10"/>
          </p:nvPr>
        </p:nvSpPr>
        <p:spPr/>
        <p:txBody>
          <a:bodyPr/>
          <a:lstStyle/>
          <a:p>
            <a:fld id="{BF2B5749-DBA4-4E83-981F-51CEEC8B9FDB}" type="datetime1">
              <a:rPr lang="en-US" smtClean="0"/>
              <a:t>4/20/2026</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658" y="2726922"/>
            <a:ext cx="6156684" cy="857250"/>
          </a:xfrm>
        </p:spPr>
        <p:txBody>
          <a:bodyPr/>
          <a:lstStyle/>
          <a:p>
            <a:pPr algn="ctr"/>
            <a:r>
              <a:rPr lang="en-US" dirty="0"/>
              <a:t>Reviews and inspections</a:t>
            </a:r>
          </a:p>
        </p:txBody>
      </p:sp>
      <p:sp>
        <p:nvSpPr>
          <p:cNvPr id="4" name="Date Placeholder 3"/>
          <p:cNvSpPr>
            <a:spLocks noGrp="1"/>
          </p:cNvSpPr>
          <p:nvPr>
            <p:ph type="dt" sz="half" idx="10"/>
          </p:nvPr>
        </p:nvSpPr>
        <p:spPr/>
        <p:txBody>
          <a:bodyPr/>
          <a:lstStyle/>
          <a:p>
            <a:pPr eaLnBrk="0" hangingPunct="0"/>
            <a:fld id="{24DEAFD8-79E4-4544-86E2-E8666BE61F0F}"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18</a:t>
            </a:fld>
            <a:endParaRPr lang="en-US">
              <a:solidFill>
                <a:prstClr val="black">
                  <a:tint val="75000"/>
                </a:prstClr>
              </a:solidFill>
              <a:latin typeface="Calibri"/>
            </a:endParaRPr>
          </a:p>
        </p:txBody>
      </p:sp>
    </p:spTree>
    <p:extLst>
      <p:ext uri="{BB962C8B-B14F-4D97-AF65-F5344CB8AC3E}">
        <p14:creationId xmlns:p14="http://schemas.microsoft.com/office/powerpoint/2010/main" val="1002715524"/>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Reviews and inspections</a:t>
            </a:r>
          </a:p>
        </p:txBody>
      </p:sp>
      <p:sp>
        <p:nvSpPr>
          <p:cNvPr id="29699" name="Rectangle 3"/>
          <p:cNvSpPr>
            <a:spLocks noGrp="1" noChangeArrowheads="1"/>
          </p:cNvSpPr>
          <p:nvPr>
            <p:ph idx="1"/>
          </p:nvPr>
        </p:nvSpPr>
        <p:spPr/>
        <p:txBody>
          <a:bodyPr/>
          <a:lstStyle/>
          <a:p>
            <a:pPr algn="just"/>
            <a:r>
              <a:rPr lang="en-GB" b="1" dirty="0"/>
              <a:t>Quality assurance activities</a:t>
            </a:r>
          </a:p>
          <a:p>
            <a:pPr algn="just"/>
            <a:r>
              <a:rPr lang="en-GB" dirty="0"/>
              <a:t>Check for quality of the delivered product</a:t>
            </a:r>
          </a:p>
          <a:p>
            <a:pPr algn="just"/>
            <a:r>
              <a:rPr lang="en-GB" dirty="0"/>
              <a:t>Involves following activities:</a:t>
            </a:r>
          </a:p>
          <a:p>
            <a:pPr lvl="1" algn="just"/>
            <a:r>
              <a:rPr lang="en-GB" dirty="0"/>
              <a:t>Checking software</a:t>
            </a:r>
          </a:p>
          <a:p>
            <a:pPr lvl="1" algn="just"/>
            <a:r>
              <a:rPr lang="en-GB" dirty="0"/>
              <a:t>Checking documentation</a:t>
            </a:r>
          </a:p>
          <a:p>
            <a:pPr lvl="1" algn="just"/>
            <a:r>
              <a:rPr lang="en-GB" dirty="0"/>
              <a:t>Checking the development process</a:t>
            </a:r>
          </a:p>
          <a:p>
            <a:pPr lvl="1" algn="just"/>
            <a:r>
              <a:rPr lang="en-GB" dirty="0"/>
              <a:t>Identifying defects</a:t>
            </a:r>
          </a:p>
          <a:p>
            <a:pPr lvl="1" algn="just"/>
            <a:r>
              <a:rPr lang="en-GB" dirty="0"/>
              <a:t>Checking for the non-conformance with any standard.</a:t>
            </a:r>
          </a:p>
          <a:p>
            <a:pPr algn="just"/>
            <a:r>
              <a:rPr lang="en-GB" dirty="0"/>
              <a:t>They are performed side by side with software verification &amp; validation.</a:t>
            </a:r>
          </a:p>
        </p:txBody>
      </p:sp>
      <p:sp>
        <p:nvSpPr>
          <p:cNvPr id="7" name="Footer Placeholder 6"/>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19</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E532020A-9FE7-49F9-85EB-38017652B5A7}" type="datetime1">
              <a:rPr lang="en-US" smtClean="0">
                <a:solidFill>
                  <a:prstClr val="black">
                    <a:tint val="75000"/>
                  </a:prstClr>
                </a:solidFill>
                <a:latin typeface="Calibri"/>
              </a:rPr>
              <a:t>4/20/2026</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31957385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Reviews and inspections</a:t>
            </a:r>
          </a:p>
        </p:txBody>
      </p:sp>
      <p:sp>
        <p:nvSpPr>
          <p:cNvPr id="29699" name="Rectangle 3"/>
          <p:cNvSpPr>
            <a:spLocks noGrp="1" noChangeArrowheads="1"/>
          </p:cNvSpPr>
          <p:nvPr>
            <p:ph idx="1"/>
          </p:nvPr>
        </p:nvSpPr>
        <p:spPr>
          <a:xfrm>
            <a:off x="426368" y="1402805"/>
            <a:ext cx="8229600" cy="4525963"/>
          </a:xfrm>
        </p:spPr>
        <p:txBody>
          <a:bodyPr/>
          <a:lstStyle/>
          <a:p>
            <a:pPr algn="just"/>
            <a:r>
              <a:rPr lang="en-GB" dirty="0"/>
              <a:t>During review process:</a:t>
            </a:r>
          </a:p>
          <a:p>
            <a:pPr lvl="1" algn="just"/>
            <a:r>
              <a:rPr lang="en-GB" dirty="0"/>
              <a:t>A </a:t>
            </a:r>
            <a:r>
              <a:rPr lang="en-GB" i="1" u="sng" dirty="0"/>
              <a:t>group examines a process or system</a:t>
            </a:r>
            <a:r>
              <a:rPr lang="en-GB" i="1" dirty="0"/>
              <a:t> </a:t>
            </a:r>
            <a:r>
              <a:rPr lang="en-GB" dirty="0"/>
              <a:t>and its documentation </a:t>
            </a:r>
            <a:r>
              <a:rPr lang="en-GB" u="sng" dirty="0"/>
              <a:t>to </a:t>
            </a:r>
            <a:r>
              <a:rPr lang="en-GB" i="1" u="sng" dirty="0"/>
              <a:t>find potential problems</a:t>
            </a:r>
            <a:r>
              <a:rPr lang="en-GB" i="1" dirty="0"/>
              <a:t>.</a:t>
            </a:r>
          </a:p>
          <a:p>
            <a:pPr lvl="1" algn="just"/>
            <a:r>
              <a:rPr lang="en-GB" i="1" u="sng" dirty="0"/>
              <a:t>Inform about the level of quality achieved</a:t>
            </a:r>
            <a:r>
              <a:rPr lang="en-GB" dirty="0"/>
              <a:t> in designing a software. </a:t>
            </a:r>
          </a:p>
          <a:p>
            <a:pPr lvl="1" algn="just"/>
            <a:r>
              <a:rPr lang="en-GB" dirty="0"/>
              <a:t>After that, </a:t>
            </a:r>
            <a:r>
              <a:rPr lang="en-GB" i="1" u="sng" dirty="0"/>
              <a:t>project mangers can revise decisions and try to satisfy the comments of the review committee.</a:t>
            </a:r>
          </a:p>
          <a:p>
            <a:pPr algn="just"/>
            <a:r>
              <a:rPr lang="en-GB" dirty="0"/>
              <a:t>Review process assess:</a:t>
            </a:r>
          </a:p>
          <a:p>
            <a:pPr lvl="1" algn="just"/>
            <a:r>
              <a:rPr lang="en-GB" b="1" dirty="0"/>
              <a:t>Documents developed in SDLC</a:t>
            </a:r>
            <a:r>
              <a:rPr lang="en-GB" dirty="0"/>
              <a:t> like specifications, design, code, process models, test plans, process standards and user manuals.</a:t>
            </a:r>
          </a:p>
          <a:p>
            <a:pPr lvl="1" algn="just"/>
            <a:r>
              <a:rPr lang="en-GB" b="1" dirty="0"/>
              <a:t>checks for consistency, completeness of code and conformance to standards.</a:t>
            </a:r>
          </a:p>
          <a:p>
            <a:pPr lvl="1" algn="just"/>
            <a:r>
              <a:rPr lang="en-GB" b="1" dirty="0"/>
              <a:t>check for defects and give suggestions to the product author</a:t>
            </a:r>
            <a:r>
              <a:rPr lang="en-GB" dirty="0"/>
              <a:t>.</a:t>
            </a:r>
          </a:p>
          <a:p>
            <a:pPr marL="0" indent="0" algn="just">
              <a:buNone/>
            </a:pPr>
            <a:endParaRPr lang="en-GB" dirty="0"/>
          </a:p>
        </p:txBody>
      </p:sp>
      <p:sp>
        <p:nvSpPr>
          <p:cNvPr id="7" name="Footer Placeholder 6"/>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20</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F8CE881E-AF0C-46C2-A4CE-0B3AB7542884}" type="datetime1">
              <a:rPr lang="en-US" smtClean="0">
                <a:solidFill>
                  <a:prstClr val="black">
                    <a:tint val="75000"/>
                  </a:prstClr>
                </a:solidFill>
                <a:latin typeface="Calibri"/>
              </a:rPr>
              <a:t>4/20/2026</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61098575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Purpose of Reviews and inspections</a:t>
            </a:r>
          </a:p>
        </p:txBody>
      </p:sp>
      <p:sp>
        <p:nvSpPr>
          <p:cNvPr id="29699" name="Rectangle 3"/>
          <p:cNvSpPr>
            <a:spLocks noGrp="1" noChangeArrowheads="1"/>
          </p:cNvSpPr>
          <p:nvPr>
            <p:ph idx="1"/>
          </p:nvPr>
        </p:nvSpPr>
        <p:spPr>
          <a:xfrm>
            <a:off x="457200" y="2135039"/>
            <a:ext cx="8229600" cy="3394472"/>
          </a:xfrm>
        </p:spPr>
        <p:txBody>
          <a:bodyPr/>
          <a:lstStyle/>
          <a:p>
            <a:r>
              <a:rPr lang="en-GB" dirty="0"/>
              <a:t>Purpose of reviews is to  </a:t>
            </a:r>
            <a:r>
              <a:rPr lang="en-GB" u="sng" dirty="0"/>
              <a:t>create a quality product</a:t>
            </a:r>
          </a:p>
          <a:p>
            <a:r>
              <a:rPr lang="en-GB" dirty="0"/>
              <a:t>Types of review: </a:t>
            </a:r>
          </a:p>
          <a:p>
            <a:pPr lvl="1"/>
            <a:r>
              <a:rPr lang="en-GB" u="sng" dirty="0"/>
              <a:t>Quality reviews </a:t>
            </a:r>
            <a:r>
              <a:rPr lang="en-GB" dirty="0"/>
              <a:t>(to check the software product quality).</a:t>
            </a:r>
          </a:p>
          <a:p>
            <a:pPr lvl="1"/>
            <a:r>
              <a:rPr lang="en-GB" u="sng" dirty="0"/>
              <a:t>Progress reviews</a:t>
            </a:r>
            <a:r>
              <a:rPr lang="en-GB" dirty="0"/>
              <a:t> (to check product is going as per plan)</a:t>
            </a:r>
          </a:p>
          <a:p>
            <a:endParaRPr lang="en-GB" dirty="0"/>
          </a:p>
        </p:txBody>
      </p:sp>
      <p:sp>
        <p:nvSpPr>
          <p:cNvPr id="7" name="Footer Placeholder 6"/>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21</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5117C26B-7A95-4A93-9E24-A7E338038BDA}"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extLst>
      <p:ext uri="{BB962C8B-B14F-4D97-AF65-F5344CB8AC3E}">
        <p14:creationId xmlns:p14="http://schemas.microsoft.com/office/powerpoint/2010/main" val="32722626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in the review process</a:t>
            </a:r>
          </a:p>
        </p:txBody>
      </p:sp>
      <p:sp>
        <p:nvSpPr>
          <p:cNvPr id="3" name="Content Placeholder 2"/>
          <p:cNvSpPr>
            <a:spLocks noGrp="1"/>
          </p:cNvSpPr>
          <p:nvPr>
            <p:ph idx="1"/>
          </p:nvPr>
        </p:nvSpPr>
        <p:spPr>
          <a:xfrm>
            <a:off x="425971" y="1690712"/>
            <a:ext cx="8229600" cy="3394472"/>
          </a:xfrm>
        </p:spPr>
        <p:txBody>
          <a:bodyPr/>
          <a:lstStyle/>
          <a:p>
            <a:pPr algn="just"/>
            <a:r>
              <a:rPr lang="en-US" dirty="0"/>
              <a:t>Pre-review activities</a:t>
            </a:r>
          </a:p>
          <a:p>
            <a:pPr lvl="1" algn="just"/>
            <a:r>
              <a:rPr lang="en-GB" b="1" dirty="0"/>
              <a:t>Set review time, arrange time &amp; place, distributing documents to be reviewed. </a:t>
            </a:r>
            <a:endParaRPr lang="en-US" b="1" dirty="0"/>
          </a:p>
          <a:p>
            <a:pPr algn="just"/>
            <a:r>
              <a:rPr lang="en-US" dirty="0"/>
              <a:t>The review meeting</a:t>
            </a:r>
          </a:p>
          <a:p>
            <a:pPr lvl="1" algn="just"/>
            <a:r>
              <a:rPr lang="en-US" dirty="0"/>
              <a:t>Review teams </a:t>
            </a:r>
            <a:r>
              <a:rPr lang="en-US" u="sng" dirty="0"/>
              <a:t>review the document/code for effectiveness as per the organizational and project level standards</a:t>
            </a:r>
          </a:p>
          <a:p>
            <a:pPr lvl="1" algn="just"/>
            <a:r>
              <a:rPr lang="en-US" dirty="0"/>
              <a:t>Short meeting – max 2 hours</a:t>
            </a:r>
          </a:p>
          <a:p>
            <a:pPr lvl="1" algn="just"/>
            <a:r>
              <a:rPr lang="en-US" dirty="0"/>
              <a:t>Note all comments and must be updated in software. </a:t>
            </a:r>
          </a:p>
          <a:p>
            <a:pPr algn="just"/>
            <a:r>
              <a:rPr lang="en-US" dirty="0"/>
              <a:t>Post-review activities</a:t>
            </a:r>
          </a:p>
          <a:p>
            <a:pPr lvl="1" algn="just"/>
            <a:r>
              <a:rPr lang="en-US" dirty="0"/>
              <a:t>These address the problems raised during the review meeting.</a:t>
            </a:r>
          </a:p>
          <a:p>
            <a:pPr lvl="1" algn="just"/>
            <a:r>
              <a:rPr lang="en-US" b="1" dirty="0"/>
              <a:t>Actions involved: fix&gt;|:</a:t>
            </a:r>
            <a:r>
              <a:rPr lang="en-US" b="1" dirty="0" err="1"/>
              <a:t>ing</a:t>
            </a:r>
            <a:r>
              <a:rPr lang="en-US" b="1" dirty="0"/>
              <a:t> bugs, refactoring software or rewriting </a:t>
            </a:r>
            <a:r>
              <a:rPr lang="en-US" b="1" dirty="0" err="1"/>
              <a:t>documents.k</a:t>
            </a:r>
            <a:r>
              <a:rPr lang="en-US" b="1" dirty="0"/>
              <a:t> </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22</a:t>
            </a:fld>
            <a:endParaRPr lang="en-US">
              <a:solidFill>
                <a:prstClr val="black">
                  <a:tint val="75000"/>
                </a:prstClr>
              </a:solidFill>
              <a:latin typeface="Calibri"/>
            </a:endParaRPr>
          </a:p>
        </p:txBody>
      </p:sp>
      <p:sp>
        <p:nvSpPr>
          <p:cNvPr id="4" name="Date Placeholder 3">
            <a:extLst>
              <a:ext uri="{FF2B5EF4-FFF2-40B4-BE49-F238E27FC236}">
                <a16:creationId xmlns:a16="http://schemas.microsoft.com/office/drawing/2014/main" id="{D5E3EF45-8B02-03D2-7D29-9A11BE313578}"/>
              </a:ext>
            </a:extLst>
          </p:cNvPr>
          <p:cNvSpPr>
            <a:spLocks noGrp="1"/>
          </p:cNvSpPr>
          <p:nvPr>
            <p:ph type="dt" sz="half" idx="10"/>
          </p:nvPr>
        </p:nvSpPr>
        <p:spPr/>
        <p:txBody>
          <a:bodyPr/>
          <a:lstStyle/>
          <a:p>
            <a:fld id="{FED316E1-403C-49AF-BBBF-795FBE847DAF}" type="datetime1">
              <a:rPr lang="en-US" smtClean="0"/>
              <a:t>4/20/2026</a:t>
            </a:fld>
            <a:endParaRPr lang="en-US"/>
          </a:p>
        </p:txBody>
      </p:sp>
      <p:sp>
        <p:nvSpPr>
          <p:cNvPr id="5" name="Footer Placeholder 4">
            <a:extLst>
              <a:ext uri="{FF2B5EF4-FFF2-40B4-BE49-F238E27FC236}">
                <a16:creationId xmlns:a16="http://schemas.microsoft.com/office/drawing/2014/main" id="{1D285CD3-3DAA-1A76-145C-1A4354F39A9E}"/>
              </a:ext>
            </a:extLst>
          </p:cNvPr>
          <p:cNvSpPr>
            <a:spLocks noGrp="1"/>
          </p:cNvSpPr>
          <p:nvPr>
            <p:ph type="ftr" sz="quarter" idx="11"/>
          </p:nvPr>
        </p:nvSpPr>
        <p:spPr/>
        <p:txBody>
          <a:bodyPr/>
          <a:lstStyle/>
          <a:p>
            <a:r>
              <a:rPr lang="en-US"/>
              <a:t>Chapter 24 Quality management</a:t>
            </a:r>
          </a:p>
        </p:txBody>
      </p:sp>
    </p:spTree>
    <p:extLst>
      <p:ext uri="{BB962C8B-B14F-4D97-AF65-F5344CB8AC3E}">
        <p14:creationId xmlns:p14="http://schemas.microsoft.com/office/powerpoint/2010/main" val="2422617543"/>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review process</a:t>
            </a:r>
            <a:r>
              <a:rPr lang="en-GB" dirty="0"/>
              <a:t> </a:t>
            </a:r>
            <a:endParaRPr lang="en-US" dirty="0"/>
          </a:p>
        </p:txBody>
      </p:sp>
      <p:sp>
        <p:nvSpPr>
          <p:cNvPr id="6" name="Footer Placeholder 5"/>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5" name="Slide Number Placeholder 4"/>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23</a:t>
            </a:fld>
            <a:endParaRPr lang="en-US">
              <a:solidFill>
                <a:prstClr val="black">
                  <a:tint val="75000"/>
                </a:prstClr>
              </a:solidFill>
              <a:latin typeface="Calibri"/>
            </a:endParaRPr>
          </a:p>
        </p:txBody>
      </p:sp>
      <p:sp>
        <p:nvSpPr>
          <p:cNvPr id="3" name="Date Placeholder 2"/>
          <p:cNvSpPr>
            <a:spLocks noGrp="1"/>
          </p:cNvSpPr>
          <p:nvPr>
            <p:ph type="dt" sz="half" idx="10"/>
          </p:nvPr>
        </p:nvSpPr>
        <p:spPr/>
        <p:txBody>
          <a:bodyPr/>
          <a:lstStyle/>
          <a:p>
            <a:pPr eaLnBrk="0" hangingPunct="0"/>
            <a:fld id="{5F346FDE-492C-4E2F-85DC-194CC9A16F25}"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pic>
        <p:nvPicPr>
          <p:cNvPr id="8" name="Picture 7" descr="24.7 Review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634" y="2780928"/>
            <a:ext cx="6407471" cy="1404156"/>
          </a:xfrm>
          <a:prstGeom prst="rect">
            <a:avLst/>
          </a:prstGeom>
        </p:spPr>
      </p:pic>
    </p:spTree>
    <p:extLst>
      <p:ext uri="{BB962C8B-B14F-4D97-AF65-F5344CB8AC3E}">
        <p14:creationId xmlns:p14="http://schemas.microsoft.com/office/powerpoint/2010/main" val="2408374066"/>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reviews</a:t>
            </a:r>
          </a:p>
        </p:txBody>
      </p:sp>
      <p:sp>
        <p:nvSpPr>
          <p:cNvPr id="3" name="Content Placeholder 2"/>
          <p:cNvSpPr>
            <a:spLocks noGrp="1"/>
          </p:cNvSpPr>
          <p:nvPr>
            <p:ph idx="1"/>
          </p:nvPr>
        </p:nvSpPr>
        <p:spPr>
          <a:xfrm>
            <a:off x="457200" y="2147978"/>
            <a:ext cx="8229600" cy="3394472"/>
          </a:xfrm>
        </p:spPr>
        <p:txBody>
          <a:bodyPr/>
          <a:lstStyle/>
          <a:p>
            <a:pPr algn="just"/>
            <a:r>
              <a:rPr lang="en-US" dirty="0"/>
              <a:t>Generally, its suggested to conduct the review process face-to-face.</a:t>
            </a:r>
          </a:p>
          <a:p>
            <a:pPr algn="just"/>
            <a:r>
              <a:rPr lang="en-US" dirty="0"/>
              <a:t>But </a:t>
            </a:r>
            <a:r>
              <a:rPr lang="en-US" b="1" dirty="0"/>
              <a:t>project teams are now often distributed</a:t>
            </a:r>
            <a:r>
              <a:rPr lang="en-US" dirty="0"/>
              <a:t>, sometimes </a:t>
            </a:r>
            <a:r>
              <a:rPr lang="en-US" b="1" dirty="0"/>
              <a:t>across countries</a:t>
            </a:r>
            <a:r>
              <a:rPr lang="en-US" dirty="0"/>
              <a:t> or continents, so it is impractical for team members to meet face to face.</a:t>
            </a:r>
          </a:p>
          <a:p>
            <a:pPr algn="just"/>
            <a:r>
              <a:rPr lang="en-US" b="1" dirty="0"/>
              <a:t>Remote reviewing</a:t>
            </a:r>
            <a:r>
              <a:rPr lang="en-US" dirty="0"/>
              <a:t> can be supported </a:t>
            </a:r>
            <a:r>
              <a:rPr lang="en-US" b="1" dirty="0"/>
              <a:t>using shared documents </a:t>
            </a:r>
            <a:r>
              <a:rPr lang="en-US" dirty="0"/>
              <a:t>where each </a:t>
            </a:r>
            <a:r>
              <a:rPr lang="en-US" b="1" dirty="0"/>
              <a:t>review team member can annotate the document with their comments</a:t>
            </a:r>
            <a:r>
              <a:rPr lang="en-US" dirty="0"/>
              <a:t>. </a:t>
            </a:r>
          </a:p>
        </p:txBody>
      </p:sp>
      <p:sp>
        <p:nvSpPr>
          <p:cNvPr id="4" name="Date Placeholder 3"/>
          <p:cNvSpPr>
            <a:spLocks noGrp="1"/>
          </p:cNvSpPr>
          <p:nvPr>
            <p:ph type="dt" sz="half" idx="10"/>
          </p:nvPr>
        </p:nvSpPr>
        <p:spPr/>
        <p:txBody>
          <a:bodyPr/>
          <a:lstStyle/>
          <a:p>
            <a:pPr eaLnBrk="0" hangingPunct="0"/>
            <a:fld id="{4764EF3C-6C18-4C98-B2C5-1EEB30FC8F47}"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6" name="Slide Number Placeholder 5"/>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24</a:t>
            </a:fld>
            <a:endParaRPr lang="en-US">
              <a:solidFill>
                <a:prstClr val="black">
                  <a:tint val="75000"/>
                </a:prstClr>
              </a:solidFill>
              <a:latin typeface="Calibri"/>
            </a:endParaRPr>
          </a:p>
        </p:txBody>
      </p:sp>
    </p:spTree>
    <p:extLst>
      <p:ext uri="{BB962C8B-B14F-4D97-AF65-F5344CB8AC3E}">
        <p14:creationId xmlns:p14="http://schemas.microsoft.com/office/powerpoint/2010/main" val="2833902653"/>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dirty="0"/>
              <a:t>Program inspections</a:t>
            </a:r>
          </a:p>
        </p:txBody>
      </p:sp>
      <p:sp>
        <p:nvSpPr>
          <p:cNvPr id="56323" name="Rectangle 3"/>
          <p:cNvSpPr>
            <a:spLocks noGrp="1" noChangeArrowheads="1"/>
          </p:cNvSpPr>
          <p:nvPr>
            <p:ph idx="1"/>
          </p:nvPr>
        </p:nvSpPr>
        <p:spPr/>
        <p:txBody>
          <a:bodyPr/>
          <a:lstStyle/>
          <a:p>
            <a:pPr algn="just"/>
            <a:r>
              <a:rPr lang="en-GB" dirty="0"/>
              <a:t>team members collaborate to </a:t>
            </a:r>
            <a:r>
              <a:rPr lang="en-GB" u="sng" dirty="0"/>
              <a:t>identify anomalies and defects in code prior to execution</a:t>
            </a:r>
          </a:p>
          <a:p>
            <a:pPr algn="just"/>
            <a:r>
              <a:rPr lang="en-GB" b="1" dirty="0"/>
              <a:t>Inspection can be done for requirements’ validation, design or test data.</a:t>
            </a:r>
          </a:p>
          <a:p>
            <a:pPr algn="just"/>
            <a:r>
              <a:rPr lang="en-GB" dirty="0"/>
              <a:t>Effective technique for discovering program errors.</a:t>
            </a:r>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4" name="Slide Number Placeholder 3"/>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25</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036B10BA-62AD-4133-8A8F-9C8E8762E718}" type="datetime1">
              <a:rPr lang="en-US" smtClean="0">
                <a:solidFill>
                  <a:prstClr val="black">
                    <a:tint val="75000"/>
                  </a:prstClr>
                </a:solidFill>
                <a:latin typeface="Calibri"/>
              </a:rPr>
              <a:t>4/20/2026</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2952580054"/>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noFill/>
          <a:ln/>
        </p:spPr>
        <p:txBody>
          <a:bodyPr vert="horz" wrap="square" lIns="68130" tIns="33467" rIns="68130" bIns="33467" numCol="1" anchor="ctr" anchorCtr="0" compatLnSpc="1">
            <a:prstTxWarp prst="textNoShape">
              <a:avLst/>
            </a:prstTxWarp>
          </a:bodyPr>
          <a:lstStyle/>
          <a:p>
            <a:r>
              <a:rPr lang="en-GB"/>
              <a:t>Inspection checklists</a:t>
            </a:r>
          </a:p>
        </p:txBody>
      </p:sp>
      <p:sp>
        <p:nvSpPr>
          <p:cNvPr id="68611" name="Rectangle 3"/>
          <p:cNvSpPr>
            <a:spLocks noGrp="1" noChangeArrowheads="1"/>
          </p:cNvSpPr>
          <p:nvPr>
            <p:ph idx="1"/>
          </p:nvPr>
        </p:nvSpPr>
        <p:spPr>
          <a:noFill/>
          <a:ln/>
        </p:spPr>
        <p:txBody>
          <a:bodyPr lIns="68130" tIns="33467" rIns="68130" bIns="33467"/>
          <a:lstStyle/>
          <a:p>
            <a:pPr algn="just"/>
            <a:r>
              <a:rPr lang="en-GB" b="1" dirty="0"/>
              <a:t>Checklist of common errors is created to perform inspection.</a:t>
            </a:r>
          </a:p>
          <a:p>
            <a:pPr algn="just"/>
            <a:r>
              <a:rPr lang="en-GB" b="1" dirty="0"/>
              <a:t>Error checklists are programming language dependent </a:t>
            </a:r>
            <a:r>
              <a:rPr lang="en-GB" dirty="0"/>
              <a:t>as the behaviour of every language is different at compile time</a:t>
            </a:r>
          </a:p>
          <a:p>
            <a:pPr algn="just"/>
            <a:r>
              <a:rPr lang="en-GB" dirty="0"/>
              <a:t>It is </a:t>
            </a:r>
            <a:r>
              <a:rPr lang="en-GB" b="1" dirty="0"/>
              <a:t>observed that 60% defects in the program can be removed because of inspections.</a:t>
            </a:r>
          </a:p>
          <a:p>
            <a:pPr marL="0" indent="0" algn="just">
              <a:buNone/>
            </a:pPr>
            <a:endParaRPr lang="en-GB" dirty="0"/>
          </a:p>
        </p:txBody>
      </p:sp>
      <p:sp>
        <p:nvSpPr>
          <p:cNvPr id="5" name="Footer Placeholder 4"/>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4" name="Slide Number Placeholder 3"/>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26</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eaLnBrk="0" hangingPunct="0"/>
            <a:fld id="{2C5092F3-2CD1-455D-8DF0-A99CFCF7DE1F}"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extLst>
      <p:ext uri="{BB962C8B-B14F-4D97-AF65-F5344CB8AC3E}">
        <p14:creationId xmlns:p14="http://schemas.microsoft.com/office/powerpoint/2010/main" val="234526580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inspection checklist</a:t>
            </a:r>
            <a:r>
              <a:rPr lang="en-GB" dirty="0"/>
              <a:t> (a)</a:t>
            </a:r>
            <a:endParaRPr lang="en-US" dirty="0"/>
          </a:p>
        </p:txBody>
      </p:sp>
      <p:graphicFrame>
        <p:nvGraphicFramePr>
          <p:cNvPr id="4" name="Content Placeholder 3"/>
          <p:cNvGraphicFramePr>
            <a:graphicFrameLocks noGrp="1"/>
          </p:cNvGraphicFramePr>
          <p:nvPr>
            <p:ph idx="1"/>
          </p:nvPr>
        </p:nvGraphicFramePr>
        <p:xfrm>
          <a:off x="457200" y="2008027"/>
          <a:ext cx="8229600" cy="3528938"/>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59772">
                <a:tc>
                  <a:txBody>
                    <a:bodyPr/>
                    <a:lstStyle/>
                    <a:p>
                      <a:pPr algn="just">
                        <a:spcAft>
                          <a:spcPts val="0"/>
                        </a:spcAft>
                      </a:pPr>
                      <a:r>
                        <a:rPr lang="en-US" sz="1200" b="1" dirty="0">
                          <a:solidFill>
                            <a:srgbClr val="000000"/>
                          </a:solidFill>
                          <a:latin typeface="Arial"/>
                          <a:ea typeface="Times New Roman"/>
                          <a:cs typeface="Arial"/>
                        </a:rPr>
                        <a:t>Fault class</a:t>
                      </a:r>
                      <a:endParaRPr lang="en-GB" sz="1200" b="1" dirty="0">
                        <a:solidFill>
                          <a:srgbClr val="000000"/>
                        </a:solidFill>
                        <a:latin typeface="Arial"/>
                        <a:ea typeface="Times New Roman"/>
                        <a:cs typeface="Arial"/>
                      </a:endParaRPr>
                    </a:p>
                  </a:txBody>
                  <a:tcPr marL="40958" marR="40958" marT="68580" marB="68580"/>
                </a:tc>
                <a:tc>
                  <a:txBody>
                    <a:bodyPr/>
                    <a:lstStyle/>
                    <a:p>
                      <a:pPr algn="just">
                        <a:spcAft>
                          <a:spcPts val="0"/>
                        </a:spcAft>
                      </a:pPr>
                      <a:r>
                        <a:rPr lang="en-US" sz="1200" b="1" dirty="0">
                          <a:solidFill>
                            <a:srgbClr val="000000"/>
                          </a:solidFill>
                          <a:latin typeface="Arial"/>
                          <a:ea typeface="Times New Roman"/>
                          <a:cs typeface="Arial"/>
                        </a:rPr>
                        <a:t>Inspection check</a:t>
                      </a:r>
                      <a:endParaRPr lang="en-GB" sz="1200" b="1" dirty="0">
                        <a:solidFill>
                          <a:srgbClr val="000000"/>
                        </a:solidFill>
                        <a:latin typeface="Arial"/>
                        <a:ea typeface="Times New Roman"/>
                        <a:cs typeface="Arial"/>
                      </a:endParaRPr>
                    </a:p>
                  </a:txBody>
                  <a:tcPr marL="40958" marR="40958" marT="68580" marB="68580"/>
                </a:tc>
                <a:extLst>
                  <a:ext uri="{0D108BD9-81ED-4DB2-BD59-A6C34878D82A}">
                    <a16:rowId xmlns:a16="http://schemas.microsoft.com/office/drawing/2014/main" val="10000"/>
                  </a:ext>
                </a:extLst>
              </a:tr>
              <a:tr h="1252926">
                <a:tc>
                  <a:txBody>
                    <a:bodyPr/>
                    <a:lstStyle/>
                    <a:p>
                      <a:pPr algn="just">
                        <a:spcAft>
                          <a:spcPts val="0"/>
                        </a:spcAft>
                      </a:pPr>
                      <a:r>
                        <a:rPr lang="en-US" sz="1200" dirty="0">
                          <a:solidFill>
                            <a:srgbClr val="000000"/>
                          </a:solidFill>
                          <a:latin typeface="Arial"/>
                          <a:ea typeface="Times New Roman"/>
                          <a:cs typeface="Arial"/>
                        </a:rPr>
                        <a:t>Data faults</a:t>
                      </a:r>
                      <a:endParaRPr lang="en-GB" sz="1200" dirty="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Are </a:t>
                      </a:r>
                      <a:r>
                        <a:rPr lang="en-US" sz="1200" b="1" dirty="0">
                          <a:solidFill>
                            <a:srgbClr val="000000"/>
                          </a:solidFill>
                          <a:latin typeface="Arial"/>
                          <a:ea typeface="Times New Roman"/>
                          <a:cs typeface="Arial"/>
                        </a:rPr>
                        <a:t>all program variables initialized before their values are used?</a:t>
                      </a:r>
                      <a:endParaRPr lang="en-GB" sz="1200" b="1"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Have all constants been named?</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Should the upper bound of arrays be equal to the size of the array or Size -1?</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If character strings are used, is a delimiter explicitly assigned?</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Is there any </a:t>
                      </a:r>
                      <a:r>
                        <a:rPr lang="en-US" sz="1200" b="1" dirty="0">
                          <a:solidFill>
                            <a:srgbClr val="000000"/>
                          </a:solidFill>
                          <a:latin typeface="Arial"/>
                          <a:ea typeface="Times New Roman"/>
                          <a:cs typeface="Arial"/>
                        </a:rPr>
                        <a:t>possibility of buffer overflow</a:t>
                      </a:r>
                      <a:r>
                        <a:rPr lang="en-US" sz="1200" dirty="0">
                          <a:solidFill>
                            <a:srgbClr val="000000"/>
                          </a:solidFill>
                          <a:latin typeface="Arial"/>
                          <a:ea typeface="Times New Roman"/>
                          <a:cs typeface="Arial"/>
                        </a:rPr>
                        <a:t>? </a:t>
                      </a:r>
                      <a:endParaRPr lang="en-GB" sz="1200"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1"/>
                  </a:ext>
                </a:extLst>
              </a:tr>
              <a:tr h="1252926">
                <a:tc>
                  <a:txBody>
                    <a:bodyPr/>
                    <a:lstStyle/>
                    <a:p>
                      <a:pPr algn="just">
                        <a:spcAft>
                          <a:spcPts val="0"/>
                        </a:spcAft>
                      </a:pPr>
                      <a:r>
                        <a:rPr lang="en-US" sz="1200">
                          <a:solidFill>
                            <a:srgbClr val="000000"/>
                          </a:solidFill>
                          <a:latin typeface="Arial"/>
                          <a:ea typeface="Times New Roman"/>
                          <a:cs typeface="Arial"/>
                        </a:rPr>
                        <a:t>Control faults</a:t>
                      </a:r>
                      <a:endParaRPr lang="en-GB" sz="120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For each conditional statement, is the termination </a:t>
                      </a:r>
                      <a:r>
                        <a:rPr lang="en-US" sz="1200" b="1" dirty="0">
                          <a:solidFill>
                            <a:srgbClr val="000000"/>
                          </a:solidFill>
                          <a:latin typeface="Arial"/>
                          <a:ea typeface="Times New Roman"/>
                          <a:cs typeface="Arial"/>
                        </a:rPr>
                        <a:t>condition correct</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Is </a:t>
                      </a:r>
                      <a:r>
                        <a:rPr lang="en-US" sz="1200" b="1" dirty="0">
                          <a:solidFill>
                            <a:srgbClr val="000000"/>
                          </a:solidFill>
                          <a:latin typeface="Arial"/>
                          <a:ea typeface="Times New Roman"/>
                          <a:cs typeface="Arial"/>
                        </a:rPr>
                        <a:t>each loop certain to terminate</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Are compound </a:t>
                      </a:r>
                      <a:r>
                        <a:rPr lang="en-US" sz="1200" b="1" dirty="0">
                          <a:solidFill>
                            <a:srgbClr val="000000"/>
                          </a:solidFill>
                          <a:latin typeface="Arial"/>
                          <a:ea typeface="Times New Roman"/>
                          <a:cs typeface="Arial"/>
                        </a:rPr>
                        <a:t>statements correctly bracketed</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In case statements, are all possible cases accounted for?</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If a </a:t>
                      </a:r>
                      <a:r>
                        <a:rPr lang="en-US" sz="1200" b="1" dirty="0">
                          <a:solidFill>
                            <a:srgbClr val="000000"/>
                          </a:solidFill>
                          <a:latin typeface="Arial"/>
                          <a:ea typeface="Times New Roman"/>
                          <a:cs typeface="Arial"/>
                        </a:rPr>
                        <a:t>break is included after completion of each case statements</a:t>
                      </a:r>
                      <a:endParaRPr lang="en-GB" sz="1200" b="1"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2"/>
                  </a:ext>
                </a:extLst>
              </a:tr>
              <a:tr h="663314">
                <a:tc>
                  <a:txBody>
                    <a:bodyPr/>
                    <a:lstStyle/>
                    <a:p>
                      <a:pPr algn="just">
                        <a:spcAft>
                          <a:spcPts val="0"/>
                        </a:spcAft>
                      </a:pPr>
                      <a:r>
                        <a:rPr lang="en-US" sz="1200">
                          <a:solidFill>
                            <a:srgbClr val="000000"/>
                          </a:solidFill>
                          <a:latin typeface="Arial"/>
                          <a:ea typeface="Times New Roman"/>
                          <a:cs typeface="Arial"/>
                        </a:rPr>
                        <a:t>Input/output faults</a:t>
                      </a:r>
                      <a:endParaRPr lang="en-GB" sz="120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Are </a:t>
                      </a:r>
                      <a:r>
                        <a:rPr lang="en-US" sz="1200" b="1" dirty="0">
                          <a:solidFill>
                            <a:srgbClr val="000000"/>
                          </a:solidFill>
                          <a:latin typeface="Arial"/>
                          <a:ea typeface="Times New Roman"/>
                          <a:cs typeface="Arial"/>
                        </a:rPr>
                        <a:t>all input variables used</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Are all output variables assigned a value before the output is displayed?</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Can </a:t>
                      </a:r>
                      <a:r>
                        <a:rPr lang="en-US" sz="1200" b="1" dirty="0">
                          <a:solidFill>
                            <a:srgbClr val="000000"/>
                          </a:solidFill>
                          <a:latin typeface="Arial"/>
                          <a:ea typeface="Times New Roman"/>
                          <a:cs typeface="Arial"/>
                        </a:rPr>
                        <a:t>unexpected inputs cause corruption?</a:t>
                      </a:r>
                      <a:endParaRPr lang="en-GB" sz="1200" b="1"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3"/>
                  </a:ext>
                </a:extLst>
              </a:tr>
            </a:tbl>
          </a:graphicData>
        </a:graphic>
      </p:graphicFrame>
      <p:sp>
        <p:nvSpPr>
          <p:cNvPr id="6" name="Footer Placeholder 5"/>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5" name="Slide Number Placeholder 4"/>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27</a:t>
            </a:fld>
            <a:endParaRPr lang="en-US">
              <a:solidFill>
                <a:prstClr val="black">
                  <a:tint val="75000"/>
                </a:prstClr>
              </a:solidFill>
              <a:latin typeface="Calibri"/>
            </a:endParaRPr>
          </a:p>
        </p:txBody>
      </p:sp>
      <p:sp>
        <p:nvSpPr>
          <p:cNvPr id="3" name="Date Placeholder 2"/>
          <p:cNvSpPr>
            <a:spLocks noGrp="1"/>
          </p:cNvSpPr>
          <p:nvPr>
            <p:ph type="dt" sz="half" idx="10"/>
          </p:nvPr>
        </p:nvSpPr>
        <p:spPr/>
        <p:txBody>
          <a:bodyPr/>
          <a:lstStyle/>
          <a:p>
            <a:pPr eaLnBrk="0" hangingPunct="0"/>
            <a:fld id="{7B640895-AAF8-4343-AB26-74BC28A3217A}"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extLst>
      <p:ext uri="{BB962C8B-B14F-4D97-AF65-F5344CB8AC3E}">
        <p14:creationId xmlns:p14="http://schemas.microsoft.com/office/powerpoint/2010/main" val="4088162055"/>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inspection checklist</a:t>
            </a:r>
            <a:r>
              <a:rPr lang="en-GB" dirty="0"/>
              <a:t> (</a:t>
            </a:r>
            <a:r>
              <a:rPr lang="en-GB" dirty="0" err="1"/>
              <a:t>b</a:t>
            </a:r>
            <a:r>
              <a:rPr lang="en-GB" dirty="0"/>
              <a:t>)</a:t>
            </a:r>
            <a:endParaRPr lang="en-US" dirty="0"/>
          </a:p>
        </p:txBody>
      </p:sp>
      <p:graphicFrame>
        <p:nvGraphicFramePr>
          <p:cNvPr id="4" name="Content Placeholder 3"/>
          <p:cNvGraphicFramePr>
            <a:graphicFrameLocks noGrp="1"/>
          </p:cNvGraphicFramePr>
          <p:nvPr>
            <p:ph idx="1"/>
          </p:nvPr>
        </p:nvGraphicFramePr>
        <p:xfrm>
          <a:off x="457200" y="2248260"/>
          <a:ext cx="8229600" cy="2685442"/>
        </p:xfrm>
        <a:graphic>
          <a:graphicData uri="http://schemas.openxmlformats.org/drawingml/2006/table">
            <a:tbl>
              <a:tblPr firstRow="1" bandRow="1">
                <a:tableStyleId>{5C22544A-7EE6-4342-B048-85BDC9FD1C3A}</a:tableStyleId>
              </a:tblPr>
              <a:tblGrid>
                <a:gridCol w="2542383">
                  <a:extLst>
                    <a:ext uri="{9D8B030D-6E8A-4147-A177-3AD203B41FA5}">
                      <a16:colId xmlns:a16="http://schemas.microsoft.com/office/drawing/2014/main" val="20000"/>
                    </a:ext>
                  </a:extLst>
                </a:gridCol>
                <a:gridCol w="5687217">
                  <a:extLst>
                    <a:ext uri="{9D8B030D-6E8A-4147-A177-3AD203B41FA5}">
                      <a16:colId xmlns:a16="http://schemas.microsoft.com/office/drawing/2014/main" val="20001"/>
                    </a:ext>
                  </a:extLst>
                </a:gridCol>
              </a:tblGrid>
              <a:tr h="313871">
                <a:tc>
                  <a:txBody>
                    <a:bodyPr/>
                    <a:lstStyle/>
                    <a:p>
                      <a:pPr algn="just">
                        <a:spcAft>
                          <a:spcPts val="0"/>
                        </a:spcAft>
                      </a:pPr>
                      <a:r>
                        <a:rPr lang="en-US" sz="1100" b="1" dirty="0">
                          <a:solidFill>
                            <a:srgbClr val="000000"/>
                          </a:solidFill>
                          <a:latin typeface="Arial"/>
                          <a:ea typeface="Times New Roman"/>
                          <a:cs typeface="Arial"/>
                        </a:rPr>
                        <a:t>Fault class</a:t>
                      </a:r>
                      <a:endParaRPr lang="en-GB" sz="1100" b="1" dirty="0">
                        <a:solidFill>
                          <a:srgbClr val="000000"/>
                        </a:solidFill>
                        <a:latin typeface="Arial"/>
                        <a:ea typeface="Times New Roman"/>
                        <a:cs typeface="Arial"/>
                      </a:endParaRPr>
                    </a:p>
                  </a:txBody>
                  <a:tcPr marL="40958" marR="40958" marT="68580" marB="68580"/>
                </a:tc>
                <a:tc>
                  <a:txBody>
                    <a:bodyPr/>
                    <a:lstStyle/>
                    <a:p>
                      <a:pPr algn="just">
                        <a:spcAft>
                          <a:spcPts val="0"/>
                        </a:spcAft>
                      </a:pPr>
                      <a:r>
                        <a:rPr lang="en-US" sz="1100" b="1" dirty="0">
                          <a:solidFill>
                            <a:srgbClr val="000000"/>
                          </a:solidFill>
                          <a:latin typeface="Arial"/>
                          <a:ea typeface="Times New Roman"/>
                          <a:cs typeface="Arial"/>
                        </a:rPr>
                        <a:t>Inspection check</a:t>
                      </a:r>
                      <a:endParaRPr lang="en-GB" sz="1100" b="1" dirty="0">
                        <a:solidFill>
                          <a:srgbClr val="000000"/>
                        </a:solidFill>
                        <a:latin typeface="Arial"/>
                        <a:ea typeface="Times New Roman"/>
                        <a:cs typeface="Arial"/>
                      </a:endParaRPr>
                    </a:p>
                  </a:txBody>
                  <a:tcPr marL="40958" marR="40958" marT="68580" marB="68580"/>
                </a:tc>
                <a:extLst>
                  <a:ext uri="{0D108BD9-81ED-4DB2-BD59-A6C34878D82A}">
                    <a16:rowId xmlns:a16="http://schemas.microsoft.com/office/drawing/2014/main" val="10000"/>
                  </a:ext>
                </a:extLst>
              </a:tr>
              <a:tr h="1018598">
                <a:tc>
                  <a:txBody>
                    <a:bodyPr/>
                    <a:lstStyle/>
                    <a:p>
                      <a:pPr algn="just">
                        <a:spcAft>
                          <a:spcPts val="0"/>
                        </a:spcAft>
                      </a:pPr>
                      <a:r>
                        <a:rPr lang="en-US" sz="1200" dirty="0">
                          <a:solidFill>
                            <a:srgbClr val="000000"/>
                          </a:solidFill>
                          <a:latin typeface="Arial"/>
                          <a:ea typeface="Times New Roman"/>
                          <a:cs typeface="Arial"/>
                        </a:rPr>
                        <a:t>Interface faults</a:t>
                      </a:r>
                      <a:endParaRPr lang="en-GB" sz="1200" dirty="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Do </a:t>
                      </a:r>
                      <a:r>
                        <a:rPr lang="en-US" sz="1200" b="1" dirty="0">
                          <a:solidFill>
                            <a:srgbClr val="000000"/>
                          </a:solidFill>
                          <a:latin typeface="Arial"/>
                          <a:ea typeface="Times New Roman"/>
                          <a:cs typeface="Arial"/>
                        </a:rPr>
                        <a:t>all function and method calls have the correct number of parameters?</a:t>
                      </a:r>
                      <a:endParaRPr lang="en-GB" sz="1200" b="1"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Do </a:t>
                      </a:r>
                      <a:r>
                        <a:rPr lang="en-US" sz="1200" b="1" dirty="0">
                          <a:solidFill>
                            <a:srgbClr val="000000"/>
                          </a:solidFill>
                          <a:latin typeface="Arial"/>
                          <a:ea typeface="Times New Roman"/>
                          <a:cs typeface="Arial"/>
                        </a:rPr>
                        <a:t>parameter types match? </a:t>
                      </a:r>
                      <a:endParaRPr lang="en-GB" sz="1200" b="1"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Are the </a:t>
                      </a:r>
                      <a:r>
                        <a:rPr lang="en-US" sz="1200" b="1" dirty="0">
                          <a:solidFill>
                            <a:srgbClr val="000000"/>
                          </a:solidFill>
                          <a:latin typeface="Arial"/>
                          <a:ea typeface="Times New Roman"/>
                          <a:cs typeface="Arial"/>
                        </a:rPr>
                        <a:t>parameters in the right order</a:t>
                      </a:r>
                      <a:r>
                        <a:rPr lang="en-US" sz="1200" dirty="0">
                          <a:solidFill>
                            <a:srgbClr val="000000"/>
                          </a:solidFill>
                          <a:latin typeface="Arial"/>
                          <a:ea typeface="Times New Roman"/>
                          <a:cs typeface="Arial"/>
                        </a:rPr>
                        <a:t>? </a:t>
                      </a:r>
                      <a:endParaRPr lang="en-GB" sz="1200"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1"/>
                  </a:ext>
                </a:extLst>
              </a:tr>
              <a:tr h="900505">
                <a:tc>
                  <a:txBody>
                    <a:bodyPr/>
                    <a:lstStyle/>
                    <a:p>
                      <a:pPr algn="just">
                        <a:spcAft>
                          <a:spcPts val="0"/>
                        </a:spcAft>
                      </a:pPr>
                      <a:r>
                        <a:rPr lang="en-US" sz="1200" dirty="0">
                          <a:solidFill>
                            <a:srgbClr val="000000"/>
                          </a:solidFill>
                          <a:latin typeface="Arial"/>
                          <a:ea typeface="Times New Roman"/>
                          <a:cs typeface="Arial"/>
                        </a:rPr>
                        <a:t>Storage management faults</a:t>
                      </a:r>
                      <a:endParaRPr lang="en-GB" sz="1200" dirty="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If a </a:t>
                      </a:r>
                      <a:r>
                        <a:rPr lang="en-US" sz="1200" b="1" dirty="0">
                          <a:solidFill>
                            <a:srgbClr val="000000"/>
                          </a:solidFill>
                          <a:latin typeface="Arial"/>
                          <a:ea typeface="Times New Roman"/>
                          <a:cs typeface="Arial"/>
                        </a:rPr>
                        <a:t>linked structure is modified, have all links been correctly reassigned</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If </a:t>
                      </a:r>
                      <a:r>
                        <a:rPr lang="en-US" sz="1200" b="1" dirty="0">
                          <a:solidFill>
                            <a:srgbClr val="000000"/>
                          </a:solidFill>
                          <a:latin typeface="Arial"/>
                          <a:ea typeface="Times New Roman"/>
                          <a:cs typeface="Arial"/>
                        </a:rPr>
                        <a:t>dynamic storage is used, has space been allocated correctly</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Is </a:t>
                      </a:r>
                      <a:r>
                        <a:rPr lang="en-US" sz="1200" b="1" dirty="0">
                          <a:solidFill>
                            <a:srgbClr val="000000"/>
                          </a:solidFill>
                          <a:latin typeface="Arial"/>
                          <a:ea typeface="Times New Roman"/>
                          <a:cs typeface="Arial"/>
                        </a:rPr>
                        <a:t>space explicitly deallocated after it is no longer required</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2"/>
                  </a:ext>
                </a:extLst>
              </a:tr>
              <a:tr h="452468">
                <a:tc>
                  <a:txBody>
                    <a:bodyPr/>
                    <a:lstStyle/>
                    <a:p>
                      <a:pPr algn="just">
                        <a:spcAft>
                          <a:spcPts val="0"/>
                        </a:spcAft>
                      </a:pPr>
                      <a:r>
                        <a:rPr lang="en-US" sz="1200" dirty="0">
                          <a:solidFill>
                            <a:srgbClr val="000000"/>
                          </a:solidFill>
                          <a:latin typeface="Arial"/>
                          <a:ea typeface="Times New Roman"/>
                          <a:cs typeface="Arial"/>
                        </a:rPr>
                        <a:t>Exception management faults</a:t>
                      </a:r>
                      <a:endParaRPr lang="en-GB" sz="1200" dirty="0">
                        <a:solidFill>
                          <a:srgbClr val="000000"/>
                        </a:solidFill>
                        <a:latin typeface="Arial"/>
                        <a:ea typeface="Times New Roman"/>
                        <a:cs typeface="Arial"/>
                      </a:endParaRPr>
                    </a:p>
                  </a:txBody>
                  <a:tcPr marL="40958" marR="40958" marT="0" marB="68580"/>
                </a:tc>
                <a:tc>
                  <a:txBody>
                    <a:bodyPr/>
                    <a:lstStyle/>
                    <a:p>
                      <a:pPr marL="342900" lvl="0" indent="-342900" algn="just">
                        <a:spcAft>
                          <a:spcPts val="0"/>
                        </a:spcAft>
                        <a:buFont typeface="Symbol"/>
                        <a:buChar char=""/>
                        <a:tabLst>
                          <a:tab pos="228600" algn="l"/>
                        </a:tabLst>
                      </a:pPr>
                      <a:r>
                        <a:rPr lang="en-US" sz="1200" dirty="0">
                          <a:solidFill>
                            <a:srgbClr val="000000"/>
                          </a:solidFill>
                          <a:latin typeface="Arial"/>
                          <a:ea typeface="Times New Roman"/>
                          <a:cs typeface="Arial"/>
                        </a:rPr>
                        <a:t>Have </a:t>
                      </a:r>
                      <a:r>
                        <a:rPr lang="en-US" sz="1200" b="1" dirty="0">
                          <a:solidFill>
                            <a:srgbClr val="000000"/>
                          </a:solidFill>
                          <a:latin typeface="Arial"/>
                          <a:ea typeface="Times New Roman"/>
                          <a:cs typeface="Arial"/>
                        </a:rPr>
                        <a:t>all possible error conditions been taken into account</a:t>
                      </a:r>
                      <a:r>
                        <a:rPr lang="en-US" sz="1200" dirty="0">
                          <a:solidFill>
                            <a:srgbClr val="000000"/>
                          </a:solidFill>
                          <a:latin typeface="Arial"/>
                          <a:ea typeface="Times New Roman"/>
                          <a:cs typeface="Arial"/>
                        </a:rPr>
                        <a:t>?</a:t>
                      </a:r>
                      <a:endParaRPr lang="en-GB" sz="1200" dirty="0">
                        <a:solidFill>
                          <a:srgbClr val="000000"/>
                        </a:solidFill>
                        <a:latin typeface="Arial"/>
                        <a:ea typeface="Times New Roman"/>
                        <a:cs typeface="Arial"/>
                      </a:endParaRPr>
                    </a:p>
                  </a:txBody>
                  <a:tcPr marL="40958" marR="40958" marT="0" marB="68580"/>
                </a:tc>
                <a:extLst>
                  <a:ext uri="{0D108BD9-81ED-4DB2-BD59-A6C34878D82A}">
                    <a16:rowId xmlns:a16="http://schemas.microsoft.com/office/drawing/2014/main" val="10003"/>
                  </a:ext>
                </a:extLst>
              </a:tr>
            </a:tbl>
          </a:graphicData>
        </a:graphic>
      </p:graphicFrame>
      <p:sp>
        <p:nvSpPr>
          <p:cNvPr id="6" name="Footer Placeholder 5"/>
          <p:cNvSpPr>
            <a:spLocks noGrp="1"/>
          </p:cNvSpPr>
          <p:nvPr>
            <p:ph type="ftr" sz="quarter" idx="11"/>
          </p:nvPr>
        </p:nvSpPr>
        <p:spPr/>
        <p:txBody>
          <a:bodyPr/>
          <a:lstStyle/>
          <a:p>
            <a:pPr eaLnBrk="0" hangingPunct="0"/>
            <a:r>
              <a:rPr lang="en-US">
                <a:solidFill>
                  <a:prstClr val="black">
                    <a:tint val="75000"/>
                  </a:prstClr>
                </a:solidFill>
                <a:latin typeface="Calibri"/>
              </a:rPr>
              <a:t>Chapter 24 Quality management</a:t>
            </a:r>
          </a:p>
        </p:txBody>
      </p:sp>
      <p:sp>
        <p:nvSpPr>
          <p:cNvPr id="5" name="Slide Number Placeholder 4"/>
          <p:cNvSpPr>
            <a:spLocks noGrp="1"/>
          </p:cNvSpPr>
          <p:nvPr>
            <p:ph type="sldNum" sz="quarter" idx="12"/>
          </p:nvPr>
        </p:nvSpPr>
        <p:spPr/>
        <p:txBody>
          <a:bodyPr/>
          <a:lstStyle/>
          <a:p>
            <a:pPr eaLnBrk="0" hangingPunct="0"/>
            <a:fld id="{745CE82A-87C3-2841-AAF3-37DF1E34DC62}" type="slidenum">
              <a:rPr lang="en-US">
                <a:solidFill>
                  <a:prstClr val="black">
                    <a:tint val="75000"/>
                  </a:prstClr>
                </a:solidFill>
                <a:latin typeface="Calibri"/>
              </a:rPr>
              <a:pPr eaLnBrk="0" hangingPunct="0"/>
              <a:t>28</a:t>
            </a:fld>
            <a:endParaRPr lang="en-US">
              <a:solidFill>
                <a:prstClr val="black">
                  <a:tint val="75000"/>
                </a:prstClr>
              </a:solidFill>
              <a:latin typeface="Calibri"/>
            </a:endParaRPr>
          </a:p>
        </p:txBody>
      </p:sp>
      <p:sp>
        <p:nvSpPr>
          <p:cNvPr id="3" name="Date Placeholder 2"/>
          <p:cNvSpPr>
            <a:spLocks noGrp="1"/>
          </p:cNvSpPr>
          <p:nvPr>
            <p:ph type="dt" sz="half" idx="10"/>
          </p:nvPr>
        </p:nvSpPr>
        <p:spPr/>
        <p:txBody>
          <a:bodyPr/>
          <a:lstStyle/>
          <a:p>
            <a:pPr eaLnBrk="0" hangingPunct="0"/>
            <a:fld id="{3E66887D-73C8-4893-BC3D-A5BF4DEEB875}" type="datetime1">
              <a:rPr lang="en-US" smtClean="0">
                <a:solidFill>
                  <a:prstClr val="black">
                    <a:tint val="75000"/>
                  </a:prstClr>
                </a:solidFill>
                <a:latin typeface="Calibri"/>
              </a:rPr>
              <a:t>4/20/2026</a:t>
            </a:fld>
            <a:endParaRPr lang="en-US">
              <a:solidFill>
                <a:prstClr val="black">
                  <a:tint val="75000"/>
                </a:prstClr>
              </a:solidFill>
              <a:latin typeface="Calibri"/>
            </a:endParaRPr>
          </a:p>
        </p:txBody>
      </p:sp>
    </p:spTree>
    <p:extLst>
      <p:ext uri="{BB962C8B-B14F-4D97-AF65-F5344CB8AC3E}">
        <p14:creationId xmlns:p14="http://schemas.microsoft.com/office/powerpoint/2010/main" val="3057348869"/>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dirty="0"/>
              <a:t>Software measurement</a:t>
            </a:r>
          </a:p>
        </p:txBody>
      </p:sp>
      <p:sp>
        <p:nvSpPr>
          <p:cNvPr id="89091" name="Rectangle 3"/>
          <p:cNvSpPr>
            <a:spLocks noGrp="1" noChangeArrowheads="1"/>
          </p:cNvSpPr>
          <p:nvPr>
            <p:ph idx="1"/>
          </p:nvPr>
        </p:nvSpPr>
        <p:spPr>
          <a:xfrm>
            <a:off x="179512" y="1446238"/>
            <a:ext cx="8784976" cy="3484983"/>
          </a:xfrm>
        </p:spPr>
        <p:txBody>
          <a:bodyPr/>
          <a:lstStyle/>
          <a:p>
            <a:r>
              <a:rPr lang="en-GB" b="1" u="sng" dirty="0"/>
              <a:t>Software measurement:</a:t>
            </a:r>
            <a:r>
              <a:rPr lang="en-GB" dirty="0"/>
              <a:t> derive a numeric value for an attribute of a software product or process.</a:t>
            </a:r>
          </a:p>
          <a:p>
            <a:r>
              <a:rPr lang="en-GB" dirty="0"/>
              <a:t>Allows comparison between techniques and processes.</a:t>
            </a:r>
          </a:p>
          <a:p>
            <a:r>
              <a:rPr lang="en-GB" dirty="0"/>
              <a:t>Although some companies have introduced measurement programmes, most organisations still don’t make systematic use of software measurement.</a:t>
            </a:r>
          </a:p>
          <a:p>
            <a:r>
              <a:rPr lang="en-GB" dirty="0"/>
              <a:t>There are few established standards in this area.</a:t>
            </a:r>
          </a:p>
          <a:p>
            <a:r>
              <a:rPr lang="en-GB" b="1" dirty="0"/>
              <a:t>Any type of measurement which relates to a software system, process or related documentation</a:t>
            </a:r>
          </a:p>
          <a:p>
            <a:pPr lvl="1"/>
            <a:r>
              <a:rPr lang="en-GB" dirty="0"/>
              <a:t>Lines of code in a program, the Fog index, number of person-days required to develop a component.</a:t>
            </a:r>
          </a:p>
          <a:p>
            <a:endParaRPr lang="en-GB" dirty="0"/>
          </a:p>
        </p:txBody>
      </p:sp>
      <p:sp>
        <p:nvSpPr>
          <p:cNvPr id="7" name="Footer Placeholder 6"/>
          <p:cNvSpPr>
            <a:spLocks noGrp="1"/>
          </p:cNvSpPr>
          <p:nvPr>
            <p:ph type="ftr" sz="quarter" idx="11"/>
          </p:nvPr>
        </p:nvSpPr>
        <p:spPr/>
        <p:txBody>
          <a:bodyPr/>
          <a:lstStyle/>
          <a:p>
            <a:r>
              <a:rPr lang="en-US"/>
              <a:t>Chapter 24 Quality management</a:t>
            </a:r>
          </a:p>
        </p:txBody>
      </p:sp>
      <p:sp>
        <p:nvSpPr>
          <p:cNvPr id="6" name="Slide Number Placeholder 5"/>
          <p:cNvSpPr>
            <a:spLocks noGrp="1"/>
          </p:cNvSpPr>
          <p:nvPr>
            <p:ph type="sldNum" sz="quarter" idx="12"/>
          </p:nvPr>
        </p:nvSpPr>
        <p:spPr/>
        <p:txBody>
          <a:bodyPr/>
          <a:lstStyle/>
          <a:p>
            <a:fld id="{745CE82A-87C3-2841-AAF3-37DF1E34DC62}" type="slidenum">
              <a:rPr lang="en-US" smtClean="0"/>
              <a:pPr/>
              <a:t>29</a:t>
            </a:fld>
            <a:endParaRPr lang="en-US"/>
          </a:p>
        </p:txBody>
      </p:sp>
      <p:sp>
        <p:nvSpPr>
          <p:cNvPr id="2" name="Date Placeholder 1"/>
          <p:cNvSpPr>
            <a:spLocks noGrp="1"/>
          </p:cNvSpPr>
          <p:nvPr>
            <p:ph type="dt" sz="half" idx="10"/>
          </p:nvPr>
        </p:nvSpPr>
        <p:spPr/>
        <p:txBody>
          <a:bodyPr/>
          <a:lstStyle/>
          <a:p>
            <a:fld id="{F1A08FAD-ECA7-40F7-BD7C-C297022D8FEC}" type="datetime1">
              <a:rPr lang="en-US" smtClean="0"/>
              <a:t>4/20/2026</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process metric</a:t>
            </a:r>
          </a:p>
        </p:txBody>
      </p:sp>
      <p:sp>
        <p:nvSpPr>
          <p:cNvPr id="3" name="Content Placeholder 2"/>
          <p:cNvSpPr>
            <a:spLocks noGrp="1"/>
          </p:cNvSpPr>
          <p:nvPr>
            <p:ph idx="1"/>
          </p:nvPr>
        </p:nvSpPr>
        <p:spPr>
          <a:xfrm>
            <a:off x="323528" y="1417638"/>
            <a:ext cx="8229600" cy="4525963"/>
          </a:xfrm>
        </p:spPr>
        <p:txBody>
          <a:bodyPr/>
          <a:lstStyle/>
          <a:p>
            <a:pPr algn="just"/>
            <a:r>
              <a:rPr lang="en-US" b="1" i="1" dirty="0"/>
              <a:t>The time taken for a particular process to be completed</a:t>
            </a:r>
          </a:p>
          <a:p>
            <a:pPr lvl="1" algn="just"/>
            <a:r>
              <a:rPr lang="en-US" dirty="0"/>
              <a:t>calendar time, </a:t>
            </a:r>
          </a:p>
          <a:p>
            <a:pPr algn="just"/>
            <a:r>
              <a:rPr lang="en-US" b="1" i="1" dirty="0"/>
              <a:t>The resources required for a particular process</a:t>
            </a:r>
            <a:endParaRPr lang="en-US" b="1" dirty="0"/>
          </a:p>
          <a:p>
            <a:pPr lvl="1" algn="just"/>
            <a:r>
              <a:rPr lang="en-US" dirty="0"/>
              <a:t>Resources might include total effort in person-days, </a:t>
            </a:r>
          </a:p>
          <a:p>
            <a:pPr lvl="1" algn="just"/>
            <a:r>
              <a:rPr lang="en-US" dirty="0"/>
              <a:t>travel costs or computer resources.</a:t>
            </a:r>
            <a:endParaRPr lang="en-GB" dirty="0"/>
          </a:p>
          <a:p>
            <a:pPr algn="just"/>
            <a:r>
              <a:rPr lang="en-US" b="1" i="1" dirty="0"/>
              <a:t>The number of occurrences of a particular event</a:t>
            </a:r>
            <a:endParaRPr lang="en-US" b="1" dirty="0"/>
          </a:p>
          <a:p>
            <a:pPr lvl="1" algn="just"/>
            <a:r>
              <a:rPr lang="en-US" dirty="0"/>
              <a:t>number of defects discovered during code inspection, </a:t>
            </a:r>
          </a:p>
          <a:p>
            <a:pPr lvl="1" algn="just"/>
            <a:r>
              <a:rPr lang="en-US" dirty="0"/>
              <a:t>the number of requirements changes requested, </a:t>
            </a:r>
          </a:p>
          <a:p>
            <a:pPr lvl="1" algn="just"/>
            <a:r>
              <a:rPr lang="en-US" dirty="0"/>
              <a:t>the number of bug reports in a delivered system</a:t>
            </a:r>
          </a:p>
          <a:p>
            <a:pPr lvl="1" algn="just"/>
            <a:r>
              <a:rPr lang="en-US" dirty="0"/>
              <a:t>and the average number of LOC modified in response to a requirements change.</a:t>
            </a:r>
            <a:endParaRPr lang="en-GB" dirty="0"/>
          </a:p>
          <a:p>
            <a:pPr algn="just"/>
            <a:endParaRPr lang="en-US" dirty="0"/>
          </a:p>
        </p:txBody>
      </p:sp>
      <p:sp>
        <p:nvSpPr>
          <p:cNvPr id="4" name="Date Placeholder 3"/>
          <p:cNvSpPr>
            <a:spLocks noGrp="1"/>
          </p:cNvSpPr>
          <p:nvPr>
            <p:ph type="dt" sz="half" idx="10"/>
          </p:nvPr>
        </p:nvSpPr>
        <p:spPr/>
        <p:txBody>
          <a:bodyPr/>
          <a:lstStyle/>
          <a:p>
            <a:fld id="{662CE72E-02FA-49BD-9480-9C84AE9DF447}" type="datetime1">
              <a:rPr lang="en-US" smtClean="0"/>
              <a:t>4/20/2026</a:t>
            </a:fld>
            <a:endParaRPr lang="en-US"/>
          </a:p>
        </p:txBody>
      </p:sp>
      <p:sp>
        <p:nvSpPr>
          <p:cNvPr id="5" name="Footer Placeholder 4"/>
          <p:cNvSpPr>
            <a:spLocks noGrp="1"/>
          </p:cNvSpPr>
          <p:nvPr>
            <p:ph type="ftr" sz="quarter" idx="11"/>
          </p:nvPr>
        </p:nvSpPr>
        <p:spPr/>
        <p:txBody>
          <a:bodyPr/>
          <a:lstStyle/>
          <a:p>
            <a:r>
              <a:rPr lang="en-US"/>
              <a:t>Chapter 24 Quality management</a:t>
            </a:r>
          </a:p>
        </p:txBody>
      </p:sp>
      <p:sp>
        <p:nvSpPr>
          <p:cNvPr id="6" name="Slide Number Placeholder 5"/>
          <p:cNvSpPr>
            <a:spLocks noGrp="1"/>
          </p:cNvSpPr>
          <p:nvPr>
            <p:ph type="sldNum" sz="quarter" idx="12"/>
          </p:nvPr>
        </p:nvSpPr>
        <p:spPr/>
        <p:txBody>
          <a:bodyPr/>
          <a:lstStyle/>
          <a:p>
            <a:fld id="{745CE82A-87C3-2841-AAF3-37DF1E34DC62}" type="slidenum">
              <a:rPr lang="en-US" smtClean="0"/>
              <a:pPr/>
              <a:t>30</a:t>
            </a:fld>
            <a:endParaRPr lang="en-US"/>
          </a:p>
        </p:txBody>
      </p:sp>
    </p:spTree>
    <p:extLst>
      <p:ext uri="{BB962C8B-B14F-4D97-AF65-F5344CB8AC3E}">
        <p14:creationId xmlns:p14="http://schemas.microsoft.com/office/powerpoint/2010/main" val="2980675860"/>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between internal and external software</a:t>
            </a:r>
            <a:r>
              <a:rPr lang="en-GB" dirty="0"/>
              <a:t> quality attributes</a:t>
            </a:r>
            <a:endParaRPr lang="en-US" dirty="0"/>
          </a:p>
        </p:txBody>
      </p:sp>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31</a:t>
            </a:fld>
            <a:endParaRPr lang="en-US"/>
          </a:p>
        </p:txBody>
      </p:sp>
      <p:sp>
        <p:nvSpPr>
          <p:cNvPr id="3" name="Date Placeholder 2"/>
          <p:cNvSpPr>
            <a:spLocks noGrp="1"/>
          </p:cNvSpPr>
          <p:nvPr>
            <p:ph type="dt" sz="half" idx="10"/>
          </p:nvPr>
        </p:nvSpPr>
        <p:spPr/>
        <p:txBody>
          <a:bodyPr/>
          <a:lstStyle/>
          <a:p>
            <a:fld id="{FB48B858-D5D4-4F56-8402-4551C7188C56}" type="datetime1">
              <a:rPr lang="en-US" smtClean="0"/>
              <a:t>4/20/2026</a:t>
            </a:fld>
            <a:endParaRPr lang="en-US"/>
          </a:p>
        </p:txBody>
      </p:sp>
      <p:pic>
        <p:nvPicPr>
          <p:cNvPr id="8" name="Picture 7" descr="24.10 Int Ext Attribut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700808"/>
            <a:ext cx="6912768" cy="4608512"/>
          </a:xfrm>
          <a:prstGeom prst="rect">
            <a:avLst/>
          </a:prstGeom>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239000" cy="990600"/>
          </a:xfrm>
        </p:spPr>
        <p:txBody>
          <a:bodyPr>
            <a:normAutofit/>
          </a:bodyPr>
          <a:lstStyle/>
          <a:p>
            <a:r>
              <a:rPr lang="en-US" dirty="0"/>
              <a:t>Static software product metrics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80041377"/>
              </p:ext>
            </p:extLst>
          </p:nvPr>
        </p:nvGraphicFramePr>
        <p:xfrm>
          <a:off x="762000" y="1859281"/>
          <a:ext cx="7543800" cy="4267200"/>
        </p:xfrm>
        <a:graphic>
          <a:graphicData uri="http://schemas.openxmlformats.org/drawingml/2006/table">
            <a:tbl>
              <a:tblPr firstRow="1" bandRow="1">
                <a:tableStyleId>{5C22544A-7EE6-4342-B048-85BDC9FD1C3A}</a:tableStyleId>
              </a:tblPr>
              <a:tblGrid>
                <a:gridCol w="2181890">
                  <a:extLst>
                    <a:ext uri="{9D8B030D-6E8A-4147-A177-3AD203B41FA5}">
                      <a16:colId xmlns:a16="http://schemas.microsoft.com/office/drawing/2014/main" val="20000"/>
                    </a:ext>
                  </a:extLst>
                </a:gridCol>
                <a:gridCol w="5361910">
                  <a:extLst>
                    <a:ext uri="{9D8B030D-6E8A-4147-A177-3AD203B41FA5}">
                      <a16:colId xmlns:a16="http://schemas.microsoft.com/office/drawing/2014/main" val="20001"/>
                    </a:ext>
                  </a:extLst>
                </a:gridCol>
              </a:tblGrid>
              <a:tr h="370840">
                <a:tc>
                  <a:txBody>
                    <a:bodyPr/>
                    <a:lstStyle/>
                    <a:p>
                      <a:pPr algn="just">
                        <a:spcAft>
                          <a:spcPts val="0"/>
                        </a:spcAft>
                      </a:pPr>
                      <a:r>
                        <a:rPr lang="en-US" sz="1600" b="1" dirty="0">
                          <a:solidFill>
                            <a:srgbClr val="000000"/>
                          </a:solidFill>
                          <a:latin typeface="Arial"/>
                          <a:ea typeface="Times New Roman"/>
                          <a:cs typeface="Arial"/>
                        </a:rPr>
                        <a:t>Software metric</a:t>
                      </a:r>
                      <a:endParaRPr lang="en-GB" sz="1600"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600" b="1" dirty="0">
                          <a:solidFill>
                            <a:srgbClr val="000000"/>
                          </a:solidFill>
                          <a:latin typeface="Arial"/>
                          <a:ea typeface="Times New Roman"/>
                          <a:cs typeface="Arial"/>
                        </a:rPr>
                        <a:t>Description</a:t>
                      </a:r>
                      <a:endParaRPr lang="en-GB" sz="1600"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370840">
                <a:tc>
                  <a:txBody>
                    <a:bodyPr/>
                    <a:lstStyle/>
                    <a:p>
                      <a:pPr algn="l">
                        <a:spcAft>
                          <a:spcPts val="0"/>
                        </a:spcAft>
                      </a:pPr>
                      <a:r>
                        <a:rPr lang="en-US" sz="1600" dirty="0">
                          <a:solidFill>
                            <a:srgbClr val="000000"/>
                          </a:solidFill>
                          <a:latin typeface="Arial"/>
                          <a:ea typeface="Times New Roman"/>
                          <a:cs typeface="Arial"/>
                        </a:rPr>
                        <a:t>Fan-in/Fan-out</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Fan-in is a measure of the number of functions or methods that call another function or method (say X). Fan-out is the number of functions that are called by function X. A high value for fan-in means that X is tightly coupled to the rest of the design and changes to X will have extensive knock-on effects. A high value for fan-out suggests that the overall complexity of X may be high because of the complexity of the control logic needed to coordinate the called components.</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370840">
                <a:tc>
                  <a:txBody>
                    <a:bodyPr/>
                    <a:lstStyle/>
                    <a:p>
                      <a:pPr algn="l">
                        <a:spcAft>
                          <a:spcPts val="0"/>
                        </a:spcAft>
                      </a:pPr>
                      <a:r>
                        <a:rPr lang="en-US" sz="1600">
                          <a:solidFill>
                            <a:srgbClr val="000000"/>
                          </a:solidFill>
                          <a:latin typeface="Arial"/>
                          <a:ea typeface="Times New Roman"/>
                          <a:cs typeface="Arial"/>
                        </a:rPr>
                        <a:t>Length of code</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b="1" dirty="0">
                          <a:solidFill>
                            <a:srgbClr val="000000"/>
                          </a:solidFill>
                          <a:latin typeface="Arial"/>
                          <a:ea typeface="Times New Roman"/>
                          <a:cs typeface="Arial"/>
                        </a:rPr>
                        <a:t>This is a measure of the size of a program. Generally, the larger the size of the code of a component, the more complex and error-prone that component is likely to be</a:t>
                      </a:r>
                      <a:r>
                        <a:rPr lang="en-US" sz="1600" dirty="0">
                          <a:solidFill>
                            <a:srgbClr val="000000"/>
                          </a:solidFill>
                          <a:latin typeface="Arial"/>
                          <a:ea typeface="Times New Roman"/>
                          <a:cs typeface="Arial"/>
                        </a:rPr>
                        <a:t>. Length of code has been shown to be one of the most reliable metrics for predicting error-proneness in components.</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bl>
          </a:graphicData>
        </a:graphic>
      </p:graphicFrame>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32</a:t>
            </a:fld>
            <a:endParaRPr lang="en-US"/>
          </a:p>
        </p:txBody>
      </p:sp>
      <p:sp>
        <p:nvSpPr>
          <p:cNvPr id="3" name="Date Placeholder 2"/>
          <p:cNvSpPr>
            <a:spLocks noGrp="1"/>
          </p:cNvSpPr>
          <p:nvPr>
            <p:ph type="dt" sz="half" idx="10"/>
          </p:nvPr>
        </p:nvSpPr>
        <p:spPr/>
        <p:txBody>
          <a:bodyPr/>
          <a:lstStyle/>
          <a:p>
            <a:fld id="{4446724F-C1EC-44C5-B8E0-5872E8652C3E}" type="datetime1">
              <a:rPr lang="en-US" smtClean="0"/>
              <a:t>4/20/2026</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239000" cy="1066800"/>
          </a:xfrm>
        </p:spPr>
        <p:txBody>
          <a:bodyPr>
            <a:normAutofit/>
          </a:bodyPr>
          <a:lstStyle/>
          <a:p>
            <a:r>
              <a:rPr lang="en-US" dirty="0"/>
              <a:t>Static software product metrics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0801305"/>
              </p:ext>
            </p:extLst>
          </p:nvPr>
        </p:nvGraphicFramePr>
        <p:xfrm>
          <a:off x="914400" y="1676400"/>
          <a:ext cx="7391400" cy="4450080"/>
        </p:xfrm>
        <a:graphic>
          <a:graphicData uri="http://schemas.openxmlformats.org/drawingml/2006/table">
            <a:tbl>
              <a:tblPr firstRow="1" bandRow="1">
                <a:tableStyleId>{5C22544A-7EE6-4342-B048-85BDC9FD1C3A}</a:tableStyleId>
              </a:tblPr>
              <a:tblGrid>
                <a:gridCol w="2137812">
                  <a:extLst>
                    <a:ext uri="{9D8B030D-6E8A-4147-A177-3AD203B41FA5}">
                      <a16:colId xmlns:a16="http://schemas.microsoft.com/office/drawing/2014/main" val="20000"/>
                    </a:ext>
                  </a:extLst>
                </a:gridCol>
                <a:gridCol w="5253588">
                  <a:extLst>
                    <a:ext uri="{9D8B030D-6E8A-4147-A177-3AD203B41FA5}">
                      <a16:colId xmlns:a16="http://schemas.microsoft.com/office/drawing/2014/main" val="20001"/>
                    </a:ext>
                  </a:extLst>
                </a:gridCol>
              </a:tblGrid>
              <a:tr h="370840">
                <a:tc>
                  <a:txBody>
                    <a:bodyPr/>
                    <a:lstStyle/>
                    <a:p>
                      <a:pPr algn="just">
                        <a:spcAft>
                          <a:spcPts val="0"/>
                        </a:spcAft>
                      </a:pPr>
                      <a:r>
                        <a:rPr lang="en-US" sz="1600" b="1" dirty="0">
                          <a:solidFill>
                            <a:srgbClr val="000000"/>
                          </a:solidFill>
                          <a:latin typeface="Arial"/>
                          <a:ea typeface="Times New Roman"/>
                          <a:cs typeface="Arial"/>
                        </a:rPr>
                        <a:t>Software metric</a:t>
                      </a:r>
                      <a:endParaRPr lang="en-GB" sz="1600"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US" sz="1600" b="1" dirty="0">
                          <a:solidFill>
                            <a:srgbClr val="000000"/>
                          </a:solidFill>
                          <a:latin typeface="Arial"/>
                          <a:ea typeface="Times New Roman"/>
                          <a:cs typeface="Arial"/>
                        </a:rPr>
                        <a:t>Description</a:t>
                      </a:r>
                      <a:endParaRPr lang="en-GB" sz="1600"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370840">
                <a:tc>
                  <a:txBody>
                    <a:bodyPr/>
                    <a:lstStyle/>
                    <a:p>
                      <a:pPr algn="l">
                        <a:spcAft>
                          <a:spcPts val="0"/>
                        </a:spcAft>
                      </a:pPr>
                      <a:r>
                        <a:rPr lang="en-US" sz="1600" dirty="0" err="1">
                          <a:solidFill>
                            <a:srgbClr val="000000"/>
                          </a:solidFill>
                          <a:latin typeface="Arial"/>
                          <a:ea typeface="Times New Roman"/>
                          <a:cs typeface="Arial"/>
                        </a:rPr>
                        <a:t>Cyclomatic</a:t>
                      </a:r>
                      <a:r>
                        <a:rPr lang="en-US" sz="1600" dirty="0">
                          <a:solidFill>
                            <a:srgbClr val="000000"/>
                          </a:solidFill>
                          <a:latin typeface="Arial"/>
                          <a:ea typeface="Times New Roman"/>
                          <a:cs typeface="Arial"/>
                        </a:rPr>
                        <a:t> complexity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This is a measure of the </a:t>
                      </a:r>
                      <a:r>
                        <a:rPr lang="en-US" sz="1600" b="1" dirty="0">
                          <a:solidFill>
                            <a:srgbClr val="000000"/>
                          </a:solidFill>
                          <a:latin typeface="Arial"/>
                          <a:ea typeface="Times New Roman"/>
                          <a:cs typeface="Arial"/>
                        </a:rPr>
                        <a:t>control complexity of a program. </a:t>
                      </a:r>
                      <a:r>
                        <a:rPr lang="en-US" sz="1600" dirty="0">
                          <a:solidFill>
                            <a:srgbClr val="000000"/>
                          </a:solidFill>
                          <a:latin typeface="Arial"/>
                          <a:ea typeface="Times New Roman"/>
                          <a:cs typeface="Arial"/>
                        </a:rPr>
                        <a:t>This control complexity may be related to program understandability. </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370840">
                <a:tc>
                  <a:txBody>
                    <a:bodyPr/>
                    <a:lstStyle/>
                    <a:p>
                      <a:pPr algn="l">
                        <a:spcAft>
                          <a:spcPts val="0"/>
                        </a:spcAft>
                      </a:pPr>
                      <a:r>
                        <a:rPr lang="en-US" sz="1600">
                          <a:solidFill>
                            <a:srgbClr val="000000"/>
                          </a:solidFill>
                          <a:latin typeface="Arial"/>
                          <a:ea typeface="Times New Roman"/>
                          <a:cs typeface="Arial"/>
                        </a:rPr>
                        <a:t>Length of identifiers</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This is a measure of the </a:t>
                      </a:r>
                      <a:r>
                        <a:rPr lang="en-US" sz="1600" b="1" dirty="0">
                          <a:solidFill>
                            <a:srgbClr val="000000"/>
                          </a:solidFill>
                          <a:latin typeface="Arial"/>
                          <a:ea typeface="Times New Roman"/>
                          <a:cs typeface="Arial"/>
                        </a:rPr>
                        <a:t>average length of identifiers (names for variables, classes, methods, etc.) in a program. The longer the identifiers, the more likely they are to be meaningful</a:t>
                      </a:r>
                      <a:r>
                        <a:rPr lang="en-US" sz="1600" dirty="0">
                          <a:solidFill>
                            <a:srgbClr val="000000"/>
                          </a:solidFill>
                          <a:latin typeface="Arial"/>
                          <a:ea typeface="Times New Roman"/>
                          <a:cs typeface="Arial"/>
                        </a:rPr>
                        <a:t> and hence the more </a:t>
                      </a:r>
                      <a:r>
                        <a:rPr lang="en-US" sz="1600" u="sng" dirty="0">
                          <a:solidFill>
                            <a:srgbClr val="000000"/>
                          </a:solidFill>
                          <a:latin typeface="Arial"/>
                          <a:ea typeface="Times New Roman"/>
                          <a:cs typeface="Arial"/>
                        </a:rPr>
                        <a:t>understandable</a:t>
                      </a:r>
                      <a:r>
                        <a:rPr lang="en-US" sz="1600" dirty="0">
                          <a:solidFill>
                            <a:srgbClr val="000000"/>
                          </a:solidFill>
                          <a:latin typeface="Arial"/>
                          <a:ea typeface="Times New Roman"/>
                          <a:cs typeface="Arial"/>
                        </a:rPr>
                        <a:t> the program.</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370840">
                <a:tc>
                  <a:txBody>
                    <a:bodyPr/>
                    <a:lstStyle/>
                    <a:p>
                      <a:pPr algn="l">
                        <a:spcAft>
                          <a:spcPts val="0"/>
                        </a:spcAft>
                      </a:pPr>
                      <a:r>
                        <a:rPr lang="en-US" sz="1600">
                          <a:solidFill>
                            <a:srgbClr val="000000"/>
                          </a:solidFill>
                          <a:latin typeface="Arial"/>
                          <a:ea typeface="Times New Roman"/>
                          <a:cs typeface="Arial"/>
                        </a:rPr>
                        <a:t>Depth of conditional nesting</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This is a measure of the depth of nesting of if-statements in a program. </a:t>
                      </a:r>
                      <a:r>
                        <a:rPr lang="en-US" sz="1600" b="1" dirty="0">
                          <a:solidFill>
                            <a:srgbClr val="000000"/>
                          </a:solidFill>
                          <a:latin typeface="Arial"/>
                          <a:ea typeface="Times New Roman"/>
                          <a:cs typeface="Arial"/>
                        </a:rPr>
                        <a:t>Deeply nested if-statements are hard to understand and potentially error-prone.</a:t>
                      </a:r>
                      <a:endParaRPr lang="en-GB" sz="1600" b="1"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370840">
                <a:tc>
                  <a:txBody>
                    <a:bodyPr/>
                    <a:lstStyle/>
                    <a:p>
                      <a:pPr algn="l">
                        <a:spcAft>
                          <a:spcPts val="0"/>
                        </a:spcAft>
                      </a:pPr>
                      <a:r>
                        <a:rPr lang="en-US" sz="1600">
                          <a:solidFill>
                            <a:srgbClr val="000000"/>
                          </a:solidFill>
                          <a:latin typeface="Arial"/>
                          <a:ea typeface="Times New Roman"/>
                          <a:cs typeface="Arial"/>
                        </a:rPr>
                        <a:t>Fog index</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US" sz="1600" dirty="0">
                          <a:solidFill>
                            <a:srgbClr val="000000"/>
                          </a:solidFill>
                          <a:latin typeface="Arial"/>
                          <a:ea typeface="Times New Roman"/>
                          <a:cs typeface="Arial"/>
                        </a:rPr>
                        <a:t>This is a </a:t>
                      </a:r>
                      <a:r>
                        <a:rPr lang="en-US" sz="1600" b="1" dirty="0">
                          <a:solidFill>
                            <a:srgbClr val="000000"/>
                          </a:solidFill>
                          <a:latin typeface="Arial"/>
                          <a:ea typeface="Times New Roman"/>
                          <a:cs typeface="Arial"/>
                        </a:rPr>
                        <a:t>measure of the average length of words and sentences in documents</a:t>
                      </a:r>
                      <a:r>
                        <a:rPr lang="en-US" sz="1600" dirty="0">
                          <a:solidFill>
                            <a:srgbClr val="000000"/>
                          </a:solidFill>
                          <a:latin typeface="Arial"/>
                          <a:ea typeface="Times New Roman"/>
                          <a:cs typeface="Arial"/>
                        </a:rPr>
                        <a:t>. The higher the value of a document’s Fog index, the more difficult the document is to understand.</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33</a:t>
            </a:fld>
            <a:endParaRPr lang="en-US"/>
          </a:p>
        </p:txBody>
      </p:sp>
      <p:sp>
        <p:nvSpPr>
          <p:cNvPr id="3" name="Date Placeholder 2"/>
          <p:cNvSpPr>
            <a:spLocks noGrp="1"/>
          </p:cNvSpPr>
          <p:nvPr>
            <p:ph type="dt" sz="half" idx="10"/>
          </p:nvPr>
        </p:nvSpPr>
        <p:spPr/>
        <p:txBody>
          <a:bodyPr/>
          <a:lstStyle/>
          <a:p>
            <a:fld id="{5DF70FCC-CD3F-4195-8C36-4D161505C173}" type="datetime1">
              <a:rPr lang="en-US" smtClean="0"/>
              <a:t>4/20/2026</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metrics suite</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72196642"/>
              </p:ext>
            </p:extLst>
          </p:nvPr>
        </p:nvGraphicFramePr>
        <p:xfrm>
          <a:off x="381000" y="1828800"/>
          <a:ext cx="8229600" cy="4297680"/>
        </p:xfrm>
        <a:graphic>
          <a:graphicData uri="http://schemas.openxmlformats.org/drawingml/2006/table">
            <a:tbl>
              <a:tblPr firstRow="1" bandRow="1">
                <a:tableStyleId>{5C22544A-7EE6-4342-B048-85BDC9FD1C3A}</a:tableStyleId>
              </a:tblPr>
              <a:tblGrid>
                <a:gridCol w="1731685">
                  <a:extLst>
                    <a:ext uri="{9D8B030D-6E8A-4147-A177-3AD203B41FA5}">
                      <a16:colId xmlns:a16="http://schemas.microsoft.com/office/drawing/2014/main" val="20000"/>
                    </a:ext>
                  </a:extLst>
                </a:gridCol>
                <a:gridCol w="6497915">
                  <a:extLst>
                    <a:ext uri="{9D8B030D-6E8A-4147-A177-3AD203B41FA5}">
                      <a16:colId xmlns:a16="http://schemas.microsoft.com/office/drawing/2014/main" val="20001"/>
                    </a:ext>
                  </a:extLst>
                </a:gridCol>
              </a:tblGrid>
              <a:tr h="370840">
                <a:tc>
                  <a:txBody>
                    <a:bodyPr/>
                    <a:lstStyle/>
                    <a:p>
                      <a:pPr algn="just">
                        <a:spcAft>
                          <a:spcPts val="0"/>
                        </a:spcAft>
                      </a:pPr>
                      <a:r>
                        <a:rPr lang="en-US" sz="1400" b="1" dirty="0">
                          <a:solidFill>
                            <a:srgbClr val="000000"/>
                          </a:solidFill>
                          <a:latin typeface="Arial"/>
                          <a:ea typeface="Times New Roman"/>
                          <a:cs typeface="Arial"/>
                        </a:rPr>
                        <a:t>Object-oriented metric</a:t>
                      </a:r>
                      <a:endParaRPr lang="en-GB" sz="1400"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US" sz="1400" b="1" dirty="0">
                          <a:solidFill>
                            <a:srgbClr val="000000"/>
                          </a:solidFill>
                          <a:latin typeface="Arial"/>
                          <a:ea typeface="Times New Roman"/>
                          <a:cs typeface="Arial"/>
                        </a:rPr>
                        <a:t>Description</a:t>
                      </a:r>
                      <a:endParaRPr lang="en-GB" sz="1400" dirty="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370840">
                <a:tc>
                  <a:txBody>
                    <a:bodyPr/>
                    <a:lstStyle/>
                    <a:p>
                      <a:pPr algn="l">
                        <a:spcAft>
                          <a:spcPts val="0"/>
                        </a:spcAft>
                      </a:pPr>
                      <a:r>
                        <a:rPr lang="en-US" sz="1400" dirty="0">
                          <a:solidFill>
                            <a:srgbClr val="000000"/>
                          </a:solidFill>
                          <a:latin typeface="Arial"/>
                          <a:ea typeface="Times New Roman"/>
                          <a:cs typeface="Arial"/>
                        </a:rPr>
                        <a:t>Weighted methods per class (WMC)</a:t>
                      </a:r>
                      <a:endParaRPr lang="en-GB" sz="14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b="1" dirty="0">
                          <a:solidFill>
                            <a:srgbClr val="000000"/>
                          </a:solidFill>
                          <a:latin typeface="Arial"/>
                          <a:ea typeface="Times New Roman"/>
                          <a:cs typeface="Arial"/>
                        </a:rPr>
                        <a:t>This is the number of methods in each class, weighted by the complexity of each method. </a:t>
                      </a:r>
                      <a:r>
                        <a:rPr lang="en-US" sz="1400" dirty="0">
                          <a:solidFill>
                            <a:srgbClr val="000000"/>
                          </a:solidFill>
                          <a:latin typeface="Arial"/>
                          <a:ea typeface="Times New Roman"/>
                          <a:cs typeface="Arial"/>
                        </a:rPr>
                        <a:t>Therefore, a simple method may have a complexity of 1, and a large and complex method a much higher value. The larger the value for this metric, the more complex the object class. Complex objects are more likely to be difficult to understand. They may not be logically cohesive, so cannot be reused effectively as </a:t>
                      </a:r>
                      <a:r>
                        <a:rPr lang="en-US" sz="1400" dirty="0" err="1">
                          <a:solidFill>
                            <a:srgbClr val="000000"/>
                          </a:solidFill>
                          <a:latin typeface="Arial"/>
                          <a:ea typeface="Times New Roman"/>
                          <a:cs typeface="Arial"/>
                        </a:rPr>
                        <a:t>superclasses</a:t>
                      </a:r>
                      <a:r>
                        <a:rPr lang="en-US" sz="1400" dirty="0">
                          <a:solidFill>
                            <a:srgbClr val="000000"/>
                          </a:solidFill>
                          <a:latin typeface="Arial"/>
                          <a:ea typeface="Times New Roman"/>
                          <a:cs typeface="Arial"/>
                        </a:rPr>
                        <a:t> in an inheritance tree.</a:t>
                      </a:r>
                      <a:endParaRPr lang="en-GB" sz="14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l">
                        <a:spcAft>
                          <a:spcPts val="0"/>
                        </a:spcAft>
                      </a:pPr>
                      <a:r>
                        <a:rPr lang="en-US" sz="1400">
                          <a:solidFill>
                            <a:srgbClr val="000000"/>
                          </a:solidFill>
                          <a:latin typeface="Arial"/>
                          <a:ea typeface="Times New Roman"/>
                          <a:cs typeface="Arial"/>
                        </a:rPr>
                        <a:t>Depth of inheritance tree (DIT)</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dirty="0">
                          <a:solidFill>
                            <a:srgbClr val="000000"/>
                          </a:solidFill>
                          <a:latin typeface="Arial"/>
                          <a:ea typeface="Times New Roman"/>
                          <a:cs typeface="Arial"/>
                        </a:rPr>
                        <a:t>This represents the number of discrete levels in the inheritance tree where subclasses inherit attributes and operations (methods) from </a:t>
                      </a:r>
                      <a:r>
                        <a:rPr lang="en-US" sz="1400" dirty="0" err="1">
                          <a:solidFill>
                            <a:srgbClr val="000000"/>
                          </a:solidFill>
                          <a:latin typeface="Arial"/>
                          <a:ea typeface="Times New Roman"/>
                          <a:cs typeface="Arial"/>
                        </a:rPr>
                        <a:t>superclasses</a:t>
                      </a:r>
                      <a:r>
                        <a:rPr lang="en-US" sz="1400" dirty="0">
                          <a:solidFill>
                            <a:srgbClr val="000000"/>
                          </a:solidFill>
                          <a:latin typeface="Arial"/>
                          <a:ea typeface="Times New Roman"/>
                          <a:cs typeface="Arial"/>
                        </a:rPr>
                        <a:t>. </a:t>
                      </a:r>
                      <a:r>
                        <a:rPr lang="en-US" sz="1400" b="1" dirty="0">
                          <a:solidFill>
                            <a:srgbClr val="000000"/>
                          </a:solidFill>
                          <a:latin typeface="Arial"/>
                          <a:ea typeface="Times New Roman"/>
                          <a:cs typeface="Arial"/>
                        </a:rPr>
                        <a:t>The deeper the inheritance tree, the more complex the design. </a:t>
                      </a:r>
                      <a:r>
                        <a:rPr lang="en-US" sz="1400" dirty="0">
                          <a:solidFill>
                            <a:srgbClr val="000000"/>
                          </a:solidFill>
                          <a:latin typeface="Arial"/>
                          <a:ea typeface="Times New Roman"/>
                          <a:cs typeface="Arial"/>
                        </a:rPr>
                        <a:t>Many object classes may have to be understood to understand the object classes at the leaves of the tree. </a:t>
                      </a:r>
                      <a:endParaRPr lang="en-GB" sz="14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l">
                        <a:spcAft>
                          <a:spcPts val="0"/>
                        </a:spcAft>
                      </a:pPr>
                      <a:r>
                        <a:rPr lang="en-US" sz="1400">
                          <a:solidFill>
                            <a:srgbClr val="000000"/>
                          </a:solidFill>
                          <a:latin typeface="Arial"/>
                          <a:ea typeface="Times New Roman"/>
                          <a:cs typeface="Arial"/>
                        </a:rPr>
                        <a:t>Number of children (NOC)</a:t>
                      </a:r>
                      <a:endParaRPr lang="en-GB" sz="1400">
                        <a:solidFill>
                          <a:srgbClr val="000000"/>
                        </a:solidFill>
                        <a:latin typeface="Arial"/>
                        <a:ea typeface="Times New Roman"/>
                        <a:cs typeface="Arial"/>
                      </a:endParaRPr>
                    </a:p>
                  </a:txBody>
                  <a:tcPr marL="73025" marR="73025" marT="0" marB="91440"/>
                </a:tc>
                <a:tc>
                  <a:txBody>
                    <a:bodyPr/>
                    <a:lstStyle/>
                    <a:p>
                      <a:pPr algn="just">
                        <a:spcAft>
                          <a:spcPts val="0"/>
                        </a:spcAft>
                      </a:pPr>
                      <a:r>
                        <a:rPr lang="en-US" sz="1400" dirty="0">
                          <a:solidFill>
                            <a:srgbClr val="000000"/>
                          </a:solidFill>
                          <a:latin typeface="Arial"/>
                          <a:ea typeface="Times New Roman"/>
                          <a:cs typeface="Arial"/>
                        </a:rPr>
                        <a:t>This is a measure of the number of immediate subclasses in a class</a:t>
                      </a:r>
                      <a:r>
                        <a:rPr lang="en-US" sz="1400" b="1" dirty="0">
                          <a:solidFill>
                            <a:srgbClr val="000000"/>
                          </a:solidFill>
                          <a:latin typeface="Arial"/>
                          <a:ea typeface="Times New Roman"/>
                          <a:cs typeface="Arial"/>
                        </a:rPr>
                        <a:t>. It measures the breadth of a class hierarchy</a:t>
                      </a:r>
                      <a:r>
                        <a:rPr lang="en-US" sz="1400" dirty="0">
                          <a:solidFill>
                            <a:srgbClr val="000000"/>
                          </a:solidFill>
                          <a:latin typeface="Arial"/>
                          <a:ea typeface="Times New Roman"/>
                          <a:cs typeface="Arial"/>
                        </a:rPr>
                        <a:t>, whereas DIT measures its depth. A high value for NOC may indicate greater reuse. It may mean that more effort should be made in validating base classes because of the number of subclasses that depend on them.</a:t>
                      </a:r>
                      <a:endParaRPr lang="en-GB" sz="14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bl>
          </a:graphicData>
        </a:graphic>
      </p:graphicFrame>
      <p:sp>
        <p:nvSpPr>
          <p:cNvPr id="6" name="Footer Placeholder 5"/>
          <p:cNvSpPr>
            <a:spLocks noGrp="1"/>
          </p:cNvSpPr>
          <p:nvPr>
            <p:ph type="ftr" sz="quarter" idx="11"/>
          </p:nvPr>
        </p:nvSpPr>
        <p:spPr/>
        <p:txBody>
          <a:bodyPr/>
          <a:lstStyle/>
          <a:p>
            <a:r>
              <a:rPr lang="en-US"/>
              <a:t>Chapter 24 Quality management</a:t>
            </a:r>
          </a:p>
        </p:txBody>
      </p:sp>
      <p:sp>
        <p:nvSpPr>
          <p:cNvPr id="5" name="Slide Number Placeholder 4"/>
          <p:cNvSpPr>
            <a:spLocks noGrp="1"/>
          </p:cNvSpPr>
          <p:nvPr>
            <p:ph type="sldNum" sz="quarter" idx="12"/>
          </p:nvPr>
        </p:nvSpPr>
        <p:spPr/>
        <p:txBody>
          <a:bodyPr/>
          <a:lstStyle/>
          <a:p>
            <a:fld id="{745CE82A-87C3-2841-AAF3-37DF1E34DC62}" type="slidenum">
              <a:rPr lang="en-US" smtClean="0"/>
              <a:pPr/>
              <a:t>34</a:t>
            </a:fld>
            <a:endParaRPr lang="en-US"/>
          </a:p>
        </p:txBody>
      </p:sp>
      <p:sp>
        <p:nvSpPr>
          <p:cNvPr id="3" name="Date Placeholder 2"/>
          <p:cNvSpPr>
            <a:spLocks noGrp="1"/>
          </p:cNvSpPr>
          <p:nvPr>
            <p:ph type="dt" sz="half" idx="10"/>
          </p:nvPr>
        </p:nvSpPr>
        <p:spPr/>
        <p:txBody>
          <a:bodyPr/>
          <a:lstStyle/>
          <a:p>
            <a:fld id="{699E941E-BDDF-402C-92F2-270A2FA2065E}" type="datetime1">
              <a:rPr lang="en-US" smtClean="0"/>
              <a:t>4/20/2026</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1456</TotalTime>
  <Pages>55</Pages>
  <Words>2442</Words>
  <Application>Microsoft Office PowerPoint</Application>
  <PresentationFormat>On-screen Show (4:3)</PresentationFormat>
  <Paragraphs>365</Paragraphs>
  <Slides>34</Slides>
  <Notes>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Symbol</vt:lpstr>
      <vt:lpstr>Times</vt:lpstr>
      <vt:lpstr>Wingdings</vt:lpstr>
      <vt:lpstr>SE10 slides</vt:lpstr>
      <vt:lpstr>Quality Management</vt:lpstr>
      <vt:lpstr>Parts of Quality management</vt:lpstr>
      <vt:lpstr>Quality management activities-</vt:lpstr>
      <vt:lpstr>Quality management and software development </vt:lpstr>
      <vt:lpstr>Quality planning</vt:lpstr>
      <vt:lpstr>Software quality</vt:lpstr>
      <vt:lpstr>Software fitness for purpose checks include:</vt:lpstr>
      <vt:lpstr>Non-functional characteristics</vt:lpstr>
      <vt:lpstr>Process and product quality</vt:lpstr>
      <vt:lpstr>Process-based quality </vt:lpstr>
      <vt:lpstr>Software standards</vt:lpstr>
      <vt:lpstr>Importance of standards</vt:lpstr>
      <vt:lpstr>Types of Software standards used in SQM</vt:lpstr>
      <vt:lpstr>Product standards</vt:lpstr>
      <vt:lpstr>Process standards</vt:lpstr>
      <vt:lpstr>Product and process standards </vt:lpstr>
      <vt:lpstr>Problems with standards</vt:lpstr>
      <vt:lpstr>Reviews and inspections</vt:lpstr>
      <vt:lpstr>Reviews and inspections</vt:lpstr>
      <vt:lpstr>Reviews and inspections</vt:lpstr>
      <vt:lpstr>Purpose of Reviews and inspections</vt:lpstr>
      <vt:lpstr>Phases in the review process</vt:lpstr>
      <vt:lpstr>The software review process </vt:lpstr>
      <vt:lpstr>Distributed reviews</vt:lpstr>
      <vt:lpstr>Program inspections</vt:lpstr>
      <vt:lpstr>Inspection checklists</vt:lpstr>
      <vt:lpstr>An inspection checklist (a)</vt:lpstr>
      <vt:lpstr>An inspection checklist (b)</vt:lpstr>
      <vt:lpstr>Software measurement</vt:lpstr>
      <vt:lpstr>Types of process metric</vt:lpstr>
      <vt:lpstr>Relationships between internal and external software quality attributes</vt:lpstr>
      <vt:lpstr>Static software product metrics</vt:lpstr>
      <vt:lpstr>Static software product metrics</vt:lpstr>
      <vt:lpstr>object-oriented metrics suite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Management</dc:title>
  <dc:subject/>
  <dc:creator>DELL</dc:creator>
  <cp:keywords/>
  <dc:description/>
  <cp:lastModifiedBy>Hajra  Ahmed</cp:lastModifiedBy>
  <cp:revision>76</cp:revision>
  <cp:lastPrinted>2010-02-15T15:10:11Z</cp:lastPrinted>
  <dcterms:created xsi:type="dcterms:W3CDTF">2010-02-15T15:08:46Z</dcterms:created>
  <dcterms:modified xsi:type="dcterms:W3CDTF">2026-04-20T07:44:11Z</dcterms:modified>
</cp:coreProperties>
</file>