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4"/>
  </p:notesMasterIdLst>
  <p:sldIdLst>
    <p:sldId id="355" r:id="rId2"/>
    <p:sldId id="356" r:id="rId3"/>
    <p:sldId id="340" r:id="rId4"/>
    <p:sldId id="357" r:id="rId5"/>
    <p:sldId id="349" r:id="rId6"/>
    <p:sldId id="333" r:id="rId7"/>
    <p:sldId id="282" r:id="rId8"/>
    <p:sldId id="334" r:id="rId9"/>
    <p:sldId id="284" r:id="rId10"/>
    <p:sldId id="285" r:id="rId11"/>
    <p:sldId id="358" r:id="rId12"/>
    <p:sldId id="258" r:id="rId13"/>
    <p:sldId id="288" r:id="rId14"/>
    <p:sldId id="359" r:id="rId15"/>
    <p:sldId id="320" r:id="rId16"/>
    <p:sldId id="289" r:id="rId17"/>
    <p:sldId id="322" r:id="rId18"/>
    <p:sldId id="259" r:id="rId19"/>
    <p:sldId id="346" r:id="rId20"/>
    <p:sldId id="347" r:id="rId21"/>
    <p:sldId id="257" r:id="rId22"/>
    <p:sldId id="360" r:id="rId23"/>
    <p:sldId id="361" r:id="rId24"/>
    <p:sldId id="260" r:id="rId25"/>
    <p:sldId id="261" r:id="rId26"/>
    <p:sldId id="262" r:id="rId27"/>
    <p:sldId id="263" r:id="rId28"/>
    <p:sldId id="264" r:id="rId29"/>
    <p:sldId id="265" r:id="rId30"/>
    <p:sldId id="266" r:id="rId31"/>
    <p:sldId id="267" r:id="rId32"/>
    <p:sldId id="268" r:id="rId33"/>
    <p:sldId id="269" r:id="rId34"/>
    <p:sldId id="270" r:id="rId35"/>
    <p:sldId id="271" r:id="rId36"/>
    <p:sldId id="272" r:id="rId37"/>
    <p:sldId id="273" r:id="rId38"/>
    <p:sldId id="274" r:id="rId39"/>
    <p:sldId id="275" r:id="rId40"/>
    <p:sldId id="276" r:id="rId41"/>
    <p:sldId id="277" r:id="rId42"/>
    <p:sldId id="278" r:id="rId43"/>
    <p:sldId id="279" r:id="rId44"/>
    <p:sldId id="280" r:id="rId45"/>
    <p:sldId id="281" r:id="rId46"/>
    <p:sldId id="362" r:id="rId47"/>
    <p:sldId id="283" r:id="rId48"/>
    <p:sldId id="363" r:id="rId49"/>
    <p:sldId id="364" r:id="rId50"/>
    <p:sldId id="286" r:id="rId51"/>
    <p:sldId id="287" r:id="rId52"/>
    <p:sldId id="365" r:id="rId53"/>
    <p:sldId id="366" r:id="rId54"/>
    <p:sldId id="367" r:id="rId55"/>
    <p:sldId id="368" r:id="rId56"/>
    <p:sldId id="369" r:id="rId57"/>
    <p:sldId id="370" r:id="rId58"/>
    <p:sldId id="371" r:id="rId59"/>
    <p:sldId id="372" r:id="rId60"/>
    <p:sldId id="373" r:id="rId61"/>
    <p:sldId id="374" r:id="rId62"/>
    <p:sldId id="375" r:id="rId63"/>
    <p:sldId id="376" r:id="rId64"/>
    <p:sldId id="377" r:id="rId65"/>
    <p:sldId id="378" r:id="rId66"/>
    <p:sldId id="379" r:id="rId67"/>
    <p:sldId id="380" r:id="rId68"/>
    <p:sldId id="381" r:id="rId69"/>
    <p:sldId id="382" r:id="rId70"/>
    <p:sldId id="383" r:id="rId71"/>
    <p:sldId id="384" r:id="rId72"/>
    <p:sldId id="385"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02" autoAdjust="0"/>
    <p:restoredTop sz="84314" autoAdjust="0"/>
  </p:normalViewPr>
  <p:slideViewPr>
    <p:cSldViewPr snapToGrid="0">
      <p:cViewPr varScale="1">
        <p:scale>
          <a:sx n="90" d="100"/>
          <a:sy n="90" d="100"/>
        </p:scale>
        <p:origin x="14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9A5D3-6106-491E-B59A-E43348429831}"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A4A09A-8BD5-4AC6-ADD4-E345CB806EF3}" type="slidenum">
              <a:rPr lang="en-US" smtClean="0"/>
              <a:t>‹#›</a:t>
            </a:fld>
            <a:endParaRPr lang="en-US"/>
          </a:p>
        </p:txBody>
      </p:sp>
    </p:spTree>
    <p:extLst>
      <p:ext uri="{BB962C8B-B14F-4D97-AF65-F5344CB8AC3E}">
        <p14:creationId xmlns:p14="http://schemas.microsoft.com/office/powerpoint/2010/main" val="828915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A4A09A-8BD5-4AC6-ADD4-E345CB806EF3}" type="slidenum">
              <a:rPr lang="en-US" smtClean="0"/>
              <a:t>1</a:t>
            </a:fld>
            <a:endParaRPr lang="en-US"/>
          </a:p>
        </p:txBody>
      </p:sp>
    </p:spTree>
    <p:extLst>
      <p:ext uri="{BB962C8B-B14F-4D97-AF65-F5344CB8AC3E}">
        <p14:creationId xmlns:p14="http://schemas.microsoft.com/office/powerpoint/2010/main" val="1603502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ln/>
        </p:spPr>
        <p:txBody>
          <a:bodyPr/>
          <a:lstStyle/>
          <a:p>
            <a:endParaRPr lang="en-US"/>
          </a:p>
        </p:txBody>
      </p:sp>
      <p:sp>
        <p:nvSpPr>
          <p:cNvPr id="18435" name="Rectangle 3"/>
          <p:cNvSpPr>
            <a:spLocks noGrp="1" noRot="1" noChangeAspect="1" noChangeArrowheads="1" noTextEdit="1"/>
          </p:cNvSpPr>
          <p:nvPr>
            <p:ph type="sldImg"/>
          </p:nvPr>
        </p:nvSpPr>
        <p:spPr>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body" idx="1"/>
          </p:nvPr>
        </p:nvSpPr>
        <p:spPr>
          <a:ln/>
        </p:spPr>
        <p:txBody>
          <a:bodyPr/>
          <a:lstStyle/>
          <a:p>
            <a:endParaRPr lang="en-US"/>
          </a:p>
        </p:txBody>
      </p:sp>
      <p:sp>
        <p:nvSpPr>
          <p:cNvPr id="26627" name="Rectangle 3"/>
          <p:cNvSpPr>
            <a:spLocks noGrp="1" noRot="1" noChangeAspect="1" noChangeArrowheads="1" noTextEdit="1"/>
          </p:cNvSpPr>
          <p:nvPr>
            <p:ph type="sldImg"/>
          </p:nvPr>
        </p:nvSpPr>
        <p:spPr>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A4A09A-8BD5-4AC6-ADD4-E345CB806EF3}" type="slidenum">
              <a:rPr lang="en-US" smtClean="0"/>
              <a:t>59</a:t>
            </a:fld>
            <a:endParaRPr lang="en-US"/>
          </a:p>
        </p:txBody>
      </p:sp>
    </p:spTree>
    <p:extLst>
      <p:ext uri="{BB962C8B-B14F-4D97-AF65-F5344CB8AC3E}">
        <p14:creationId xmlns:p14="http://schemas.microsoft.com/office/powerpoint/2010/main" val="1466836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body" idx="1"/>
          </p:nvPr>
        </p:nvSpPr>
        <p:spPr>
          <a:ln/>
        </p:spPr>
        <p:txBody>
          <a:bodyPr/>
          <a:lstStyle/>
          <a:p>
            <a:endParaRPr lang="en-US" dirty="0"/>
          </a:p>
        </p:txBody>
      </p:sp>
      <p:sp>
        <p:nvSpPr>
          <p:cNvPr id="3379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3187677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ln/>
        </p:spPr>
        <p:txBody>
          <a:bodyPr/>
          <a:lstStyle/>
          <a:p>
            <a:endParaRPr lang="en-US" dirty="0"/>
          </a:p>
        </p:txBody>
      </p:sp>
      <p:sp>
        <p:nvSpPr>
          <p:cNvPr id="3584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2120230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ln/>
        </p:spPr>
        <p:txBody>
          <a:bodyPr/>
          <a:lstStyle/>
          <a:p>
            <a:endParaRPr lang="en-US" dirty="0"/>
          </a:p>
        </p:txBody>
      </p:sp>
      <p:sp>
        <p:nvSpPr>
          <p:cNvPr id="4403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6040114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ln/>
        </p:spPr>
        <p:txBody>
          <a:bodyPr/>
          <a:lstStyle/>
          <a:p>
            <a:endParaRPr lang="en-US" dirty="0"/>
          </a:p>
        </p:txBody>
      </p:sp>
      <p:sp>
        <p:nvSpPr>
          <p:cNvPr id="4403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375282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body" idx="1"/>
          </p:nvPr>
        </p:nvSpPr>
        <p:spPr>
          <a:ln/>
        </p:spPr>
        <p:txBody>
          <a:bodyPr/>
          <a:lstStyle/>
          <a:p>
            <a:endParaRPr lang="en-US" dirty="0"/>
          </a:p>
        </p:txBody>
      </p:sp>
      <p:sp>
        <p:nvSpPr>
          <p:cNvPr id="44035"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40067154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ln/>
        </p:spPr>
        <p:txBody>
          <a:bodyPr/>
          <a:lstStyle/>
          <a:p>
            <a:endParaRPr lang="en-US" dirty="0"/>
          </a:p>
        </p:txBody>
      </p:sp>
      <p:sp>
        <p:nvSpPr>
          <p:cNvPr id="3584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684052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ln/>
        </p:spPr>
        <p:txBody>
          <a:bodyPr/>
          <a:lstStyle/>
          <a:p>
            <a:endParaRPr lang="en-US" dirty="0"/>
          </a:p>
        </p:txBody>
      </p:sp>
      <p:sp>
        <p:nvSpPr>
          <p:cNvPr id="3584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290589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body" idx="1"/>
          </p:nvPr>
        </p:nvSpPr>
        <p:spPr>
          <a:ln/>
        </p:spPr>
        <p:txBody>
          <a:bodyPr/>
          <a:lstStyle/>
          <a:p>
            <a:endParaRPr lang="en-US" dirty="0"/>
          </a:p>
        </p:txBody>
      </p:sp>
      <p:sp>
        <p:nvSpPr>
          <p:cNvPr id="35843"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2503992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D316A-EAC4-BAEB-E6F2-DE1E68BC9CBC}"/>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B95FF1A2-916B-DBDE-6013-6819993A2420}"/>
              </a:ext>
            </a:extLst>
          </p:cNvPr>
          <p:cNvSpPr>
            <a:spLocks noGrp="1" noChangeArrowheads="1"/>
          </p:cNvSpPr>
          <p:nvPr>
            <p:ph type="body" idx="1"/>
          </p:nvPr>
        </p:nvSpPr>
        <p:spPr>
          <a:ln/>
        </p:spPr>
        <p:txBody>
          <a:bodyPr/>
          <a:lstStyle/>
          <a:p>
            <a:endParaRPr lang="en-US" dirty="0"/>
          </a:p>
        </p:txBody>
      </p:sp>
      <p:sp>
        <p:nvSpPr>
          <p:cNvPr id="35843" name="Rectangle 3">
            <a:extLst>
              <a:ext uri="{FF2B5EF4-FFF2-40B4-BE49-F238E27FC236}">
                <a16:creationId xmlns:a16="http://schemas.microsoft.com/office/drawing/2014/main" id="{0C37D060-07F2-465A-FAAE-B5E863CEB09B}"/>
              </a:ext>
            </a:extLst>
          </p:cNvPr>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540384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4F58C-B6DF-B42B-1FD1-3FA3EF8749D5}"/>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3A8EFAE5-1834-E03F-017E-112F37BF83F5}"/>
              </a:ext>
            </a:extLst>
          </p:cNvPr>
          <p:cNvSpPr>
            <a:spLocks noGrp="1" noChangeArrowheads="1"/>
          </p:cNvSpPr>
          <p:nvPr>
            <p:ph type="body" idx="1"/>
          </p:nvPr>
        </p:nvSpPr>
        <p:spPr>
          <a:ln/>
        </p:spPr>
        <p:txBody>
          <a:bodyPr/>
          <a:lstStyle/>
          <a:p>
            <a:endParaRPr lang="en-US" dirty="0"/>
          </a:p>
        </p:txBody>
      </p:sp>
      <p:sp>
        <p:nvSpPr>
          <p:cNvPr id="35843" name="Rectangle 3">
            <a:extLst>
              <a:ext uri="{FF2B5EF4-FFF2-40B4-BE49-F238E27FC236}">
                <a16:creationId xmlns:a16="http://schemas.microsoft.com/office/drawing/2014/main" id="{DADE2839-BF56-6249-3AC5-08BEE2FD8CB7}"/>
              </a:ext>
            </a:extLst>
          </p:cNvPr>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199133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88BA-4B87-39BA-1472-3AB338C020D4}"/>
            </a:ext>
          </a:extLst>
        </p:cNvPr>
        <p:cNvGrpSpPr/>
        <p:nvPr/>
      </p:nvGrpSpPr>
      <p:grpSpPr>
        <a:xfrm>
          <a:off x="0" y="0"/>
          <a:ext cx="0" cy="0"/>
          <a:chOff x="0" y="0"/>
          <a:chExt cx="0" cy="0"/>
        </a:xfrm>
      </p:grpSpPr>
      <p:sp>
        <p:nvSpPr>
          <p:cNvPr id="35842" name="Rectangle 2">
            <a:extLst>
              <a:ext uri="{FF2B5EF4-FFF2-40B4-BE49-F238E27FC236}">
                <a16:creationId xmlns:a16="http://schemas.microsoft.com/office/drawing/2014/main" id="{57CD2553-49A4-BDFD-C72F-A4D310FC48FF}"/>
              </a:ext>
            </a:extLst>
          </p:cNvPr>
          <p:cNvSpPr>
            <a:spLocks noGrp="1" noChangeArrowheads="1"/>
          </p:cNvSpPr>
          <p:nvPr>
            <p:ph type="body" idx="1"/>
          </p:nvPr>
        </p:nvSpPr>
        <p:spPr>
          <a:ln/>
        </p:spPr>
        <p:txBody>
          <a:bodyPr/>
          <a:lstStyle/>
          <a:p>
            <a:endParaRPr lang="en-US" dirty="0"/>
          </a:p>
        </p:txBody>
      </p:sp>
      <p:sp>
        <p:nvSpPr>
          <p:cNvPr id="35843" name="Rectangle 3">
            <a:extLst>
              <a:ext uri="{FF2B5EF4-FFF2-40B4-BE49-F238E27FC236}">
                <a16:creationId xmlns:a16="http://schemas.microsoft.com/office/drawing/2014/main" id="{2F33FCFD-C5A8-D788-E0DC-A8CA5FF284C0}"/>
              </a:ext>
            </a:extLst>
          </p:cNvPr>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787302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9C72F3A6-6679-4B6F-9091-A21340088DAA}" type="datetime1">
              <a:rPr lang="en-US" smtClean="0"/>
              <a:t>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399B40A3-8C98-7643-999B-D2E4C4DFCA87}" type="slidenum">
              <a:rPr lang="en-US" smtClean="0"/>
              <a:pPr>
                <a:defRPr/>
              </a:pPr>
              <a:t>‹#›</a:t>
            </a:fld>
            <a:endParaRPr lang="en-US"/>
          </a:p>
        </p:txBody>
      </p:sp>
    </p:spTree>
    <p:extLst>
      <p:ext uri="{BB962C8B-B14F-4D97-AF65-F5344CB8AC3E}">
        <p14:creationId xmlns:p14="http://schemas.microsoft.com/office/powerpoint/2010/main" val="1664505583"/>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09600" y="1600201"/>
            <a:ext cx="109728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68BA678-1CE5-44B1-8C88-4FDB4081EFE6}" type="datetime1">
              <a:rPr lang="en-US" smtClean="0"/>
              <a:t>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AFD720AD-0A16-4141-82CA-5619F80A2BC8}" type="slidenum">
              <a:rPr lang="en-US" smtClean="0"/>
              <a:pPr>
                <a:defRPr/>
              </a:pPr>
              <a:t>‹#›</a:t>
            </a:fld>
            <a:endParaRPr lang="en-US"/>
          </a:p>
        </p:txBody>
      </p:sp>
    </p:spTree>
    <p:extLst>
      <p:ext uri="{BB962C8B-B14F-4D97-AF65-F5344CB8AC3E}">
        <p14:creationId xmlns:p14="http://schemas.microsoft.com/office/powerpoint/2010/main" val="4084273000"/>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lvl1pPr>
              <a:defRPr/>
            </a:lvl1pPr>
          </a:lstStyle>
          <a:p>
            <a:pPr>
              <a:defRPr/>
            </a:pPr>
            <a:fld id="{995B829F-B31D-46DB-94B8-9E224C2A249A}" type="datetime1">
              <a:rPr lang="en-US" smtClean="0"/>
              <a:t>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2F37AF1E-9B18-0243-8AD1-50A6A8AC0ACC}" type="slidenum">
              <a:rPr lang="en-US" smtClean="0"/>
              <a:pPr>
                <a:defRPr/>
              </a:pPr>
              <a:t>‹#›</a:t>
            </a:fld>
            <a:endParaRPr lang="en-US"/>
          </a:p>
        </p:txBody>
      </p:sp>
    </p:spTree>
    <p:extLst>
      <p:ext uri="{BB962C8B-B14F-4D97-AF65-F5344CB8AC3E}">
        <p14:creationId xmlns:p14="http://schemas.microsoft.com/office/powerpoint/2010/main" val="2430450993"/>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p:txBody>
          <a:bodyPr/>
          <a:lstStyle>
            <a:lvl1pPr>
              <a:defRPr/>
            </a:lvl1pPr>
          </a:lstStyle>
          <a:p>
            <a:pPr>
              <a:defRPr/>
            </a:pPr>
            <a:fld id="{94D76012-AD68-4310-ACF9-E1B40B5A623C}" type="datetime1">
              <a:rPr lang="en-US" smtClean="0"/>
              <a:t>2/2/2026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7" name="Slide Number Placeholder 5"/>
          <p:cNvSpPr>
            <a:spLocks noGrp="1"/>
          </p:cNvSpPr>
          <p:nvPr>
            <p:ph type="sldNum" sz="quarter" idx="12"/>
          </p:nvPr>
        </p:nvSpPr>
        <p:spPr/>
        <p:txBody>
          <a:bodyPr/>
          <a:lstStyle>
            <a:lvl1pPr>
              <a:defRPr/>
            </a:lvl1pPr>
          </a:lstStyle>
          <a:p>
            <a:pPr>
              <a:defRPr/>
            </a:pPr>
            <a:fld id="{28F8BC69-CB41-DD44-A638-C4F95AA9426A}" type="slidenum">
              <a:rPr lang="en-US" smtClean="0"/>
              <a:pPr>
                <a:defRPr/>
              </a:pPr>
              <a:t>‹#›</a:t>
            </a:fld>
            <a:endParaRPr lang="en-US"/>
          </a:p>
        </p:txBody>
      </p:sp>
    </p:spTree>
    <p:extLst>
      <p:ext uri="{BB962C8B-B14F-4D97-AF65-F5344CB8AC3E}">
        <p14:creationId xmlns:p14="http://schemas.microsoft.com/office/powerpoint/2010/main" val="821469254"/>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lvl1pPr>
              <a:defRPr/>
            </a:lvl1pPr>
          </a:lstStyle>
          <a:p>
            <a:pPr>
              <a:defRPr/>
            </a:pPr>
            <a:fld id="{324267FD-9EF6-45AA-B731-7A8052D0F499}" type="datetime1">
              <a:rPr lang="en-US" smtClean="0"/>
              <a:t>2/2/2026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9" name="Slide Number Placeholder 5"/>
          <p:cNvSpPr>
            <a:spLocks noGrp="1"/>
          </p:cNvSpPr>
          <p:nvPr>
            <p:ph type="sldNum" sz="quarter" idx="12"/>
          </p:nvPr>
        </p:nvSpPr>
        <p:spPr/>
        <p:txBody>
          <a:bodyPr/>
          <a:lstStyle>
            <a:lvl1pPr>
              <a:defRPr/>
            </a:lvl1pPr>
          </a:lstStyle>
          <a:p>
            <a:pPr>
              <a:defRPr/>
            </a:pPr>
            <a:fld id="{1B43444D-6BBE-FA46-910D-A293AF635EDB}" type="slidenum">
              <a:rPr lang="en-US" smtClean="0"/>
              <a:pPr>
                <a:defRPr/>
              </a:pPr>
              <a:t>‹#›</a:t>
            </a:fld>
            <a:endParaRPr lang="en-US"/>
          </a:p>
        </p:txBody>
      </p:sp>
    </p:spTree>
    <p:extLst>
      <p:ext uri="{BB962C8B-B14F-4D97-AF65-F5344CB8AC3E}">
        <p14:creationId xmlns:p14="http://schemas.microsoft.com/office/powerpoint/2010/main" val="3758093500"/>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5179EBED-44A4-4050-B34D-754B8D5C43B2}" type="datetime1">
              <a:rPr lang="en-US" smtClean="0"/>
              <a:t>2/2/2026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5" name="Slide Number Placeholder 5"/>
          <p:cNvSpPr>
            <a:spLocks noGrp="1"/>
          </p:cNvSpPr>
          <p:nvPr>
            <p:ph type="sldNum" sz="quarter" idx="12"/>
          </p:nvPr>
        </p:nvSpPr>
        <p:spPr/>
        <p:txBody>
          <a:bodyPr/>
          <a:lstStyle>
            <a:lvl1pPr>
              <a:defRPr/>
            </a:lvl1pPr>
          </a:lstStyle>
          <a:p>
            <a:pPr>
              <a:defRPr/>
            </a:pPr>
            <a:fld id="{EEFDD7DD-CC47-414C-BF78-C5251FE0B060}" type="slidenum">
              <a:rPr lang="en-US" smtClean="0"/>
              <a:pPr>
                <a:defRPr/>
              </a:pPr>
              <a:t>‹#›</a:t>
            </a:fld>
            <a:endParaRPr lang="en-US"/>
          </a:p>
        </p:txBody>
      </p:sp>
    </p:spTree>
    <p:extLst>
      <p:ext uri="{BB962C8B-B14F-4D97-AF65-F5344CB8AC3E}">
        <p14:creationId xmlns:p14="http://schemas.microsoft.com/office/powerpoint/2010/main" val="839545430"/>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8DE6344-9CA9-4493-B201-A6EB8718CC58}" type="datetime1">
              <a:rPr lang="en-US" smtClean="0"/>
              <a:t>2/2/2026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4" name="Slide Number Placeholder 5"/>
          <p:cNvSpPr>
            <a:spLocks noGrp="1"/>
          </p:cNvSpPr>
          <p:nvPr>
            <p:ph type="sldNum" sz="quarter" idx="12"/>
          </p:nvPr>
        </p:nvSpPr>
        <p:spPr/>
        <p:txBody>
          <a:bodyPr/>
          <a:lstStyle>
            <a:lvl1pPr>
              <a:defRPr/>
            </a:lvl1pPr>
          </a:lstStyle>
          <a:p>
            <a:pPr>
              <a:defRPr/>
            </a:pPr>
            <a:fld id="{78B78AD6-5F3D-BA44-875A-31E2927FBE4B}" type="slidenum">
              <a:rPr lang="en-US" smtClean="0"/>
              <a:pPr>
                <a:defRPr/>
              </a:pPr>
              <a:t>‹#›</a:t>
            </a:fld>
            <a:endParaRPr lang="en-US"/>
          </a:p>
        </p:txBody>
      </p:sp>
    </p:spTree>
    <p:extLst>
      <p:ext uri="{BB962C8B-B14F-4D97-AF65-F5344CB8AC3E}">
        <p14:creationId xmlns:p14="http://schemas.microsoft.com/office/powerpoint/2010/main" val="855528746"/>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BCFB702A-AFBF-46B0-A15E-9DFFC33705AC}" type="datetime1">
              <a:rPr lang="en-US" smtClean="0"/>
              <a:t>2/2/2026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7" name="Slide Number Placeholder 5"/>
          <p:cNvSpPr>
            <a:spLocks noGrp="1"/>
          </p:cNvSpPr>
          <p:nvPr>
            <p:ph type="sldNum" sz="quarter" idx="12"/>
          </p:nvPr>
        </p:nvSpPr>
        <p:spPr/>
        <p:txBody>
          <a:bodyPr/>
          <a:lstStyle>
            <a:lvl1pPr>
              <a:defRPr/>
            </a:lvl1pPr>
          </a:lstStyle>
          <a:p>
            <a:pPr>
              <a:defRPr/>
            </a:pPr>
            <a:fld id="{95E9686C-6E28-9A40-BAFE-97DC9D1AE64A}" type="slidenum">
              <a:rPr lang="en-US" smtClean="0"/>
              <a:pPr>
                <a:defRPr/>
              </a:pPr>
              <a:t>‹#›</a:t>
            </a:fld>
            <a:endParaRPr lang="en-US"/>
          </a:p>
        </p:txBody>
      </p:sp>
    </p:spTree>
    <p:extLst>
      <p:ext uri="{BB962C8B-B14F-4D97-AF65-F5344CB8AC3E}">
        <p14:creationId xmlns:p14="http://schemas.microsoft.com/office/powerpoint/2010/main" val="3245393624"/>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p:txBody>
          <a:bodyPr/>
          <a:lstStyle>
            <a:lvl1pPr>
              <a:defRPr/>
            </a:lvl1pPr>
          </a:lstStyle>
          <a:p>
            <a:pPr>
              <a:defRPr/>
            </a:pPr>
            <a:fld id="{AE4F3CE9-3F80-4997-A5D8-4592383E5223}" type="datetime1">
              <a:rPr lang="en-US" smtClean="0"/>
              <a:t>2/2/2026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7" name="Slide Number Placeholder 5"/>
          <p:cNvSpPr>
            <a:spLocks noGrp="1"/>
          </p:cNvSpPr>
          <p:nvPr>
            <p:ph type="sldNum" sz="quarter" idx="12"/>
          </p:nvPr>
        </p:nvSpPr>
        <p:spPr/>
        <p:txBody>
          <a:bodyPr/>
          <a:lstStyle>
            <a:lvl1pPr>
              <a:defRPr/>
            </a:lvl1pPr>
          </a:lstStyle>
          <a:p>
            <a:pPr>
              <a:defRPr/>
            </a:pPr>
            <a:fld id="{C225899C-C9DE-4C43-812F-DCCD705BC8B7}" type="slidenum">
              <a:rPr lang="en-US" smtClean="0"/>
              <a:pPr>
                <a:defRPr/>
              </a:pPr>
              <a:t>‹#›</a:t>
            </a:fld>
            <a:endParaRPr lang="en-US"/>
          </a:p>
        </p:txBody>
      </p:sp>
    </p:spTree>
    <p:extLst>
      <p:ext uri="{BB962C8B-B14F-4D97-AF65-F5344CB8AC3E}">
        <p14:creationId xmlns:p14="http://schemas.microsoft.com/office/powerpoint/2010/main" val="2735851698"/>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C9CA6198-2CAE-411C-A7E6-7EEE96F7D6F9}" type="datetime1">
              <a:rPr lang="en-US" smtClean="0"/>
              <a:t>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F16ACDAE-E963-2B45-BB51-53CEBFE15BA1}" type="slidenum">
              <a:rPr lang="en-US" smtClean="0"/>
              <a:pPr>
                <a:defRPr/>
              </a:pPr>
              <a:t>‹#›</a:t>
            </a:fld>
            <a:endParaRPr lang="en-US"/>
          </a:p>
        </p:txBody>
      </p:sp>
    </p:spTree>
    <p:extLst>
      <p:ext uri="{BB962C8B-B14F-4D97-AF65-F5344CB8AC3E}">
        <p14:creationId xmlns:p14="http://schemas.microsoft.com/office/powerpoint/2010/main" val="703283854"/>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lvl1pPr>
              <a:defRPr/>
            </a:lvl1pPr>
          </a:lstStyle>
          <a:p>
            <a:pPr>
              <a:defRPr/>
            </a:pPr>
            <a:fld id="{2D6B0C0D-9EFC-4739-BEB1-2AA3C00917D6}" type="datetime1">
              <a:rPr lang="en-US" smtClean="0"/>
              <a:t>2/2/2026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Chapter 2 Software Processes</a:t>
            </a:r>
          </a:p>
        </p:txBody>
      </p:sp>
      <p:sp>
        <p:nvSpPr>
          <p:cNvPr id="6" name="Slide Number Placeholder 5"/>
          <p:cNvSpPr>
            <a:spLocks noGrp="1"/>
          </p:cNvSpPr>
          <p:nvPr>
            <p:ph type="sldNum" sz="quarter" idx="12"/>
          </p:nvPr>
        </p:nvSpPr>
        <p:spPr/>
        <p:txBody>
          <a:bodyPr/>
          <a:lstStyle>
            <a:lvl1pPr>
              <a:defRPr/>
            </a:lvl1pPr>
          </a:lstStyle>
          <a:p>
            <a:pPr>
              <a:defRPr/>
            </a:pPr>
            <a:fld id="{274D119D-3673-024B-9609-A7D547222293}" type="slidenum">
              <a:rPr lang="en-US" smtClean="0"/>
              <a:pPr>
                <a:defRPr/>
              </a:pPr>
              <a:t>‹#›</a:t>
            </a:fld>
            <a:endParaRPr lang="en-US"/>
          </a:p>
        </p:txBody>
      </p:sp>
    </p:spTree>
    <p:extLst>
      <p:ext uri="{BB962C8B-B14F-4D97-AF65-F5344CB8AC3E}">
        <p14:creationId xmlns:p14="http://schemas.microsoft.com/office/powerpoint/2010/main" val="450008615"/>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9724309"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fld id="{EB958A68-D715-4BB1-A085-121D85A51B32}" type="datetime1">
              <a:rPr lang="en-US" smtClean="0"/>
              <a:t>2/2/2026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a:t>Chapter 2 Software Processes</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D3E67C1E-A116-FA4E-B295-2EE9C41BDD30}" type="slidenum">
              <a:rPr lang="en-US" smtClean="0"/>
              <a:pPr>
                <a:defRPr/>
              </a:pPr>
              <a:t>‹#›</a:t>
            </a:fld>
            <a:endParaRPr lang="en-US"/>
          </a:p>
        </p:txBody>
      </p:sp>
      <p:cxnSp>
        <p:nvCxnSpPr>
          <p:cNvPr id="9" name="Straight Connector 8"/>
          <p:cNvCxnSpPr/>
          <p:nvPr/>
        </p:nvCxnSpPr>
        <p:spPr>
          <a:xfrm>
            <a:off x="609601" y="1419226"/>
            <a:ext cx="9741073"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10333910" y="213186"/>
            <a:ext cx="1231725" cy="1219356"/>
          </a:xfrm>
          <a:prstGeom prst="rect">
            <a:avLst/>
          </a:prstGeom>
        </p:spPr>
      </p:pic>
      <p:cxnSp>
        <p:nvCxnSpPr>
          <p:cNvPr id="11" name="Straight Connector 10"/>
          <p:cNvCxnSpPr/>
          <p:nvPr/>
        </p:nvCxnSpPr>
        <p:spPr>
          <a:xfrm flipV="1">
            <a:off x="609600" y="1417638"/>
            <a:ext cx="1095603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956252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a:t>Chapter 2 – Software Processes</a:t>
            </a:r>
          </a:p>
        </p:txBody>
      </p:sp>
      <p:sp>
        <p:nvSpPr>
          <p:cNvPr id="5" name="Footer Placeholder 4"/>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4" name="Slide Number Placeholder 3"/>
          <p:cNvSpPr>
            <a:spLocks noGrp="1"/>
          </p:cNvSpPr>
          <p:nvPr>
            <p:ph type="sldNum" sz="quarter" idx="12"/>
          </p:nvPr>
        </p:nvSpPr>
        <p:spPr/>
        <p:txBody>
          <a:bodyPr/>
          <a:lstStyle/>
          <a:p>
            <a:pPr defTabSz="457200">
              <a:defRPr/>
            </a:pPr>
            <a:fld id="{399B40A3-8C98-7643-999B-D2E4C4DFCA87}" type="slidenum">
              <a:rPr lang="en-US">
                <a:solidFill>
                  <a:prstClr val="black">
                    <a:tint val="75000"/>
                  </a:prstClr>
                </a:solidFill>
                <a:latin typeface="Calibri"/>
              </a:rPr>
              <a:pPr defTabSz="457200">
                <a:defRPr/>
              </a:pPr>
              <a:t>1</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defRPr/>
            </a:pPr>
            <a:fld id="{FC2423AB-E4EA-4601-9E29-768C4BFA9221}"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GB" dirty="0"/>
              <a:t>The software process</a:t>
            </a:r>
          </a:p>
        </p:txBody>
      </p:sp>
      <p:sp>
        <p:nvSpPr>
          <p:cNvPr id="17411" name="Rectangle 3"/>
          <p:cNvSpPr>
            <a:spLocks noGrp="1" noChangeArrowheads="1"/>
          </p:cNvSpPr>
          <p:nvPr>
            <p:ph idx="1"/>
          </p:nvPr>
        </p:nvSpPr>
        <p:spPr>
          <a:xfrm>
            <a:off x="609600" y="1600200"/>
            <a:ext cx="10972800" cy="4756150"/>
          </a:xfrm>
        </p:spPr>
        <p:txBody>
          <a:bodyPr/>
          <a:lstStyle/>
          <a:p>
            <a:pPr algn="just"/>
            <a:r>
              <a:rPr lang="en-GB" b="1" dirty="0"/>
              <a:t>Software process</a:t>
            </a:r>
            <a:r>
              <a:rPr lang="en-GB" dirty="0"/>
              <a:t>: A structured set of activities required to develop a software system. </a:t>
            </a:r>
          </a:p>
          <a:p>
            <a:pPr algn="just"/>
            <a:r>
              <a:rPr lang="en-GB" b="1" dirty="0"/>
              <a:t>All software processes should involve</a:t>
            </a:r>
            <a:r>
              <a:rPr lang="en-GB" dirty="0"/>
              <a:t>:</a:t>
            </a:r>
          </a:p>
          <a:p>
            <a:pPr lvl="1" algn="just"/>
            <a:r>
              <a:rPr lang="en-GB" b="1" dirty="0"/>
              <a:t>Specification </a:t>
            </a:r>
            <a:r>
              <a:rPr lang="en-GB" dirty="0"/>
              <a:t>– defining what the system should do;</a:t>
            </a:r>
          </a:p>
          <a:p>
            <a:pPr lvl="1" algn="just"/>
            <a:r>
              <a:rPr lang="en-GB" b="1" dirty="0"/>
              <a:t>Design </a:t>
            </a:r>
            <a:r>
              <a:rPr lang="en-GB" dirty="0"/>
              <a:t>– designing what the system should do;</a:t>
            </a:r>
            <a:endParaRPr lang="en-GB" b="1" dirty="0"/>
          </a:p>
          <a:p>
            <a:pPr lvl="1" algn="just"/>
            <a:r>
              <a:rPr lang="en-GB" b="1" dirty="0"/>
              <a:t>implementation </a:t>
            </a:r>
            <a:r>
              <a:rPr lang="en-GB" dirty="0"/>
              <a:t>– defining the organization of the system and implementing the system;</a:t>
            </a:r>
          </a:p>
          <a:p>
            <a:pPr lvl="1" algn="just"/>
            <a:r>
              <a:rPr lang="en-GB" b="1" dirty="0"/>
              <a:t>Validation</a:t>
            </a:r>
            <a:r>
              <a:rPr lang="en-GB" dirty="0"/>
              <a:t> – checking that it does what the customer wants;</a:t>
            </a:r>
          </a:p>
          <a:p>
            <a:pPr lvl="1" algn="just"/>
            <a:r>
              <a:rPr lang="en-GB" b="1" dirty="0"/>
              <a:t>Evolution</a:t>
            </a:r>
            <a:r>
              <a:rPr lang="en-GB" dirty="0"/>
              <a:t> – changing the system in response to changing customer needs.</a:t>
            </a:r>
          </a:p>
          <a:p>
            <a:pPr algn="just"/>
            <a:r>
              <a:rPr lang="en-GB" dirty="0"/>
              <a:t>A software process model is an abstract representation of a process.</a:t>
            </a:r>
          </a:p>
          <a:p>
            <a:pPr lvl="1" algn="just"/>
            <a:r>
              <a:rPr lang="en-GB" dirty="0"/>
              <a:t>It </a:t>
            </a:r>
            <a:r>
              <a:rPr lang="en-GB" b="1" dirty="0"/>
              <a:t>presents a description of a process from some perspective</a:t>
            </a:r>
            <a:r>
              <a:rPr lang="en-GB" dirty="0"/>
              <a:t>.</a:t>
            </a:r>
          </a:p>
        </p:txBody>
      </p:sp>
      <p:sp>
        <p:nvSpPr>
          <p:cNvPr id="7" name="Footer Placeholder 6"/>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6" name="Slide Number Placeholder 5"/>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2</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defRPr/>
            </a:pPr>
            <a:fld id="{71F6739F-6F7A-4C03-BED7-AFB1C747C06B}"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963" y="1417639"/>
            <a:ext cx="10972800" cy="4162068"/>
          </a:xfrm>
        </p:spPr>
        <p:txBody>
          <a:bodyPr/>
          <a:lstStyle/>
          <a:p>
            <a:r>
              <a:rPr lang="en-GB" sz="2800" dirty="0"/>
              <a:t>The Process </a:t>
            </a:r>
            <a:r>
              <a:rPr lang="en-GB" sz="2800" b="1" dirty="0"/>
              <a:t>activities</a:t>
            </a:r>
            <a:r>
              <a:rPr lang="en-GB" sz="2800" dirty="0"/>
              <a:t> involve:</a:t>
            </a:r>
          </a:p>
          <a:p>
            <a:pPr lvl="1"/>
            <a:r>
              <a:rPr lang="en-GB" sz="2400" b="1" dirty="0"/>
              <a:t>specifying a data model</a:t>
            </a:r>
          </a:p>
          <a:p>
            <a:pPr lvl="2">
              <a:buFont typeface="Arial" panose="020B0604020202020204" pitchFamily="34" charset="0"/>
              <a:buChar char="•"/>
            </a:pPr>
            <a:r>
              <a:rPr lang="en-GB" sz="2000" b="1" dirty="0"/>
              <a:t>For example, </a:t>
            </a:r>
          </a:p>
          <a:p>
            <a:pPr lvl="3">
              <a:buFont typeface="Arial" panose="020B0604020202020204" pitchFamily="34" charset="0"/>
              <a:buChar char="•"/>
            </a:pPr>
            <a:r>
              <a:rPr lang="en-US" sz="2000" b="0" i="0" dirty="0">
                <a:solidFill>
                  <a:srgbClr val="202124"/>
                </a:solidFill>
                <a:effectLst/>
                <a:latin typeface="arial" panose="020B0604020202020204" pitchFamily="34" charset="0"/>
              </a:rPr>
              <a:t>Hierarchical Data Model. </a:t>
            </a:r>
          </a:p>
          <a:p>
            <a:pPr lvl="3">
              <a:buFont typeface="Arial" panose="020B0604020202020204" pitchFamily="34" charset="0"/>
              <a:buChar char="•"/>
            </a:pPr>
            <a:r>
              <a:rPr lang="en-US" sz="2000" b="0" i="0" dirty="0">
                <a:solidFill>
                  <a:srgbClr val="202124"/>
                </a:solidFill>
                <a:effectLst/>
                <a:latin typeface="arial" panose="020B0604020202020204" pitchFamily="34" charset="0"/>
              </a:rPr>
              <a:t>Relational Data Model.</a:t>
            </a:r>
          </a:p>
          <a:p>
            <a:pPr lvl="3">
              <a:buFont typeface="Arial" panose="020B0604020202020204" pitchFamily="34" charset="0"/>
              <a:buChar char="•"/>
            </a:pPr>
            <a:r>
              <a:rPr lang="en-US" sz="2000" b="0" i="0" dirty="0">
                <a:solidFill>
                  <a:srgbClr val="202124"/>
                </a:solidFill>
                <a:effectLst/>
                <a:latin typeface="arial" panose="020B0604020202020204" pitchFamily="34" charset="0"/>
              </a:rPr>
              <a:t>Entity-relationship (ER) Data Model. </a:t>
            </a:r>
          </a:p>
          <a:p>
            <a:pPr lvl="3">
              <a:buFont typeface="Arial" panose="020B0604020202020204" pitchFamily="34" charset="0"/>
              <a:buChar char="•"/>
            </a:pPr>
            <a:r>
              <a:rPr lang="en-US" sz="2000" b="0" i="0" dirty="0">
                <a:solidFill>
                  <a:srgbClr val="202124"/>
                </a:solidFill>
                <a:effectLst/>
                <a:latin typeface="arial" panose="020B0604020202020204" pitchFamily="34" charset="0"/>
              </a:rPr>
              <a:t>Object-oriented Data Model. </a:t>
            </a:r>
          </a:p>
          <a:p>
            <a:pPr lvl="3">
              <a:buFont typeface="Arial" panose="020B0604020202020204" pitchFamily="34" charset="0"/>
              <a:buChar char="•"/>
            </a:pPr>
            <a:r>
              <a:rPr lang="en-US" sz="2000" b="0" i="0" dirty="0">
                <a:solidFill>
                  <a:srgbClr val="202124"/>
                </a:solidFill>
                <a:effectLst/>
                <a:latin typeface="arial" panose="020B0604020202020204" pitchFamily="34" charset="0"/>
              </a:rPr>
              <a:t>Dimensional Data Model.</a:t>
            </a:r>
          </a:p>
          <a:p>
            <a:pPr lvl="1"/>
            <a:r>
              <a:rPr lang="en-GB" sz="2400" b="1" dirty="0"/>
              <a:t>designing a user interface.(layouts’ </a:t>
            </a:r>
            <a:r>
              <a:rPr lang="en-GB" sz="2400" b="1" dirty="0" err="1"/>
              <a:t>protoype</a:t>
            </a:r>
            <a:r>
              <a:rPr lang="en-GB" sz="2400" b="1" dirty="0"/>
              <a:t>)</a:t>
            </a:r>
          </a:p>
          <a:p>
            <a:pPr lvl="1"/>
            <a:r>
              <a:rPr lang="en-GB" sz="2400" b="1" dirty="0"/>
              <a:t>ordering of the activities</a:t>
            </a:r>
            <a:r>
              <a:rPr lang="en-GB" sz="2400" dirty="0"/>
              <a:t>.</a:t>
            </a:r>
          </a:p>
        </p:txBody>
      </p:sp>
      <p:sp>
        <p:nvSpPr>
          <p:cNvPr id="7" name="Footer Placeholder 6"/>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6" name="Slide Number Placeholder 5"/>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3</a:t>
            </a:fld>
            <a:endParaRPr lang="en-US">
              <a:solidFill>
                <a:prstClr val="black">
                  <a:tint val="75000"/>
                </a:prstClr>
              </a:solidFill>
              <a:latin typeface="Calibri"/>
            </a:endParaRPr>
          </a:p>
        </p:txBody>
      </p:sp>
      <p:sp>
        <p:nvSpPr>
          <p:cNvPr id="4" name="Date Placeholder 3"/>
          <p:cNvSpPr>
            <a:spLocks noGrp="1"/>
          </p:cNvSpPr>
          <p:nvPr>
            <p:ph type="dt" sz="half" idx="10"/>
          </p:nvPr>
        </p:nvSpPr>
        <p:spPr/>
        <p:txBody>
          <a:bodyPr/>
          <a:lstStyle/>
          <a:p>
            <a:pPr defTabSz="457200">
              <a:defRPr/>
            </a:pPr>
            <a:fld id="{B26E812B-CC7F-4C6D-83B6-8F1D8B58687A}"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963" y="1417639"/>
            <a:ext cx="10972800" cy="4162068"/>
          </a:xfrm>
        </p:spPr>
        <p:txBody>
          <a:bodyPr/>
          <a:lstStyle/>
          <a:p>
            <a:pPr algn="just"/>
            <a:r>
              <a:rPr lang="en-GB" sz="2800" dirty="0"/>
              <a:t>Process descriptions include:</a:t>
            </a:r>
          </a:p>
          <a:p>
            <a:pPr lvl="1" algn="just"/>
            <a:r>
              <a:rPr lang="en-GB" sz="2400" b="1" dirty="0"/>
              <a:t>Products</a:t>
            </a:r>
            <a:r>
              <a:rPr lang="en-GB" sz="2400" dirty="0"/>
              <a:t>, </a:t>
            </a:r>
          </a:p>
          <a:p>
            <a:pPr lvl="2" algn="just"/>
            <a:r>
              <a:rPr lang="en-GB" sz="2200" dirty="0"/>
              <a:t>outcomes of a process activity; </a:t>
            </a:r>
          </a:p>
          <a:p>
            <a:pPr lvl="1" algn="just"/>
            <a:r>
              <a:rPr lang="en-GB" sz="2400" b="1" dirty="0"/>
              <a:t>Roles</a:t>
            </a:r>
            <a:r>
              <a:rPr lang="en-GB" sz="2400" dirty="0"/>
              <a:t>,</a:t>
            </a:r>
          </a:p>
          <a:p>
            <a:pPr lvl="2" algn="just"/>
            <a:r>
              <a:rPr lang="en-GB" sz="2200" dirty="0"/>
              <a:t>responsibilities of the people involved in the process;</a:t>
            </a:r>
          </a:p>
          <a:p>
            <a:pPr lvl="1" algn="just"/>
            <a:r>
              <a:rPr lang="en-GB" sz="2400" b="1" dirty="0"/>
              <a:t>Pre- and post-conditions</a:t>
            </a:r>
            <a:r>
              <a:rPr lang="en-GB" sz="2400" dirty="0"/>
              <a:t>, </a:t>
            </a:r>
          </a:p>
          <a:p>
            <a:pPr lvl="2" algn="just"/>
            <a:r>
              <a:rPr lang="en-GB" sz="2200" dirty="0"/>
              <a:t>which are statements that are true before and after a process activity has been enacted or a product produced.  </a:t>
            </a:r>
          </a:p>
          <a:p>
            <a:pPr lvl="2" algn="just"/>
            <a:r>
              <a:rPr lang="en-GB" sz="2200" dirty="0"/>
              <a:t>Example authorization module’s pre and post conditions. </a:t>
            </a:r>
            <a:endParaRPr lang="en-US" sz="2200" dirty="0"/>
          </a:p>
        </p:txBody>
      </p:sp>
      <p:sp>
        <p:nvSpPr>
          <p:cNvPr id="7" name="Footer Placeholder 6"/>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6" name="Slide Number Placeholder 5"/>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4</a:t>
            </a:fld>
            <a:endParaRPr lang="en-US">
              <a:solidFill>
                <a:prstClr val="black">
                  <a:tint val="75000"/>
                </a:prstClr>
              </a:solidFill>
              <a:latin typeface="Calibri"/>
            </a:endParaRPr>
          </a:p>
        </p:txBody>
      </p:sp>
      <p:sp>
        <p:nvSpPr>
          <p:cNvPr id="4" name="Date Placeholder 3"/>
          <p:cNvSpPr>
            <a:spLocks noGrp="1"/>
          </p:cNvSpPr>
          <p:nvPr>
            <p:ph type="dt" sz="half" idx="10"/>
          </p:nvPr>
        </p:nvSpPr>
        <p:spPr/>
        <p:txBody>
          <a:bodyPr/>
          <a:lstStyle/>
          <a:p>
            <a:pPr defTabSz="457200">
              <a:defRPr/>
            </a:pPr>
            <a:fld id="{A557DF62-AF8D-465F-864F-0C6736C4ED83}"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extLst>
      <p:ext uri="{BB962C8B-B14F-4D97-AF65-F5344CB8AC3E}">
        <p14:creationId xmlns:p14="http://schemas.microsoft.com/office/powerpoint/2010/main" val="2620651252"/>
      </p:ext>
    </p:extLst>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processes</a:t>
            </a:r>
          </a:p>
        </p:txBody>
      </p:sp>
      <p:sp>
        <p:nvSpPr>
          <p:cNvPr id="3" name="Content Placeholder 2"/>
          <p:cNvSpPr>
            <a:spLocks noGrp="1"/>
          </p:cNvSpPr>
          <p:nvPr>
            <p:ph idx="1"/>
          </p:nvPr>
        </p:nvSpPr>
        <p:spPr/>
        <p:txBody>
          <a:bodyPr/>
          <a:lstStyle/>
          <a:p>
            <a:r>
              <a:rPr lang="en-GB" b="1" dirty="0"/>
              <a:t>Plan-driven processes:</a:t>
            </a:r>
          </a:p>
          <a:p>
            <a:pPr lvl="1"/>
            <a:r>
              <a:rPr lang="en-GB" dirty="0"/>
              <a:t>all the process activities are planned</a:t>
            </a:r>
          </a:p>
          <a:p>
            <a:pPr lvl="1"/>
            <a:r>
              <a:rPr lang="en-GB" dirty="0"/>
              <a:t>progress is measured against this plan. </a:t>
            </a:r>
          </a:p>
          <a:p>
            <a:r>
              <a:rPr lang="en-GB" b="1" dirty="0"/>
              <a:t>agile processes</a:t>
            </a:r>
          </a:p>
          <a:p>
            <a:pPr lvl="1"/>
            <a:r>
              <a:rPr lang="en-GB" dirty="0"/>
              <a:t>planning is incremental </a:t>
            </a:r>
          </a:p>
          <a:p>
            <a:pPr lvl="1"/>
            <a:r>
              <a:rPr lang="en-GB" dirty="0"/>
              <a:t>Can change plans as per changes in customer requirements. </a:t>
            </a:r>
          </a:p>
          <a:p>
            <a:pPr algn="just"/>
            <a:r>
              <a:rPr lang="en-GB" dirty="0"/>
              <a:t>In practice, </a:t>
            </a:r>
            <a:r>
              <a:rPr lang="en-GB" b="1" dirty="0"/>
              <a:t>most practical processes include elements of both plan-driven and agile approaches</a:t>
            </a:r>
            <a:r>
              <a:rPr lang="en-GB" dirty="0"/>
              <a:t>. </a:t>
            </a:r>
          </a:p>
          <a:p>
            <a:r>
              <a:rPr lang="en-GB" dirty="0"/>
              <a:t>There are </a:t>
            </a:r>
            <a:r>
              <a:rPr lang="en-GB" b="1" dirty="0"/>
              <a:t>no right or wrong software processes</a:t>
            </a:r>
            <a:r>
              <a:rPr lang="en-GB" dirty="0"/>
              <a:t>.</a:t>
            </a:r>
            <a:endParaRPr lang="en-US" dirty="0"/>
          </a:p>
        </p:txBody>
      </p:sp>
      <p:sp>
        <p:nvSpPr>
          <p:cNvPr id="5" name="Footer Placeholder 4"/>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4" name="Slide Number Placeholder 3"/>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5</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defRPr/>
            </a:pPr>
            <a:fld id="{0E68F32C-9679-4639-A23F-02770B88307D}"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147888"/>
            <a:ext cx="9144000" cy="1143000"/>
          </a:xfrm>
        </p:spPr>
        <p:txBody>
          <a:bodyPr/>
          <a:lstStyle/>
          <a:p>
            <a:pPr algn="ctr"/>
            <a:r>
              <a:rPr lang="en-US" dirty="0"/>
              <a:t>Software process models</a:t>
            </a:r>
          </a:p>
        </p:txBody>
      </p:sp>
      <p:sp>
        <p:nvSpPr>
          <p:cNvPr id="4" name="Footer Placeholder 3"/>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5" name="Slide Number Placeholder 4"/>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6</a:t>
            </a:fld>
            <a:endParaRPr lang="en-US">
              <a:solidFill>
                <a:prstClr val="black">
                  <a:tint val="75000"/>
                </a:prstClr>
              </a:solidFill>
              <a:latin typeface="Calibri"/>
            </a:endParaRPr>
          </a:p>
        </p:txBody>
      </p:sp>
      <p:sp>
        <p:nvSpPr>
          <p:cNvPr id="3" name="Date Placeholder 2"/>
          <p:cNvSpPr>
            <a:spLocks noGrp="1"/>
          </p:cNvSpPr>
          <p:nvPr>
            <p:ph type="dt" sz="half" idx="10"/>
          </p:nvPr>
        </p:nvSpPr>
        <p:spPr/>
        <p:txBody>
          <a:bodyPr/>
          <a:lstStyle/>
          <a:p>
            <a:pPr defTabSz="457200">
              <a:defRPr/>
            </a:pPr>
            <a:fld id="{B5930022-C036-4EDF-84A0-D02C36A6BDFF}"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extLst>
      <p:ext uri="{BB962C8B-B14F-4D97-AF65-F5344CB8AC3E}">
        <p14:creationId xmlns:p14="http://schemas.microsoft.com/office/powerpoint/2010/main" val="2830541669"/>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GB"/>
              <a:t>Software process models</a:t>
            </a:r>
            <a:endParaRPr lang="en-GB" dirty="0"/>
          </a:p>
        </p:txBody>
      </p:sp>
      <p:sp>
        <p:nvSpPr>
          <p:cNvPr id="25603" name="Rectangle 3"/>
          <p:cNvSpPr>
            <a:spLocks noGrp="1" noChangeArrowheads="1"/>
          </p:cNvSpPr>
          <p:nvPr>
            <p:ph idx="1"/>
          </p:nvPr>
        </p:nvSpPr>
        <p:spPr/>
        <p:txBody>
          <a:bodyPr/>
          <a:lstStyle/>
          <a:p>
            <a:pPr algn="just"/>
            <a:r>
              <a:rPr lang="en-GB" dirty="0"/>
              <a:t>The waterfall model</a:t>
            </a:r>
          </a:p>
          <a:p>
            <a:pPr lvl="1" algn="just"/>
            <a:r>
              <a:rPr lang="en-GB" dirty="0"/>
              <a:t>Plan-driven model. </a:t>
            </a:r>
          </a:p>
          <a:p>
            <a:pPr lvl="1" algn="just"/>
            <a:r>
              <a:rPr lang="en-GB" dirty="0"/>
              <a:t>Separate and distinct phases of specification and development.</a:t>
            </a:r>
          </a:p>
          <a:p>
            <a:pPr algn="just"/>
            <a:r>
              <a:rPr lang="en-GB" dirty="0"/>
              <a:t>Incremental development</a:t>
            </a:r>
          </a:p>
          <a:p>
            <a:pPr lvl="1" algn="just"/>
            <a:r>
              <a:rPr lang="en-GB" dirty="0"/>
              <a:t>Specification, development and validation are interleaved.</a:t>
            </a:r>
          </a:p>
          <a:p>
            <a:pPr lvl="1" algn="just"/>
            <a:r>
              <a:rPr lang="en-GB" dirty="0"/>
              <a:t>May be plan-driven or agile.</a:t>
            </a:r>
          </a:p>
          <a:p>
            <a:pPr algn="just"/>
            <a:r>
              <a:rPr lang="en-GB" dirty="0"/>
              <a:t>Integration and configuration</a:t>
            </a:r>
          </a:p>
          <a:p>
            <a:pPr lvl="1" algn="just"/>
            <a:r>
              <a:rPr lang="en-GB" dirty="0"/>
              <a:t>The system is assembled from existing configurable components.</a:t>
            </a:r>
          </a:p>
          <a:p>
            <a:pPr lvl="1" algn="just"/>
            <a:r>
              <a:rPr lang="en-GB" dirty="0"/>
              <a:t>May be plan-driven or agile.</a:t>
            </a:r>
          </a:p>
          <a:p>
            <a:pPr algn="just"/>
            <a:r>
              <a:rPr lang="en-GB" dirty="0"/>
              <a:t>Practically, most large systems are developed using a process that incorporates elements from all these models.</a:t>
            </a:r>
          </a:p>
        </p:txBody>
      </p:sp>
      <p:sp>
        <p:nvSpPr>
          <p:cNvPr id="10" name="Footer Placeholder 9"/>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9" name="Slide Number Placeholder 8"/>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7</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defRPr/>
            </a:pPr>
            <a:fld id="{B91A1F5F-CA4D-43B0-9F5A-26337A40D746}"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r>
              <a:rPr lang="en-GB" dirty="0"/>
              <a:t>The waterfall model</a:t>
            </a:r>
            <a:br>
              <a:rPr lang="en-GB" dirty="0"/>
            </a:br>
            <a:endParaRPr lang="en-US" dirty="0"/>
          </a:p>
        </p:txBody>
      </p:sp>
      <p:sp>
        <p:nvSpPr>
          <p:cNvPr id="8" name="Footer Placeholder 7"/>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7" name="Slide Number Placeholder 6"/>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8</a:t>
            </a:fld>
            <a:endParaRPr lang="en-US">
              <a:solidFill>
                <a:prstClr val="black">
                  <a:tint val="75000"/>
                </a:prstClr>
              </a:solidFill>
              <a:latin typeface="Calibri"/>
            </a:endParaRPr>
          </a:p>
        </p:txBody>
      </p:sp>
      <p:pic>
        <p:nvPicPr>
          <p:cNvPr id="4" name="Picture 3" descr="2.1.Waterfall-model.eps"/>
          <p:cNvPicPr>
            <a:picLocks noChangeAspect="1"/>
          </p:cNvPicPr>
          <p:nvPr/>
        </p:nvPicPr>
        <p:blipFill>
          <a:blip r:embed="rId2"/>
          <a:stretch>
            <a:fillRect/>
          </a:stretch>
        </p:blipFill>
        <p:spPr>
          <a:xfrm>
            <a:off x="1553901" y="1603768"/>
            <a:ext cx="7797133" cy="3520324"/>
          </a:xfrm>
          <a:prstGeom prst="rect">
            <a:avLst/>
          </a:prstGeom>
        </p:spPr>
      </p:pic>
      <p:sp>
        <p:nvSpPr>
          <p:cNvPr id="2" name="Date Placeholder 1"/>
          <p:cNvSpPr>
            <a:spLocks noGrp="1"/>
          </p:cNvSpPr>
          <p:nvPr>
            <p:ph type="dt" sz="half" idx="10"/>
          </p:nvPr>
        </p:nvSpPr>
        <p:spPr/>
        <p:txBody>
          <a:bodyPr/>
          <a:lstStyle/>
          <a:p>
            <a:pPr defTabSz="457200">
              <a:defRPr/>
            </a:pPr>
            <a:fld id="{F7ED3CAB-8F77-464C-A077-28C2EE200B4C}"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
        <p:nvSpPr>
          <p:cNvPr id="5" name="TextBox 4">
            <a:extLst>
              <a:ext uri="{FF2B5EF4-FFF2-40B4-BE49-F238E27FC236}">
                <a16:creationId xmlns:a16="http://schemas.microsoft.com/office/drawing/2014/main" id="{E78DB124-CE6E-F7D0-EF67-04C41F26C8CF}"/>
              </a:ext>
            </a:extLst>
          </p:cNvPr>
          <p:cNvSpPr txBox="1"/>
          <p:nvPr/>
        </p:nvSpPr>
        <p:spPr>
          <a:xfrm>
            <a:off x="1907609" y="5651047"/>
            <a:ext cx="10294428" cy="369332"/>
          </a:xfrm>
          <a:prstGeom prst="rect">
            <a:avLst/>
          </a:prstGeom>
          <a:noFill/>
        </p:spPr>
        <p:txBody>
          <a:bodyPr wrap="square">
            <a:spAutoFit/>
          </a:bodyPr>
          <a:lstStyle/>
          <a:p>
            <a:pPr algn="just"/>
            <a:r>
              <a:rPr lang="en-GB" dirty="0"/>
              <a:t>In principle, a </a:t>
            </a:r>
            <a:r>
              <a:rPr lang="en-GB" b="1" dirty="0"/>
              <a:t>phase must be complete before moving onto the next phase</a:t>
            </a:r>
            <a:r>
              <a:rPr lang="en-GB" dirty="0"/>
              <a:t>.</a:t>
            </a:r>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r>
              <a:rPr lang="en-GB"/>
              <a:t>Waterfall model phases</a:t>
            </a:r>
          </a:p>
        </p:txBody>
      </p:sp>
      <p:sp>
        <p:nvSpPr>
          <p:cNvPr id="29699" name="Rectangle 3"/>
          <p:cNvSpPr>
            <a:spLocks noGrp="1" noChangeArrowheads="1"/>
          </p:cNvSpPr>
          <p:nvPr>
            <p:ph idx="1"/>
          </p:nvPr>
        </p:nvSpPr>
        <p:spPr>
          <a:xfrm>
            <a:off x="609600" y="1428882"/>
            <a:ext cx="10691004" cy="4927469"/>
          </a:xfrm>
        </p:spPr>
        <p:txBody>
          <a:bodyPr/>
          <a:lstStyle/>
          <a:p>
            <a:pPr algn="just"/>
            <a:r>
              <a:rPr lang="en-GB" b="1" dirty="0">
                <a:solidFill>
                  <a:srgbClr val="7030A0"/>
                </a:solidFill>
              </a:rPr>
              <a:t>phases in the waterfall model:</a:t>
            </a:r>
          </a:p>
          <a:p>
            <a:pPr lvl="1" algn="just"/>
            <a:r>
              <a:rPr lang="en-GB" dirty="0"/>
              <a:t>Requirements analysis and definition</a:t>
            </a:r>
          </a:p>
          <a:p>
            <a:pPr lvl="1" algn="just"/>
            <a:r>
              <a:rPr lang="en-GB" dirty="0"/>
              <a:t>System and software design</a:t>
            </a:r>
          </a:p>
          <a:p>
            <a:pPr lvl="1" algn="just"/>
            <a:r>
              <a:rPr lang="en-GB" dirty="0"/>
              <a:t>Implementation and unit testing</a:t>
            </a:r>
          </a:p>
          <a:p>
            <a:pPr lvl="1" algn="just"/>
            <a:r>
              <a:rPr lang="en-GB" dirty="0"/>
              <a:t>Integration and system testing</a:t>
            </a:r>
          </a:p>
          <a:p>
            <a:pPr lvl="1" algn="just"/>
            <a:r>
              <a:rPr lang="en-GB" dirty="0"/>
              <a:t>Operation and maintenance</a:t>
            </a:r>
          </a:p>
          <a:p>
            <a:pPr algn="just"/>
            <a:r>
              <a:rPr lang="en-GB" b="1" dirty="0">
                <a:solidFill>
                  <a:srgbClr val="7030A0"/>
                </a:solidFill>
              </a:rPr>
              <a:t>Drawback:</a:t>
            </a:r>
          </a:p>
          <a:p>
            <a:pPr lvl="1" algn="just"/>
            <a:r>
              <a:rPr lang="en-GB" b="1" dirty="0"/>
              <a:t>intolerance to change in requirements </a:t>
            </a:r>
            <a:r>
              <a:rPr lang="en-GB" dirty="0"/>
              <a:t>after the process is underway.</a:t>
            </a:r>
          </a:p>
        </p:txBody>
      </p:sp>
      <p:sp>
        <p:nvSpPr>
          <p:cNvPr id="7" name="Footer Placeholder 6"/>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6" name="Slide Number Placeholder 5"/>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9</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defRPr/>
            </a:pPr>
            <a:fld id="{F5CBCCCE-E1C0-4250-9EEE-3621C2385AE5}"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GB"/>
              <a:t>Waterfall model problems</a:t>
            </a:r>
          </a:p>
        </p:txBody>
      </p:sp>
      <p:sp>
        <p:nvSpPr>
          <p:cNvPr id="92163" name="Rectangle 3"/>
          <p:cNvSpPr>
            <a:spLocks noGrp="1" noChangeArrowheads="1"/>
          </p:cNvSpPr>
          <p:nvPr>
            <p:ph idx="1"/>
          </p:nvPr>
        </p:nvSpPr>
        <p:spPr/>
        <p:txBody>
          <a:bodyPr/>
          <a:lstStyle/>
          <a:p>
            <a:pPr marL="0" indent="0" algn="just">
              <a:buNone/>
            </a:pPr>
            <a:endParaRPr lang="en-GB" dirty="0"/>
          </a:p>
          <a:p>
            <a:pPr algn="just"/>
            <a:r>
              <a:rPr lang="en-GB" dirty="0"/>
              <a:t>Clearly defined requirements </a:t>
            </a:r>
            <a:endParaRPr lang="en-GB" dirty="0">
              <a:solidFill>
                <a:srgbClr val="C00000"/>
              </a:solidFill>
            </a:endParaRPr>
          </a:p>
          <a:p>
            <a:pPr algn="just"/>
            <a:r>
              <a:rPr lang="en-GB" dirty="0"/>
              <a:t>Limited to large systems. </a:t>
            </a:r>
          </a:p>
        </p:txBody>
      </p:sp>
      <p:sp>
        <p:nvSpPr>
          <p:cNvPr id="7" name="Footer Placeholder 6"/>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6" name="Slide Number Placeholder 5"/>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10</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defRPr/>
            </a:pPr>
            <a:fld id="{6A7F197F-1573-42CD-8E4B-137E9939E302}"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GB"/>
              <a:t>Waterfall model problems</a:t>
            </a:r>
          </a:p>
        </p:txBody>
      </p:sp>
      <p:sp>
        <p:nvSpPr>
          <p:cNvPr id="92163" name="Rectangle 3"/>
          <p:cNvSpPr>
            <a:spLocks noGrp="1" noChangeArrowheads="1"/>
          </p:cNvSpPr>
          <p:nvPr>
            <p:ph idx="1"/>
          </p:nvPr>
        </p:nvSpPr>
        <p:spPr/>
        <p:txBody>
          <a:bodyPr/>
          <a:lstStyle/>
          <a:p>
            <a:pPr marL="0" indent="0" algn="just">
              <a:buNone/>
            </a:pPr>
            <a:endParaRPr lang="en-GB" dirty="0"/>
          </a:p>
          <a:p>
            <a:pPr algn="just"/>
            <a:r>
              <a:rPr lang="en-GB" dirty="0"/>
              <a:t>Inflexible partitioning of the project into distinct stages makes it difficult to respond to changing customer requirements.</a:t>
            </a:r>
          </a:p>
          <a:p>
            <a:pPr lvl="1" algn="just"/>
            <a:r>
              <a:rPr lang="en-GB" dirty="0"/>
              <a:t>Therefore, </a:t>
            </a:r>
            <a:r>
              <a:rPr lang="en-GB" b="1" dirty="0"/>
              <a:t>this model is </a:t>
            </a:r>
            <a:r>
              <a:rPr lang="en-GB" b="1" dirty="0">
                <a:solidFill>
                  <a:srgbClr val="C00000"/>
                </a:solidFill>
              </a:rPr>
              <a:t>only appropriate when the requirements are well-defined, and changes will be fairly limited</a:t>
            </a:r>
            <a:r>
              <a:rPr lang="en-GB" b="1" dirty="0"/>
              <a:t> during the design process. </a:t>
            </a:r>
          </a:p>
          <a:p>
            <a:pPr lvl="2" algn="just"/>
            <a:r>
              <a:rPr lang="en-GB" b="1" dirty="0">
                <a:solidFill>
                  <a:srgbClr val="C00000"/>
                </a:solidFill>
              </a:rPr>
              <a:t>stable requirements are very rare</a:t>
            </a:r>
            <a:r>
              <a:rPr lang="en-GB" dirty="0">
                <a:solidFill>
                  <a:srgbClr val="C00000"/>
                </a:solidFill>
              </a:rPr>
              <a:t>.</a:t>
            </a:r>
          </a:p>
          <a:p>
            <a:pPr algn="just"/>
            <a:r>
              <a:rPr lang="en-GB" dirty="0"/>
              <a:t>The waterfall model is </a:t>
            </a:r>
            <a:r>
              <a:rPr lang="en-GB" b="1" dirty="0">
                <a:solidFill>
                  <a:srgbClr val="C00000"/>
                </a:solidFill>
              </a:rPr>
              <a:t>mostly used for large systems engineering projects</a:t>
            </a:r>
            <a:r>
              <a:rPr lang="en-GB" b="1" dirty="0"/>
              <a:t> where a system is developed at several sites.</a:t>
            </a:r>
          </a:p>
          <a:p>
            <a:pPr lvl="1" algn="just"/>
            <a:r>
              <a:rPr lang="en-GB" dirty="0"/>
              <a:t>In those circumstances, the </a:t>
            </a:r>
            <a:r>
              <a:rPr lang="en-GB" b="1" dirty="0"/>
              <a:t>plan-driven nature </a:t>
            </a:r>
            <a:r>
              <a:rPr lang="en-GB" dirty="0"/>
              <a:t>of the waterfall model </a:t>
            </a:r>
            <a:r>
              <a:rPr lang="en-GB" b="1" dirty="0"/>
              <a:t>makes the coordination among members easy</a:t>
            </a:r>
            <a:r>
              <a:rPr lang="en-GB" dirty="0"/>
              <a:t>. </a:t>
            </a:r>
          </a:p>
        </p:txBody>
      </p:sp>
      <p:sp>
        <p:nvSpPr>
          <p:cNvPr id="7" name="Footer Placeholder 6"/>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6" name="Slide Number Placeholder 5"/>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11</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defRPr/>
            </a:pPr>
            <a:fld id="{6A7F197F-1573-42CD-8E4B-137E9939E302}"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extLst>
      <p:ext uri="{BB962C8B-B14F-4D97-AF65-F5344CB8AC3E}">
        <p14:creationId xmlns:p14="http://schemas.microsoft.com/office/powerpoint/2010/main" val="1627524511"/>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r>
              <a:rPr lang="en-GB" dirty="0"/>
              <a:t>Incremental development </a:t>
            </a:r>
            <a:br>
              <a:rPr lang="en-GB" dirty="0"/>
            </a:br>
            <a:endParaRPr lang="en-US" dirty="0"/>
          </a:p>
        </p:txBody>
      </p:sp>
      <p:sp>
        <p:nvSpPr>
          <p:cNvPr id="8" name="Footer Placeholder 7"/>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7" name="Slide Number Placeholder 6"/>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12</a:t>
            </a:fld>
            <a:endParaRPr lang="en-US">
              <a:solidFill>
                <a:prstClr val="black">
                  <a:tint val="75000"/>
                </a:prstClr>
              </a:solidFill>
              <a:latin typeface="Calibri"/>
            </a:endParaRPr>
          </a:p>
        </p:txBody>
      </p:sp>
      <p:pic>
        <p:nvPicPr>
          <p:cNvPr id="4" name="Picture 3" descr="2.2 Incremental-dev.eps"/>
          <p:cNvPicPr>
            <a:picLocks noChangeAspect="1"/>
          </p:cNvPicPr>
          <p:nvPr/>
        </p:nvPicPr>
        <p:blipFill>
          <a:blip r:embed="rId2"/>
          <a:stretch>
            <a:fillRect/>
          </a:stretch>
        </p:blipFill>
        <p:spPr>
          <a:xfrm>
            <a:off x="1981200" y="1892460"/>
            <a:ext cx="7517728" cy="4051928"/>
          </a:xfrm>
          <a:prstGeom prst="rect">
            <a:avLst/>
          </a:prstGeom>
        </p:spPr>
      </p:pic>
      <p:sp>
        <p:nvSpPr>
          <p:cNvPr id="2" name="Date Placeholder 1"/>
          <p:cNvSpPr>
            <a:spLocks noGrp="1"/>
          </p:cNvSpPr>
          <p:nvPr>
            <p:ph type="dt" sz="half" idx="10"/>
          </p:nvPr>
        </p:nvSpPr>
        <p:spPr/>
        <p:txBody>
          <a:bodyPr/>
          <a:lstStyle/>
          <a:p>
            <a:pPr defTabSz="457200">
              <a:defRPr/>
            </a:pPr>
            <a:fld id="{D83D70E2-96EC-4938-9086-19E25229E212}"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dirty="0"/>
              <a:t>Incremental development benefits</a:t>
            </a:r>
          </a:p>
        </p:txBody>
      </p:sp>
      <p:sp>
        <p:nvSpPr>
          <p:cNvPr id="33795" name="Rectangle 3"/>
          <p:cNvSpPr>
            <a:spLocks noGrp="1" noChangeArrowheads="1"/>
          </p:cNvSpPr>
          <p:nvPr>
            <p:ph idx="1"/>
          </p:nvPr>
        </p:nvSpPr>
        <p:spPr>
          <a:xfrm>
            <a:off x="609600" y="1600200"/>
            <a:ext cx="10829026" cy="4756150"/>
          </a:xfrm>
        </p:spPr>
        <p:txBody>
          <a:bodyPr/>
          <a:lstStyle/>
          <a:p>
            <a:pPr algn="just"/>
            <a:r>
              <a:rPr lang="en-GB" b="1" dirty="0"/>
              <a:t>Reduced changes’ Cost</a:t>
            </a:r>
          </a:p>
          <a:p>
            <a:pPr algn="just"/>
            <a:r>
              <a:rPr lang="en-GB" b="1" dirty="0"/>
              <a:t>Customer feedback ease</a:t>
            </a:r>
          </a:p>
          <a:p>
            <a:pPr algn="just"/>
            <a:r>
              <a:rPr lang="en-GB" b="1" dirty="0"/>
              <a:t>Rapid delivery &amp; deployment of useful software</a:t>
            </a:r>
          </a:p>
          <a:p>
            <a:pPr algn="just"/>
            <a:r>
              <a:rPr lang="en-GB" b="1" dirty="0"/>
              <a:t>The process is not visible</a:t>
            </a:r>
            <a:r>
              <a:rPr lang="en-GB" dirty="0"/>
              <a:t>. </a:t>
            </a:r>
          </a:p>
          <a:p>
            <a:pPr algn="just"/>
            <a:r>
              <a:rPr lang="en-GB" b="1" dirty="0"/>
              <a:t>System structure tends to degrade as new increments are added</a:t>
            </a:r>
            <a:r>
              <a:rPr lang="en-GB" b="1" i="1" dirty="0"/>
              <a:t>. </a:t>
            </a:r>
            <a:r>
              <a:rPr lang="en-GB" b="1" dirty="0"/>
              <a:t> </a:t>
            </a:r>
          </a:p>
          <a:p>
            <a:pPr marL="0" indent="0" algn="just">
              <a:buNone/>
            </a:pPr>
            <a:endParaRPr lang="en-GB" b="1" dirty="0"/>
          </a:p>
        </p:txBody>
      </p:sp>
      <p:sp>
        <p:nvSpPr>
          <p:cNvPr id="7" name="Footer Placeholder 6"/>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6" name="Slide Number Placeholder 5"/>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13</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defRPr/>
            </a:pPr>
            <a:fld id="{5EA613F4-FF1E-4FBD-A4F2-5C0E55966A0D}"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r>
              <a:rPr lang="en-GB" dirty="0"/>
              <a:t>Incremental development benefits</a:t>
            </a:r>
          </a:p>
        </p:txBody>
      </p:sp>
      <p:sp>
        <p:nvSpPr>
          <p:cNvPr id="33795" name="Rectangle 3"/>
          <p:cNvSpPr>
            <a:spLocks noGrp="1" noChangeArrowheads="1"/>
          </p:cNvSpPr>
          <p:nvPr>
            <p:ph idx="1"/>
          </p:nvPr>
        </p:nvSpPr>
        <p:spPr>
          <a:xfrm>
            <a:off x="609600" y="1600200"/>
            <a:ext cx="10829026" cy="4756150"/>
          </a:xfrm>
        </p:spPr>
        <p:txBody>
          <a:bodyPr/>
          <a:lstStyle/>
          <a:p>
            <a:pPr algn="just"/>
            <a:r>
              <a:rPr lang="en-GB" b="1" dirty="0"/>
              <a:t>Reduced changes’ Cost</a:t>
            </a:r>
          </a:p>
          <a:p>
            <a:pPr lvl="1" algn="just"/>
            <a:r>
              <a:rPr lang="en-GB" dirty="0"/>
              <a:t>The </a:t>
            </a:r>
            <a:r>
              <a:rPr lang="en-GB" b="1" dirty="0"/>
              <a:t>cost of accommodating changing customer requirements is reduced</a:t>
            </a:r>
            <a:r>
              <a:rPr lang="en-GB" dirty="0"/>
              <a:t>. </a:t>
            </a:r>
          </a:p>
          <a:p>
            <a:pPr lvl="1"/>
            <a:r>
              <a:rPr lang="en-GB" dirty="0"/>
              <a:t>The amount of analysis and documentation that has to be redone is much less than is required with the waterfall model.</a:t>
            </a:r>
          </a:p>
          <a:p>
            <a:pPr algn="just"/>
            <a:r>
              <a:rPr lang="en-GB" b="1" dirty="0"/>
              <a:t>Customer feedback ease</a:t>
            </a:r>
          </a:p>
          <a:p>
            <a:pPr lvl="1" algn="just"/>
            <a:r>
              <a:rPr lang="en-GB" dirty="0"/>
              <a:t>It is </a:t>
            </a:r>
            <a:r>
              <a:rPr lang="en-GB" b="1" dirty="0"/>
              <a:t>easier to get customer feedback on the development work</a:t>
            </a:r>
            <a:r>
              <a:rPr lang="en-GB" dirty="0"/>
              <a:t> that has been done. </a:t>
            </a:r>
          </a:p>
          <a:p>
            <a:pPr lvl="1"/>
            <a:r>
              <a:rPr lang="en-GB" dirty="0"/>
              <a:t>Customers can comment on demonstrations of the software and see how much has been implemented. </a:t>
            </a:r>
          </a:p>
          <a:p>
            <a:pPr algn="just"/>
            <a:r>
              <a:rPr lang="en-GB" b="1" dirty="0"/>
              <a:t>Rapid delivery &amp; deployment of the useful software</a:t>
            </a:r>
          </a:p>
          <a:p>
            <a:pPr lvl="1" algn="just"/>
            <a:r>
              <a:rPr lang="en-GB" dirty="0"/>
              <a:t>More </a:t>
            </a:r>
            <a:r>
              <a:rPr lang="en-GB" b="1" dirty="0"/>
              <a:t>rapid delivery and deployment of useful software</a:t>
            </a:r>
            <a:r>
              <a:rPr lang="en-GB" dirty="0"/>
              <a:t> to the customer is possible. </a:t>
            </a:r>
          </a:p>
          <a:p>
            <a:pPr lvl="1"/>
            <a:r>
              <a:rPr lang="en-GB" dirty="0"/>
              <a:t>Customers are able to use and gain value from the software earlier than is possible with a waterfall process. </a:t>
            </a:r>
          </a:p>
        </p:txBody>
      </p:sp>
      <p:sp>
        <p:nvSpPr>
          <p:cNvPr id="7" name="Footer Placeholder 6"/>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6" name="Slide Number Placeholder 5"/>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14</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defRPr/>
            </a:pPr>
            <a:fld id="{5EA613F4-FF1E-4FBD-A4F2-5C0E55966A0D}"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extLst>
      <p:ext uri="{BB962C8B-B14F-4D97-AF65-F5344CB8AC3E}">
        <p14:creationId xmlns:p14="http://schemas.microsoft.com/office/powerpoint/2010/main" val="523055616"/>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development problems</a:t>
            </a:r>
          </a:p>
        </p:txBody>
      </p:sp>
      <p:sp>
        <p:nvSpPr>
          <p:cNvPr id="3" name="Content Placeholder 2"/>
          <p:cNvSpPr>
            <a:spLocks noGrp="1"/>
          </p:cNvSpPr>
          <p:nvPr>
            <p:ph idx="1"/>
          </p:nvPr>
        </p:nvSpPr>
        <p:spPr/>
        <p:txBody>
          <a:bodyPr/>
          <a:lstStyle/>
          <a:p>
            <a:pPr algn="just"/>
            <a:r>
              <a:rPr lang="en-GB" b="1" dirty="0"/>
              <a:t>The process is not visible</a:t>
            </a:r>
            <a:r>
              <a:rPr lang="en-GB" dirty="0"/>
              <a:t>. </a:t>
            </a:r>
          </a:p>
          <a:p>
            <a:pPr lvl="1" algn="just"/>
            <a:r>
              <a:rPr lang="en-GB" b="1" dirty="0"/>
              <a:t>Managers need regular deliverables to measure progress</a:t>
            </a:r>
            <a:r>
              <a:rPr lang="en-GB" dirty="0"/>
              <a:t>. </a:t>
            </a:r>
          </a:p>
          <a:p>
            <a:pPr lvl="1" algn="just"/>
            <a:r>
              <a:rPr lang="en-GB" dirty="0"/>
              <a:t>For deploying system quickly, mostly the documentation is not done to reduce development cost. So, in the end no documentation is present w.r.t each version.</a:t>
            </a:r>
          </a:p>
          <a:p>
            <a:pPr algn="just"/>
            <a:r>
              <a:rPr lang="en-GB" b="1" dirty="0"/>
              <a:t>System structure tends to degrade as new increments are added</a:t>
            </a:r>
            <a:r>
              <a:rPr lang="en-GB" b="1" i="1" dirty="0"/>
              <a:t>. </a:t>
            </a:r>
            <a:r>
              <a:rPr lang="en-GB" b="1" dirty="0"/>
              <a:t> </a:t>
            </a:r>
          </a:p>
          <a:p>
            <a:pPr lvl="1" algn="just"/>
            <a:r>
              <a:rPr lang="en-GB" dirty="0"/>
              <a:t>Frequent change in requirements tends system to degrade as </a:t>
            </a:r>
            <a:r>
              <a:rPr lang="en-GB" b="1" dirty="0"/>
              <a:t>refactoring is needed after each increment to system. </a:t>
            </a:r>
          </a:p>
          <a:p>
            <a:pPr lvl="1" algn="just"/>
            <a:r>
              <a:rPr lang="en-GB" dirty="0"/>
              <a:t>Incorporating multiple software changes becomes increasingly difficult and costly. </a:t>
            </a:r>
          </a:p>
        </p:txBody>
      </p:sp>
      <p:sp>
        <p:nvSpPr>
          <p:cNvPr id="5" name="Footer Placeholder 4"/>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4" name="Slide Number Placeholder 3"/>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15</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defRPr/>
            </a:pPr>
            <a:fld id="{6EE9D9ED-0E70-4541-8FD6-C889FC2040E9}"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GB" dirty="0"/>
              <a:t>Integration and configuration</a:t>
            </a:r>
          </a:p>
        </p:txBody>
      </p:sp>
      <p:sp>
        <p:nvSpPr>
          <p:cNvPr id="99331" name="Rectangle 3"/>
          <p:cNvSpPr>
            <a:spLocks noGrp="1" noChangeArrowheads="1"/>
          </p:cNvSpPr>
          <p:nvPr>
            <p:ph idx="1"/>
          </p:nvPr>
        </p:nvSpPr>
        <p:spPr/>
        <p:txBody>
          <a:bodyPr/>
          <a:lstStyle/>
          <a:p>
            <a:pPr algn="just"/>
            <a:r>
              <a:rPr lang="en-GB" dirty="0"/>
              <a:t>Based on </a:t>
            </a:r>
            <a:r>
              <a:rPr lang="en-GB" b="1" dirty="0"/>
              <a:t>software reuse</a:t>
            </a:r>
          </a:p>
          <a:p>
            <a:pPr algn="just"/>
            <a:r>
              <a:rPr lang="en-GB" dirty="0"/>
              <a:t>Systems are integrated from existing components or application systems (sometimes called COTS -Commercial-off-the-shelf systems).</a:t>
            </a:r>
          </a:p>
          <a:p>
            <a:pPr algn="just"/>
            <a:r>
              <a:rPr lang="en-GB" dirty="0"/>
              <a:t>Reused elements may be configured to adapt their behaviour and functionality to a user’s requirements</a:t>
            </a:r>
          </a:p>
          <a:p>
            <a:pPr algn="just"/>
            <a:r>
              <a:rPr lang="en-GB" dirty="0"/>
              <a:t>Reuse is now the standard approach for building many types of business systems.</a:t>
            </a:r>
          </a:p>
        </p:txBody>
      </p:sp>
      <p:sp>
        <p:nvSpPr>
          <p:cNvPr id="7" name="Footer Placeholder 6"/>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6" name="Slide Number Placeholder 5"/>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16</a:t>
            </a:fld>
            <a:endParaRPr lang="en-US">
              <a:solidFill>
                <a:prstClr val="black">
                  <a:tint val="75000"/>
                </a:prstClr>
              </a:solidFill>
              <a:latin typeface="Calibri"/>
            </a:endParaRPr>
          </a:p>
        </p:txBody>
      </p:sp>
      <p:sp>
        <p:nvSpPr>
          <p:cNvPr id="2" name="Date Placeholder 1"/>
          <p:cNvSpPr>
            <a:spLocks noGrp="1"/>
          </p:cNvSpPr>
          <p:nvPr>
            <p:ph type="dt" sz="half" idx="10"/>
          </p:nvPr>
        </p:nvSpPr>
        <p:spPr/>
        <p:txBody>
          <a:bodyPr/>
          <a:lstStyle/>
          <a:p>
            <a:pPr defTabSz="457200">
              <a:defRPr/>
            </a:pPr>
            <a:fld id="{8943A1E3-671C-4849-8DAB-7768BA92D555}"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reusable software</a:t>
            </a:r>
          </a:p>
        </p:txBody>
      </p:sp>
      <p:sp>
        <p:nvSpPr>
          <p:cNvPr id="3" name="Content Placeholder 2"/>
          <p:cNvSpPr>
            <a:spLocks noGrp="1"/>
          </p:cNvSpPr>
          <p:nvPr>
            <p:ph idx="1"/>
          </p:nvPr>
        </p:nvSpPr>
        <p:spPr/>
        <p:txBody>
          <a:bodyPr/>
          <a:lstStyle/>
          <a:p>
            <a:pPr algn="just"/>
            <a:r>
              <a:rPr lang="en-GB" b="1" dirty="0"/>
              <a:t>Stand-alone application systems </a:t>
            </a:r>
            <a:r>
              <a:rPr lang="en-GB" dirty="0"/>
              <a:t>(sometimes called COTS) that are configured for use in a particular environment.</a:t>
            </a:r>
          </a:p>
          <a:p>
            <a:pPr algn="just"/>
            <a:r>
              <a:rPr lang="en-GB" dirty="0"/>
              <a:t>A </a:t>
            </a:r>
            <a:r>
              <a:rPr lang="en-GB" b="1" dirty="0"/>
              <a:t>package</a:t>
            </a:r>
            <a:r>
              <a:rPr lang="en-GB" dirty="0"/>
              <a:t> to be </a:t>
            </a:r>
            <a:r>
              <a:rPr lang="en-GB" b="1" dirty="0"/>
              <a:t>integrated with </a:t>
            </a:r>
            <a:r>
              <a:rPr lang="en-GB" dirty="0"/>
              <a:t>some </a:t>
            </a:r>
            <a:r>
              <a:rPr lang="en-GB" b="1" dirty="0"/>
              <a:t>framework</a:t>
            </a:r>
            <a:r>
              <a:rPr lang="en-GB" dirty="0"/>
              <a:t> like .NET </a:t>
            </a:r>
          </a:p>
          <a:p>
            <a:pPr algn="just"/>
            <a:r>
              <a:rPr lang="en-GB" b="1" dirty="0"/>
              <a:t>Web services </a:t>
            </a:r>
            <a:r>
              <a:rPr lang="en-GB" dirty="0"/>
              <a:t>that are developed according to service standards and which are </a:t>
            </a:r>
            <a:r>
              <a:rPr lang="en-GB" b="1" dirty="0"/>
              <a:t>available for remote invocation. </a:t>
            </a:r>
          </a:p>
          <a:p>
            <a:pPr marL="0" indent="0" algn="just">
              <a:buNone/>
            </a:pPr>
            <a:endParaRPr lang="en-GB" dirty="0"/>
          </a:p>
          <a:p>
            <a:pPr algn="just"/>
            <a:endParaRPr lang="en-US" dirty="0"/>
          </a:p>
        </p:txBody>
      </p:sp>
      <p:sp>
        <p:nvSpPr>
          <p:cNvPr id="5" name="Footer Placeholder 4"/>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4" name="Slide Number Placeholder 3"/>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17</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defRPr/>
            </a:pPr>
            <a:fld id="{1E2F1575-67A2-4B54-92F8-E77F66494794}"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GB" dirty="0"/>
              <a:t>Reuse-oriented software engineering</a:t>
            </a:r>
          </a:p>
        </p:txBody>
      </p:sp>
      <p:sp>
        <p:nvSpPr>
          <p:cNvPr id="8" name="Footer Placeholder 7"/>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7" name="Slide Number Placeholder 6"/>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18</a:t>
            </a:fld>
            <a:endParaRPr lang="en-US">
              <a:solidFill>
                <a:prstClr val="black">
                  <a:tint val="75000"/>
                </a:prstClr>
              </a:solidFill>
              <a:latin typeface="Calibri"/>
            </a:endParaRPr>
          </a:p>
        </p:txBody>
      </p:sp>
      <p:pic>
        <p:nvPicPr>
          <p:cNvPr id="2" name="Picture 1" descr="2.3 Reuse oriented S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9509" y="1921292"/>
            <a:ext cx="10239555" cy="4256628"/>
          </a:xfrm>
          <a:prstGeom prst="rect">
            <a:avLst/>
          </a:prstGeom>
        </p:spPr>
      </p:pic>
      <p:sp>
        <p:nvSpPr>
          <p:cNvPr id="3" name="Date Placeholder 2"/>
          <p:cNvSpPr>
            <a:spLocks noGrp="1"/>
          </p:cNvSpPr>
          <p:nvPr>
            <p:ph type="dt" sz="half" idx="10"/>
          </p:nvPr>
        </p:nvSpPr>
        <p:spPr/>
        <p:txBody>
          <a:bodyPr/>
          <a:lstStyle/>
          <a:p>
            <a:pPr defTabSz="457200">
              <a:defRPr/>
            </a:pPr>
            <a:fld id="{37BB9EAE-04F9-4B2F-AB73-3C78839EA12E}"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process stages</a:t>
            </a:r>
          </a:p>
        </p:txBody>
      </p:sp>
      <p:sp>
        <p:nvSpPr>
          <p:cNvPr id="3" name="Content Placeholder 2"/>
          <p:cNvSpPr>
            <a:spLocks noGrp="1"/>
          </p:cNvSpPr>
          <p:nvPr>
            <p:ph idx="1"/>
          </p:nvPr>
        </p:nvSpPr>
        <p:spPr/>
        <p:txBody>
          <a:bodyPr/>
          <a:lstStyle/>
          <a:p>
            <a:r>
              <a:rPr lang="en-US" dirty="0"/>
              <a:t>Requirements’ specification</a:t>
            </a:r>
          </a:p>
          <a:p>
            <a:r>
              <a:rPr lang="en-US" dirty="0"/>
              <a:t>Software discovery and evaluation</a:t>
            </a:r>
          </a:p>
          <a:p>
            <a:r>
              <a:rPr lang="en-US" dirty="0"/>
              <a:t>Requirements’ refinement</a:t>
            </a:r>
          </a:p>
          <a:p>
            <a:r>
              <a:rPr lang="en-US" dirty="0"/>
              <a:t>Application system configuration</a:t>
            </a:r>
          </a:p>
          <a:p>
            <a:r>
              <a:rPr lang="en-US" dirty="0"/>
              <a:t>Component adaptation and integration</a:t>
            </a:r>
          </a:p>
        </p:txBody>
      </p:sp>
      <p:sp>
        <p:nvSpPr>
          <p:cNvPr id="4" name="Footer Placeholder 3"/>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5" name="Slide Number Placeholder 4"/>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19</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defRPr/>
            </a:pPr>
            <a:fld id="{FC02D60A-2A14-4D76-B684-DA57BC263E2D}"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spTree>
    <p:extLst>
      <p:ext uri="{BB962C8B-B14F-4D97-AF65-F5344CB8AC3E}">
        <p14:creationId xmlns:p14="http://schemas.microsoft.com/office/powerpoint/2010/main" val="1107264114"/>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and disadvantages</a:t>
            </a:r>
          </a:p>
        </p:txBody>
      </p:sp>
      <p:sp>
        <p:nvSpPr>
          <p:cNvPr id="4" name="Footer Placeholder 3"/>
          <p:cNvSpPr>
            <a:spLocks noGrp="1"/>
          </p:cNvSpPr>
          <p:nvPr>
            <p:ph type="ftr" sz="quarter" idx="11"/>
          </p:nvPr>
        </p:nvSpPr>
        <p:spPr/>
        <p:txBody>
          <a:bodyPr/>
          <a:lstStyle/>
          <a:p>
            <a:pPr defTabSz="457200">
              <a:defRPr/>
            </a:pPr>
            <a:r>
              <a:rPr lang="en-US">
                <a:solidFill>
                  <a:prstClr val="black">
                    <a:tint val="75000"/>
                  </a:prstClr>
                </a:solidFill>
                <a:latin typeface="Calibri"/>
              </a:rPr>
              <a:t>Chapter 2 Software Processes</a:t>
            </a:r>
          </a:p>
        </p:txBody>
      </p:sp>
      <p:sp>
        <p:nvSpPr>
          <p:cNvPr id="5" name="Slide Number Placeholder 4"/>
          <p:cNvSpPr>
            <a:spLocks noGrp="1"/>
          </p:cNvSpPr>
          <p:nvPr>
            <p:ph type="sldNum" sz="quarter" idx="12"/>
          </p:nvPr>
        </p:nvSpPr>
        <p:spPr/>
        <p:txBody>
          <a:bodyPr/>
          <a:lstStyle/>
          <a:p>
            <a:pPr defTabSz="457200">
              <a:defRPr/>
            </a:pPr>
            <a:fld id="{AFD720AD-0A16-4141-82CA-5619F80A2BC8}" type="slidenum">
              <a:rPr lang="en-US">
                <a:solidFill>
                  <a:prstClr val="black">
                    <a:tint val="75000"/>
                  </a:prstClr>
                </a:solidFill>
                <a:latin typeface="Calibri"/>
              </a:rPr>
              <a:pPr defTabSz="457200">
                <a:defRPr/>
              </a:pPr>
              <a:t>20</a:t>
            </a:fld>
            <a:endParaRPr lang="en-US">
              <a:solidFill>
                <a:prstClr val="black">
                  <a:tint val="75000"/>
                </a:prstClr>
              </a:solidFill>
              <a:latin typeface="Calibri"/>
            </a:endParaRPr>
          </a:p>
        </p:txBody>
      </p:sp>
      <p:sp>
        <p:nvSpPr>
          <p:cNvPr id="6" name="Date Placeholder 5"/>
          <p:cNvSpPr>
            <a:spLocks noGrp="1"/>
          </p:cNvSpPr>
          <p:nvPr>
            <p:ph type="dt" sz="half" idx="10"/>
          </p:nvPr>
        </p:nvSpPr>
        <p:spPr/>
        <p:txBody>
          <a:bodyPr/>
          <a:lstStyle/>
          <a:p>
            <a:pPr defTabSz="457200">
              <a:defRPr/>
            </a:pPr>
            <a:fld id="{0616DF71-A777-46E2-8419-C39DB7801059}" type="datetime1">
              <a:rPr lang="en-US" smtClean="0">
                <a:solidFill>
                  <a:prstClr val="black">
                    <a:tint val="75000"/>
                  </a:prstClr>
                </a:solidFill>
                <a:latin typeface="Calibri"/>
              </a:rPr>
              <a:t>2/2/2026</a:t>
            </a:fld>
            <a:endParaRPr lang="en-US">
              <a:solidFill>
                <a:prstClr val="black">
                  <a:tint val="75000"/>
                </a:prstClr>
              </a:solidFill>
              <a:latin typeface="Calibri"/>
            </a:endParaRPr>
          </a:p>
        </p:txBody>
      </p:sp>
      <p:graphicFrame>
        <p:nvGraphicFramePr>
          <p:cNvPr id="7" name="Table 6">
            <a:extLst>
              <a:ext uri="{FF2B5EF4-FFF2-40B4-BE49-F238E27FC236}">
                <a16:creationId xmlns:a16="http://schemas.microsoft.com/office/drawing/2014/main" id="{3BEF7148-F93F-D6DC-2B6D-735C8F1E9A72}"/>
              </a:ext>
            </a:extLst>
          </p:cNvPr>
          <p:cNvGraphicFramePr>
            <a:graphicFrameLocks noGrp="1"/>
          </p:cNvGraphicFramePr>
          <p:nvPr>
            <p:extLst>
              <p:ext uri="{D42A27DB-BD31-4B8C-83A1-F6EECF244321}">
                <p14:modId xmlns:p14="http://schemas.microsoft.com/office/powerpoint/2010/main" val="2736572504"/>
              </p:ext>
            </p:extLst>
          </p:nvPr>
        </p:nvGraphicFramePr>
        <p:xfrm>
          <a:off x="609600" y="1609285"/>
          <a:ext cx="10972800" cy="4256255"/>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1733231241"/>
                    </a:ext>
                  </a:extLst>
                </a:gridCol>
                <a:gridCol w="5486400">
                  <a:extLst>
                    <a:ext uri="{9D8B030D-6E8A-4147-A177-3AD203B41FA5}">
                      <a16:colId xmlns:a16="http://schemas.microsoft.com/office/drawing/2014/main" val="3862807555"/>
                    </a:ext>
                  </a:extLst>
                </a:gridCol>
              </a:tblGrid>
              <a:tr h="630556">
                <a:tc>
                  <a:txBody>
                    <a:bodyPr/>
                    <a:lstStyle/>
                    <a:p>
                      <a:r>
                        <a:rPr lang="en-US" dirty="0"/>
                        <a:t>Advantages</a:t>
                      </a:r>
                      <a:endParaRPr lang="en-PK" dirty="0"/>
                    </a:p>
                  </a:txBody>
                  <a:tcPr/>
                </a:tc>
                <a:tc>
                  <a:txBody>
                    <a:bodyPr/>
                    <a:lstStyle/>
                    <a:p>
                      <a:r>
                        <a:rPr lang="en-US" dirty="0"/>
                        <a:t>Disadvantages</a:t>
                      </a:r>
                      <a:endParaRPr lang="en-PK" dirty="0"/>
                    </a:p>
                  </a:txBody>
                  <a:tcPr/>
                </a:tc>
                <a:extLst>
                  <a:ext uri="{0D108BD9-81ED-4DB2-BD59-A6C34878D82A}">
                    <a16:rowId xmlns:a16="http://schemas.microsoft.com/office/drawing/2014/main" val="107420236"/>
                  </a:ext>
                </a:extLst>
              </a:tr>
              <a:tr h="204930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t>Reduced costs and risks </a:t>
                      </a:r>
                      <a:r>
                        <a:rPr lang="en-US" sz="2800" dirty="0"/>
                        <a:t>as less software is developed from scratch</a:t>
                      </a:r>
                    </a:p>
                    <a:p>
                      <a:endParaRPr lang="en-PK" sz="2800" dirty="0"/>
                    </a:p>
                  </a:txBody>
                  <a:tcPr/>
                </a:tc>
                <a:tc>
                  <a:txBody>
                    <a:bodyPr/>
                    <a:lstStyle/>
                    <a:p>
                      <a:r>
                        <a:rPr lang="en-US" sz="2800" dirty="0"/>
                        <a:t>But requirements compromises are inevitable so it might be possible that the system may not meet the real needs of client</a:t>
                      </a:r>
                      <a:endParaRPr lang="en-PK" sz="2800" dirty="0"/>
                    </a:p>
                  </a:txBody>
                  <a:tcPr/>
                </a:tc>
                <a:extLst>
                  <a:ext uri="{0D108BD9-81ED-4DB2-BD59-A6C34878D82A}">
                    <a16:rowId xmlns:a16="http://schemas.microsoft.com/office/drawing/2014/main" val="3271178754"/>
                  </a:ext>
                </a:extLst>
              </a:tr>
              <a:tr h="157639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b="1" dirty="0"/>
                        <a:t>Faster delivery and deployment of the system</a:t>
                      </a:r>
                    </a:p>
                    <a:p>
                      <a:endParaRPr lang="en-PK" sz="28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Loss of control over the evolution of reused system elements</a:t>
                      </a:r>
                    </a:p>
                    <a:p>
                      <a:endParaRPr lang="en-PK" sz="2800" dirty="0"/>
                    </a:p>
                  </a:txBody>
                  <a:tcPr/>
                </a:tc>
                <a:extLst>
                  <a:ext uri="{0D108BD9-81ED-4DB2-BD59-A6C34878D82A}">
                    <a16:rowId xmlns:a16="http://schemas.microsoft.com/office/drawing/2014/main" val="1266848584"/>
                  </a:ext>
                </a:extLst>
              </a:tr>
            </a:tbl>
          </a:graphicData>
        </a:graphic>
      </p:graphicFrame>
    </p:spTree>
    <p:extLst>
      <p:ext uri="{BB962C8B-B14F-4D97-AF65-F5344CB8AC3E}">
        <p14:creationId xmlns:p14="http://schemas.microsoft.com/office/powerpoint/2010/main" val="1197914283"/>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43138"/>
            <a:ext cx="8229600" cy="1143000"/>
          </a:xfrm>
        </p:spPr>
        <p:txBody>
          <a:bodyPr/>
          <a:lstStyle/>
          <a:p>
            <a:pPr algn="ctr"/>
            <a:r>
              <a:rPr lang="en-US" dirty="0"/>
              <a:t>Process activities</a:t>
            </a: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8B3660F7-8E7C-42CB-B2D9-A457663846C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103709967"/>
      </p:ext>
    </p:extLst>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Process activities</a:t>
            </a:r>
            <a:endParaRPr lang="en-US" dirty="0"/>
          </a:p>
        </p:txBody>
      </p:sp>
      <p:sp>
        <p:nvSpPr>
          <p:cNvPr id="5" name="Content Placeholder 4"/>
          <p:cNvSpPr>
            <a:spLocks noGrp="1"/>
          </p:cNvSpPr>
          <p:nvPr>
            <p:ph idx="1"/>
          </p:nvPr>
        </p:nvSpPr>
        <p:spPr>
          <a:xfrm>
            <a:off x="609600" y="1600201"/>
            <a:ext cx="10829026" cy="4525963"/>
          </a:xfrm>
        </p:spPr>
        <p:txBody>
          <a:bodyPr/>
          <a:lstStyle/>
          <a:p>
            <a:pPr algn="just"/>
            <a:r>
              <a:rPr lang="en-GB" dirty="0"/>
              <a:t>The </a:t>
            </a:r>
            <a:r>
              <a:rPr lang="en-GB" b="1" dirty="0"/>
              <a:t>four basic process activities of specification</a:t>
            </a:r>
            <a:r>
              <a:rPr lang="en-GB" dirty="0"/>
              <a:t>, </a:t>
            </a:r>
            <a:r>
              <a:rPr lang="en-GB" b="1" dirty="0"/>
              <a:t>development, validation </a:t>
            </a:r>
            <a:r>
              <a:rPr lang="en-GB" dirty="0"/>
              <a:t>and </a:t>
            </a:r>
            <a:r>
              <a:rPr lang="en-GB" b="1" dirty="0"/>
              <a:t>evolution</a:t>
            </a:r>
            <a:r>
              <a:rPr lang="en-GB" dirty="0"/>
              <a:t> are organized differently in different development processes. </a:t>
            </a:r>
          </a:p>
          <a:p>
            <a:pPr algn="just"/>
            <a:r>
              <a:rPr lang="en-GB" dirty="0"/>
              <a:t>For example,</a:t>
            </a:r>
          </a:p>
          <a:p>
            <a:pPr lvl="1" algn="just"/>
            <a:r>
              <a:rPr lang="en-GB" b="1" dirty="0"/>
              <a:t>waterfall model -&gt;</a:t>
            </a:r>
            <a:r>
              <a:rPr lang="en-GB" dirty="0"/>
              <a:t> process activities are </a:t>
            </a:r>
            <a:r>
              <a:rPr lang="en-GB" b="1" dirty="0"/>
              <a:t>organized in sequence</a:t>
            </a:r>
            <a:endParaRPr lang="en-GB" dirty="0"/>
          </a:p>
          <a:p>
            <a:pPr lvl="1" algn="just"/>
            <a:r>
              <a:rPr lang="en-GB" b="1" dirty="0"/>
              <a:t>incremental development model </a:t>
            </a:r>
            <a:r>
              <a:rPr lang="en-GB" dirty="0"/>
              <a:t>-&gt; interleaved. </a:t>
            </a:r>
            <a:endParaRPr lang="en-US" dirty="0"/>
          </a:p>
        </p:txBody>
      </p:sp>
      <p:sp>
        <p:nvSpPr>
          <p:cNvPr id="7" name="Footer Placeholder 6"/>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17FBEB1-9E4E-457A-9C81-B7AF7B454A6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110734193"/>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GB" dirty="0"/>
              <a:t>The requirements engineering process</a:t>
            </a:r>
            <a:br>
              <a:rPr lang="en-GB" dirty="0"/>
            </a:br>
            <a:endParaRPr lang="en-US" dirty="0"/>
          </a:p>
        </p:txBody>
      </p:sp>
      <p:sp>
        <p:nvSpPr>
          <p:cNvPr id="8" name="Footer Placeholder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2" name="Picture 1" descr="2.4 RE-proces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9842" y="1798191"/>
            <a:ext cx="9273396" cy="4392817"/>
          </a:xfrm>
          <a:prstGeom prst="rect">
            <a:avLst/>
          </a:prstGeom>
        </p:spPr>
      </p:pic>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DF36A79-DCBB-445B-9F07-3F23FAFC8E1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8286826"/>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GB"/>
              <a:t>Software specification</a:t>
            </a:r>
          </a:p>
        </p:txBody>
      </p:sp>
      <p:sp>
        <p:nvSpPr>
          <p:cNvPr id="84995" name="Rectangle 3"/>
          <p:cNvSpPr>
            <a:spLocks noGrp="1" noChangeArrowheads="1"/>
          </p:cNvSpPr>
          <p:nvPr>
            <p:ph idx="1"/>
          </p:nvPr>
        </p:nvSpPr>
        <p:spPr>
          <a:xfrm>
            <a:off x="783893" y="1600201"/>
            <a:ext cx="9724309" cy="4525963"/>
          </a:xfrm>
        </p:spPr>
        <p:txBody>
          <a:bodyPr/>
          <a:lstStyle/>
          <a:p>
            <a:r>
              <a:rPr lang="en-GB" dirty="0"/>
              <a:t>Its a process of establishing:</a:t>
            </a:r>
          </a:p>
          <a:p>
            <a:pPr lvl="1"/>
            <a:r>
              <a:rPr lang="en-GB" b="1" dirty="0"/>
              <a:t>what services are required </a:t>
            </a:r>
            <a:r>
              <a:rPr lang="en-GB" dirty="0"/>
              <a:t>and </a:t>
            </a:r>
          </a:p>
          <a:p>
            <a:pPr lvl="1" algn="just"/>
            <a:r>
              <a:rPr lang="en-GB" b="1" dirty="0"/>
              <a:t>the constraints on the system’s operation and development.</a:t>
            </a:r>
          </a:p>
          <a:p>
            <a:r>
              <a:rPr lang="en-GB" dirty="0"/>
              <a:t>Requirements engineering process</a:t>
            </a:r>
          </a:p>
          <a:p>
            <a:pPr lvl="1"/>
            <a:r>
              <a:rPr lang="en-GB" dirty="0"/>
              <a:t>Requirements elicitation and analysis</a:t>
            </a:r>
          </a:p>
          <a:p>
            <a:pPr lvl="2"/>
            <a:r>
              <a:rPr lang="en-GB" dirty="0"/>
              <a:t>What do the system stakeholders require or </a:t>
            </a:r>
            <a:r>
              <a:rPr lang="en-GB" b="1" dirty="0"/>
              <a:t>expect from the system</a:t>
            </a:r>
            <a:r>
              <a:rPr lang="en-GB" dirty="0"/>
              <a:t>?</a:t>
            </a:r>
          </a:p>
          <a:p>
            <a:pPr lvl="1"/>
            <a:r>
              <a:rPr lang="en-GB" dirty="0"/>
              <a:t>Requirements specification	</a:t>
            </a:r>
          </a:p>
          <a:p>
            <a:pPr lvl="2"/>
            <a:r>
              <a:rPr lang="en-GB" b="1" dirty="0"/>
              <a:t>Defining the requirements in detail</a:t>
            </a:r>
          </a:p>
          <a:p>
            <a:pPr lvl="1"/>
            <a:r>
              <a:rPr lang="en-GB" dirty="0"/>
              <a:t>Requirements validation</a:t>
            </a:r>
          </a:p>
          <a:p>
            <a:pPr lvl="2"/>
            <a:r>
              <a:rPr lang="en-GB" b="1" dirty="0"/>
              <a:t>Whether the requirement is valid or realistic?</a:t>
            </a:r>
          </a:p>
        </p:txBody>
      </p:sp>
      <p:sp>
        <p:nvSpPr>
          <p:cNvPr id="7" name="Footer Placeholder 6"/>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9F4534D-0E65-4A42-AD67-3C11C4B20CE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711016738"/>
      </p:ext>
    </p:extLst>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GB" dirty="0"/>
              <a:t>Software design and implementation</a:t>
            </a:r>
          </a:p>
        </p:txBody>
      </p:sp>
      <p:sp>
        <p:nvSpPr>
          <p:cNvPr id="86019" name="Rectangle 3"/>
          <p:cNvSpPr>
            <a:spLocks noGrp="1" noChangeArrowheads="1"/>
          </p:cNvSpPr>
          <p:nvPr>
            <p:ph idx="1"/>
          </p:nvPr>
        </p:nvSpPr>
        <p:spPr>
          <a:xfrm>
            <a:off x="609600" y="1600201"/>
            <a:ext cx="10863532" cy="4658557"/>
          </a:xfrm>
        </p:spPr>
        <p:txBody>
          <a:bodyPr/>
          <a:lstStyle/>
          <a:p>
            <a:pPr algn="just"/>
            <a:r>
              <a:rPr lang="en-GB" dirty="0"/>
              <a:t>It’s a process </a:t>
            </a:r>
            <a:r>
              <a:rPr lang="en-GB" b="1" dirty="0"/>
              <a:t>of converting the system specification into an executable system</a:t>
            </a:r>
            <a:r>
              <a:rPr lang="en-GB" dirty="0"/>
              <a:t>.</a:t>
            </a:r>
          </a:p>
          <a:p>
            <a:pPr algn="just"/>
            <a:r>
              <a:rPr lang="en-GB" dirty="0"/>
              <a:t>Software design</a:t>
            </a:r>
          </a:p>
          <a:p>
            <a:pPr lvl="1" algn="just"/>
            <a:r>
              <a:rPr lang="en-GB" b="1" dirty="0"/>
              <a:t>Design a software structure that confirms the specification</a:t>
            </a:r>
            <a:r>
              <a:rPr lang="en-GB" dirty="0"/>
              <a:t>;</a:t>
            </a:r>
          </a:p>
          <a:p>
            <a:pPr algn="just"/>
            <a:r>
              <a:rPr lang="en-GB" dirty="0"/>
              <a:t>Implementation</a:t>
            </a:r>
          </a:p>
          <a:p>
            <a:pPr lvl="1" algn="just"/>
            <a:r>
              <a:rPr lang="en-GB" b="1" dirty="0"/>
              <a:t>Translate this structure into an executable program</a:t>
            </a:r>
            <a:r>
              <a:rPr lang="en-GB" dirty="0"/>
              <a:t>;</a:t>
            </a:r>
          </a:p>
          <a:p>
            <a:pPr algn="just"/>
            <a:r>
              <a:rPr lang="en-GB" b="1" dirty="0"/>
              <a:t>design and implementation activities are closely related</a:t>
            </a:r>
            <a:r>
              <a:rPr lang="en-GB" dirty="0"/>
              <a:t> and may be </a:t>
            </a:r>
            <a:r>
              <a:rPr lang="en-GB" b="1" dirty="0"/>
              <a:t>inter-leaved.</a:t>
            </a:r>
          </a:p>
          <a:p>
            <a:pPr algn="just"/>
            <a:r>
              <a:rPr lang="en-GB" b="1" dirty="0"/>
              <a:t>Design may vary from system to system</a:t>
            </a:r>
            <a:r>
              <a:rPr lang="en-GB" dirty="0"/>
              <a:t>. </a:t>
            </a:r>
          </a:p>
          <a:p>
            <a:pPr lvl="1" algn="just"/>
            <a:r>
              <a:rPr lang="en-GB" dirty="0"/>
              <a:t>For example, As in real-time systems, the database might be not needed,  instead a timing module is required to minimize delay, .</a:t>
            </a:r>
          </a:p>
        </p:txBody>
      </p:sp>
      <p:sp>
        <p:nvSpPr>
          <p:cNvPr id="7" name="Footer Placeholder 6"/>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698DDA0-2678-4803-B458-30D97BCDF5D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03773540"/>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GB" dirty="0"/>
              <a:t>A general model of the design process </a:t>
            </a:r>
            <a:br>
              <a:rPr lang="en-GB" dirty="0"/>
            </a:br>
            <a:endParaRPr lang="en-US" dirty="0"/>
          </a:p>
        </p:txBody>
      </p:sp>
      <p:sp>
        <p:nvSpPr>
          <p:cNvPr id="8" name="Footer Placeholder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4" name="Picture 3" descr="2.5 Design-process.eps"/>
          <p:cNvPicPr>
            <a:picLocks noChangeAspect="1"/>
          </p:cNvPicPr>
          <p:nvPr/>
        </p:nvPicPr>
        <p:blipFill>
          <a:blip r:embed="rId2"/>
          <a:stretch>
            <a:fillRect/>
          </a:stretch>
        </p:blipFill>
        <p:spPr>
          <a:xfrm>
            <a:off x="2838244" y="1638391"/>
            <a:ext cx="6211739" cy="4638099"/>
          </a:xfrm>
          <a:prstGeom prst="rect">
            <a:avLst/>
          </a:prstGeom>
        </p:spPr>
      </p:pic>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7C69D739-05B6-4FC7-9546-D076949836E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03875311"/>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r>
              <a:rPr lang="en-GB" dirty="0"/>
              <a:t>Design Inputs</a:t>
            </a:r>
          </a:p>
        </p:txBody>
      </p:sp>
      <p:sp>
        <p:nvSpPr>
          <p:cNvPr id="86019" name="Rectangle 3"/>
          <p:cNvSpPr>
            <a:spLocks noGrp="1" noChangeArrowheads="1"/>
          </p:cNvSpPr>
          <p:nvPr>
            <p:ph idx="1"/>
          </p:nvPr>
        </p:nvSpPr>
        <p:spPr>
          <a:xfrm>
            <a:off x="609600" y="1600201"/>
            <a:ext cx="10803147" cy="4658557"/>
          </a:xfrm>
        </p:spPr>
        <p:txBody>
          <a:bodyPr/>
          <a:lstStyle/>
          <a:p>
            <a:pPr algn="just"/>
            <a:r>
              <a:rPr lang="en-GB" dirty="0"/>
              <a:t>Inputs given to system.</a:t>
            </a:r>
          </a:p>
          <a:p>
            <a:pPr algn="just"/>
            <a:r>
              <a:rPr lang="en-GB" dirty="0"/>
              <a:t>That could be any </a:t>
            </a:r>
            <a:r>
              <a:rPr lang="en-GB" b="1" dirty="0"/>
              <a:t>platform </a:t>
            </a:r>
            <a:r>
              <a:rPr lang="en-GB" dirty="0"/>
              <a:t>related information like OS , middleware. And any other application systems if needed.</a:t>
            </a:r>
          </a:p>
          <a:p>
            <a:pPr algn="just"/>
            <a:r>
              <a:rPr lang="en-GB" b="1" dirty="0"/>
              <a:t>Data descriptions </a:t>
            </a:r>
            <a:r>
              <a:rPr lang="en-GB" dirty="0"/>
              <a:t>include the data that is to be entered to the system. What could be the appropriate form and so on.</a:t>
            </a:r>
          </a:p>
          <a:p>
            <a:pPr algn="just"/>
            <a:r>
              <a:rPr lang="en-GB" dirty="0"/>
              <a:t>All the specifications mentioned in requirements elicitation phase are the requirements here i.e. the ultimate </a:t>
            </a:r>
            <a:r>
              <a:rPr lang="en-GB" b="1" dirty="0"/>
              <a:t>functional requirements of software</a:t>
            </a:r>
            <a:r>
              <a:rPr lang="en-GB" dirty="0"/>
              <a:t>.</a:t>
            </a:r>
          </a:p>
          <a:p>
            <a:pPr algn="just"/>
            <a:endParaRPr lang="en-GB" dirty="0"/>
          </a:p>
          <a:p>
            <a:pPr algn="just"/>
            <a:endParaRPr lang="en-GB" dirty="0"/>
          </a:p>
        </p:txBody>
      </p:sp>
      <p:sp>
        <p:nvSpPr>
          <p:cNvPr id="7" name="Footer Placeholder 6"/>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2185874-8488-4689-9BD8-CA92907CF6D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83446891"/>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activities</a:t>
            </a:r>
          </a:p>
        </p:txBody>
      </p:sp>
      <p:sp>
        <p:nvSpPr>
          <p:cNvPr id="3" name="Content Placeholder 2"/>
          <p:cNvSpPr>
            <a:spLocks noGrp="1"/>
          </p:cNvSpPr>
          <p:nvPr>
            <p:ph idx="1"/>
          </p:nvPr>
        </p:nvSpPr>
        <p:spPr>
          <a:xfrm>
            <a:off x="672860" y="1566910"/>
            <a:ext cx="10532696" cy="5016453"/>
          </a:xfrm>
        </p:spPr>
        <p:txBody>
          <a:bodyPr/>
          <a:lstStyle/>
          <a:p>
            <a:r>
              <a:rPr lang="en-GB" b="1" dirty="0"/>
              <a:t>Architectural design</a:t>
            </a:r>
          </a:p>
          <a:p>
            <a:pPr lvl="1" algn="just"/>
            <a:r>
              <a:rPr lang="en-GB" dirty="0"/>
              <a:t>identify the overall structure of the system, </a:t>
            </a:r>
          </a:p>
          <a:p>
            <a:pPr lvl="1" algn="just"/>
            <a:r>
              <a:rPr lang="en-GB" dirty="0"/>
              <a:t>the principal components (subsystems or modules), their relationships and how they are distributed.</a:t>
            </a:r>
          </a:p>
          <a:p>
            <a:pPr algn="just"/>
            <a:r>
              <a:rPr lang="en-GB" b="1" dirty="0"/>
              <a:t>Database design</a:t>
            </a:r>
            <a:endParaRPr lang="en-GB" dirty="0"/>
          </a:p>
          <a:p>
            <a:pPr lvl="1"/>
            <a:r>
              <a:rPr lang="en-GB" dirty="0"/>
              <a:t>design the system data structures</a:t>
            </a:r>
          </a:p>
          <a:p>
            <a:pPr lvl="1"/>
            <a:r>
              <a:rPr lang="en-GB" dirty="0"/>
              <a:t>how these are to be represented in a database. </a:t>
            </a:r>
          </a:p>
          <a:p>
            <a:pPr lvl="1"/>
            <a:r>
              <a:rPr lang="en-GB" dirty="0"/>
              <a:t>Decision related to creation of a new database or reuse of an existing database?</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B94290D-5DA3-4BF3-9DAD-54E79902DA7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62950402"/>
      </p:ext>
    </p:extLst>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 activities</a:t>
            </a:r>
          </a:p>
        </p:txBody>
      </p:sp>
      <p:sp>
        <p:nvSpPr>
          <p:cNvPr id="3" name="Content Placeholder 2"/>
          <p:cNvSpPr>
            <a:spLocks noGrp="1"/>
          </p:cNvSpPr>
          <p:nvPr>
            <p:ph idx="1"/>
          </p:nvPr>
        </p:nvSpPr>
        <p:spPr>
          <a:xfrm>
            <a:off x="609600" y="1584096"/>
            <a:ext cx="9601200" cy="5016453"/>
          </a:xfrm>
        </p:spPr>
        <p:txBody>
          <a:bodyPr/>
          <a:lstStyle/>
          <a:p>
            <a:r>
              <a:rPr lang="en-GB" b="1" dirty="0"/>
              <a:t>Interface design</a:t>
            </a:r>
          </a:p>
          <a:p>
            <a:pPr lvl="1"/>
            <a:r>
              <a:rPr lang="en-GB" dirty="0"/>
              <a:t>define the interfaces between system components. </a:t>
            </a:r>
          </a:p>
          <a:p>
            <a:pPr lvl="1"/>
            <a:r>
              <a:rPr lang="en-GB" dirty="0"/>
              <a:t>Must encapsulate all the complexities</a:t>
            </a:r>
          </a:p>
          <a:p>
            <a:pPr lvl="1"/>
            <a:r>
              <a:rPr lang="en-GB" dirty="0"/>
              <a:t>Should be user friendly</a:t>
            </a:r>
            <a:endParaRPr lang="en-GB" b="1" i="1" dirty="0"/>
          </a:p>
          <a:p>
            <a:r>
              <a:rPr lang="en-GB" b="1" dirty="0"/>
              <a:t>Component selection and design</a:t>
            </a:r>
            <a:r>
              <a:rPr lang="en-GB" dirty="0"/>
              <a:t>, </a:t>
            </a:r>
          </a:p>
          <a:p>
            <a:pPr lvl="1"/>
            <a:r>
              <a:rPr lang="en-GB" dirty="0"/>
              <a:t>you search for reusable components.</a:t>
            </a:r>
          </a:p>
          <a:p>
            <a:pPr lvl="1"/>
            <a:r>
              <a:rPr lang="en-GB" dirty="0"/>
              <a:t> If unavailable, then you design the component from scratch.</a:t>
            </a:r>
          </a:p>
          <a:p>
            <a:pPr lvl="1"/>
            <a:r>
              <a:rPr lang="en-GB" dirty="0"/>
              <a:t>Includes the list of changes to be done in the off the shelf component</a:t>
            </a:r>
          </a:p>
          <a:p>
            <a:pPr lvl="1"/>
            <a:r>
              <a:rPr lang="en-GB" dirty="0"/>
              <a:t>or the proper technical UML diagram (if designing from scratch) </a:t>
            </a:r>
          </a:p>
          <a:p>
            <a:endParaRPr lang="en-US"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9AC4F5D-0764-4D2C-A723-397BC74B5A5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33142188"/>
      </p:ext>
    </p:extLst>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System implementation</a:t>
            </a:r>
          </a:p>
        </p:txBody>
      </p:sp>
      <p:sp>
        <p:nvSpPr>
          <p:cNvPr id="3" name="Content Placeholder 2"/>
          <p:cNvSpPr>
            <a:spLocks noGrp="1"/>
          </p:cNvSpPr>
          <p:nvPr>
            <p:ph idx="1"/>
          </p:nvPr>
        </p:nvSpPr>
        <p:spPr/>
        <p:txBody>
          <a:bodyPr/>
          <a:lstStyle/>
          <a:p>
            <a:pPr algn="just"/>
            <a:r>
              <a:rPr lang="en-US" dirty="0"/>
              <a:t>The software is </a:t>
            </a:r>
            <a:r>
              <a:rPr lang="en-US" b="1" dirty="0"/>
              <a:t>implemented either by developing a program or programs or by configuring an application system </a:t>
            </a:r>
            <a:r>
              <a:rPr lang="en-US" dirty="0"/>
              <a:t>depending upon the scale of software application.</a:t>
            </a:r>
          </a:p>
          <a:p>
            <a:pPr algn="just"/>
            <a:r>
              <a:rPr lang="en-US" b="1" dirty="0"/>
              <a:t>Design and implementation are interleaved activities </a:t>
            </a:r>
            <a:r>
              <a:rPr lang="en-US" dirty="0"/>
              <a:t>for most types of software system.</a:t>
            </a:r>
          </a:p>
          <a:p>
            <a:pPr algn="just"/>
            <a:r>
              <a:rPr lang="en-US" b="1" dirty="0"/>
              <a:t>Programming</a:t>
            </a:r>
            <a:r>
              <a:rPr lang="en-US" dirty="0"/>
              <a:t> is an individual </a:t>
            </a:r>
            <a:r>
              <a:rPr lang="en-US" b="1" dirty="0"/>
              <a:t>activity with no standard process. (e.g., variable definition) ~ depends on programmer feasibility.</a:t>
            </a:r>
          </a:p>
          <a:p>
            <a:pPr algn="just"/>
            <a:r>
              <a:rPr lang="en-US" b="1" dirty="0"/>
              <a:t>Debugging</a:t>
            </a:r>
            <a:r>
              <a:rPr lang="en-US" dirty="0"/>
              <a:t> is the activity of finding program faults and correcting these faults.</a:t>
            </a: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E698AF3-A8C1-44AF-B053-101D5750614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753369205"/>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r>
              <a:rPr lang="en-GB"/>
              <a:t>Software validation</a:t>
            </a:r>
          </a:p>
        </p:txBody>
      </p:sp>
      <p:sp>
        <p:nvSpPr>
          <p:cNvPr id="88067" name="Rectangle 3"/>
          <p:cNvSpPr>
            <a:spLocks noGrp="1" noChangeArrowheads="1"/>
          </p:cNvSpPr>
          <p:nvPr>
            <p:ph idx="1"/>
          </p:nvPr>
        </p:nvSpPr>
        <p:spPr>
          <a:xfrm>
            <a:off x="609600" y="1600201"/>
            <a:ext cx="10972800" cy="4756150"/>
          </a:xfrm>
        </p:spPr>
        <p:txBody>
          <a:bodyPr/>
          <a:lstStyle/>
          <a:p>
            <a:pPr algn="just"/>
            <a:r>
              <a:rPr lang="en-GB" dirty="0"/>
              <a:t>Verification and validation (V &amp; V) is intended to show that a </a:t>
            </a:r>
            <a:r>
              <a:rPr lang="en-GB" b="1" dirty="0"/>
              <a:t>system conforms to its specification and meets the requirements of the system customer.</a:t>
            </a:r>
          </a:p>
          <a:p>
            <a:r>
              <a:rPr lang="en-GB" dirty="0"/>
              <a:t>Involves system testing.</a:t>
            </a:r>
          </a:p>
          <a:p>
            <a:pPr algn="just"/>
            <a:r>
              <a:rPr lang="en-GB" b="1" dirty="0"/>
              <a:t>System testing </a:t>
            </a:r>
            <a:r>
              <a:rPr lang="en-GB" dirty="0"/>
              <a:t>involves </a:t>
            </a:r>
            <a:r>
              <a:rPr lang="en-GB" b="1" dirty="0"/>
              <a:t>executing the system with test cases that are derived from the specification of the real data to be processed by the system</a:t>
            </a:r>
            <a:r>
              <a:rPr lang="en-GB" dirty="0"/>
              <a:t>.</a:t>
            </a:r>
          </a:p>
          <a:p>
            <a:pPr algn="just"/>
            <a:r>
              <a:rPr lang="en-GB" dirty="0"/>
              <a:t>Alpha testing: testing &amp; reviewing by the development staff </a:t>
            </a:r>
          </a:p>
          <a:p>
            <a:pPr algn="just"/>
            <a:r>
              <a:rPr lang="en-GB" dirty="0"/>
              <a:t>Beta testing: testing &amp; reviewing by the real time user</a:t>
            </a:r>
          </a:p>
          <a:p>
            <a:pPr marL="0" indent="0">
              <a:buNone/>
            </a:pPr>
            <a:endParaRPr lang="en-GB" dirty="0"/>
          </a:p>
        </p:txBody>
      </p:sp>
      <p:sp>
        <p:nvSpPr>
          <p:cNvPr id="7" name="Footer Placeholder 6"/>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6" name="Slide Number Placeholder 5"/>
          <p:cNvSpPr>
            <a:spLocks noGrp="1"/>
          </p:cNvSpPr>
          <p:nvPr>
            <p:ph type="sldNum" sz="quarter" idx="12"/>
          </p:nvPr>
        </p:nvSpPr>
        <p:spPr>
          <a:xfrm>
            <a:off x="9274432" y="6356351"/>
            <a:ext cx="936368" cy="365125"/>
          </a:xfrm>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CAEADBC-09C6-474B-9478-34FFFCAB991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720114304"/>
      </p:ext>
    </p:extLst>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GB" dirty="0"/>
              <a:t>Stages of testing</a:t>
            </a:r>
            <a:br>
              <a:rPr lang="en-GB" dirty="0"/>
            </a:br>
            <a:endParaRPr lang="en-US" dirty="0"/>
          </a:p>
        </p:txBody>
      </p:sp>
      <p:sp>
        <p:nvSpPr>
          <p:cNvPr id="8" name="Footer Placeholder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4" name="Picture 3" descr="2.6 Testing-process.eps"/>
          <p:cNvPicPr>
            <a:picLocks noChangeAspect="1"/>
          </p:cNvPicPr>
          <p:nvPr/>
        </p:nvPicPr>
        <p:blipFill>
          <a:blip r:embed="rId2"/>
          <a:stretch>
            <a:fillRect/>
          </a:stretch>
        </p:blipFill>
        <p:spPr>
          <a:xfrm>
            <a:off x="3010410" y="2829345"/>
            <a:ext cx="6277535" cy="1707049"/>
          </a:xfrm>
          <a:prstGeom prst="rect">
            <a:avLst/>
          </a:prstGeom>
        </p:spPr>
      </p:pic>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4568F902-D2B4-4B82-82D9-DA21A6487DC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39705383"/>
      </p:ext>
    </p:extLst>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GB" dirty="0"/>
              <a:t>Testing stages</a:t>
            </a:r>
          </a:p>
        </p:txBody>
      </p:sp>
      <p:sp>
        <p:nvSpPr>
          <p:cNvPr id="115715" name="Rectangle 3"/>
          <p:cNvSpPr>
            <a:spLocks noGrp="1" noChangeArrowheads="1"/>
          </p:cNvSpPr>
          <p:nvPr>
            <p:ph idx="1"/>
          </p:nvPr>
        </p:nvSpPr>
        <p:spPr/>
        <p:txBody>
          <a:bodyPr/>
          <a:lstStyle/>
          <a:p>
            <a:pPr algn="just"/>
            <a:r>
              <a:rPr lang="en-GB" dirty="0"/>
              <a:t>Component testing</a:t>
            </a:r>
          </a:p>
          <a:p>
            <a:pPr lvl="1" algn="just"/>
            <a:r>
              <a:rPr lang="en-GB" sz="1800" dirty="0"/>
              <a:t>Component tested by developers working on the system.</a:t>
            </a:r>
          </a:p>
          <a:p>
            <a:pPr lvl="1" algn="just"/>
            <a:r>
              <a:rPr lang="en-GB" sz="1800" dirty="0"/>
              <a:t>Individual components are tested independently; </a:t>
            </a:r>
          </a:p>
          <a:p>
            <a:pPr lvl="1" algn="just"/>
            <a:r>
              <a:rPr lang="en-GB" sz="1800" dirty="0"/>
              <a:t>Components may be functions or objects or coherent groupings of these entities.</a:t>
            </a:r>
          </a:p>
          <a:p>
            <a:pPr lvl="1" algn="just"/>
            <a:r>
              <a:rPr lang="en-GB" sz="1800" dirty="0"/>
              <a:t>Test automation tools like Junit for java, </a:t>
            </a:r>
            <a:r>
              <a:rPr lang="en-US" sz="1800" dirty="0"/>
              <a:t>VS Code plugin for JS or python </a:t>
            </a:r>
            <a:r>
              <a:rPr lang="en-GB" sz="1800" dirty="0"/>
              <a:t>could be used for unit/component testing.</a:t>
            </a:r>
          </a:p>
          <a:p>
            <a:pPr algn="just"/>
            <a:r>
              <a:rPr lang="en-GB" dirty="0"/>
              <a:t>System testing</a:t>
            </a:r>
          </a:p>
          <a:p>
            <a:pPr lvl="1" algn="just"/>
            <a:r>
              <a:rPr lang="en-GB" dirty="0"/>
              <a:t>Testing of the system.</a:t>
            </a:r>
          </a:p>
          <a:p>
            <a:pPr lvl="1" algn="just"/>
            <a:r>
              <a:rPr lang="en-GB" dirty="0"/>
              <a:t>Testing of errors after different module interaction.</a:t>
            </a:r>
          </a:p>
          <a:p>
            <a:pPr lvl="1" algn="just"/>
            <a:r>
              <a:rPr lang="en-GB" dirty="0"/>
              <a:t>In large systems multiple subsystems are integrated first and then integrated as a final system.</a:t>
            </a:r>
          </a:p>
        </p:txBody>
      </p:sp>
      <p:sp>
        <p:nvSpPr>
          <p:cNvPr id="7" name="Footer Placeholder 6"/>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D9E3913-7CC6-41B6-9E00-86DF420F1ED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70647623"/>
      </p:ext>
    </p:extLst>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GB"/>
              <a:t>Testing stages</a:t>
            </a:r>
          </a:p>
        </p:txBody>
      </p:sp>
      <p:sp>
        <p:nvSpPr>
          <p:cNvPr id="115715" name="Rectangle 3"/>
          <p:cNvSpPr>
            <a:spLocks noGrp="1" noChangeArrowheads="1"/>
          </p:cNvSpPr>
          <p:nvPr>
            <p:ph idx="1"/>
          </p:nvPr>
        </p:nvSpPr>
        <p:spPr>
          <a:xfrm>
            <a:off x="609600" y="1715610"/>
            <a:ext cx="9601200" cy="4525963"/>
          </a:xfrm>
        </p:spPr>
        <p:txBody>
          <a:bodyPr/>
          <a:lstStyle/>
          <a:p>
            <a:r>
              <a:rPr lang="en-GB" dirty="0"/>
              <a:t>Customer testing</a:t>
            </a:r>
          </a:p>
          <a:p>
            <a:pPr lvl="1"/>
            <a:r>
              <a:rPr lang="en-GB" dirty="0"/>
              <a:t>Beta testing</a:t>
            </a:r>
          </a:p>
          <a:p>
            <a:pPr lvl="1"/>
            <a:r>
              <a:rPr lang="en-GB" dirty="0"/>
              <a:t>Testing with customer data to check that the system meets the customer’s needs.</a:t>
            </a:r>
          </a:p>
          <a:p>
            <a:pPr lvl="1"/>
            <a:r>
              <a:rPr lang="en-GB" dirty="0"/>
              <a:t>It might reveal error in software requirements, omission if any.</a:t>
            </a:r>
          </a:p>
          <a:p>
            <a:pPr marL="457200" lvl="1" indent="0">
              <a:buNone/>
            </a:pPr>
            <a:endParaRPr lang="en-GB" dirty="0"/>
          </a:p>
        </p:txBody>
      </p:sp>
      <p:sp>
        <p:nvSpPr>
          <p:cNvPr id="7" name="Footer Placeholder 6"/>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743E40BD-12C2-4863-8B23-371F1832BAD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719079354"/>
      </p:ext>
    </p:extLst>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GB" dirty="0"/>
              <a:t>Testing phases in a plan-driven software process (V-model)</a:t>
            </a:r>
            <a:br>
              <a:rPr lang="en-GB" dirty="0"/>
            </a:br>
            <a:r>
              <a:rPr lang="en-GB" sz="1400" dirty="0">
                <a:solidFill>
                  <a:srgbClr val="FF0000"/>
                </a:solidFill>
              </a:rPr>
              <a:t>improvement of waterfall model</a:t>
            </a:r>
            <a:endParaRPr lang="en-US" dirty="0">
              <a:solidFill>
                <a:srgbClr val="FF0000"/>
              </a:solidFill>
            </a:endParaRPr>
          </a:p>
        </p:txBody>
      </p:sp>
      <p:sp>
        <p:nvSpPr>
          <p:cNvPr id="8" name="Footer Placeholder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4" name="Picture 3" descr="2.7 Testing-phases.eps"/>
          <p:cNvPicPr>
            <a:picLocks noChangeAspect="1"/>
          </p:cNvPicPr>
          <p:nvPr/>
        </p:nvPicPr>
        <p:blipFill>
          <a:blip r:embed="rId2"/>
          <a:stretch>
            <a:fillRect/>
          </a:stretch>
        </p:blipFill>
        <p:spPr>
          <a:xfrm>
            <a:off x="1772958" y="2186304"/>
            <a:ext cx="8647437" cy="2988016"/>
          </a:xfrm>
          <a:prstGeom prst="rect">
            <a:avLst/>
          </a:prstGeom>
        </p:spPr>
      </p:pic>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EDF4B82-3CB3-4D14-B7C8-7A26DC94949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268363180"/>
      </p:ext>
    </p:extLst>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GB"/>
              <a:t>Software evolution</a:t>
            </a:r>
          </a:p>
        </p:txBody>
      </p:sp>
      <p:sp>
        <p:nvSpPr>
          <p:cNvPr id="89091" name="Rectangle 3"/>
          <p:cNvSpPr>
            <a:spLocks noGrp="1" noChangeArrowheads="1"/>
          </p:cNvSpPr>
          <p:nvPr>
            <p:ph idx="1"/>
          </p:nvPr>
        </p:nvSpPr>
        <p:spPr/>
        <p:txBody>
          <a:bodyPr/>
          <a:lstStyle/>
          <a:p>
            <a:pPr algn="just"/>
            <a:r>
              <a:rPr lang="en-GB" dirty="0"/>
              <a:t>Hardware changes are very expensive, as compare to that software is inherently flexible and can be modified to larger &amp; complex systems. </a:t>
            </a:r>
          </a:p>
          <a:p>
            <a:pPr algn="just"/>
            <a:r>
              <a:rPr lang="en-GB" dirty="0"/>
              <a:t>As requirements change through changing business circumstances, the software that supports the business must also evolve and change.</a:t>
            </a:r>
          </a:p>
          <a:p>
            <a:pPr algn="just"/>
            <a:r>
              <a:rPr lang="en-GB" dirty="0"/>
              <a:t>Although there has been a demarcation between development and evolution (maintenance) this is increasingly irrelevant as fewer and fewer systems are completely new.</a:t>
            </a:r>
          </a:p>
        </p:txBody>
      </p:sp>
      <p:sp>
        <p:nvSpPr>
          <p:cNvPr id="7" name="Footer Placeholder 6"/>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1BCB20F-41F2-4D4B-AD1D-B8FC3AC62BC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05196628"/>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GB" dirty="0"/>
              <a:t>System evolution </a:t>
            </a:r>
            <a:endParaRPr lang="en-US" dirty="0"/>
          </a:p>
        </p:txBody>
      </p:sp>
      <p:sp>
        <p:nvSpPr>
          <p:cNvPr id="8" name="Footer Placeholder 7"/>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2 Software Processes</a:t>
            </a:r>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4" name="Picture 3" descr="2.8 System evolution.eps"/>
          <p:cNvPicPr>
            <a:picLocks noChangeAspect="1"/>
          </p:cNvPicPr>
          <p:nvPr/>
        </p:nvPicPr>
        <p:blipFill>
          <a:blip r:embed="rId2"/>
          <a:stretch>
            <a:fillRect/>
          </a:stretch>
        </p:blipFill>
        <p:spPr>
          <a:xfrm>
            <a:off x="2288178" y="2563931"/>
            <a:ext cx="7567072" cy="2328330"/>
          </a:xfrm>
          <a:prstGeom prst="rect">
            <a:avLst/>
          </a:prstGeom>
        </p:spPr>
      </p:pic>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5511C86-2F5C-428E-92BE-4C4F55EB940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99223638"/>
      </p:ext>
    </p:extLst>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5155" y="2544624"/>
            <a:ext cx="8229600" cy="1143000"/>
          </a:xfrm>
        </p:spPr>
        <p:txBody>
          <a:bodyPr/>
          <a:lstStyle/>
          <a:p>
            <a:pPr algn="ctr"/>
            <a:r>
              <a:rPr lang="en-US" dirty="0"/>
              <a:t>Coping with change</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813FA17-11CC-48E2-AFAB-AC438BAE40D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298302"/>
      </p:ext>
    </p:extLst>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Coping with change</a:t>
            </a:r>
            <a:endParaRPr lang="en-US" dirty="0"/>
          </a:p>
        </p:txBody>
      </p:sp>
      <p:sp>
        <p:nvSpPr>
          <p:cNvPr id="5" name="Content Placeholder 4"/>
          <p:cNvSpPr>
            <a:spLocks noGrp="1"/>
          </p:cNvSpPr>
          <p:nvPr>
            <p:ph idx="1"/>
          </p:nvPr>
        </p:nvSpPr>
        <p:spPr>
          <a:xfrm>
            <a:off x="609600" y="1600201"/>
            <a:ext cx="10972800" cy="4525963"/>
          </a:xfrm>
        </p:spPr>
        <p:txBody>
          <a:bodyPr/>
          <a:lstStyle/>
          <a:p>
            <a:r>
              <a:rPr lang="en-US" b="1" dirty="0"/>
              <a:t>Change is inevitable </a:t>
            </a:r>
            <a:r>
              <a:rPr lang="en-US" dirty="0"/>
              <a:t>in all large software projects.</a:t>
            </a:r>
          </a:p>
          <a:p>
            <a:pPr lvl="1"/>
            <a:r>
              <a:rPr lang="en-US" b="1" dirty="0"/>
              <a:t>Business changes </a:t>
            </a:r>
            <a:r>
              <a:rPr lang="en-US" dirty="0"/>
              <a:t>lead to new and changed system requirements</a:t>
            </a:r>
          </a:p>
          <a:p>
            <a:pPr lvl="1"/>
            <a:r>
              <a:rPr lang="en-US" b="1" dirty="0"/>
              <a:t>New technologies</a:t>
            </a:r>
            <a:r>
              <a:rPr lang="en-US" dirty="0"/>
              <a:t> open up new possibilities for improving implementations</a:t>
            </a:r>
          </a:p>
          <a:p>
            <a:pPr lvl="1"/>
            <a:r>
              <a:rPr lang="en-US" b="1" dirty="0"/>
              <a:t>Changing platforms </a:t>
            </a:r>
            <a:r>
              <a:rPr lang="en-US" dirty="0"/>
              <a:t>require application changes</a:t>
            </a:r>
          </a:p>
          <a:p>
            <a:pPr algn="just"/>
            <a:r>
              <a:rPr lang="en-US" b="1" dirty="0"/>
              <a:t>Change leads to rework </a:t>
            </a:r>
            <a:r>
              <a:rPr lang="en-US" dirty="0"/>
              <a:t>so :</a:t>
            </a:r>
          </a:p>
          <a:p>
            <a:pPr lvl="1" algn="just"/>
            <a:r>
              <a:rPr lang="en-US" dirty="0"/>
              <a:t>costs of change = cost of rework  (analyzing previous req.) + cost of implementing new module</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D56E39A-525F-4C86-A302-F02CDD6F760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65774018"/>
      </p:ext>
    </p:extLst>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Reducing the costs of rework</a:t>
            </a:r>
          </a:p>
        </p:txBody>
      </p:sp>
      <p:sp>
        <p:nvSpPr>
          <p:cNvPr id="3" name="Content Placeholder 2"/>
          <p:cNvSpPr>
            <a:spLocks noGrp="1"/>
          </p:cNvSpPr>
          <p:nvPr>
            <p:ph idx="1"/>
          </p:nvPr>
        </p:nvSpPr>
        <p:spPr>
          <a:xfrm>
            <a:off x="609600" y="1600201"/>
            <a:ext cx="10972800" cy="4525963"/>
          </a:xfrm>
        </p:spPr>
        <p:txBody>
          <a:bodyPr/>
          <a:lstStyle/>
          <a:p>
            <a:pPr algn="just"/>
            <a:r>
              <a:rPr lang="en-GB" b="1" dirty="0"/>
              <a:t>Proactive approach:</a:t>
            </a:r>
          </a:p>
          <a:p>
            <a:pPr lvl="1" algn="just"/>
            <a:r>
              <a:rPr lang="en-GB" b="1" dirty="0"/>
              <a:t>Change anticipation: </a:t>
            </a:r>
            <a:r>
              <a:rPr lang="en-GB" dirty="0"/>
              <a:t>where the software process includes </a:t>
            </a:r>
            <a:r>
              <a:rPr lang="en-GB" b="1" dirty="0"/>
              <a:t>activities</a:t>
            </a:r>
            <a:r>
              <a:rPr lang="en-GB" dirty="0"/>
              <a:t> </a:t>
            </a:r>
            <a:r>
              <a:rPr lang="en-GB" b="1" dirty="0"/>
              <a:t>that can anticipate possible changes before significant rework is required. </a:t>
            </a:r>
          </a:p>
          <a:p>
            <a:pPr algn="just"/>
            <a:r>
              <a:rPr lang="en-GB" b="1" dirty="0"/>
              <a:t>Reactive approach:</a:t>
            </a:r>
          </a:p>
          <a:p>
            <a:pPr lvl="1" algn="just"/>
            <a:r>
              <a:rPr lang="en-GB" b="1" dirty="0"/>
              <a:t>Change tolerance</a:t>
            </a:r>
            <a:r>
              <a:rPr lang="en-GB" dirty="0"/>
              <a:t>, where the process is designed so that changes can be accommodated at relatively low cost.</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68FDF7B-D8D4-4D34-84F2-00EB5E0F71F0}"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300361105"/>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Coping with changing requirements</a:t>
            </a:r>
          </a:p>
        </p:txBody>
      </p:sp>
      <p:sp>
        <p:nvSpPr>
          <p:cNvPr id="3" name="Content Placeholder 2"/>
          <p:cNvSpPr>
            <a:spLocks noGrp="1"/>
          </p:cNvSpPr>
          <p:nvPr>
            <p:ph idx="1"/>
          </p:nvPr>
        </p:nvSpPr>
        <p:spPr/>
        <p:txBody>
          <a:bodyPr/>
          <a:lstStyle/>
          <a:p>
            <a:pPr marL="0" indent="0" algn="ctr">
              <a:buNone/>
            </a:pPr>
            <a:endParaRPr lang="en-GB" b="1" dirty="0"/>
          </a:p>
          <a:p>
            <a:pPr marL="0" indent="0" algn="ctr">
              <a:buNone/>
            </a:pPr>
            <a:endParaRPr lang="en-GB" b="1" dirty="0"/>
          </a:p>
          <a:p>
            <a:pPr marL="0" indent="0" algn="ctr">
              <a:buNone/>
            </a:pPr>
            <a:endParaRPr lang="en-GB" b="1" dirty="0"/>
          </a:p>
          <a:p>
            <a:pPr marL="0" indent="0" algn="ctr">
              <a:buNone/>
            </a:pPr>
            <a:r>
              <a:rPr lang="en-GB" b="1" dirty="0"/>
              <a:t>What to do when the user is not exactly sure of the requirements? </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B7BF011A-F748-429B-A4D9-82EE06F08A1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70276198"/>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Coping with changing requirements</a:t>
            </a:r>
          </a:p>
        </p:txBody>
      </p:sp>
      <p:sp>
        <p:nvSpPr>
          <p:cNvPr id="3" name="Content Placeholder 2"/>
          <p:cNvSpPr>
            <a:spLocks noGrp="1"/>
          </p:cNvSpPr>
          <p:nvPr>
            <p:ph idx="1"/>
          </p:nvPr>
        </p:nvSpPr>
        <p:spPr/>
        <p:txBody>
          <a:bodyPr/>
          <a:lstStyle/>
          <a:p>
            <a:pPr algn="just"/>
            <a:r>
              <a:rPr lang="en-GB" b="1" dirty="0"/>
              <a:t>System prototyping, </a:t>
            </a:r>
          </a:p>
          <a:p>
            <a:pPr lvl="1" algn="just"/>
            <a:r>
              <a:rPr lang="en-GB" dirty="0"/>
              <a:t>where a version of the system or part of the system is developed quickly to check the customer’s requirements and the feasibility of design decisions. </a:t>
            </a:r>
          </a:p>
          <a:p>
            <a:pPr lvl="1" algn="just"/>
            <a:r>
              <a:rPr lang="en-GB" dirty="0"/>
              <a:t>This approach </a:t>
            </a:r>
            <a:r>
              <a:rPr lang="en-GB" dirty="0">
                <a:solidFill>
                  <a:srgbClr val="FF0000"/>
                </a:solidFill>
              </a:rPr>
              <a:t>supports change anticipation. </a:t>
            </a:r>
          </a:p>
          <a:p>
            <a:pPr algn="just"/>
            <a:r>
              <a:rPr lang="en-GB" b="1" dirty="0"/>
              <a:t>Incremental delivery,</a:t>
            </a:r>
          </a:p>
          <a:p>
            <a:pPr lvl="1" algn="just"/>
            <a:r>
              <a:rPr lang="en-GB" dirty="0"/>
              <a:t> where system increments are delivered to the customer for comment and experimentation. </a:t>
            </a:r>
          </a:p>
          <a:p>
            <a:pPr lvl="1" algn="just"/>
            <a:r>
              <a:rPr lang="en-GB" dirty="0"/>
              <a:t>This </a:t>
            </a:r>
            <a:r>
              <a:rPr lang="en-GB" dirty="0">
                <a:solidFill>
                  <a:srgbClr val="FF0000"/>
                </a:solidFill>
              </a:rPr>
              <a:t>supports both change avoidance and change tolerance. </a:t>
            </a:r>
            <a:endParaRPr lang="en-US" dirty="0">
              <a:solidFill>
                <a:srgbClr val="FF0000"/>
              </a:solidFill>
            </a:endParaRP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53F798B-2798-4940-BABA-9545A2958AF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43198957"/>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626" name="Rectangle 2"/>
          <p:cNvSpPr>
            <a:spLocks noGrp="1" noChangeArrowheads="1"/>
          </p:cNvSpPr>
          <p:nvPr>
            <p:ph type="title"/>
          </p:nvPr>
        </p:nvSpPr>
        <p:spPr/>
        <p:txBody>
          <a:bodyPr/>
          <a:lstStyle/>
          <a:p>
            <a:r>
              <a:rPr lang="en-US"/>
              <a:t>Software prototyping</a:t>
            </a:r>
          </a:p>
        </p:txBody>
      </p:sp>
      <p:sp>
        <p:nvSpPr>
          <p:cNvPr id="1178627" name="Rectangle 3"/>
          <p:cNvSpPr>
            <a:spLocks noGrp="1" noChangeArrowheads="1"/>
          </p:cNvSpPr>
          <p:nvPr>
            <p:ph idx="1"/>
          </p:nvPr>
        </p:nvSpPr>
        <p:spPr>
          <a:xfrm>
            <a:off x="609600" y="1656413"/>
            <a:ext cx="10058400" cy="4756150"/>
          </a:xfrm>
        </p:spPr>
        <p:txBody>
          <a:bodyPr/>
          <a:lstStyle/>
          <a:p>
            <a:r>
              <a:rPr lang="en-US" dirty="0"/>
              <a:t>A prototype is:</a:t>
            </a:r>
          </a:p>
          <a:p>
            <a:pPr lvl="1"/>
            <a:r>
              <a:rPr lang="en-US" b="1" dirty="0"/>
              <a:t>an initial version of a system </a:t>
            </a:r>
          </a:p>
          <a:p>
            <a:pPr lvl="1"/>
            <a:r>
              <a:rPr lang="en-US" dirty="0"/>
              <a:t>used to </a:t>
            </a:r>
            <a:r>
              <a:rPr lang="en-US" b="1" dirty="0"/>
              <a:t>demonstrate concepts </a:t>
            </a:r>
            <a:r>
              <a:rPr lang="en-US" dirty="0"/>
              <a:t>and</a:t>
            </a:r>
          </a:p>
          <a:p>
            <a:pPr lvl="1"/>
            <a:r>
              <a:rPr lang="en-US" b="1" dirty="0"/>
              <a:t>Show design options</a:t>
            </a:r>
            <a:r>
              <a:rPr lang="en-US" dirty="0"/>
              <a:t>.</a:t>
            </a:r>
          </a:p>
          <a:p>
            <a:pPr lvl="1"/>
            <a:r>
              <a:rPr lang="en-US" dirty="0"/>
              <a:t>Find out about any possible </a:t>
            </a:r>
            <a:r>
              <a:rPr lang="en-US" b="1" dirty="0"/>
              <a:t>requirements’ problems</a:t>
            </a:r>
          </a:p>
          <a:p>
            <a:pPr lvl="1"/>
            <a:r>
              <a:rPr lang="en-US" b="1" dirty="0"/>
              <a:t>Predict their solutions</a:t>
            </a:r>
          </a:p>
          <a:p>
            <a:r>
              <a:rPr lang="en-US" dirty="0"/>
              <a:t>A prototype can be used in anticipating changes in the process:</a:t>
            </a:r>
          </a:p>
          <a:p>
            <a:pPr lvl="1" algn="just"/>
            <a:r>
              <a:rPr lang="en-US" dirty="0"/>
              <a:t>Used to </a:t>
            </a:r>
            <a:r>
              <a:rPr lang="en-US" b="1" dirty="0"/>
              <a:t>refine the requirements elicitation and validation phase</a:t>
            </a:r>
            <a:r>
              <a:rPr lang="en-US" dirty="0"/>
              <a:t>;</a:t>
            </a:r>
          </a:p>
          <a:p>
            <a:pPr lvl="1"/>
            <a:r>
              <a:rPr lang="en-US" b="1" dirty="0"/>
              <a:t>In design processes </a:t>
            </a:r>
            <a:r>
              <a:rPr lang="en-US" dirty="0"/>
              <a:t>to explore options and develop a UI design;</a:t>
            </a:r>
          </a:p>
          <a:p>
            <a:pPr lvl="1"/>
            <a:r>
              <a:rPr lang="en-US" b="1" dirty="0"/>
              <a:t>In the testing process </a:t>
            </a:r>
            <a:r>
              <a:rPr lang="en-US" dirty="0"/>
              <a:t>to run back-to-back tests.</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B500FFE9-DC5B-42F4-91EE-B61DA2FBF62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552087310"/>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2722" name="Rectangle 2"/>
          <p:cNvSpPr>
            <a:spLocks noGrp="1" noChangeArrowheads="1"/>
          </p:cNvSpPr>
          <p:nvPr>
            <p:ph type="title"/>
          </p:nvPr>
        </p:nvSpPr>
        <p:spPr/>
        <p:txBody>
          <a:bodyPr/>
          <a:lstStyle/>
          <a:p>
            <a:r>
              <a:rPr lang="en-US" dirty="0"/>
              <a:t>Benefits of prototyping</a:t>
            </a:r>
          </a:p>
        </p:txBody>
      </p:sp>
      <p:sp>
        <p:nvSpPr>
          <p:cNvPr id="1182723" name="Rectangle 3"/>
          <p:cNvSpPr>
            <a:spLocks noGrp="1" noChangeArrowheads="1"/>
          </p:cNvSpPr>
          <p:nvPr>
            <p:ph idx="1"/>
          </p:nvPr>
        </p:nvSpPr>
        <p:spPr/>
        <p:txBody>
          <a:bodyPr/>
          <a:lstStyle/>
          <a:p>
            <a:pPr algn="just"/>
            <a:r>
              <a:rPr lang="en-US" b="1" dirty="0"/>
              <a:t>Improved system usability.</a:t>
            </a:r>
            <a:r>
              <a:rPr lang="en-US" dirty="0"/>
              <a:t> ~ predicts how well the system supports a no. of users.</a:t>
            </a:r>
          </a:p>
          <a:p>
            <a:pPr algn="just"/>
            <a:r>
              <a:rPr lang="en-US" b="1" dirty="0"/>
              <a:t>A closer match to users’ real needs. </a:t>
            </a:r>
            <a:r>
              <a:rPr lang="en-US" dirty="0"/>
              <a:t>~ observe software strengths &amp; weaknesses and then tune its requirements. </a:t>
            </a:r>
          </a:p>
          <a:p>
            <a:pPr algn="just"/>
            <a:r>
              <a:rPr lang="en-US" b="1" dirty="0"/>
              <a:t>Improved design quality. </a:t>
            </a:r>
          </a:p>
          <a:p>
            <a:pPr algn="just"/>
            <a:r>
              <a:rPr lang="en-US" b="1" dirty="0"/>
              <a:t>Reduced development effort. </a:t>
            </a:r>
            <a:r>
              <a:rPr lang="en-US" dirty="0"/>
              <a:t>~ as lesser maintenance required.</a:t>
            </a:r>
            <a:endParaRPr lang="en-US" b="1" dirty="0"/>
          </a:p>
          <a:p>
            <a:pPr algn="just"/>
            <a:r>
              <a:rPr lang="en-US" b="1" dirty="0"/>
              <a:t>Improved maintainability. </a:t>
            </a:r>
            <a:r>
              <a:rPr lang="en-US" dirty="0"/>
              <a:t>~ lesser maintenance needed because of minimal chances in requirements’ falsification.</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16B373B5-E3C4-4C05-8367-169FE849F3A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595109844"/>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GB" dirty="0"/>
              <a:t>The process of prototype development</a:t>
            </a:r>
            <a:br>
              <a:rPr lang="en-GB" dirty="0"/>
            </a:br>
            <a:endParaRPr lang="en-US" dirty="0"/>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pic>
        <p:nvPicPr>
          <p:cNvPr id="4" name="Picture 3" descr="2.9 PrototypeProcess.eps"/>
          <p:cNvPicPr>
            <a:picLocks noChangeAspect="1"/>
          </p:cNvPicPr>
          <p:nvPr/>
        </p:nvPicPr>
        <p:blipFill>
          <a:blip r:embed="rId2"/>
          <a:stretch>
            <a:fillRect/>
          </a:stretch>
        </p:blipFill>
        <p:spPr>
          <a:xfrm>
            <a:off x="2494575" y="2608353"/>
            <a:ext cx="7627164" cy="2162927"/>
          </a:xfrm>
          <a:prstGeom prst="rect">
            <a:avLst/>
          </a:prstGeom>
        </p:spPr>
      </p:pic>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0448742-8F8B-40DB-BE9F-4547A9CAC9C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870815827"/>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Prototype development</a:t>
            </a:r>
          </a:p>
        </p:txBody>
      </p:sp>
      <p:sp>
        <p:nvSpPr>
          <p:cNvPr id="3" name="Content Placeholder 2"/>
          <p:cNvSpPr>
            <a:spLocks noGrp="1"/>
          </p:cNvSpPr>
          <p:nvPr>
            <p:ph idx="1"/>
          </p:nvPr>
        </p:nvSpPr>
        <p:spPr>
          <a:xfrm>
            <a:off x="609600" y="1417638"/>
            <a:ext cx="10972800" cy="4525963"/>
          </a:xfrm>
        </p:spPr>
        <p:txBody>
          <a:bodyPr/>
          <a:lstStyle/>
          <a:p>
            <a:pPr algn="just"/>
            <a:r>
              <a:rPr lang="en-US" dirty="0"/>
              <a:t>Obviously, the prototype for the whole project is not needed.</a:t>
            </a:r>
          </a:p>
          <a:p>
            <a:pPr algn="just"/>
            <a:r>
              <a:rPr lang="en-US" dirty="0"/>
              <a:t>Correct way is to </a:t>
            </a:r>
            <a:r>
              <a:rPr lang="en-US" b="1" dirty="0">
                <a:solidFill>
                  <a:srgbClr val="FF0000"/>
                </a:solidFill>
              </a:rPr>
              <a:t>develop prototype of the functionalities whose requirements are not clearly mentioned.</a:t>
            </a:r>
          </a:p>
          <a:p>
            <a:pPr algn="just"/>
            <a:r>
              <a:rPr lang="en-US" b="1" dirty="0"/>
              <a:t>Benefits:</a:t>
            </a:r>
          </a:p>
          <a:p>
            <a:pPr lvl="1" algn="just"/>
            <a:r>
              <a:rPr lang="en-US" dirty="0"/>
              <a:t>This will </a:t>
            </a:r>
            <a:r>
              <a:rPr lang="en-US" u="sng" dirty="0"/>
              <a:t>reduce prototyping cost</a:t>
            </a:r>
          </a:p>
          <a:p>
            <a:pPr lvl="1" algn="just"/>
            <a:r>
              <a:rPr lang="en-US" u="sng" dirty="0"/>
              <a:t>Accelerate development</a:t>
            </a:r>
            <a:r>
              <a:rPr lang="en-US" dirty="0"/>
              <a:t> schedule</a:t>
            </a:r>
          </a:p>
          <a:p>
            <a:pPr algn="just"/>
            <a:r>
              <a:rPr lang="en-US" b="1" dirty="0"/>
              <a:t>decide what to target: </a:t>
            </a:r>
          </a:p>
          <a:p>
            <a:pPr lvl="1" algn="just"/>
            <a:r>
              <a:rPr lang="en-US" dirty="0"/>
              <a:t>Prototype should </a:t>
            </a:r>
            <a:r>
              <a:rPr lang="en-US" b="1" dirty="0"/>
              <a:t>focus on areas of the product that are not well-understood </a:t>
            </a:r>
          </a:p>
          <a:p>
            <a:pPr lvl="1" algn="just"/>
            <a:r>
              <a:rPr lang="en-US" b="1" dirty="0"/>
              <a:t>Focus on functional </a:t>
            </a:r>
            <a:r>
              <a:rPr lang="en-US" dirty="0"/>
              <a:t>r</a:t>
            </a:r>
            <a:r>
              <a:rPr lang="en-US" b="1" dirty="0"/>
              <a:t>equirements like core module implementation.</a:t>
            </a:r>
            <a:endParaRPr lang="en-US" dirty="0"/>
          </a:p>
          <a:p>
            <a:pPr lvl="1" algn="just"/>
            <a:r>
              <a:rPr lang="en-US" b="1" dirty="0"/>
              <a:t>Error checking and recovery may not be included </a:t>
            </a:r>
            <a:r>
              <a:rPr lang="en-US" dirty="0"/>
              <a:t>in the prototype;</a:t>
            </a:r>
          </a:p>
          <a:p>
            <a:pPr lvl="1" algn="just"/>
            <a:r>
              <a:rPr lang="en-US" dirty="0"/>
              <a:t>Nonfunctional requirements like response time and memory utilization are ignored.</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319EAA8E-E432-4CA2-8F40-446AE9578A0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25151033"/>
      </p:ext>
    </p:extLst>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770" name="Rectangle 2"/>
          <p:cNvSpPr>
            <a:spLocks noGrp="1" noChangeArrowheads="1"/>
          </p:cNvSpPr>
          <p:nvPr>
            <p:ph type="title"/>
          </p:nvPr>
        </p:nvSpPr>
        <p:spPr/>
        <p:txBody>
          <a:bodyPr/>
          <a:lstStyle/>
          <a:p>
            <a:r>
              <a:rPr lang="en-US" dirty="0"/>
              <a:t>Prototype Development</a:t>
            </a:r>
          </a:p>
        </p:txBody>
      </p:sp>
      <p:sp>
        <p:nvSpPr>
          <p:cNvPr id="1184771" name="Rectangle 3"/>
          <p:cNvSpPr>
            <a:spLocks noGrp="1" noChangeArrowheads="1"/>
          </p:cNvSpPr>
          <p:nvPr>
            <p:ph idx="1"/>
          </p:nvPr>
        </p:nvSpPr>
        <p:spPr/>
        <p:txBody>
          <a:bodyPr/>
          <a:lstStyle/>
          <a:p>
            <a:pPr marL="0" indent="0">
              <a:buNone/>
            </a:pPr>
            <a:endParaRPr lang="en-US" b="1" dirty="0"/>
          </a:p>
          <a:p>
            <a:pPr marL="0" indent="0">
              <a:buNone/>
            </a:pPr>
            <a:endParaRPr lang="en-US" b="1" dirty="0"/>
          </a:p>
          <a:p>
            <a:pPr marL="0" indent="0">
              <a:buNone/>
            </a:pPr>
            <a:endParaRPr lang="en-US" b="1" dirty="0"/>
          </a:p>
          <a:p>
            <a:pPr marL="0" indent="0" algn="ctr">
              <a:buNone/>
            </a:pPr>
            <a:r>
              <a:rPr lang="en-US" b="1" dirty="0"/>
              <a:t>Is it good to proceed further with a prototype?</a:t>
            </a:r>
            <a:endParaRPr lang="en-US" dirty="0"/>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A9EBA2F-F023-4A68-B48F-D5CB87FF4AB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38485886"/>
      </p:ext>
    </p:extLst>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4770" name="Rectangle 2"/>
          <p:cNvSpPr>
            <a:spLocks noGrp="1" noChangeArrowheads="1"/>
          </p:cNvSpPr>
          <p:nvPr>
            <p:ph type="title"/>
          </p:nvPr>
        </p:nvSpPr>
        <p:spPr/>
        <p:txBody>
          <a:bodyPr/>
          <a:lstStyle/>
          <a:p>
            <a:r>
              <a:rPr lang="en-US"/>
              <a:t>Throw-away prototypes</a:t>
            </a:r>
          </a:p>
        </p:txBody>
      </p:sp>
      <p:sp>
        <p:nvSpPr>
          <p:cNvPr id="1184771" name="Rectangle 3"/>
          <p:cNvSpPr>
            <a:spLocks noGrp="1" noChangeArrowheads="1"/>
          </p:cNvSpPr>
          <p:nvPr>
            <p:ph idx="1"/>
          </p:nvPr>
        </p:nvSpPr>
        <p:spPr/>
        <p:txBody>
          <a:bodyPr/>
          <a:lstStyle/>
          <a:p>
            <a:pPr algn="just"/>
            <a:r>
              <a:rPr lang="en-US" b="1" dirty="0"/>
              <a:t>Prototypes should be discarded after development as they are not a good basis for a production system</a:t>
            </a:r>
            <a:endParaRPr lang="en-US" dirty="0"/>
          </a:p>
          <a:p>
            <a:pPr lvl="1" algn="just"/>
            <a:r>
              <a:rPr lang="en-US" dirty="0"/>
              <a:t>It may be </a:t>
            </a:r>
            <a:r>
              <a:rPr lang="en-US" u="sng" dirty="0"/>
              <a:t>impossible to tune the system to meet non-functional requirements</a:t>
            </a:r>
            <a:r>
              <a:rPr lang="en-US" dirty="0"/>
              <a:t>;</a:t>
            </a:r>
          </a:p>
          <a:p>
            <a:pPr lvl="1" algn="just"/>
            <a:r>
              <a:rPr lang="en-US" dirty="0"/>
              <a:t>Prototypes are </a:t>
            </a:r>
            <a:r>
              <a:rPr lang="en-US" u="sng" dirty="0"/>
              <a:t>normally undocumented</a:t>
            </a:r>
            <a:r>
              <a:rPr lang="en-US" dirty="0"/>
              <a:t>;</a:t>
            </a:r>
          </a:p>
          <a:p>
            <a:pPr lvl="1" algn="just"/>
            <a:r>
              <a:rPr lang="en-US" dirty="0"/>
              <a:t>The </a:t>
            </a:r>
            <a:r>
              <a:rPr lang="en-US" u="sng" dirty="0"/>
              <a:t>prototype structure is usually degraded through rapid change</a:t>
            </a:r>
            <a:r>
              <a:rPr lang="en-US" dirty="0"/>
              <a:t>; so, it is not good to proceed further with the prototype.</a:t>
            </a:r>
          </a:p>
          <a:p>
            <a:pPr lvl="1" algn="just"/>
            <a:r>
              <a:rPr lang="en-US" dirty="0"/>
              <a:t>The </a:t>
            </a:r>
            <a:r>
              <a:rPr lang="en-US" u="sng" dirty="0"/>
              <a:t>prototype probably will not meet normal organizational quality standards</a:t>
            </a:r>
            <a:r>
              <a:rPr lang="en-US" dirty="0"/>
              <a:t>.(as it may have lesser response time, no error handling and all)</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AA58AC3-0F48-49D6-9D17-68313FDDBBA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6475737"/>
      </p:ext>
    </p:extLst>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GB"/>
              <a:t>Incremental delivery</a:t>
            </a:r>
          </a:p>
        </p:txBody>
      </p:sp>
      <p:sp>
        <p:nvSpPr>
          <p:cNvPr id="108547" name="Rectangle 3"/>
          <p:cNvSpPr>
            <a:spLocks noGrp="1" noChangeArrowheads="1"/>
          </p:cNvSpPr>
          <p:nvPr>
            <p:ph idx="1"/>
          </p:nvPr>
        </p:nvSpPr>
        <p:spPr/>
        <p:txBody>
          <a:bodyPr/>
          <a:lstStyle/>
          <a:p>
            <a:pPr algn="just"/>
            <a:r>
              <a:rPr lang="en-GB" dirty="0"/>
              <a:t>Rather than deliver the system as a single delivery, the </a:t>
            </a:r>
            <a:r>
              <a:rPr lang="en-GB" b="1" dirty="0"/>
              <a:t>software development and delivery is broken down into increments, with each increment delivering part of the required functionality.</a:t>
            </a:r>
          </a:p>
          <a:p>
            <a:pPr algn="just"/>
            <a:r>
              <a:rPr lang="en-GB" b="1" dirty="0"/>
              <a:t>User requirements are prioritized by user himself</a:t>
            </a:r>
          </a:p>
          <a:p>
            <a:pPr algn="just"/>
            <a:r>
              <a:rPr lang="en-GB" dirty="0"/>
              <a:t>and </a:t>
            </a:r>
            <a:r>
              <a:rPr lang="en-GB" b="1" dirty="0"/>
              <a:t>the highest priority requirements </a:t>
            </a:r>
            <a:r>
              <a:rPr lang="en-GB" dirty="0"/>
              <a:t>are included </a:t>
            </a:r>
            <a:r>
              <a:rPr lang="en-GB" b="1" dirty="0"/>
              <a:t>in early increments.</a:t>
            </a:r>
          </a:p>
          <a:p>
            <a:pPr algn="just"/>
            <a:r>
              <a:rPr lang="en-GB" dirty="0"/>
              <a:t>When an </a:t>
            </a:r>
            <a:r>
              <a:rPr lang="en-GB" b="1" dirty="0"/>
              <a:t>increment is under development then its requirements are frozen.</a:t>
            </a:r>
          </a:p>
          <a:p>
            <a:pPr algn="just"/>
            <a:r>
              <a:rPr lang="en-GB" dirty="0"/>
              <a:t>though requirements for later increments can continue to evolve.</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5AD7D46-0149-4FC6-8141-B7DAA9409BA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663553028"/>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development and delivery</a:t>
            </a:r>
          </a:p>
        </p:txBody>
      </p:sp>
      <p:sp>
        <p:nvSpPr>
          <p:cNvPr id="3" name="Content Placeholder 2"/>
          <p:cNvSpPr>
            <a:spLocks noGrp="1"/>
          </p:cNvSpPr>
          <p:nvPr>
            <p:ph idx="1"/>
          </p:nvPr>
        </p:nvSpPr>
        <p:spPr/>
        <p:txBody>
          <a:bodyPr/>
          <a:lstStyle/>
          <a:p>
            <a:r>
              <a:rPr lang="en-US" dirty="0"/>
              <a:t>Incremental development</a:t>
            </a:r>
          </a:p>
          <a:p>
            <a:pPr lvl="1"/>
            <a:r>
              <a:rPr lang="en-US" b="1" dirty="0"/>
              <a:t>Develop the system in increments </a:t>
            </a:r>
          </a:p>
          <a:p>
            <a:pPr lvl="1"/>
            <a:r>
              <a:rPr lang="en-US" b="1" dirty="0"/>
              <a:t>and evaluate each increment before proceeding to the development of the next increment</a:t>
            </a:r>
            <a:r>
              <a:rPr lang="en-US" dirty="0"/>
              <a:t>;</a:t>
            </a:r>
          </a:p>
          <a:p>
            <a:pPr lvl="1"/>
            <a:r>
              <a:rPr lang="en-US" dirty="0"/>
              <a:t>Normal approach </a:t>
            </a:r>
            <a:r>
              <a:rPr lang="en-US" b="1" dirty="0"/>
              <a:t>used in agile methods</a:t>
            </a:r>
            <a:r>
              <a:rPr lang="en-US" dirty="0"/>
              <a:t>;</a:t>
            </a:r>
          </a:p>
          <a:p>
            <a:pPr lvl="1"/>
            <a:r>
              <a:rPr lang="en-US" dirty="0"/>
              <a:t>Evaluation is done by user/customer.</a:t>
            </a:r>
          </a:p>
          <a:p>
            <a:r>
              <a:rPr lang="en-US" dirty="0"/>
              <a:t>Incremental delivery</a:t>
            </a:r>
          </a:p>
          <a:p>
            <a:pPr lvl="1"/>
            <a:r>
              <a:rPr lang="en-US" b="1" dirty="0"/>
              <a:t>Deploy an increment for use by end-users</a:t>
            </a:r>
            <a:r>
              <a:rPr lang="en-US" dirty="0"/>
              <a:t>;</a:t>
            </a:r>
          </a:p>
          <a:p>
            <a:pPr lvl="1"/>
            <a:r>
              <a:rPr lang="en-US" dirty="0"/>
              <a:t>More </a:t>
            </a:r>
            <a:r>
              <a:rPr lang="en-US" b="1" dirty="0"/>
              <a:t>realistic evaluation about practical use of software</a:t>
            </a:r>
            <a:r>
              <a:rPr lang="en-US" dirty="0"/>
              <a:t>;</a:t>
            </a:r>
          </a:p>
          <a:p>
            <a:pPr marL="457200" lvl="1" indent="0">
              <a:buNone/>
            </a:pPr>
            <a:endParaRPr lang="en-US" dirty="0"/>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8C1C4F5-FC76-4E89-84A4-D1FEC8DEE87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800470820"/>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r>
              <a:rPr lang="en-GB" dirty="0"/>
              <a:t>Incremental delivery </a:t>
            </a:r>
            <a:endParaRPr lang="en-US" dirty="0"/>
          </a:p>
        </p:txBody>
      </p:sp>
      <p:sp>
        <p:nvSpPr>
          <p:cNvPr id="7" name="Slide Number Placeholder 6"/>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4" name="Picture 3" descr="2.10 Incremental-delivery.eps"/>
          <p:cNvPicPr>
            <a:picLocks noChangeAspect="1"/>
          </p:cNvPicPr>
          <p:nvPr/>
        </p:nvPicPr>
        <p:blipFill>
          <a:blip r:embed="rId2"/>
          <a:stretch>
            <a:fillRect/>
          </a:stretch>
        </p:blipFill>
        <p:spPr>
          <a:xfrm>
            <a:off x="1194758" y="2007321"/>
            <a:ext cx="9802483" cy="4125402"/>
          </a:xfrm>
          <a:prstGeom prst="rect">
            <a:avLst/>
          </a:prstGeom>
        </p:spPr>
      </p:pic>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F7BF582-F7ED-4957-905A-B4C2B83346A4}"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62375772"/>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GB" dirty="0"/>
              <a:t>Incremental delivery advantages</a:t>
            </a:r>
          </a:p>
        </p:txBody>
      </p:sp>
      <p:sp>
        <p:nvSpPr>
          <p:cNvPr id="109571" name="Rectangle 3"/>
          <p:cNvSpPr>
            <a:spLocks noGrp="1" noChangeArrowheads="1"/>
          </p:cNvSpPr>
          <p:nvPr>
            <p:ph idx="1"/>
          </p:nvPr>
        </p:nvSpPr>
        <p:spPr/>
        <p:txBody>
          <a:bodyPr/>
          <a:lstStyle/>
          <a:p>
            <a:pPr algn="just"/>
            <a:r>
              <a:rPr lang="en-GB" b="1" dirty="0"/>
              <a:t>Early increments act as a prototype to help elicit requirements for later increments</a:t>
            </a:r>
            <a:r>
              <a:rPr lang="en-GB" dirty="0"/>
              <a:t>.</a:t>
            </a:r>
          </a:p>
          <a:p>
            <a:pPr algn="just"/>
            <a:r>
              <a:rPr lang="en-GB" b="1" dirty="0"/>
              <a:t>Lower risk of </a:t>
            </a:r>
            <a:r>
              <a:rPr lang="en-GB" dirty="0"/>
              <a:t>overall </a:t>
            </a:r>
            <a:r>
              <a:rPr lang="en-GB" b="1" dirty="0"/>
              <a:t>project failure</a:t>
            </a:r>
            <a:r>
              <a:rPr lang="en-GB" dirty="0"/>
              <a:t>.</a:t>
            </a:r>
          </a:p>
          <a:p>
            <a:pPr algn="just"/>
            <a:r>
              <a:rPr lang="en-GB" b="1" dirty="0"/>
              <a:t>The highest priority system services tend to receive the most testing</a:t>
            </a:r>
            <a:r>
              <a:rPr lang="en-GB" dirty="0"/>
              <a:t>. As the first increment is a highly prioritized system that will be tested with every later increment.</a:t>
            </a:r>
          </a:p>
        </p:txBody>
      </p:sp>
      <p:sp>
        <p:nvSpPr>
          <p:cNvPr id="6" name="Slide Number Placeholder 5"/>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E846C85-6F8B-4D63-B8CD-094A3D710EB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524804059"/>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Incremental delivery problems</a:t>
            </a:r>
          </a:p>
        </p:txBody>
      </p:sp>
      <p:sp>
        <p:nvSpPr>
          <p:cNvPr id="3" name="Content Placeholder 2"/>
          <p:cNvSpPr>
            <a:spLocks noGrp="1"/>
          </p:cNvSpPr>
          <p:nvPr>
            <p:ph idx="1"/>
          </p:nvPr>
        </p:nvSpPr>
        <p:spPr>
          <a:xfrm>
            <a:off x="609599" y="1600201"/>
            <a:ext cx="10794521" cy="4525963"/>
          </a:xfrm>
        </p:spPr>
        <p:txBody>
          <a:bodyPr/>
          <a:lstStyle/>
          <a:p>
            <a:pPr algn="just"/>
            <a:r>
              <a:rPr lang="en-GB" b="1" dirty="0"/>
              <a:t>dependence between increments</a:t>
            </a:r>
            <a:endParaRPr lang="en-GB" dirty="0"/>
          </a:p>
          <a:p>
            <a:pPr lvl="1" algn="just"/>
            <a:r>
              <a:rPr lang="en-GB" dirty="0"/>
              <a:t>Difficult to detect as requirements are still evolving</a:t>
            </a:r>
          </a:p>
          <a:p>
            <a:pPr lvl="1" algn="just"/>
            <a:endParaRPr lang="en-GB" dirty="0"/>
          </a:p>
          <a:p>
            <a:pPr algn="just"/>
            <a:r>
              <a:rPr lang="en-GB" b="1" dirty="0"/>
              <a:t>Developing the contract for application is not possible </a:t>
            </a:r>
            <a:endParaRPr lang="en-GB" dirty="0"/>
          </a:p>
          <a:p>
            <a:pPr lvl="1" algn="just"/>
            <a:r>
              <a:rPr lang="en-GB" dirty="0"/>
              <a:t>Might lead to budgetary issues</a:t>
            </a:r>
          </a:p>
          <a:p>
            <a:pPr lvl="1" algn="just"/>
            <a:r>
              <a:rPr lang="en-GB" dirty="0"/>
              <a:t>Specification developed in conjunction with the software</a:t>
            </a:r>
          </a:p>
          <a:p>
            <a:pPr marL="0" indent="0" algn="just">
              <a:buNone/>
            </a:pPr>
            <a:endParaRPr lang="en-US" dirty="0"/>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27803A5-0A04-4CC9-A560-0C244AB7C48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2/2/2026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17348930"/>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327804"/>
            <a:ext cx="8229600" cy="1143000"/>
          </a:xfrm>
        </p:spPr>
        <p:txBody>
          <a:bodyPr/>
          <a:lstStyle/>
          <a:p>
            <a:pPr algn="ctr"/>
            <a:r>
              <a:rPr lang="en-US" dirty="0"/>
              <a:t>Software Process improvement</a:t>
            </a:r>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0EAD4EF-A909-43C6-AABA-D1AC326BA73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467826966"/>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improvement</a:t>
            </a:r>
          </a:p>
        </p:txBody>
      </p:sp>
      <p:sp>
        <p:nvSpPr>
          <p:cNvPr id="3" name="Content Placeholder 2"/>
          <p:cNvSpPr>
            <a:spLocks noGrp="1"/>
          </p:cNvSpPr>
          <p:nvPr>
            <p:ph idx="1"/>
          </p:nvPr>
        </p:nvSpPr>
        <p:spPr>
          <a:xfrm>
            <a:off x="609600" y="1417639"/>
            <a:ext cx="10972800" cy="956446"/>
          </a:xfrm>
        </p:spPr>
        <p:txBody>
          <a:bodyPr/>
          <a:lstStyle/>
          <a:p>
            <a:r>
              <a:rPr lang="en-US" dirty="0"/>
              <a:t>For a newly developed Software house, With so many software rivalries in industry…. How to compete and make your place</a:t>
            </a:r>
          </a:p>
          <a:p>
            <a:r>
              <a:rPr lang="en-US" dirty="0"/>
              <a:t>3 main challenges for software houses:</a:t>
            </a:r>
          </a:p>
          <a:p>
            <a:pPr lvl="1"/>
            <a:r>
              <a:rPr lang="en-US" dirty="0"/>
              <a:t>cheaper software, </a:t>
            </a:r>
          </a:p>
          <a:p>
            <a:pPr lvl="1"/>
            <a:r>
              <a:rPr lang="en-US" dirty="0"/>
              <a:t>better software, </a:t>
            </a:r>
          </a:p>
          <a:p>
            <a:pPr lvl="1"/>
            <a:r>
              <a:rPr lang="en-US" dirty="0"/>
              <a:t>delivered with much tighter deadlines</a:t>
            </a:r>
          </a:p>
          <a:p>
            <a:r>
              <a:rPr lang="en-US" dirty="0"/>
              <a:t>Solution:</a:t>
            </a:r>
          </a:p>
          <a:p>
            <a:pPr lvl="1"/>
            <a:r>
              <a:rPr lang="en-US" dirty="0"/>
              <a:t>Deliver</a:t>
            </a:r>
            <a:r>
              <a:rPr lang="en-US" b="1" dirty="0"/>
              <a:t> quality product,</a:t>
            </a:r>
          </a:p>
          <a:p>
            <a:pPr lvl="1"/>
            <a:r>
              <a:rPr lang="en-US" dirty="0"/>
              <a:t>With </a:t>
            </a:r>
            <a:r>
              <a:rPr lang="en-US" b="1" dirty="0"/>
              <a:t>reduced costs</a:t>
            </a:r>
          </a:p>
          <a:p>
            <a:pPr lvl="1"/>
            <a:r>
              <a:rPr lang="en-US" dirty="0"/>
              <a:t>And to </a:t>
            </a:r>
            <a:r>
              <a:rPr lang="en-US" b="1" dirty="0"/>
              <a:t>accelerate their development processes to meet deadlines</a:t>
            </a:r>
            <a:r>
              <a:rPr lang="en-US" dirty="0"/>
              <a:t>. </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AABDA08-6157-417F-A65C-5B35D87F18A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34271260"/>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improvement</a:t>
            </a:r>
          </a:p>
        </p:txBody>
      </p:sp>
      <p:sp>
        <p:nvSpPr>
          <p:cNvPr id="3" name="Content Placeholder 2"/>
          <p:cNvSpPr>
            <a:spLocks noGrp="1"/>
          </p:cNvSpPr>
          <p:nvPr>
            <p:ph idx="1"/>
          </p:nvPr>
        </p:nvSpPr>
        <p:spPr>
          <a:xfrm>
            <a:off x="609600" y="1417638"/>
            <a:ext cx="10972800" cy="4525963"/>
          </a:xfrm>
        </p:spPr>
        <p:txBody>
          <a:bodyPr/>
          <a:lstStyle/>
          <a:p>
            <a:endParaRPr lang="en-US" b="1" dirty="0"/>
          </a:p>
          <a:p>
            <a:endParaRPr lang="en-US" b="1" dirty="0"/>
          </a:p>
          <a:p>
            <a:r>
              <a:rPr lang="en-US" b="1" dirty="0"/>
              <a:t>Software Process improvement </a:t>
            </a:r>
            <a:r>
              <a:rPr lang="en-US" dirty="0"/>
              <a:t>means:</a:t>
            </a:r>
          </a:p>
          <a:p>
            <a:pPr lvl="1"/>
            <a:r>
              <a:rPr lang="en-US" b="1" dirty="0"/>
              <a:t>understanding existing processes </a:t>
            </a:r>
          </a:p>
          <a:p>
            <a:pPr lvl="1"/>
            <a:r>
              <a:rPr lang="en-US" dirty="0"/>
              <a:t>and </a:t>
            </a:r>
            <a:r>
              <a:rPr lang="en-US" b="1" dirty="0"/>
              <a:t>changing these processes to increase product quality</a:t>
            </a:r>
          </a:p>
          <a:p>
            <a:pPr lvl="1"/>
            <a:r>
              <a:rPr lang="en-US" dirty="0"/>
              <a:t>and/or </a:t>
            </a:r>
            <a:r>
              <a:rPr lang="en-US" b="1" dirty="0"/>
              <a:t>reduce costs and development time</a:t>
            </a:r>
            <a:r>
              <a:rPr lang="en-US" dirty="0"/>
              <a:t>. </a:t>
            </a:r>
            <a:endParaRPr lang="en-GB" dirty="0"/>
          </a:p>
          <a:p>
            <a:endParaRPr lang="en-US"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2E06FF0-7A31-4FEB-B10E-EEA48443875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976595128"/>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Approaches to improvement</a:t>
            </a:r>
          </a:p>
        </p:txBody>
      </p:sp>
      <p:sp>
        <p:nvSpPr>
          <p:cNvPr id="3" name="Content Placeholder 2"/>
          <p:cNvSpPr>
            <a:spLocks noGrp="1"/>
          </p:cNvSpPr>
          <p:nvPr>
            <p:ph idx="1"/>
          </p:nvPr>
        </p:nvSpPr>
        <p:spPr/>
        <p:txBody>
          <a:bodyPr/>
          <a:lstStyle/>
          <a:p>
            <a:endParaRPr lang="en-US" dirty="0"/>
          </a:p>
          <a:p>
            <a:r>
              <a:rPr lang="en-US" dirty="0"/>
              <a:t>The process maturity approach:</a:t>
            </a:r>
          </a:p>
          <a:p>
            <a:pPr lvl="1"/>
            <a:r>
              <a:rPr lang="en-US" dirty="0"/>
              <a:t>Focus on </a:t>
            </a:r>
            <a:r>
              <a:rPr lang="en-US" b="1" dirty="0"/>
              <a:t>improving process and project management </a:t>
            </a:r>
          </a:p>
          <a:p>
            <a:pPr lvl="1"/>
            <a:r>
              <a:rPr lang="en-US" dirty="0"/>
              <a:t>and </a:t>
            </a:r>
            <a:r>
              <a:rPr lang="en-US" b="1" dirty="0"/>
              <a:t>introduces good software engineering practice </a:t>
            </a:r>
            <a:r>
              <a:rPr lang="en-US" dirty="0"/>
              <a:t>into organizations. </a:t>
            </a:r>
          </a:p>
          <a:p>
            <a:pPr lvl="1"/>
            <a:r>
              <a:rPr lang="en-US" b="1" dirty="0"/>
              <a:t>Defined process maturity levels </a:t>
            </a:r>
            <a:r>
              <a:rPr lang="en-US" dirty="0"/>
              <a:t>to measure the reputation of an organization.</a:t>
            </a:r>
          </a:p>
          <a:p>
            <a:pPr lvl="1"/>
            <a:r>
              <a:rPr lang="en-US" dirty="0"/>
              <a:t>Higher the level of process maturity</a:t>
            </a:r>
            <a:r>
              <a:rPr lang="en-US" b="1" dirty="0"/>
              <a:t> = </a:t>
            </a:r>
            <a:r>
              <a:rPr lang="en-US" dirty="0"/>
              <a:t>good technical and management practice adopted for software development processes. </a:t>
            </a:r>
          </a:p>
          <a:p>
            <a:pPr lvl="1"/>
            <a:r>
              <a:rPr lang="en-US" dirty="0"/>
              <a:t>Goals:</a:t>
            </a:r>
          </a:p>
          <a:p>
            <a:pPr lvl="2"/>
            <a:r>
              <a:rPr lang="en-US" dirty="0"/>
              <a:t>Improve product quality &amp; process predictability</a:t>
            </a:r>
          </a:p>
          <a:p>
            <a:r>
              <a:rPr lang="en-US" dirty="0"/>
              <a:t>Generally, for plan driven approaches</a:t>
            </a:r>
            <a:endParaRPr lang="en-GB" dirty="0"/>
          </a:p>
          <a:p>
            <a:pPr marL="0" indent="0">
              <a:buNone/>
            </a:pPr>
            <a:endParaRPr lang="en-US"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8233F49-41A0-4547-8BD6-73BE67C34D6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976351086"/>
      </p:ext>
    </p:extLst>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Approaches to improvement</a:t>
            </a:r>
          </a:p>
        </p:txBody>
      </p:sp>
      <p:sp>
        <p:nvSpPr>
          <p:cNvPr id="3" name="Content Placeholder 2"/>
          <p:cNvSpPr>
            <a:spLocks noGrp="1"/>
          </p:cNvSpPr>
          <p:nvPr>
            <p:ph idx="1"/>
          </p:nvPr>
        </p:nvSpPr>
        <p:spPr/>
        <p:txBody>
          <a:bodyPr/>
          <a:lstStyle/>
          <a:p>
            <a:r>
              <a:rPr lang="en-US" dirty="0"/>
              <a:t>The agile approach:</a:t>
            </a:r>
          </a:p>
          <a:p>
            <a:pPr lvl="1"/>
            <a:r>
              <a:rPr lang="en-US" dirty="0"/>
              <a:t>focuses on:</a:t>
            </a:r>
          </a:p>
          <a:p>
            <a:pPr lvl="2"/>
            <a:r>
              <a:rPr lang="en-US" b="1" dirty="0"/>
              <a:t>iterative development </a:t>
            </a:r>
          </a:p>
          <a:p>
            <a:pPr lvl="2"/>
            <a:r>
              <a:rPr lang="en-US" dirty="0"/>
              <a:t>and the </a:t>
            </a:r>
            <a:r>
              <a:rPr lang="en-US" b="1" dirty="0"/>
              <a:t>reduction of overheads in the software process</a:t>
            </a:r>
            <a:r>
              <a:rPr lang="en-US" dirty="0"/>
              <a:t>. </a:t>
            </a:r>
          </a:p>
          <a:p>
            <a:pPr lvl="1"/>
            <a:r>
              <a:rPr lang="en-US" dirty="0"/>
              <a:t>Characteristics:</a:t>
            </a:r>
          </a:p>
          <a:p>
            <a:pPr lvl="2"/>
            <a:r>
              <a:rPr lang="en-US" dirty="0"/>
              <a:t>rapid delivery of functionality </a:t>
            </a:r>
          </a:p>
          <a:p>
            <a:pPr lvl="2"/>
            <a:r>
              <a:rPr lang="en-US" dirty="0"/>
              <a:t>responsiveness to changing customer requirements.</a:t>
            </a:r>
          </a:p>
          <a:p>
            <a:r>
              <a:rPr lang="en-US" dirty="0"/>
              <a:t>Agile follows code development with minimal documentations overhead</a:t>
            </a:r>
          </a:p>
          <a:p>
            <a:pPr marL="914400" lvl="2" indent="0">
              <a:buNone/>
            </a:pPr>
            <a:endParaRPr lang="en-GB" dirty="0"/>
          </a:p>
          <a:p>
            <a:endParaRPr lang="en-US"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C773F671-EEE4-4411-A178-A84370357863}"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052816761"/>
      </p:ext>
    </p:extLst>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process improvement cycle</a:t>
            </a:r>
            <a:r>
              <a:rPr lang="en-GB" dirty="0"/>
              <a:t> </a:t>
            </a:r>
            <a:endParaRPr lang="en-US" dirty="0"/>
          </a:p>
        </p:txBody>
      </p:sp>
      <p:pic>
        <p:nvPicPr>
          <p:cNvPr id="4" name="Content Placeholder 3" descr="26.3 Process improvement.eps"/>
          <p:cNvPicPr>
            <a:picLocks noGrp="1" noChangeAspect="1"/>
          </p:cNvPicPr>
          <p:nvPr>
            <p:ph idx="1"/>
          </p:nvPr>
        </p:nvPicPr>
        <p:blipFill rotWithShape="1">
          <a:blip r:embed="rId3"/>
          <a:srcRect t="-5976" b="-2227"/>
          <a:stretch/>
        </p:blipFill>
        <p:spPr>
          <a:xfrm>
            <a:off x="3284332" y="1698510"/>
            <a:ext cx="4876799" cy="4110668"/>
          </a:xfrm>
        </p:spPr>
      </p:pic>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21CD9289-17E8-4A4D-9584-1B4E06B2689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TextBox 7">
            <a:extLst>
              <a:ext uri="{FF2B5EF4-FFF2-40B4-BE49-F238E27FC236}">
                <a16:creationId xmlns:a16="http://schemas.microsoft.com/office/drawing/2014/main" id="{80D96555-86BC-4C33-9A4B-731355F8F3DF}"/>
              </a:ext>
            </a:extLst>
          </p:cNvPr>
          <p:cNvSpPr txBox="1"/>
          <p:nvPr/>
        </p:nvSpPr>
        <p:spPr>
          <a:xfrm>
            <a:off x="411061" y="5809178"/>
            <a:ext cx="1159358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prstClr val="black"/>
                </a:solidFill>
                <a:effectLst/>
                <a:uLnTx/>
                <a:uFillTx/>
                <a:latin typeface="Calibri"/>
                <a:ea typeface="+mn-ea"/>
                <a:cs typeface="+mn-cs"/>
              </a:rPr>
              <a:t>Measure process -&gt; check if improvement would be feasible -&gt; do the change -&gt; measure the impact of changes on process  </a:t>
            </a:r>
          </a:p>
        </p:txBody>
      </p:sp>
    </p:spTree>
    <p:extLst>
      <p:ext uri="{BB962C8B-B14F-4D97-AF65-F5344CB8AC3E}">
        <p14:creationId xmlns:p14="http://schemas.microsoft.com/office/powerpoint/2010/main" val="4081771648"/>
      </p:ext>
    </p:extLst>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improvement activities</a:t>
            </a:r>
          </a:p>
        </p:txBody>
      </p:sp>
      <p:sp>
        <p:nvSpPr>
          <p:cNvPr id="3" name="Content Placeholder 2"/>
          <p:cNvSpPr>
            <a:spLocks noGrp="1"/>
          </p:cNvSpPr>
          <p:nvPr>
            <p:ph idx="1"/>
          </p:nvPr>
        </p:nvSpPr>
        <p:spPr>
          <a:xfrm>
            <a:off x="341153" y="1417638"/>
            <a:ext cx="11509694" cy="4983162"/>
          </a:xfrm>
        </p:spPr>
        <p:txBody>
          <a:bodyPr/>
          <a:lstStyle/>
          <a:p>
            <a:r>
              <a:rPr lang="en-US" i="1" dirty="0"/>
              <a:t>Process measurement (identify what to change)</a:t>
            </a:r>
          </a:p>
          <a:p>
            <a:pPr lvl="1" algn="just"/>
            <a:r>
              <a:rPr lang="en-US" dirty="0"/>
              <a:t>measure one/more attributes of the software process or product-&gt; </a:t>
            </a:r>
          </a:p>
          <a:p>
            <a:pPr lvl="1" algn="just"/>
            <a:r>
              <a:rPr lang="en-US" dirty="0"/>
              <a:t>Check if process improvement have been effective </a:t>
            </a:r>
            <a:r>
              <a:rPr lang="en-GB" dirty="0"/>
              <a:t>-&gt; do improvement -&gt; remeasure the impact after improvement</a:t>
            </a:r>
          </a:p>
          <a:p>
            <a:r>
              <a:rPr lang="en-US" i="1" dirty="0"/>
              <a:t>Process analysis</a:t>
            </a:r>
            <a:r>
              <a:rPr lang="en-US" dirty="0"/>
              <a:t> (assess weakness &amp; strengths)</a:t>
            </a:r>
          </a:p>
          <a:p>
            <a:pPr lvl="1"/>
            <a:r>
              <a:rPr lang="en-US" dirty="0"/>
              <a:t>The current </a:t>
            </a:r>
            <a:r>
              <a:rPr lang="en-US" b="1" dirty="0"/>
              <a:t>process is assessed</a:t>
            </a:r>
            <a:r>
              <a:rPr lang="en-US" dirty="0"/>
              <a:t>, and </a:t>
            </a:r>
            <a:r>
              <a:rPr lang="en-US" b="1" dirty="0"/>
              <a:t>process weaknesses and bottlenecks are identified.</a:t>
            </a:r>
            <a:r>
              <a:rPr lang="en-US" dirty="0"/>
              <a:t> </a:t>
            </a:r>
          </a:p>
          <a:p>
            <a:pPr lvl="1"/>
            <a:r>
              <a:rPr lang="en-US" dirty="0"/>
              <a:t>Process models (sometimes called process maps) that describe the process may be developed. </a:t>
            </a:r>
            <a:r>
              <a:rPr lang="en-GB" dirty="0"/>
              <a:t> </a:t>
            </a:r>
          </a:p>
          <a:p>
            <a:r>
              <a:rPr lang="en-US" i="1" dirty="0"/>
              <a:t>Process change(change the process)</a:t>
            </a:r>
          </a:p>
          <a:p>
            <a:pPr lvl="1"/>
            <a:r>
              <a:rPr lang="en-US" dirty="0"/>
              <a:t>Process changes are proposed to address some of the identified process weaknesses.</a:t>
            </a:r>
          </a:p>
          <a:p>
            <a:pPr lvl="1"/>
            <a:r>
              <a:rPr lang="en-US" dirty="0"/>
              <a:t>These are introduced and the cycle resumes to collect data about the effectiveness of the changes.</a:t>
            </a:r>
            <a:endParaRPr lang="en-GB" dirty="0"/>
          </a:p>
        </p:txBody>
      </p:sp>
      <p:sp>
        <p:nvSpPr>
          <p:cNvPr id="4" name="Footer Placeholder 3"/>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FD720AD-0A16-4141-82CA-5619F80A2BC8}"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6" name="Date Placeholder 5"/>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69B31F18-F9C0-4873-A648-670DD82A3A8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65801106"/>
      </p:ext>
    </p:extLst>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Process measurement</a:t>
            </a:r>
          </a:p>
        </p:txBody>
      </p:sp>
      <p:sp>
        <p:nvSpPr>
          <p:cNvPr id="32770" name="Rectangle 2"/>
          <p:cNvSpPr>
            <a:spLocks noGrp="1" noChangeArrowheads="1"/>
          </p:cNvSpPr>
          <p:nvPr>
            <p:ph idx="1"/>
          </p:nvPr>
        </p:nvSpPr>
        <p:spPr>
          <a:noFill/>
          <a:ln/>
        </p:spPr>
        <p:txBody>
          <a:bodyPr lIns="90487" tIns="44450" rIns="90487" bIns="44450"/>
          <a:lstStyle/>
          <a:p>
            <a:pPr algn="just"/>
            <a:r>
              <a:rPr lang="en-GB" dirty="0"/>
              <a:t>Wherever possible, quantitative process data should be collected</a:t>
            </a:r>
          </a:p>
          <a:p>
            <a:pPr lvl="1" algn="just"/>
            <a:r>
              <a:rPr lang="en-GB" dirty="0"/>
              <a:t>However, where organisations do not have clearly defined process standards this is very difficult as you don’t know what to measure. A process may have to be defined before any measurement is possible.</a:t>
            </a:r>
          </a:p>
          <a:p>
            <a:pPr algn="just"/>
            <a:r>
              <a:rPr lang="en-GB" dirty="0"/>
              <a:t>Process measurements should be used to assess process improvements</a:t>
            </a:r>
          </a:p>
          <a:p>
            <a:pPr lvl="1" algn="just"/>
            <a:r>
              <a:rPr lang="en-GB" dirty="0"/>
              <a:t>But this does not mean that measurements should drive the improvements. The improvement driver should be the organizational objectives.</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92520390-168D-4922-945B-9D4770635396}"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850588756"/>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Process metrics</a:t>
            </a:r>
          </a:p>
        </p:txBody>
      </p:sp>
      <p:sp>
        <p:nvSpPr>
          <p:cNvPr id="34818" name="Rectangle 2"/>
          <p:cNvSpPr>
            <a:spLocks noGrp="1" noChangeArrowheads="1"/>
          </p:cNvSpPr>
          <p:nvPr>
            <p:ph idx="1"/>
          </p:nvPr>
        </p:nvSpPr>
        <p:spPr>
          <a:noFill/>
          <a:ln/>
        </p:spPr>
        <p:txBody>
          <a:bodyPr lIns="90487" tIns="44450" rIns="90487" bIns="44450"/>
          <a:lstStyle/>
          <a:p>
            <a:r>
              <a:rPr lang="en-GB" dirty="0"/>
              <a:t>Time taken for process activities to be completed</a:t>
            </a:r>
          </a:p>
          <a:p>
            <a:pPr lvl="1"/>
            <a:r>
              <a:rPr lang="en-GB" dirty="0"/>
              <a:t>E.g. Calendar time or effort to complete an activity or process.</a:t>
            </a:r>
          </a:p>
          <a:p>
            <a:r>
              <a:rPr lang="en-GB" dirty="0"/>
              <a:t>Resources required for processes or activities</a:t>
            </a:r>
          </a:p>
          <a:p>
            <a:pPr lvl="1"/>
            <a:r>
              <a:rPr lang="en-GB" dirty="0"/>
              <a:t>E.g. Total effort in person-days.</a:t>
            </a:r>
          </a:p>
          <a:p>
            <a:r>
              <a:rPr lang="en-GB" dirty="0"/>
              <a:t>Number of occurrences of a particular event</a:t>
            </a:r>
          </a:p>
          <a:p>
            <a:pPr lvl="1"/>
            <a:r>
              <a:rPr lang="en-GB" dirty="0"/>
              <a:t>E.g. Number of defects discovered.</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740EBA4-2B3D-423B-827D-E67A5CF0FA3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333793378"/>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SEI Capability maturity levels</a:t>
            </a:r>
            <a:endParaRPr lang="en-US" dirty="0"/>
          </a:p>
        </p:txBody>
      </p:sp>
      <p:pic>
        <p:nvPicPr>
          <p:cNvPr id="4" name="Content Placeholder 3" descr="26.10 StagesCMMI.eps"/>
          <p:cNvPicPr>
            <a:picLocks noGrp="1" noChangeAspect="1"/>
          </p:cNvPicPr>
          <p:nvPr>
            <p:ph idx="1"/>
          </p:nvPr>
        </p:nvPicPr>
        <p:blipFill rotWithShape="1">
          <a:blip r:embed="rId2"/>
          <a:srcRect t="-12585" b="-4028"/>
          <a:stretch/>
        </p:blipFill>
        <p:spPr>
          <a:xfrm>
            <a:off x="5471754" y="1423775"/>
            <a:ext cx="6048935" cy="4534571"/>
          </a:xfrm>
        </p:spPr>
      </p:pic>
      <p:sp>
        <p:nvSpPr>
          <p:cNvPr id="6" name="Footer Placeholder 5"/>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5" name="Slide Number Placeholder 4"/>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D4756B69-021E-4302-9968-4D8C6D4124C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TextBox 6">
            <a:extLst>
              <a:ext uri="{FF2B5EF4-FFF2-40B4-BE49-F238E27FC236}">
                <a16:creationId xmlns:a16="http://schemas.microsoft.com/office/drawing/2014/main" id="{A7A8607F-5E9F-4CB6-A886-BDAEDDFB03FA}"/>
              </a:ext>
            </a:extLst>
          </p:cNvPr>
          <p:cNvSpPr txBox="1"/>
          <p:nvPr/>
        </p:nvSpPr>
        <p:spPr>
          <a:xfrm>
            <a:off x="337488" y="1701893"/>
            <a:ext cx="8767313" cy="1846659"/>
          </a:xfrm>
          <a:prstGeom prst="rect">
            <a:avLst/>
          </a:prstGeom>
          <a:noFill/>
        </p:spPr>
        <p:txBody>
          <a:bodyPr wrap="square" rtlCol="0">
            <a:spAutoFit/>
          </a:bodyPr>
          <a:lstStyle/>
          <a:p>
            <a:pPr marL="342900" marR="0" lvl="0" indent="-342900" algn="l" defTabSz="457200" rtl="0" eaLnBrk="1" fontAlgn="base" latinLnBrk="0" hangingPunct="1">
              <a:lnSpc>
                <a:spcPct val="100000"/>
              </a:lnSpc>
              <a:spcBef>
                <a:spcPts val="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dirty="0">
                <a:ln>
                  <a:noFill/>
                </a:ln>
                <a:solidFill>
                  <a:srgbClr val="46424D"/>
                </a:solidFill>
                <a:effectLst/>
                <a:uLnTx/>
                <a:uFillTx/>
                <a:latin typeface="Arial"/>
                <a:ea typeface="ＭＳ Ｐゴシック" charset="-128"/>
                <a:cs typeface="Arial"/>
              </a:rPr>
              <a:t>Rates the maturity of an organization over 5-point scale</a:t>
            </a:r>
          </a:p>
          <a:p>
            <a:pPr marL="342900" marR="0" lvl="0" indent="-342900" algn="l" defTabSz="457200" rtl="0" eaLnBrk="1" fontAlgn="base" latinLnBrk="0" hangingPunct="1">
              <a:lnSpc>
                <a:spcPct val="100000"/>
              </a:lnSpc>
              <a:spcBef>
                <a:spcPts val="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dirty="0">
                <a:ln>
                  <a:noFill/>
                </a:ln>
                <a:solidFill>
                  <a:srgbClr val="46424D"/>
                </a:solidFill>
                <a:effectLst/>
                <a:uLnTx/>
                <a:uFillTx/>
                <a:latin typeface="Arial"/>
                <a:ea typeface="ＭＳ Ｐゴシック" charset="-128"/>
                <a:cs typeface="Arial"/>
              </a:rPr>
              <a:t>Not a software process model.</a:t>
            </a:r>
          </a:p>
          <a:p>
            <a:pPr marL="342900" marR="0" lvl="0" indent="-342900" algn="l" defTabSz="457200" rtl="0" eaLnBrk="1" fontAlgn="base" latinLnBrk="0" hangingPunct="1">
              <a:lnSpc>
                <a:spcPct val="100000"/>
              </a:lnSpc>
              <a:spcBef>
                <a:spcPts val="0"/>
              </a:spcBef>
              <a:spcAft>
                <a:spcPts val="0"/>
              </a:spcAft>
              <a:buClrTx/>
              <a:buSzTx/>
              <a:buFont typeface="Wingdings" panose="05000000000000000000" pitchFamily="2" charset="2"/>
              <a:buChar char="v"/>
              <a:tabLst/>
              <a:defRPr/>
            </a:pPr>
            <a:r>
              <a:rPr kumimoji="0" lang="en-US" sz="2400" b="0" i="0" u="none" strike="noStrike" kern="1200" cap="none" spc="0" normalizeH="0" baseline="0" noProof="0" dirty="0">
                <a:ln>
                  <a:noFill/>
                </a:ln>
                <a:solidFill>
                  <a:srgbClr val="46424D"/>
                </a:solidFill>
                <a:effectLst/>
                <a:uLnTx/>
                <a:uFillTx/>
                <a:latin typeface="Arial"/>
                <a:ea typeface="ＭＳ Ｐゴシック" charset="-128"/>
                <a:cs typeface="Arial"/>
              </a:rPr>
              <a:t>Provides a mean of measuring how well an organization manages to accomplish the tasks.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7734668"/>
      </p:ext>
    </p:extLst>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title"/>
          </p:nvPr>
        </p:nvSpPr>
        <p:spPr/>
        <p:txBody>
          <a:bodyPr/>
          <a:lstStyle/>
          <a:p>
            <a:r>
              <a:rPr lang="en-GB" dirty="0"/>
              <a:t>CMM initial stage</a:t>
            </a:r>
          </a:p>
        </p:txBody>
      </p:sp>
      <p:sp>
        <p:nvSpPr>
          <p:cNvPr id="43010" name="Rectangle 2"/>
          <p:cNvSpPr>
            <a:spLocks noGrp="1" noChangeArrowheads="1"/>
          </p:cNvSpPr>
          <p:nvPr>
            <p:ph idx="1"/>
          </p:nvPr>
        </p:nvSpPr>
        <p:spPr/>
        <p:txBody>
          <a:bodyPr/>
          <a:lstStyle/>
          <a:p>
            <a:r>
              <a:rPr lang="en-GB" dirty="0"/>
              <a:t>Initial</a:t>
            </a:r>
          </a:p>
          <a:p>
            <a:pPr lvl="1"/>
            <a:r>
              <a:rPr lang="en-GB" dirty="0"/>
              <a:t>Generally, the starting point of any software organization</a:t>
            </a:r>
          </a:p>
          <a:p>
            <a:pPr lvl="1"/>
            <a:r>
              <a:rPr lang="en-GB" dirty="0"/>
              <a:t>Unmanaged work</a:t>
            </a:r>
          </a:p>
          <a:p>
            <a:pPr lvl="1"/>
            <a:r>
              <a:rPr lang="en-GB" dirty="0"/>
              <a:t>No proper software documentation</a:t>
            </a:r>
          </a:p>
          <a:p>
            <a:pPr lvl="1"/>
            <a:r>
              <a:rPr lang="en-GB" dirty="0"/>
              <a:t>No effective project management plans (generally, opt build and fix models)</a:t>
            </a:r>
          </a:p>
          <a:p>
            <a:pPr lvl="1"/>
            <a:r>
              <a:rPr lang="en-GB" dirty="0"/>
              <a:t>No cost estimation</a:t>
            </a:r>
          </a:p>
          <a:p>
            <a:pPr lvl="1"/>
            <a:r>
              <a:rPr lang="en-GB" dirty="0"/>
              <a:t>Vast majority of the organizations are at this level</a:t>
            </a:r>
          </a:p>
          <a:p>
            <a:pPr lvl="1"/>
            <a:r>
              <a:rPr lang="en-GB" dirty="0"/>
              <a:t>Challenges:</a:t>
            </a:r>
          </a:p>
          <a:p>
            <a:pPr lvl="2"/>
            <a:r>
              <a:rPr lang="en-GB" dirty="0"/>
              <a:t>Project management, planning and SQA</a:t>
            </a:r>
          </a:p>
          <a:p>
            <a:pPr marL="914400" lvl="2" indent="0">
              <a:buNone/>
            </a:pPr>
            <a:endParaRPr lang="en-GB" dirty="0"/>
          </a:p>
          <a:p>
            <a:pPr lvl="1"/>
            <a:endParaRPr lang="en-GB" dirty="0"/>
          </a:p>
          <a:p>
            <a:pPr lvl="1"/>
            <a:endParaRPr lang="en-GB" dirty="0"/>
          </a:p>
          <a:p>
            <a:pPr lvl="1"/>
            <a:endParaRPr lang="en-GB" dirty="0"/>
          </a:p>
          <a:p>
            <a:endParaRPr lang="en-GB" dirty="0"/>
          </a:p>
          <a:p>
            <a:pPr marL="0" indent="0">
              <a:buNone/>
            </a:pPr>
            <a:endParaRPr lang="en-GB"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AE5256A3-0DCE-4132-8482-3B7094468938}"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7" name="Content Placeholder 3" descr="26.10 StagesCMMI.eps"/>
          <p:cNvPicPr>
            <a:picLocks noChangeAspect="1"/>
          </p:cNvPicPr>
          <p:nvPr/>
        </p:nvPicPr>
        <p:blipFill rotWithShape="1">
          <a:blip r:embed="rId3"/>
          <a:srcRect t="-12585" b="-4028"/>
          <a:stretch/>
        </p:blipFill>
        <p:spPr>
          <a:xfrm>
            <a:off x="7828092" y="3500896"/>
            <a:ext cx="3654661" cy="2740361"/>
          </a:xfrm>
          <a:prstGeom prst="rect">
            <a:avLst/>
          </a:prstGeom>
        </p:spPr>
      </p:pic>
    </p:spTree>
    <p:extLst>
      <p:ext uri="{BB962C8B-B14F-4D97-AF65-F5344CB8AC3E}">
        <p14:creationId xmlns:p14="http://schemas.microsoft.com/office/powerpoint/2010/main" val="2719217490"/>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title"/>
          </p:nvPr>
        </p:nvSpPr>
        <p:spPr/>
        <p:txBody>
          <a:bodyPr/>
          <a:lstStyle/>
          <a:p>
            <a:r>
              <a:rPr lang="en-GB" dirty="0"/>
              <a:t>CMM Managed stage</a:t>
            </a:r>
          </a:p>
        </p:txBody>
      </p:sp>
      <p:sp>
        <p:nvSpPr>
          <p:cNvPr id="43010" name="Rectangle 2"/>
          <p:cNvSpPr>
            <a:spLocks noGrp="1" noChangeArrowheads="1"/>
          </p:cNvSpPr>
          <p:nvPr>
            <p:ph idx="1"/>
          </p:nvPr>
        </p:nvSpPr>
        <p:spPr/>
        <p:txBody>
          <a:bodyPr/>
          <a:lstStyle/>
          <a:p>
            <a:r>
              <a:rPr lang="en-GB" dirty="0"/>
              <a:t>Managed</a:t>
            </a:r>
          </a:p>
          <a:p>
            <a:pPr lvl="1"/>
            <a:r>
              <a:rPr lang="en-GB" dirty="0"/>
              <a:t>Goals associated with project are satisfied</a:t>
            </a:r>
          </a:p>
          <a:p>
            <a:pPr lvl="1"/>
            <a:r>
              <a:rPr lang="en-GB" dirty="0"/>
              <a:t>Defined organizational policies (when which process to be used?)</a:t>
            </a:r>
          </a:p>
          <a:p>
            <a:pPr lvl="1"/>
            <a:r>
              <a:rPr lang="en-GB" dirty="0"/>
              <a:t>Documented project plan with goals</a:t>
            </a:r>
          </a:p>
          <a:p>
            <a:pPr lvl="1"/>
            <a:r>
              <a:rPr lang="en-GB" dirty="0"/>
              <a:t>Resource management is properly done. (technology relevant task force) </a:t>
            </a:r>
          </a:p>
          <a:p>
            <a:pPr lvl="1"/>
            <a:r>
              <a:rPr lang="en-GB" dirty="0"/>
              <a:t>Generally working on same types of software</a:t>
            </a:r>
          </a:p>
          <a:p>
            <a:pPr marL="0" indent="0">
              <a:buNone/>
            </a:pPr>
            <a:endParaRPr lang="en-GB" dirty="0"/>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32B118C-A4AF-4B0D-A18D-ED93E5B875D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7" name="Content Placeholder 3" descr="26.10 StagesCMMI.eps"/>
          <p:cNvPicPr>
            <a:picLocks noChangeAspect="1"/>
          </p:cNvPicPr>
          <p:nvPr/>
        </p:nvPicPr>
        <p:blipFill rotWithShape="1">
          <a:blip r:embed="rId3"/>
          <a:srcRect t="-12585" b="-4028"/>
          <a:stretch/>
        </p:blipFill>
        <p:spPr>
          <a:xfrm>
            <a:off x="7828092" y="3500896"/>
            <a:ext cx="3654661" cy="2740361"/>
          </a:xfrm>
          <a:prstGeom prst="rect">
            <a:avLst/>
          </a:prstGeom>
        </p:spPr>
      </p:pic>
    </p:spTree>
    <p:extLst>
      <p:ext uri="{BB962C8B-B14F-4D97-AF65-F5344CB8AC3E}">
        <p14:creationId xmlns:p14="http://schemas.microsoft.com/office/powerpoint/2010/main" val="812935570"/>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title"/>
          </p:nvPr>
        </p:nvSpPr>
        <p:spPr/>
        <p:txBody>
          <a:bodyPr/>
          <a:lstStyle/>
          <a:p>
            <a:r>
              <a:rPr lang="en-GB" dirty="0"/>
              <a:t>The SEI capability maturity model</a:t>
            </a:r>
          </a:p>
        </p:txBody>
      </p:sp>
      <p:sp>
        <p:nvSpPr>
          <p:cNvPr id="43010" name="Rectangle 2"/>
          <p:cNvSpPr>
            <a:spLocks noGrp="1" noChangeArrowheads="1"/>
          </p:cNvSpPr>
          <p:nvPr>
            <p:ph idx="1"/>
          </p:nvPr>
        </p:nvSpPr>
        <p:spPr>
          <a:xfrm>
            <a:off x="609600" y="1417638"/>
            <a:ext cx="10972800" cy="4525963"/>
          </a:xfrm>
        </p:spPr>
        <p:txBody>
          <a:bodyPr/>
          <a:lstStyle/>
          <a:p>
            <a:r>
              <a:rPr lang="en-GB" dirty="0"/>
              <a:t>Defined</a:t>
            </a:r>
          </a:p>
          <a:p>
            <a:pPr lvl="1"/>
            <a:r>
              <a:rPr lang="en-GB" dirty="0"/>
              <a:t>Process management procedures and strategies defined and used</a:t>
            </a:r>
          </a:p>
          <a:p>
            <a:pPr lvl="1"/>
            <a:r>
              <a:rPr lang="en-GB" dirty="0"/>
              <a:t>Proper teamwork , teams created and hierarchy maintained</a:t>
            </a:r>
          </a:p>
          <a:p>
            <a:pPr lvl="1"/>
            <a:r>
              <a:rPr lang="en-GB" dirty="0"/>
              <a:t>Collaborative learning environment </a:t>
            </a:r>
          </a:p>
          <a:p>
            <a:r>
              <a:rPr lang="en-GB" dirty="0"/>
              <a:t>Quantitatively Managed</a:t>
            </a:r>
          </a:p>
          <a:p>
            <a:pPr lvl="1"/>
            <a:r>
              <a:rPr lang="en-GB" dirty="0"/>
              <a:t>Assess organizational performance.</a:t>
            </a:r>
          </a:p>
          <a:p>
            <a:pPr lvl="1"/>
            <a:r>
              <a:rPr lang="en-GB" dirty="0"/>
              <a:t>Better project management structures. </a:t>
            </a:r>
          </a:p>
          <a:p>
            <a:pPr lvl="1"/>
            <a:r>
              <a:rPr lang="en-GB" dirty="0"/>
              <a:t>Risk analysis and proactive approaches (what if a project fails?)</a:t>
            </a:r>
          </a:p>
          <a:p>
            <a:r>
              <a:rPr lang="en-GB" dirty="0"/>
              <a:t>Optimising</a:t>
            </a:r>
          </a:p>
          <a:p>
            <a:pPr lvl="1"/>
            <a:r>
              <a:rPr lang="en-GB" dirty="0"/>
              <a:t>Process improvement strategies defined and used.</a:t>
            </a:r>
          </a:p>
          <a:p>
            <a:pPr lvl="1"/>
            <a:r>
              <a:rPr lang="en-GB" dirty="0"/>
              <a:t>Increased adaption to newer trends </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94145A23-21F3-4EBF-80BE-37DECAC6412A}"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8" name="Content Placeholder 3" descr="26.10 StagesCMMI.eps"/>
          <p:cNvPicPr>
            <a:picLocks noChangeAspect="1"/>
          </p:cNvPicPr>
          <p:nvPr/>
        </p:nvPicPr>
        <p:blipFill rotWithShape="1">
          <a:blip r:embed="rId3"/>
          <a:srcRect t="-12585" b="-4028"/>
          <a:stretch/>
        </p:blipFill>
        <p:spPr>
          <a:xfrm>
            <a:off x="7927739" y="3409615"/>
            <a:ext cx="3654661" cy="2740361"/>
          </a:xfrm>
          <a:prstGeom prst="rect">
            <a:avLst/>
          </a:prstGeom>
        </p:spPr>
      </p:pic>
    </p:spTree>
    <p:extLst>
      <p:ext uri="{BB962C8B-B14F-4D97-AF65-F5344CB8AC3E}">
        <p14:creationId xmlns:p14="http://schemas.microsoft.com/office/powerpoint/2010/main" val="2507666563"/>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Case study 1</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EBA050C9-7ACE-45AC-90CF-3AE550B2671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7" name="Rectangle 2"/>
          <p:cNvSpPr txBox="1">
            <a:spLocks noChangeArrowheads="1"/>
          </p:cNvSpPr>
          <p:nvPr/>
        </p:nvSpPr>
        <p:spPr>
          <a:xfrm>
            <a:off x="398585" y="1608463"/>
            <a:ext cx="10972800" cy="3129310"/>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a:r>
              <a:rPr lang="en-US" dirty="0"/>
              <a:t>Norton </a:t>
            </a:r>
            <a:r>
              <a:rPr lang="en-US" dirty="0" err="1"/>
              <a:t>LifeLock</a:t>
            </a:r>
            <a:r>
              <a:rPr lang="en-US" dirty="0"/>
              <a:t> </a:t>
            </a:r>
            <a:r>
              <a:rPr lang="en-US" dirty="0" err="1"/>
              <a:t>Inc</a:t>
            </a:r>
            <a:r>
              <a:rPr lang="en-US" dirty="0"/>
              <a:t> is a standalone company dedicated to consumer cyber safety. They are the pioneers of some of the security solutions in different domains like endpoint security, information security. They also have a proper team structure for managing their workflow in projects. For clear understanding of the projects, they use prototyping approaches and define the sub activities of each process as well. Moreover, for better product development, they use different techniques to appropriately predict system performance.</a:t>
            </a:r>
          </a:p>
          <a:p>
            <a:pPr algn="just"/>
            <a:r>
              <a:rPr lang="en-US" dirty="0"/>
              <a:t>CMM level is 5 (optimized) as the organization is developing innovative solutions. Moreover, they have a proper team managed working environment. </a:t>
            </a:r>
            <a:endParaRPr lang="en-GB" dirty="0"/>
          </a:p>
        </p:txBody>
      </p:sp>
    </p:spTree>
    <p:extLst>
      <p:ext uri="{BB962C8B-B14F-4D97-AF65-F5344CB8AC3E}">
        <p14:creationId xmlns:p14="http://schemas.microsoft.com/office/powerpoint/2010/main" val="12931410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Case study 2</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53175FCE-6FA2-49F1-96B7-E3065DDDFAB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Content Placeholder 6"/>
          <p:cNvSpPr>
            <a:spLocks noGrp="1"/>
          </p:cNvSpPr>
          <p:nvPr>
            <p:ph idx="1"/>
          </p:nvPr>
        </p:nvSpPr>
        <p:spPr>
          <a:xfrm>
            <a:off x="609600" y="1730351"/>
            <a:ext cx="10972800" cy="4525963"/>
          </a:xfrm>
        </p:spPr>
        <p:txBody>
          <a:bodyPr/>
          <a:lstStyle/>
          <a:p>
            <a:pPr algn="just"/>
            <a:r>
              <a:rPr lang="en-US" dirty="0"/>
              <a:t>Everyday wear is a clothing brand that wants to enter the international market. They have done with logistics and other stuff and only thing that they need is an e-commerce application. They approached an organization named as coding hub to develop an application that could run on cell phones as well as desktops. They have some incomplete set of requirements that could be provided to coding Hub employees . Since Eid holidays are around the corner and they want to deploy some essential components by November.</a:t>
            </a:r>
          </a:p>
          <a:p>
            <a:pPr algn="just"/>
            <a:r>
              <a:rPr lang="en-US" dirty="0"/>
              <a:t>Level 3 – defined : as they are working on diverse applications (desktop &amp; mobile app)  </a:t>
            </a:r>
          </a:p>
          <a:p>
            <a:pPr marL="457200" lvl="1" indent="0" algn="just">
              <a:buNone/>
            </a:pPr>
            <a:endParaRPr lang="en-US" dirty="0"/>
          </a:p>
          <a:p>
            <a:pPr algn="just"/>
            <a:endParaRPr lang="en-US" dirty="0"/>
          </a:p>
        </p:txBody>
      </p:sp>
    </p:spTree>
    <p:extLst>
      <p:ext uri="{BB962C8B-B14F-4D97-AF65-F5344CB8AC3E}">
        <p14:creationId xmlns:p14="http://schemas.microsoft.com/office/powerpoint/2010/main" val="6212369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Case study 3</a:t>
            </a:r>
          </a:p>
        </p:txBody>
      </p:sp>
      <p:sp>
        <p:nvSpPr>
          <p:cNvPr id="5" name="Footer Placeholder 4"/>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A7105E6-DFF5-4768-97FA-310346925CA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9" name="Content Placeholder 5"/>
          <p:cNvSpPr>
            <a:spLocks noGrp="1"/>
          </p:cNvSpPr>
          <p:nvPr>
            <p:ph idx="1"/>
          </p:nvPr>
        </p:nvSpPr>
        <p:spPr>
          <a:xfrm>
            <a:off x="609600" y="1591600"/>
            <a:ext cx="10972800" cy="4525963"/>
          </a:xfrm>
        </p:spPr>
        <p:txBody>
          <a:bodyPr/>
          <a:lstStyle/>
          <a:p>
            <a:pPr algn="just"/>
            <a:r>
              <a:rPr lang="en-US" dirty="0"/>
              <a:t>ABC Co. is an organization that designs Smart Gadgets to make life easier. They have an organized working Environment having proper teams for different kinds of projects that provide smart home solutions. For getting the customer trust, they try to accommodate the possible changes in the system as much as possible. They have also calculated the associated risk for a  module and its occurrence in the system. At what level of Capability Maturity Model is ABC Co. operating. Give valid reasons for your answer.</a:t>
            </a:r>
          </a:p>
          <a:p>
            <a:pPr algn="just"/>
            <a:r>
              <a:rPr lang="en-US" dirty="0"/>
              <a:t>based on the information provided, it is likely that ABC Co. is operating at Level 4: quantitatively managed of the CMM, given their structured working environment and their ability to perform risk assessment for the project.</a:t>
            </a:r>
          </a:p>
        </p:txBody>
      </p:sp>
    </p:spTree>
    <p:extLst>
      <p:ext uri="{BB962C8B-B14F-4D97-AF65-F5344CB8AC3E}">
        <p14:creationId xmlns:p14="http://schemas.microsoft.com/office/powerpoint/2010/main" val="192085874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8162D-F69D-9D2F-2E4B-B0E604B5965A}"/>
            </a:ext>
          </a:extLst>
        </p:cNvPr>
        <p:cNvGrpSpPr/>
        <p:nvPr/>
      </p:nvGrpSpPr>
      <p:grpSpPr>
        <a:xfrm>
          <a:off x="0" y="0"/>
          <a:ext cx="0" cy="0"/>
          <a:chOff x="0" y="0"/>
          <a:chExt cx="0" cy="0"/>
        </a:xfrm>
      </p:grpSpPr>
      <p:sp>
        <p:nvSpPr>
          <p:cNvPr id="34819" name="Rectangle 3">
            <a:extLst>
              <a:ext uri="{FF2B5EF4-FFF2-40B4-BE49-F238E27FC236}">
                <a16:creationId xmlns:a16="http://schemas.microsoft.com/office/drawing/2014/main" id="{CFD44A3C-7ABE-A0F5-AF6E-8BE38E39A239}"/>
              </a:ext>
            </a:extLst>
          </p:cNvPr>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Case study 4 (identify process model)</a:t>
            </a:r>
          </a:p>
        </p:txBody>
      </p:sp>
      <p:sp>
        <p:nvSpPr>
          <p:cNvPr id="5" name="Footer Placeholder 4">
            <a:extLst>
              <a:ext uri="{FF2B5EF4-FFF2-40B4-BE49-F238E27FC236}">
                <a16:creationId xmlns:a16="http://schemas.microsoft.com/office/drawing/2014/main" id="{7911F319-B8BF-D298-6469-53AC598490E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a:extLst>
              <a:ext uri="{FF2B5EF4-FFF2-40B4-BE49-F238E27FC236}">
                <a16:creationId xmlns:a16="http://schemas.microsoft.com/office/drawing/2014/main" id="{5CBF5D0F-B214-024B-A5C5-DEF39401DF83}"/>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a:extLst>
              <a:ext uri="{FF2B5EF4-FFF2-40B4-BE49-F238E27FC236}">
                <a16:creationId xmlns:a16="http://schemas.microsoft.com/office/drawing/2014/main" id="{8C5F4502-4466-74F1-72FB-389A25E0E309}"/>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A7105E6-DFF5-4768-97FA-310346925CA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6" name="Content Placeholder 5">
            <a:extLst>
              <a:ext uri="{FF2B5EF4-FFF2-40B4-BE49-F238E27FC236}">
                <a16:creationId xmlns:a16="http://schemas.microsoft.com/office/drawing/2014/main" id="{B1817375-9F6A-94EF-105E-24EA7213F06F}"/>
              </a:ext>
            </a:extLst>
          </p:cNvPr>
          <p:cNvPicPr>
            <a:picLocks noGrp="1" noChangeAspect="1"/>
          </p:cNvPicPr>
          <p:nvPr>
            <p:ph idx="1"/>
          </p:nvPr>
        </p:nvPicPr>
        <p:blipFill>
          <a:blip r:embed="rId3"/>
          <a:srcRect t="10022"/>
          <a:stretch>
            <a:fillRect/>
          </a:stretch>
        </p:blipFill>
        <p:spPr>
          <a:xfrm>
            <a:off x="498289" y="1626780"/>
            <a:ext cx="11357013" cy="3327991"/>
          </a:xfrm>
          <a:prstGeom prst="rect">
            <a:avLst/>
          </a:prstGeom>
        </p:spPr>
      </p:pic>
      <p:sp>
        <p:nvSpPr>
          <p:cNvPr id="3" name="TextBox 2">
            <a:extLst>
              <a:ext uri="{FF2B5EF4-FFF2-40B4-BE49-F238E27FC236}">
                <a16:creationId xmlns:a16="http://schemas.microsoft.com/office/drawing/2014/main" id="{B457146D-224B-346C-E4D3-EC37890058D4}"/>
              </a:ext>
            </a:extLst>
          </p:cNvPr>
          <p:cNvSpPr txBox="1"/>
          <p:nvPr/>
        </p:nvSpPr>
        <p:spPr>
          <a:xfrm>
            <a:off x="779929" y="5136776"/>
            <a:ext cx="4666130" cy="369332"/>
          </a:xfrm>
          <a:prstGeom prst="rect">
            <a:avLst/>
          </a:prstGeom>
          <a:noFill/>
        </p:spPr>
        <p:txBody>
          <a:bodyPr wrap="square" rtlCol="0">
            <a:spAutoFit/>
          </a:bodyPr>
          <a:lstStyle/>
          <a:p>
            <a:r>
              <a:rPr lang="en-US" dirty="0"/>
              <a:t>Answer: Prototyping model </a:t>
            </a:r>
          </a:p>
        </p:txBody>
      </p:sp>
    </p:spTree>
    <p:extLst>
      <p:ext uri="{BB962C8B-B14F-4D97-AF65-F5344CB8AC3E}">
        <p14:creationId xmlns:p14="http://schemas.microsoft.com/office/powerpoint/2010/main" val="25866819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466751-D6B8-2126-03F7-C84D6231C402}"/>
            </a:ext>
          </a:extLst>
        </p:cNvPr>
        <p:cNvGrpSpPr/>
        <p:nvPr/>
      </p:nvGrpSpPr>
      <p:grpSpPr>
        <a:xfrm>
          <a:off x="0" y="0"/>
          <a:ext cx="0" cy="0"/>
          <a:chOff x="0" y="0"/>
          <a:chExt cx="0" cy="0"/>
        </a:xfrm>
      </p:grpSpPr>
      <p:sp>
        <p:nvSpPr>
          <p:cNvPr id="34819" name="Rectangle 3">
            <a:extLst>
              <a:ext uri="{FF2B5EF4-FFF2-40B4-BE49-F238E27FC236}">
                <a16:creationId xmlns:a16="http://schemas.microsoft.com/office/drawing/2014/main" id="{EB35936B-189E-BD64-B8A6-69B41880AA85}"/>
              </a:ext>
            </a:extLst>
          </p:cNvPr>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Case study 5 (identify process model)</a:t>
            </a:r>
          </a:p>
        </p:txBody>
      </p:sp>
      <p:sp>
        <p:nvSpPr>
          <p:cNvPr id="5" name="Footer Placeholder 4">
            <a:extLst>
              <a:ext uri="{FF2B5EF4-FFF2-40B4-BE49-F238E27FC236}">
                <a16:creationId xmlns:a16="http://schemas.microsoft.com/office/drawing/2014/main" id="{670DC0C1-6236-7BCD-55A1-C69A1824E93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a:extLst>
              <a:ext uri="{FF2B5EF4-FFF2-40B4-BE49-F238E27FC236}">
                <a16:creationId xmlns:a16="http://schemas.microsoft.com/office/drawing/2014/main" id="{5CFD2AB2-FFC2-076D-38ED-8CD8CEDBE46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71</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a:extLst>
              <a:ext uri="{FF2B5EF4-FFF2-40B4-BE49-F238E27FC236}">
                <a16:creationId xmlns:a16="http://schemas.microsoft.com/office/drawing/2014/main" id="{5C8C34BA-5681-06B3-47B1-8F2140E0B79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A7105E6-DFF5-4768-97FA-310346925CA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6" name="Content Placeholder 5">
            <a:extLst>
              <a:ext uri="{FF2B5EF4-FFF2-40B4-BE49-F238E27FC236}">
                <a16:creationId xmlns:a16="http://schemas.microsoft.com/office/drawing/2014/main" id="{621099F9-BED7-0F58-4803-70094E2ACB6E}"/>
              </a:ext>
            </a:extLst>
          </p:cNvPr>
          <p:cNvPicPr>
            <a:picLocks noGrp="1" noChangeAspect="1"/>
          </p:cNvPicPr>
          <p:nvPr>
            <p:ph idx="1"/>
          </p:nvPr>
        </p:nvPicPr>
        <p:blipFill>
          <a:blip r:embed="rId3"/>
          <a:stretch>
            <a:fillRect/>
          </a:stretch>
        </p:blipFill>
        <p:spPr>
          <a:xfrm>
            <a:off x="609600" y="1553606"/>
            <a:ext cx="10799135" cy="4666776"/>
          </a:xfrm>
          <a:prstGeom prst="rect">
            <a:avLst/>
          </a:prstGeom>
        </p:spPr>
      </p:pic>
    </p:spTree>
    <p:extLst>
      <p:ext uri="{BB962C8B-B14F-4D97-AF65-F5344CB8AC3E}">
        <p14:creationId xmlns:p14="http://schemas.microsoft.com/office/powerpoint/2010/main" val="411772940"/>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71C5F-1D01-863C-80AB-15078F4F688B}"/>
            </a:ext>
          </a:extLst>
        </p:cNvPr>
        <p:cNvGrpSpPr/>
        <p:nvPr/>
      </p:nvGrpSpPr>
      <p:grpSpPr>
        <a:xfrm>
          <a:off x="0" y="0"/>
          <a:ext cx="0" cy="0"/>
          <a:chOff x="0" y="0"/>
          <a:chExt cx="0" cy="0"/>
        </a:xfrm>
      </p:grpSpPr>
      <p:sp>
        <p:nvSpPr>
          <p:cNvPr id="34819" name="Rectangle 3">
            <a:extLst>
              <a:ext uri="{FF2B5EF4-FFF2-40B4-BE49-F238E27FC236}">
                <a16:creationId xmlns:a16="http://schemas.microsoft.com/office/drawing/2014/main" id="{2DA7CE3B-B0B0-7648-127A-2FAAF27A7A03}"/>
              </a:ext>
            </a:extLst>
          </p:cNvPr>
          <p:cNvSpPr>
            <a:spLocks noGrp="1" noChangeArrowheads="1"/>
          </p:cNvSpPr>
          <p:nvPr>
            <p:ph type="title"/>
          </p:nvPr>
        </p:nvSpPr>
        <p:spPr>
          <a:noFill/>
          <a:ln/>
        </p:spPr>
        <p:txBody>
          <a:bodyPr vert="horz" wrap="square" lIns="90487" tIns="44450" rIns="90487" bIns="44450" numCol="1" anchor="ctr" anchorCtr="0" compatLnSpc="1">
            <a:prstTxWarp prst="textNoShape">
              <a:avLst/>
            </a:prstTxWarp>
          </a:bodyPr>
          <a:lstStyle/>
          <a:p>
            <a:r>
              <a:rPr lang="en-GB" dirty="0"/>
              <a:t>Case study 5 (identify process model)</a:t>
            </a:r>
          </a:p>
        </p:txBody>
      </p:sp>
      <p:sp>
        <p:nvSpPr>
          <p:cNvPr id="5" name="Footer Placeholder 4">
            <a:extLst>
              <a:ext uri="{FF2B5EF4-FFF2-40B4-BE49-F238E27FC236}">
                <a16:creationId xmlns:a16="http://schemas.microsoft.com/office/drawing/2014/main" id="{E6B21185-739B-F2F3-FF94-C881C30E1413}"/>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rPr>
              <a:t>Chapter 2 Software Processes</a:t>
            </a:r>
          </a:p>
        </p:txBody>
      </p:sp>
      <p:sp>
        <p:nvSpPr>
          <p:cNvPr id="4" name="Slide Number Placeholder 3">
            <a:extLst>
              <a:ext uri="{FF2B5EF4-FFF2-40B4-BE49-F238E27FC236}">
                <a16:creationId xmlns:a16="http://schemas.microsoft.com/office/drawing/2014/main" id="{F4C43E7F-47BD-DAF4-B4C0-85A2B0168FE1}"/>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8FEBCE9-A86B-9C48-9EF4-AA1E30B0DC27}" type="slidenum">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2" name="Date Placeholder 1">
            <a:extLst>
              <a:ext uri="{FF2B5EF4-FFF2-40B4-BE49-F238E27FC236}">
                <a16:creationId xmlns:a16="http://schemas.microsoft.com/office/drawing/2014/main" id="{40534D1B-2BD4-6E9D-E382-BB8F587594C6}"/>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0A7105E6-DFF5-4768-97FA-310346925CA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t>2/2/2026</a:t>
            </a:fld>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pic>
        <p:nvPicPr>
          <p:cNvPr id="9" name="Picture 8">
            <a:extLst>
              <a:ext uri="{FF2B5EF4-FFF2-40B4-BE49-F238E27FC236}">
                <a16:creationId xmlns:a16="http://schemas.microsoft.com/office/drawing/2014/main" id="{D010724C-364E-C13E-2C07-35B3318F40EA}"/>
              </a:ext>
            </a:extLst>
          </p:cNvPr>
          <p:cNvPicPr>
            <a:picLocks noChangeAspect="1"/>
          </p:cNvPicPr>
          <p:nvPr/>
        </p:nvPicPr>
        <p:blipFill>
          <a:blip r:embed="rId3"/>
          <a:stretch>
            <a:fillRect/>
          </a:stretch>
        </p:blipFill>
        <p:spPr>
          <a:xfrm>
            <a:off x="609600" y="1718856"/>
            <a:ext cx="10972800" cy="2097494"/>
          </a:xfrm>
          <a:prstGeom prst="rect">
            <a:avLst/>
          </a:prstGeom>
        </p:spPr>
      </p:pic>
    </p:spTree>
    <p:extLst>
      <p:ext uri="{BB962C8B-B14F-4D97-AF65-F5344CB8AC3E}">
        <p14:creationId xmlns:p14="http://schemas.microsoft.com/office/powerpoint/2010/main" val="1200180192"/>
      </p:ext>
    </p:extLst>
  </p:cSld>
  <p:clrMapOvr>
    <a:masterClrMapping/>
  </p:clrMapOv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363</TotalTime>
  <Words>3876</Words>
  <Application>Microsoft Office PowerPoint</Application>
  <PresentationFormat>Widescreen</PresentationFormat>
  <Paragraphs>608</Paragraphs>
  <Slides>72</Slides>
  <Notes>15</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arial</vt:lpstr>
      <vt:lpstr>arial</vt:lpstr>
      <vt:lpstr>Calibri</vt:lpstr>
      <vt:lpstr>Wingdings</vt:lpstr>
      <vt:lpstr>SE10 slides</vt:lpstr>
      <vt:lpstr>Chapter 2 – Software Processes</vt:lpstr>
      <vt:lpstr>The software process</vt:lpstr>
      <vt:lpstr>PowerPoint Presentation</vt:lpstr>
      <vt:lpstr>PowerPoint Presentation</vt:lpstr>
      <vt:lpstr>Software processes</vt:lpstr>
      <vt:lpstr>Software process models</vt:lpstr>
      <vt:lpstr>Software process models</vt:lpstr>
      <vt:lpstr>The waterfall model </vt:lpstr>
      <vt:lpstr>Waterfall model phases</vt:lpstr>
      <vt:lpstr>Waterfall model problems</vt:lpstr>
      <vt:lpstr>Waterfall model problems</vt:lpstr>
      <vt:lpstr>Incremental development  </vt:lpstr>
      <vt:lpstr>Incremental development benefits</vt:lpstr>
      <vt:lpstr>Incremental development benefits</vt:lpstr>
      <vt:lpstr>Incremental development problems</vt:lpstr>
      <vt:lpstr>Integration and configuration</vt:lpstr>
      <vt:lpstr>Types of reusable software</vt:lpstr>
      <vt:lpstr>Reuse-oriented software engineering</vt:lpstr>
      <vt:lpstr>Key process stages</vt:lpstr>
      <vt:lpstr>Advantages and disadvantages</vt:lpstr>
      <vt:lpstr>Process activities</vt:lpstr>
      <vt:lpstr>Process activities</vt:lpstr>
      <vt:lpstr>The requirements engineering process </vt:lpstr>
      <vt:lpstr>Software specification</vt:lpstr>
      <vt:lpstr>Software design and implementation</vt:lpstr>
      <vt:lpstr>A general model of the design process  </vt:lpstr>
      <vt:lpstr>Design Inputs</vt:lpstr>
      <vt:lpstr>Design activities</vt:lpstr>
      <vt:lpstr>Design activities</vt:lpstr>
      <vt:lpstr>System implementation</vt:lpstr>
      <vt:lpstr>Software validation</vt:lpstr>
      <vt:lpstr>Stages of testing </vt:lpstr>
      <vt:lpstr>Testing stages</vt:lpstr>
      <vt:lpstr>Testing stages</vt:lpstr>
      <vt:lpstr>Testing phases in a plan-driven software process (V-model) improvement of waterfall model</vt:lpstr>
      <vt:lpstr>Software evolution</vt:lpstr>
      <vt:lpstr>System evolution </vt:lpstr>
      <vt:lpstr>Coping with change</vt:lpstr>
      <vt:lpstr>Coping with change</vt:lpstr>
      <vt:lpstr>Reducing the costs of rework</vt:lpstr>
      <vt:lpstr>Coping with changing requirements</vt:lpstr>
      <vt:lpstr>Coping with changing requirements</vt:lpstr>
      <vt:lpstr>Software prototyping</vt:lpstr>
      <vt:lpstr>Benefits of prototyping</vt:lpstr>
      <vt:lpstr>The process of prototype development </vt:lpstr>
      <vt:lpstr>Prototype development</vt:lpstr>
      <vt:lpstr>Prototype Development</vt:lpstr>
      <vt:lpstr>Throw-away prototypes</vt:lpstr>
      <vt:lpstr>Incremental delivery</vt:lpstr>
      <vt:lpstr>Incremental development and delivery</vt:lpstr>
      <vt:lpstr>Incremental delivery </vt:lpstr>
      <vt:lpstr>Incremental delivery advantages</vt:lpstr>
      <vt:lpstr>Incremental delivery problems</vt:lpstr>
      <vt:lpstr>Software Process improvement</vt:lpstr>
      <vt:lpstr>Process improvement</vt:lpstr>
      <vt:lpstr>Process improvement</vt:lpstr>
      <vt:lpstr>Approaches to improvement</vt:lpstr>
      <vt:lpstr>Approaches to improvement</vt:lpstr>
      <vt:lpstr>The process improvement cycle </vt:lpstr>
      <vt:lpstr>Process improvement activities</vt:lpstr>
      <vt:lpstr>Process measurement</vt:lpstr>
      <vt:lpstr>Process metrics</vt:lpstr>
      <vt:lpstr>The SEI Capability maturity levels</vt:lpstr>
      <vt:lpstr>CMM initial stage</vt:lpstr>
      <vt:lpstr>CMM Managed stage</vt:lpstr>
      <vt:lpstr>The SEI capability maturity model</vt:lpstr>
      <vt:lpstr>Case study 1</vt:lpstr>
      <vt:lpstr>Case study 2</vt:lpstr>
      <vt:lpstr>Case study 3</vt:lpstr>
      <vt:lpstr>Case study 4 (identify process model)</vt:lpstr>
      <vt:lpstr>Case study 5 (identify process model)</vt:lpstr>
      <vt:lpstr>Case study 5 (identify process model)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Hajra  Ahmed</dc:creator>
  <cp:lastModifiedBy>Hajra  Ahmed</cp:lastModifiedBy>
  <cp:revision>31</cp:revision>
  <dcterms:created xsi:type="dcterms:W3CDTF">2022-02-07T18:33:22Z</dcterms:created>
  <dcterms:modified xsi:type="dcterms:W3CDTF">2026-02-02T04:00:16Z</dcterms:modified>
</cp:coreProperties>
</file>