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90" r:id="rId2"/>
    <p:sldId id="268" r:id="rId3"/>
    <p:sldId id="334" r:id="rId4"/>
    <p:sldId id="263" r:id="rId5"/>
    <p:sldId id="271" r:id="rId6"/>
    <p:sldId id="272" r:id="rId7"/>
    <p:sldId id="335" r:id="rId8"/>
    <p:sldId id="291" r:id="rId9"/>
    <p:sldId id="322" r:id="rId10"/>
    <p:sldId id="324" r:id="rId11"/>
    <p:sldId id="264" r:id="rId12"/>
    <p:sldId id="333" r:id="rId13"/>
    <p:sldId id="325" r:id="rId14"/>
    <p:sldId id="329" r:id="rId15"/>
    <p:sldId id="297" r:id="rId16"/>
    <p:sldId id="265" r:id="rId17"/>
    <p:sldId id="309" r:id="rId18"/>
    <p:sldId id="308" r:id="rId19"/>
    <p:sldId id="310" r:id="rId20"/>
    <p:sldId id="336" r:id="rId21"/>
    <p:sldId id="299" r:id="rId22"/>
    <p:sldId id="311" r:id="rId23"/>
    <p:sldId id="298" r:id="rId24"/>
    <p:sldId id="338" r:id="rId25"/>
    <p:sldId id="306" r:id="rId26"/>
    <p:sldId id="341" r:id="rId27"/>
    <p:sldId id="332" r:id="rId28"/>
    <p:sldId id="301" r:id="rId29"/>
    <p:sldId id="302" r:id="rId30"/>
    <p:sldId id="267" r:id="rId31"/>
    <p:sldId id="303" r:id="rId32"/>
    <p:sldId id="34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A13D5-4562-4657-90EA-F26F925EB8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23E94-5663-474B-BC20-99A0F788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3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46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46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11968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71322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93294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1310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86014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3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87729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92509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42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924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75854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75451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Chapter 8 Software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B105B8D-1C36-1C40-961B-CAAB1DD98B2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81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components are often composite components that are made up of several interacting objects. </a:t>
            </a:r>
          </a:p>
          <a:p>
            <a:pPr lvl="1"/>
            <a:r>
              <a:rPr lang="en-US" dirty="0"/>
              <a:t>For example, in the weather station system, the reconfiguration component includes objects that deal with each aspect of the reconfiguration. 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functionality of these objects is accessed via the defined component interface. </a:t>
            </a:r>
          </a:p>
          <a:p>
            <a:r>
              <a:rPr lang="en-US" dirty="0"/>
              <a:t>Testing composite components should therefore focus on showing that the component interface behaves according to its specification. </a:t>
            </a:r>
          </a:p>
          <a:p>
            <a:pPr lvl="1"/>
            <a:r>
              <a:rPr lang="en-US" dirty="0"/>
              <a:t>Assuming that unit testing of each functionality is done already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0840" tIns="44623" rIns="90840" bIns="44623" numCol="1" anchor="ctr" anchorCtr="0" compatLnSpc="1">
            <a:prstTxWarp prst="textNoShape">
              <a:avLst/>
            </a:prstTxWarp>
          </a:bodyPr>
          <a:lstStyle/>
          <a:p>
            <a:r>
              <a:rPr lang="en-GB"/>
              <a:t>Interface testing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idx="1"/>
          </p:nvPr>
        </p:nvSpPr>
        <p:spPr>
          <a:xfrm>
            <a:off x="528918" y="2380130"/>
            <a:ext cx="10972800" cy="1922928"/>
          </a:xfrm>
          <a:noFill/>
        </p:spPr>
        <p:txBody>
          <a:bodyPr lIns="90840" tIns="44623" rIns="90840" bIns="44623"/>
          <a:lstStyle/>
          <a:p>
            <a:pPr algn="just"/>
            <a:r>
              <a:rPr lang="en-GB" dirty="0"/>
              <a:t>Testing the components that helps the interaction between different components.</a:t>
            </a:r>
          </a:p>
          <a:p>
            <a:pPr algn="just"/>
            <a:r>
              <a:rPr lang="en-GB" dirty="0"/>
              <a:t>Interface errors can’t be identified from unit testing</a:t>
            </a:r>
          </a:p>
          <a:p>
            <a:pPr algn="just"/>
            <a:r>
              <a:rPr lang="en-GB" dirty="0"/>
              <a:t>As they occur because of interaction between two units.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0840" tIns="44623" rIns="90840" bIns="44623" numCol="1" anchor="ctr" anchorCtr="0" compatLnSpc="1">
            <a:prstTxWarp prst="textNoShape">
              <a:avLst/>
            </a:prstTxWarp>
          </a:bodyPr>
          <a:lstStyle/>
          <a:p>
            <a:r>
              <a:rPr lang="en-GB"/>
              <a:t>Interface testing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idx="1"/>
          </p:nvPr>
        </p:nvSpPr>
        <p:spPr>
          <a:xfrm>
            <a:off x="528918" y="1417638"/>
            <a:ext cx="10972800" cy="4863352"/>
          </a:xfrm>
          <a:noFill/>
        </p:spPr>
        <p:txBody>
          <a:bodyPr lIns="90840" tIns="44623" rIns="90840" bIns="44623"/>
          <a:lstStyle/>
          <a:p>
            <a:r>
              <a:rPr lang="en-GB" dirty="0"/>
              <a:t>Interface types between program components: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Parameter interfaces </a:t>
            </a:r>
          </a:p>
          <a:p>
            <a:pPr lvl="2"/>
            <a:r>
              <a:rPr lang="en-GB" dirty="0"/>
              <a:t>Data passed from one method or procedure to another.</a:t>
            </a:r>
            <a:endParaRPr lang="en-GB" dirty="0">
              <a:solidFill>
                <a:srgbClr val="FF0000"/>
              </a:solidFill>
            </a:endParaRPr>
          </a:p>
          <a:p>
            <a:pPr lvl="2"/>
            <a:r>
              <a:rPr lang="en-GB" dirty="0">
                <a:solidFill>
                  <a:srgbClr val="FF0000"/>
                </a:solidFill>
              </a:rPr>
              <a:t>E.g., methods in object have a parameter interface, (passing parameters to multiple methods)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Shared memory</a:t>
            </a:r>
            <a:r>
              <a:rPr lang="en-GB" dirty="0">
                <a:solidFill>
                  <a:schemeClr val="tx1"/>
                </a:solidFill>
              </a:rPr>
              <a:t> interfaces </a:t>
            </a:r>
          </a:p>
          <a:p>
            <a:pPr lvl="2"/>
            <a:r>
              <a:rPr lang="en-GB" dirty="0"/>
              <a:t>Same Block of memory is shared between different components.</a:t>
            </a:r>
          </a:p>
          <a:p>
            <a:pPr lvl="2"/>
            <a:r>
              <a:rPr lang="en-GB" dirty="0">
                <a:solidFill>
                  <a:srgbClr val="FF0000"/>
                </a:solidFill>
              </a:rPr>
              <a:t>Like in embedded systems, sensor component store value in db and analyser component may work on these values. 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Procedural interfaces </a:t>
            </a:r>
          </a:p>
          <a:p>
            <a:pPr lvl="2"/>
            <a:r>
              <a:rPr lang="en-GB" dirty="0"/>
              <a:t>Sub-system encapsulates a set of procedures to be called by other sub-systems.</a:t>
            </a:r>
          </a:p>
          <a:p>
            <a:pPr lvl="1"/>
            <a:r>
              <a:rPr lang="en-GB" dirty="0">
                <a:solidFill>
                  <a:srgbClr val="000000"/>
                </a:solidFill>
              </a:rPr>
              <a:t>Message passing interfaces </a:t>
            </a:r>
          </a:p>
          <a:p>
            <a:pPr lvl="2"/>
            <a:r>
              <a:rPr lang="en-GB" dirty="0"/>
              <a:t>Sub-systems request services from other sub-systems</a:t>
            </a:r>
          </a:p>
          <a:p>
            <a:pPr lvl="2"/>
            <a:r>
              <a:rPr lang="en-GB" dirty="0"/>
              <a:t>E.g., MPI in client server arch.</a:t>
            </a:r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15895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testing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6" descr="8.7 Iface Testing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205" y="1601045"/>
            <a:ext cx="4872975" cy="457682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0840" tIns="44623" rIns="90840" bIns="44623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Types of Interface errors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840" tIns="44623" rIns="90840" bIns="44623"/>
          <a:lstStyle/>
          <a:p>
            <a:pPr algn="just"/>
            <a:r>
              <a:rPr lang="en-GB" dirty="0"/>
              <a:t>Interface misuse</a:t>
            </a:r>
          </a:p>
          <a:p>
            <a:pPr lvl="1" algn="just"/>
            <a:r>
              <a:rPr lang="en-GB" dirty="0"/>
              <a:t>A calling component calls another component and makes an error in its use of its interface </a:t>
            </a:r>
            <a:r>
              <a:rPr lang="en-GB" b="1" dirty="0"/>
              <a:t>e.g. parameters in the wrong order.</a:t>
            </a:r>
            <a:endParaRPr lang="en-GB" dirty="0"/>
          </a:p>
          <a:p>
            <a:pPr algn="just"/>
            <a:r>
              <a:rPr lang="en-GB" dirty="0"/>
              <a:t>Interface misunderstanding</a:t>
            </a:r>
          </a:p>
          <a:p>
            <a:pPr lvl="1" algn="just"/>
            <a:r>
              <a:rPr lang="en-GB" dirty="0"/>
              <a:t>A </a:t>
            </a:r>
            <a:r>
              <a:rPr lang="en-GB" b="1" dirty="0"/>
              <a:t>calling component embeds assumptions about the behaviour of the called component which are incorrect.</a:t>
            </a:r>
          </a:p>
          <a:p>
            <a:pPr lvl="1" algn="just"/>
            <a:r>
              <a:rPr lang="en-GB" b="1" dirty="0"/>
              <a:t>E.g., a binary search method is called using an unsorted array passed as a parameter.</a:t>
            </a:r>
            <a:endParaRPr lang="en-GB" dirty="0"/>
          </a:p>
          <a:p>
            <a:pPr algn="just"/>
            <a:r>
              <a:rPr lang="en-GB" dirty="0"/>
              <a:t>Timing errors</a:t>
            </a:r>
          </a:p>
          <a:p>
            <a:pPr lvl="1" algn="just"/>
            <a:r>
              <a:rPr lang="en-GB" dirty="0"/>
              <a:t>In real time systems using shared memory in which the calling function access the outdated information and the saving function hasn’t uploaded the latest value yet.</a:t>
            </a:r>
          </a:p>
          <a:p>
            <a:pPr lvl="1" algn="just"/>
            <a:r>
              <a:rPr lang="en-GB" dirty="0"/>
              <a:t>Because they are operating at different speeds.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0840" tIns="44623" rIns="90840" bIns="44623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Interface testing challenges via examples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840" tIns="44623" rIns="90840" bIns="44623"/>
          <a:lstStyle/>
          <a:p>
            <a:r>
              <a:rPr lang="en-GB" dirty="0"/>
              <a:t>Defect testing for interfaces is difficult.</a:t>
            </a:r>
          </a:p>
          <a:p>
            <a:r>
              <a:rPr lang="en-GB" dirty="0"/>
              <a:t>For example, an object is accepting a queue as a finite data structure</a:t>
            </a:r>
          </a:p>
          <a:p>
            <a:pPr lvl="1"/>
            <a:r>
              <a:rPr lang="en-GB" dirty="0"/>
              <a:t>But the </a:t>
            </a:r>
            <a:r>
              <a:rPr lang="en-GB" i="1" u="sng" dirty="0"/>
              <a:t>calling object assumes that the queue is infinite and it doesn’t check for overflow conditions while entering an element.</a:t>
            </a:r>
          </a:p>
          <a:p>
            <a:r>
              <a:rPr lang="en-GB" dirty="0"/>
              <a:t>Another difficulty is that the </a:t>
            </a:r>
            <a:r>
              <a:rPr lang="en-GB" b="1" dirty="0"/>
              <a:t>fault propagation </a:t>
            </a:r>
            <a:r>
              <a:rPr lang="en-GB" dirty="0"/>
              <a:t>is detected only when multiple components are tested together, as </a:t>
            </a:r>
            <a:r>
              <a:rPr lang="en-GB" b="1" dirty="0"/>
              <a:t>the faulty component will pass wrong value to the calling component </a:t>
            </a:r>
            <a:r>
              <a:rPr lang="en-GB" dirty="0"/>
              <a:t>and hence the error propagates.</a:t>
            </a:r>
          </a:p>
          <a:p>
            <a:pPr lvl="1"/>
            <a:r>
              <a:rPr lang="en-GB" dirty="0"/>
              <a:t>So wrong value processing in 1 component leads to an error in another component these are the interface errors.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0840" tIns="44623" rIns="90840" bIns="44623" numCol="1" anchor="ctr" anchorCtr="0" compatLnSpc="1">
            <a:prstTxWarp prst="textNoShape">
              <a:avLst/>
            </a:prstTxWarp>
          </a:bodyPr>
          <a:lstStyle/>
          <a:p>
            <a:r>
              <a:rPr lang="en-GB"/>
              <a:t>Interface testing guidelines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24013"/>
            <a:ext cx="10972800" cy="4525963"/>
          </a:xfrm>
          <a:noFill/>
        </p:spPr>
        <p:txBody>
          <a:bodyPr lIns="90840" tIns="44623" rIns="90840" bIns="44623"/>
          <a:lstStyle/>
          <a:p>
            <a:pPr algn="just"/>
            <a:r>
              <a:rPr lang="en-GB" dirty="0"/>
              <a:t>Design tests so that parameters to a </a:t>
            </a:r>
            <a:r>
              <a:rPr lang="en-GB" b="1" dirty="0"/>
              <a:t>called procedure are at the extreme ends of their ranges</a:t>
            </a:r>
            <a:r>
              <a:rPr lang="en-GB" dirty="0"/>
              <a:t>. E.g., Checking for overflow and underflow conditions in an array. </a:t>
            </a:r>
          </a:p>
          <a:p>
            <a:pPr algn="just"/>
            <a:r>
              <a:rPr lang="en-GB" b="1" dirty="0"/>
              <a:t>Design tests which cause the component to fail.</a:t>
            </a:r>
          </a:p>
          <a:p>
            <a:pPr algn="just"/>
            <a:r>
              <a:rPr lang="en-GB" b="1" dirty="0"/>
              <a:t>Use stress testing</a:t>
            </a:r>
            <a:r>
              <a:rPr lang="en-GB" dirty="0"/>
              <a:t> in message passing systems to </a:t>
            </a:r>
            <a:r>
              <a:rPr lang="en-GB" b="1" dirty="0"/>
              <a:t>check for timing errors.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15926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358282" cy="4525963"/>
          </a:xfrm>
        </p:spPr>
        <p:txBody>
          <a:bodyPr/>
          <a:lstStyle/>
          <a:p>
            <a:r>
              <a:rPr lang="en-US" b="1" dirty="0"/>
              <a:t>Blackbox testing</a:t>
            </a:r>
          </a:p>
          <a:p>
            <a:r>
              <a:rPr lang="en-US" b="1" dirty="0"/>
              <a:t>integrate components to create a version of the system and then testing the integrated system.</a:t>
            </a:r>
          </a:p>
          <a:p>
            <a:r>
              <a:rPr lang="en-US" u="sng" dirty="0"/>
              <a:t>System testing </a:t>
            </a:r>
            <a:r>
              <a:rPr lang="en-US" b="1" u="sng" dirty="0"/>
              <a:t>checks:</a:t>
            </a:r>
          </a:p>
          <a:p>
            <a:pPr lvl="1"/>
            <a:r>
              <a:rPr lang="en-US" b="1" dirty="0"/>
              <a:t>components are compatible</a:t>
            </a:r>
            <a:r>
              <a:rPr lang="en-US" dirty="0"/>
              <a:t>, </a:t>
            </a:r>
          </a:p>
          <a:p>
            <a:pPr lvl="1"/>
            <a:r>
              <a:rPr lang="en-US" b="1" dirty="0"/>
              <a:t>interact correctly </a:t>
            </a:r>
          </a:p>
          <a:p>
            <a:pPr lvl="1"/>
            <a:r>
              <a:rPr lang="en-US" dirty="0"/>
              <a:t>and </a:t>
            </a:r>
            <a:r>
              <a:rPr lang="en-US" b="1" dirty="0"/>
              <a:t>transfer the right data at the right time </a:t>
            </a:r>
            <a:r>
              <a:rPr lang="en-US" dirty="0"/>
              <a:t>across their interfaces.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System and component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During system testing, </a:t>
            </a:r>
            <a:r>
              <a:rPr lang="en-US" b="1" dirty="0"/>
              <a:t>reusable components that have been separately developed and off-the-shelf systems may be integrated with newly developed components.</a:t>
            </a:r>
            <a:r>
              <a:rPr lang="en-US" dirty="0"/>
              <a:t> The complete system is then tested. Also, SIT (System &amp; integration testing)</a:t>
            </a:r>
            <a:endParaRPr lang="en-GB" dirty="0"/>
          </a:p>
          <a:p>
            <a:pPr algn="just"/>
            <a:r>
              <a:rPr lang="en-US" b="1" dirty="0"/>
              <a:t>Components developed by different team members or sub-teams may be integrated at this stage</a:t>
            </a:r>
            <a:r>
              <a:rPr lang="en-US" dirty="0"/>
              <a:t>. System testing is a collective rather than an individual process. </a:t>
            </a:r>
          </a:p>
          <a:p>
            <a:pPr lvl="1" algn="just"/>
            <a:r>
              <a:rPr lang="en-US" dirty="0"/>
              <a:t>In large scale companies, system testing may involve a separate testing team with no involvement from designers and programmers.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 based 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Since system testing is testing for interactions, so its good to </a:t>
            </a:r>
            <a:r>
              <a:rPr lang="en-US" b="1" dirty="0"/>
              <a:t>create use cases for that.</a:t>
            </a:r>
          </a:p>
          <a:p>
            <a:pPr algn="just"/>
            <a:r>
              <a:rPr lang="en-US" dirty="0"/>
              <a:t>Use cases forces interactions between components which help In  performing system testing.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sequence diagrams </a:t>
            </a:r>
            <a:r>
              <a:rPr lang="en-US" dirty="0"/>
              <a:t>associated with the use case documents </a:t>
            </a:r>
            <a:r>
              <a:rPr lang="en-US" b="1" dirty="0"/>
              <a:t>shows the components and interactions that are being tested.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</a:t>
            </a:r>
            <a:r>
              <a:rPr lang="en-US" b="1" dirty="0"/>
              <a:t> </a:t>
            </a:r>
            <a:r>
              <a:rPr lang="en-US" dirty="0"/>
              <a:t>weather data sequence chart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8.8 WS-SeqDiagram.eps"/>
          <p:cNvPicPr>
            <a:picLocks noGrp="1" noChangeAspect="1"/>
          </p:cNvPicPr>
          <p:nvPr>
            <p:ph idx="1"/>
          </p:nvPr>
        </p:nvPicPr>
        <p:blipFill>
          <a:blip r:embed="rId2"/>
          <a:srcRect t="4378" b="4378"/>
          <a:stretch>
            <a:fillRect/>
          </a:stretch>
        </p:blipFill>
        <p:spPr/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derived from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An input of a request for a report should have an associated acknowledgement</a:t>
            </a:r>
            <a:r>
              <a:rPr lang="en-US" dirty="0"/>
              <a:t>. A report should ultimately be returned from the request. </a:t>
            </a:r>
          </a:p>
          <a:p>
            <a:pPr lvl="1" algn="just"/>
            <a:r>
              <a:rPr lang="en-US" dirty="0"/>
              <a:t>You should create summarized data that can be used to check that the report is correctly organized. </a:t>
            </a:r>
            <a:endParaRPr lang="en-GB" dirty="0"/>
          </a:p>
          <a:p>
            <a:pPr algn="just"/>
            <a:r>
              <a:rPr lang="en-US" b="1" dirty="0"/>
              <a:t>An input request for a report to </a:t>
            </a:r>
            <a:r>
              <a:rPr lang="en-US" b="1" dirty="0" err="1"/>
              <a:t>WeatherStation</a:t>
            </a:r>
            <a:r>
              <a:rPr lang="en-US" b="1" dirty="0"/>
              <a:t> results in a summarized report being generated.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Can be tested by creating raw data corresponding to the summary that you have prepared for the test of </a:t>
            </a:r>
            <a:r>
              <a:rPr lang="en-US" dirty="0" err="1"/>
              <a:t>SatComms</a:t>
            </a:r>
            <a:r>
              <a:rPr lang="en-US" dirty="0"/>
              <a:t> and checking that the </a:t>
            </a:r>
            <a:r>
              <a:rPr lang="en-US" dirty="0" err="1"/>
              <a:t>WeatherStation</a:t>
            </a:r>
            <a:r>
              <a:rPr lang="en-US" dirty="0"/>
              <a:t> object correctly produces this summary. This raw data is also used to test the </a:t>
            </a:r>
            <a:r>
              <a:rPr lang="en-US" dirty="0" err="1"/>
              <a:t>WeatherData</a:t>
            </a:r>
            <a:r>
              <a:rPr lang="en-US" dirty="0"/>
              <a:t> object.</a:t>
            </a:r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Content Placeholder 3" descr="8.8 WS-SeqDiagram.eps">
            <a:extLst>
              <a:ext uri="{FF2B5EF4-FFF2-40B4-BE49-F238E27FC236}">
                <a16:creationId xmlns:a16="http://schemas.microsoft.com/office/drawing/2014/main" id="{FFE84D55-7D5A-3040-B009-00BAE353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8" b="4378"/>
          <a:stretch>
            <a:fillRect/>
          </a:stretch>
        </p:blipFill>
        <p:spPr>
          <a:xfrm>
            <a:off x="7214075" y="5006366"/>
            <a:ext cx="4158134" cy="17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12429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Exhaustive system testing is impossible </a:t>
            </a:r>
          </a:p>
          <a:p>
            <a:r>
              <a:rPr lang="en-US" dirty="0"/>
              <a:t>so </a:t>
            </a:r>
            <a:r>
              <a:rPr lang="en-US" b="1" dirty="0"/>
              <a:t>testing policies should be defined mostly guidelines based or depends experience of system usage.</a:t>
            </a:r>
          </a:p>
          <a:p>
            <a:r>
              <a:rPr lang="en-US" dirty="0"/>
              <a:t>Examples of testing policies:</a:t>
            </a:r>
          </a:p>
          <a:p>
            <a:pPr lvl="1" algn="just"/>
            <a:r>
              <a:rPr lang="en-US" dirty="0"/>
              <a:t>All system functions that are accessed through menus should be tested.</a:t>
            </a:r>
            <a:endParaRPr lang="en-GB" dirty="0"/>
          </a:p>
          <a:p>
            <a:pPr lvl="1"/>
            <a:r>
              <a:rPr lang="en-US" dirty="0"/>
              <a:t>Wherever </a:t>
            </a:r>
            <a:r>
              <a:rPr lang="en-US" b="1" dirty="0"/>
              <a:t>user input is provided, all functions must be tested with both correct and incorrect input.</a:t>
            </a:r>
            <a:endParaRPr lang="en-GB" b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62465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Test-driven development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4886274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Test-driven development (TDD) is an </a:t>
            </a:r>
            <a:r>
              <a:rPr lang="en-US" b="1" dirty="0"/>
              <a:t>approach to program development </a:t>
            </a:r>
            <a:r>
              <a:rPr lang="en-US" dirty="0"/>
              <a:t>in which you </a:t>
            </a:r>
            <a:r>
              <a:rPr lang="en-US" b="1" dirty="0"/>
              <a:t>inter-leave testing and code development</a:t>
            </a:r>
            <a:r>
              <a:rPr lang="en-US" dirty="0"/>
              <a:t>.</a:t>
            </a:r>
          </a:p>
          <a:p>
            <a:r>
              <a:rPr lang="en-US" b="1" dirty="0"/>
              <a:t>Tests are written before code </a:t>
            </a:r>
          </a:p>
          <a:p>
            <a:r>
              <a:rPr lang="en-US" dirty="0"/>
              <a:t>and ‘</a:t>
            </a:r>
            <a:r>
              <a:rPr lang="en-US" b="1" dirty="0"/>
              <a:t>passing’ the tests is the critical driver of development. </a:t>
            </a:r>
          </a:p>
          <a:p>
            <a:r>
              <a:rPr lang="en-US" dirty="0"/>
              <a:t>You </a:t>
            </a:r>
            <a:r>
              <a:rPr lang="en-US" b="1" dirty="0"/>
              <a:t>develop code incrementally</a:t>
            </a:r>
            <a:r>
              <a:rPr lang="en-US" dirty="0"/>
              <a:t>, along with a test for that increment. You </a:t>
            </a:r>
            <a:r>
              <a:rPr lang="en-US" b="1" dirty="0"/>
              <a:t>don’t move on to the next increment until the code that you have developed passes its test. </a:t>
            </a:r>
          </a:p>
          <a:p>
            <a:r>
              <a:rPr lang="en-US" dirty="0"/>
              <a:t>TDD  can be used with both, plan based or agile based project developments.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7" name="Picture 6" descr="8.9 Test Driven Dev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61" y="2365791"/>
            <a:ext cx="7971995" cy="234040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process activities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by identifying the increment of functionality that is required. This should normally be small and implementable in a few lines of code.</a:t>
            </a:r>
            <a:endParaRPr lang="en-GB" dirty="0"/>
          </a:p>
          <a:p>
            <a:r>
              <a:rPr lang="en-US" dirty="0"/>
              <a:t>Write a test for this functionality and implement this as an automated test. </a:t>
            </a:r>
            <a:endParaRPr lang="en-GB" dirty="0"/>
          </a:p>
          <a:p>
            <a:r>
              <a:rPr lang="en-US" dirty="0"/>
              <a:t>Run the test, along with all other tests that have been implemented. Initially, you have not implemented the functionality so the new test will fail. </a:t>
            </a:r>
            <a:endParaRPr lang="en-GB" dirty="0"/>
          </a:p>
          <a:p>
            <a:r>
              <a:rPr lang="en-US" dirty="0"/>
              <a:t>Implement the functionality and re-run the test. </a:t>
            </a:r>
            <a:endParaRPr lang="en-GB" dirty="0"/>
          </a:p>
          <a:p>
            <a:r>
              <a:rPr lang="en-US" dirty="0"/>
              <a:t>Once all tests run successfully, you move on to implementing the next chunk of functionality.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test-driven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Code coverage </a:t>
            </a:r>
          </a:p>
          <a:p>
            <a:pPr lvl="1"/>
            <a:r>
              <a:rPr lang="en-US" b="1" dirty="0"/>
              <a:t>Every code segment that you write has at least one associated test </a:t>
            </a:r>
            <a:r>
              <a:rPr lang="en-US" dirty="0"/>
              <a:t>so all code written has at least one test. Defects discovered early in development stage.</a:t>
            </a:r>
            <a:endParaRPr lang="en-GB" dirty="0"/>
          </a:p>
          <a:p>
            <a:r>
              <a:rPr lang="en-US" dirty="0">
                <a:solidFill>
                  <a:srgbClr val="000000"/>
                </a:solidFill>
              </a:rPr>
              <a:t>Regression testing </a:t>
            </a:r>
          </a:p>
          <a:p>
            <a:pPr lvl="1"/>
            <a:r>
              <a:rPr lang="en-US" dirty="0"/>
              <a:t>Run a regression test to </a:t>
            </a:r>
            <a:r>
              <a:rPr lang="en-US" b="1" dirty="0"/>
              <a:t>check if new code added issues to previous one</a:t>
            </a:r>
            <a:r>
              <a:rPr lang="en-US" dirty="0"/>
              <a:t>. </a:t>
            </a:r>
            <a:endParaRPr lang="en-GB" dirty="0"/>
          </a:p>
          <a:p>
            <a:r>
              <a:rPr lang="en-US" dirty="0">
                <a:solidFill>
                  <a:srgbClr val="000000"/>
                </a:solidFill>
              </a:rPr>
              <a:t>Simplified debugging </a:t>
            </a:r>
          </a:p>
          <a:p>
            <a:pPr lvl="1"/>
            <a:r>
              <a:rPr lang="en-US" b="1" dirty="0"/>
              <a:t>When a test fails, it should be obvious where the problem lies</a:t>
            </a:r>
            <a:r>
              <a:rPr lang="en-US" dirty="0"/>
              <a:t>. The newly written code needs to be checked and modified. No need for debugging tools.</a:t>
            </a:r>
            <a:endParaRPr lang="en-GB" dirty="0"/>
          </a:p>
          <a:p>
            <a:r>
              <a:rPr lang="en-US" dirty="0">
                <a:solidFill>
                  <a:srgbClr val="000000"/>
                </a:solidFill>
              </a:rPr>
              <a:t>System documentation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tests themselves are a form of documentation </a:t>
            </a:r>
            <a:r>
              <a:rPr lang="en-US" dirty="0"/>
              <a:t>that describe what the code should be doing.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Regression testing is testing the system to check that changes have not ‘broken’ previously working code.</a:t>
            </a:r>
          </a:p>
          <a:p>
            <a:pPr algn="just"/>
            <a:r>
              <a:rPr lang="en-US" dirty="0"/>
              <a:t>In a manual testing process, regression testing is expensive but, with automated testing, it is simple and straightforward. All tests are rerun every time a change is made to the program.</a:t>
            </a:r>
          </a:p>
          <a:p>
            <a:pPr algn="just"/>
            <a:r>
              <a:rPr lang="en-US" dirty="0"/>
              <a:t>Tests must run ‘successfully’ before the change is committed.</a:t>
            </a:r>
          </a:p>
          <a:p>
            <a:pPr algn="just"/>
            <a:r>
              <a:rPr lang="en-US" dirty="0"/>
              <a:t>TDD reduces cost of regression testing.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CB105B8D-1C36-1C40-961B-CAAB1DD98B2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19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GB">
                <a:solidFill>
                  <a:prstClr val="black">
                    <a:tint val="75000"/>
                  </a:prstClr>
                </a:solidFill>
                <a:latin typeface="Calibri"/>
              </a:rPr>
              <a:t>30/10/2014</a:t>
            </a: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066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Release testing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498988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434" y="1417638"/>
            <a:ext cx="11292541" cy="4361328"/>
          </a:xfrm>
        </p:spPr>
        <p:txBody>
          <a:bodyPr/>
          <a:lstStyle/>
          <a:p>
            <a:pPr algn="just"/>
            <a:r>
              <a:rPr lang="en-US" dirty="0"/>
              <a:t>Release testing is the process of testing a particular release of a system that is intended for use outside of the development team.</a:t>
            </a:r>
            <a:r>
              <a:rPr lang="en-GB" dirty="0"/>
              <a:t> </a:t>
            </a:r>
          </a:p>
          <a:p>
            <a:pPr algn="just"/>
            <a:r>
              <a:rPr lang="en-US" dirty="0"/>
              <a:t>Aim:</a:t>
            </a:r>
          </a:p>
          <a:p>
            <a:pPr lvl="1" algn="just"/>
            <a:r>
              <a:rPr lang="en-US" dirty="0"/>
              <a:t>to convince the system supplier that it is good enough for use</a:t>
            </a:r>
            <a:r>
              <a:rPr lang="en-GB" dirty="0"/>
              <a:t>.</a:t>
            </a:r>
          </a:p>
          <a:p>
            <a:pPr algn="just"/>
            <a:r>
              <a:rPr lang="en-US" b="1" dirty="0"/>
              <a:t>Release testing is a black-box testing process </a:t>
            </a:r>
          </a:p>
          <a:p>
            <a:pPr lvl="1" algn="just"/>
            <a:r>
              <a:rPr lang="en-US" b="1" dirty="0"/>
              <a:t>Test cases are derived from the system specification</a:t>
            </a:r>
            <a:r>
              <a:rPr lang="en-US" dirty="0"/>
              <a:t>. </a:t>
            </a:r>
            <a:endParaRPr lang="en-GB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testing and 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 testing is a form of system testing.</a:t>
            </a:r>
          </a:p>
          <a:p>
            <a:r>
              <a:rPr lang="en-US" dirty="0"/>
              <a:t>Important differences:</a:t>
            </a:r>
          </a:p>
          <a:p>
            <a:pPr lvl="1"/>
            <a:r>
              <a:rPr lang="en-US" dirty="0"/>
              <a:t>Release testing : </a:t>
            </a:r>
          </a:p>
          <a:p>
            <a:pPr lvl="2"/>
            <a:r>
              <a:rPr lang="en-US" dirty="0"/>
              <a:t>The objective of release testing is to check that the system meets its requirements and is good enough for external use (</a:t>
            </a:r>
            <a:r>
              <a:rPr lang="en-US" b="1" dirty="0"/>
              <a:t>validation testing</a:t>
            </a:r>
            <a:r>
              <a:rPr lang="en-US" dirty="0"/>
              <a:t>).</a:t>
            </a:r>
            <a:endParaRPr lang="en-GB" dirty="0"/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System testing: </a:t>
            </a:r>
          </a:p>
          <a:p>
            <a:pPr lvl="2"/>
            <a:r>
              <a:rPr lang="en-US" dirty="0"/>
              <a:t>should focus on discovering bugs in the system (</a:t>
            </a:r>
            <a:r>
              <a:rPr lang="en-US" b="1" dirty="0"/>
              <a:t>defect testing</a:t>
            </a:r>
            <a:r>
              <a:rPr lang="en-US" dirty="0"/>
              <a:t>).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based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Make sure that every requirement is clearly understood and testable</a:t>
            </a:r>
          </a:p>
          <a:p>
            <a:pPr algn="just"/>
            <a:r>
              <a:rPr lang="en-US" b="1" dirty="0"/>
              <a:t>Requirements-based testing: </a:t>
            </a:r>
          </a:p>
          <a:p>
            <a:pPr lvl="1" algn="just"/>
            <a:r>
              <a:rPr lang="en-US" dirty="0"/>
              <a:t>Examine each requirement and then develop test(s) for it.</a:t>
            </a:r>
          </a:p>
          <a:p>
            <a:pPr lvl="1" algn="just"/>
            <a:r>
              <a:rPr lang="en-US" dirty="0"/>
              <a:t>Doing validation testing for each req.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based testing : case study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8E2743-2537-4903-9526-647549CB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Dvago</a:t>
            </a:r>
            <a:r>
              <a:rPr lang="en-US" dirty="0"/>
              <a:t> is an online medicine store that supplies medicines to the patients. Define testcases for the requirements.</a:t>
            </a:r>
          </a:p>
          <a:p>
            <a:pPr lvl="1" algn="just"/>
            <a:r>
              <a:rPr lang="en-US" dirty="0"/>
              <a:t>Customer search for the medicine availability. </a:t>
            </a:r>
          </a:p>
          <a:p>
            <a:pPr lvl="1" algn="just"/>
            <a:r>
              <a:rPr lang="en-US" dirty="0"/>
              <a:t>If the medicine is available, then the patient needs to upload the prescription image before adding it to cart. </a:t>
            </a:r>
          </a:p>
          <a:p>
            <a:pPr lvl="1" algn="just"/>
            <a:r>
              <a:rPr lang="en-US" dirty="0"/>
              <a:t>If medicine is in the prescription list, then the stock is reduced, and medicine is shipped. </a:t>
            </a:r>
          </a:p>
          <a:p>
            <a:pPr lvl="1" algn="just"/>
            <a:r>
              <a:rPr lang="en-US" dirty="0"/>
              <a:t>Otherwise, an error is prompted that the item is sold out. 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6309634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It’s a </a:t>
            </a:r>
            <a:r>
              <a:rPr lang="en-US" b="1" dirty="0"/>
              <a:t>part of release testing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Stress testing is a form of performance testing</a:t>
            </a:r>
            <a:r>
              <a:rPr lang="en-US" dirty="0"/>
              <a:t> where the system is deliberately overloaded to test its failure behavior.</a:t>
            </a:r>
          </a:p>
          <a:p>
            <a:pPr algn="just"/>
            <a:r>
              <a:rPr lang="en-US" b="1" dirty="0"/>
              <a:t>Done to test system for properties like reliability, performance etc.</a:t>
            </a:r>
          </a:p>
          <a:p>
            <a:pPr algn="just"/>
            <a:r>
              <a:rPr lang="en-US" dirty="0"/>
              <a:t>Tests should reflect the profile of use of the system.</a:t>
            </a:r>
          </a:p>
          <a:p>
            <a:pPr algn="just"/>
            <a:r>
              <a:rPr lang="en-US" dirty="0"/>
              <a:t>Performance tests usually involve planning a series of tests where the load is steadily increased until the system performance becomes unacceptable.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Let's say system can process </a:t>
            </a:r>
            <a:r>
              <a:rPr lang="en-US" dirty="0" err="1"/>
              <a:t>upto</a:t>
            </a:r>
            <a:r>
              <a:rPr lang="en-US" dirty="0"/>
              <a:t> 300 transactions at a time, start with lesser than 300 and deliberately increase the load until it reaches beyond the designed threshold and system fails.</a:t>
            </a:r>
          </a:p>
          <a:p>
            <a:pPr algn="just"/>
            <a:r>
              <a:rPr lang="en-US" dirty="0"/>
              <a:t>Stress testing is helpful for:</a:t>
            </a:r>
          </a:p>
          <a:p>
            <a:pPr lvl="1" algn="just"/>
            <a:r>
              <a:rPr lang="en-US" u="sng" dirty="0"/>
              <a:t>Identifying a “fail-soft” attitude i.e., it doesn't involve data corruption or loss of user service.</a:t>
            </a:r>
          </a:p>
          <a:p>
            <a:pPr lvl="1" algn="just"/>
            <a:r>
              <a:rPr lang="en-US" u="sng" dirty="0"/>
              <a:t>Identifying maximum load a system can bare.</a:t>
            </a:r>
          </a:p>
          <a:p>
            <a:pPr algn="just"/>
            <a:r>
              <a:rPr lang="en-US" dirty="0"/>
              <a:t>Mostly</a:t>
            </a:r>
            <a:r>
              <a:rPr lang="en-US" b="1" dirty="0"/>
              <a:t>, Stress testing is done </a:t>
            </a:r>
            <a:r>
              <a:rPr lang="en-US" u="sng" dirty="0"/>
              <a:t>Showing all the defects that occur when system operates </a:t>
            </a:r>
            <a:r>
              <a:rPr lang="en-US" b="1" dirty="0"/>
              <a:t>for distributed environments</a:t>
            </a:r>
            <a:r>
              <a:rPr lang="en-US" dirty="0"/>
              <a:t>. </a:t>
            </a:r>
            <a:r>
              <a:rPr lang="en-US" b="1" dirty="0"/>
              <a:t>System degradation starts as soon as the threshold limit exceeds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So, conduct tests to identify the point at which system degradation starts.</a:t>
            </a:r>
          </a:p>
          <a:p>
            <a:pPr algn="just"/>
            <a:endParaRPr lang="en-US" dirty="0"/>
          </a:p>
          <a:p>
            <a:pPr lvl="1"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477581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09681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User testing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599946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Users formally test a system provided by the supplier.</a:t>
            </a:r>
          </a:p>
          <a:p>
            <a:pPr algn="just"/>
            <a:r>
              <a:rPr lang="en-US" dirty="0"/>
              <a:t>Users experience the new software product and identify whether the system is doing the intended work, check for interface and defects.</a:t>
            </a:r>
          </a:p>
          <a:p>
            <a:pPr algn="just"/>
            <a:r>
              <a:rPr lang="en-US" b="1" dirty="0"/>
              <a:t>User testing is essential</a:t>
            </a:r>
            <a:r>
              <a:rPr lang="en-US" dirty="0"/>
              <a:t>, even when comprehensive system and release testing have been carried out. </a:t>
            </a:r>
          </a:p>
          <a:p>
            <a:pPr lvl="1" algn="just"/>
            <a:r>
              <a:rPr lang="en-US" u="sng" dirty="0"/>
              <a:t>As the user’s working environment have a major effect on the reliability, performance, usability and robustness of a system.</a:t>
            </a:r>
            <a:r>
              <a:rPr lang="en-US" dirty="0"/>
              <a:t> These cannot be replicated in a testing environment.</a:t>
            </a:r>
            <a:endParaRPr lang="en-GB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user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/>
          <a:lstStyle/>
          <a:p>
            <a:r>
              <a:rPr lang="en-US" dirty="0"/>
              <a:t>Alpha testing</a:t>
            </a:r>
          </a:p>
          <a:p>
            <a:pPr lvl="1"/>
            <a:r>
              <a:rPr lang="en-US" dirty="0"/>
              <a:t>Users of the software work closely with the development team to test the software at the developer’s site.</a:t>
            </a:r>
          </a:p>
          <a:p>
            <a:pPr lvl="1"/>
            <a:r>
              <a:rPr lang="en-US" dirty="0"/>
              <a:t>Provide info to developers that will help them build an effective interface design.</a:t>
            </a:r>
            <a:endParaRPr lang="en-GB" dirty="0"/>
          </a:p>
          <a:p>
            <a:r>
              <a:rPr lang="en-US" dirty="0"/>
              <a:t>Beta testing</a:t>
            </a:r>
          </a:p>
          <a:p>
            <a:pPr lvl="1"/>
            <a:r>
              <a:rPr lang="en-US" dirty="0"/>
              <a:t>A release of the software is made available to users to allow them to experiment and to raise problems that they discover with the system developers.</a:t>
            </a:r>
          </a:p>
          <a:p>
            <a:pPr lvl="1"/>
            <a:r>
              <a:rPr lang="en-US" dirty="0"/>
              <a:t>Done by </a:t>
            </a:r>
            <a:r>
              <a:rPr lang="en-US" b="1" dirty="0"/>
              <a:t>early adopters of the system.</a:t>
            </a:r>
            <a:endParaRPr lang="en-GB" b="1" dirty="0"/>
          </a:p>
          <a:p>
            <a:r>
              <a:rPr lang="en-US" dirty="0"/>
              <a:t>Acceptance testing</a:t>
            </a:r>
          </a:p>
          <a:p>
            <a:pPr lvl="1"/>
            <a:r>
              <a:rPr lang="en-US" dirty="0"/>
              <a:t>Customers test a system to decide whether it is ready to be accepted from the system developers and deployed in the customer environment.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acceptance testing process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8.11 Acceptance Testing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2" y="2689134"/>
            <a:ext cx="10972800" cy="239572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in the acceptance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acceptance criteria : </a:t>
            </a:r>
          </a:p>
          <a:p>
            <a:pPr lvl="1"/>
            <a:r>
              <a:rPr lang="en-US" dirty="0"/>
              <a:t>uncertain requirements</a:t>
            </a:r>
          </a:p>
          <a:p>
            <a:pPr lvl="1"/>
            <a:r>
              <a:rPr lang="en-US" dirty="0"/>
              <a:t>Part of system contract by user </a:t>
            </a:r>
          </a:p>
          <a:p>
            <a:r>
              <a:rPr lang="en-US" dirty="0"/>
              <a:t>Plan acceptance testing</a:t>
            </a:r>
          </a:p>
          <a:p>
            <a:pPr lvl="1"/>
            <a:r>
              <a:rPr lang="en-US" dirty="0"/>
              <a:t>Decide resource, time, budget</a:t>
            </a:r>
          </a:p>
          <a:p>
            <a:pPr lvl="1"/>
            <a:r>
              <a:rPr lang="en-US" dirty="0"/>
              <a:t>Define risks associated with system  &amp; develop mitigation techniques</a:t>
            </a:r>
          </a:p>
          <a:p>
            <a:r>
              <a:rPr lang="en-US" dirty="0"/>
              <a:t>Derive acceptance tests</a:t>
            </a:r>
          </a:p>
          <a:p>
            <a:pPr lvl="1"/>
            <a:r>
              <a:rPr lang="en-US" dirty="0"/>
              <a:t>Test for functional / non-functional requirements</a:t>
            </a:r>
          </a:p>
          <a:p>
            <a:pPr lvl="1"/>
            <a:r>
              <a:rPr lang="en-US" dirty="0"/>
              <a:t>Complete coverage of system requirements.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in the acceptance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endParaRPr lang="en-US" dirty="0"/>
          </a:p>
          <a:p>
            <a:pPr algn="just"/>
            <a:r>
              <a:rPr lang="en-US" dirty="0"/>
              <a:t>Run acceptance tests</a:t>
            </a:r>
          </a:p>
          <a:p>
            <a:pPr lvl="1" algn="just"/>
            <a:r>
              <a:rPr lang="en-US" dirty="0"/>
              <a:t>Agreed acceptance tests executed on system</a:t>
            </a:r>
          </a:p>
          <a:p>
            <a:pPr lvl="1" algn="just"/>
            <a:r>
              <a:rPr lang="en-US" dirty="0"/>
              <a:t>Done in actual working environment</a:t>
            </a:r>
          </a:p>
          <a:p>
            <a:pPr algn="just"/>
            <a:r>
              <a:rPr lang="en-US" dirty="0"/>
              <a:t>Negotiate test results</a:t>
            </a:r>
          </a:p>
          <a:p>
            <a:pPr lvl="1" algn="just"/>
            <a:r>
              <a:rPr lang="en-US" dirty="0"/>
              <a:t>Hardly impossible that all test are passed &amp; system is error free </a:t>
            </a:r>
          </a:p>
          <a:p>
            <a:pPr lvl="1" algn="just"/>
            <a:r>
              <a:rPr lang="en-US" dirty="0"/>
              <a:t>If problems, occur the developer and customer negotiate for system acceptance or revision.</a:t>
            </a:r>
          </a:p>
          <a:p>
            <a:pPr algn="just"/>
            <a:r>
              <a:rPr lang="en-US" dirty="0"/>
              <a:t>Reject/accept system</a:t>
            </a:r>
          </a:p>
          <a:p>
            <a:pPr lvl="1" algn="just"/>
            <a:r>
              <a:rPr lang="en-US" dirty="0"/>
              <a:t>If system is not up to mark, the revision is required </a:t>
            </a:r>
          </a:p>
          <a:p>
            <a:pPr lvl="1" algn="just"/>
            <a:r>
              <a:rPr lang="en-US" dirty="0"/>
              <a:t>If not, then its accepted </a:t>
            </a:r>
          </a:p>
          <a:p>
            <a:pPr lvl="1"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8 Software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105B8D-1C36-1C40-961B-CAAB1DD98B2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487643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2138</Words>
  <Application>Microsoft Office PowerPoint</Application>
  <PresentationFormat>Widescreen</PresentationFormat>
  <Paragraphs>267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SE10 slides</vt:lpstr>
      <vt:lpstr>Component testing</vt:lpstr>
      <vt:lpstr>Interface testing</vt:lpstr>
      <vt:lpstr>Interface testing</vt:lpstr>
      <vt:lpstr>Interface testing </vt:lpstr>
      <vt:lpstr>Types of Interface errors </vt:lpstr>
      <vt:lpstr>Interface testing challenges via examples</vt:lpstr>
      <vt:lpstr>Interface testing guidelines</vt:lpstr>
      <vt:lpstr>System testing</vt:lpstr>
      <vt:lpstr>Difference between System and component testing</vt:lpstr>
      <vt:lpstr>Use-case based system testing</vt:lpstr>
      <vt:lpstr>Collect weather data sequence chart </vt:lpstr>
      <vt:lpstr>Test cases derived from sequence diagram</vt:lpstr>
      <vt:lpstr>Testing policies</vt:lpstr>
      <vt:lpstr>Test-driven development</vt:lpstr>
      <vt:lpstr>Test-driven development</vt:lpstr>
      <vt:lpstr>Test-driven development</vt:lpstr>
      <vt:lpstr>TDD process activities explained</vt:lpstr>
      <vt:lpstr>Benefits of test-driven development</vt:lpstr>
      <vt:lpstr>Regression testing</vt:lpstr>
      <vt:lpstr>Release testing</vt:lpstr>
      <vt:lpstr>Release testing</vt:lpstr>
      <vt:lpstr>Release testing and system testing</vt:lpstr>
      <vt:lpstr>Requirements based testing</vt:lpstr>
      <vt:lpstr>Requirements based testing : case study </vt:lpstr>
      <vt:lpstr>Performance testing</vt:lpstr>
      <vt:lpstr>Performance testing</vt:lpstr>
      <vt:lpstr>User testing</vt:lpstr>
      <vt:lpstr>User testing</vt:lpstr>
      <vt:lpstr>Types of user testing</vt:lpstr>
      <vt:lpstr>The acceptance testing process </vt:lpstr>
      <vt:lpstr>Stages in the acceptance testing process</vt:lpstr>
      <vt:lpstr>Stages in the acceptance testing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software Testing</dc:title>
  <dc:creator>Fast</dc:creator>
  <cp:lastModifiedBy>Hajra  Ahmed</cp:lastModifiedBy>
  <cp:revision>18</cp:revision>
  <dcterms:created xsi:type="dcterms:W3CDTF">2022-04-14T05:22:02Z</dcterms:created>
  <dcterms:modified xsi:type="dcterms:W3CDTF">2026-03-27T02:59:58Z</dcterms:modified>
</cp:coreProperties>
</file>