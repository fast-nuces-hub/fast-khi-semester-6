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80" r:id="rId17"/>
    <p:sldId id="272" r:id="rId18"/>
    <p:sldId id="273" r:id="rId19"/>
    <p:sldId id="274" r:id="rId20"/>
    <p:sldId id="275" r:id="rId21"/>
    <p:sldId id="276" r:id="rId22"/>
    <p:sldId id="277" r:id="rId23"/>
    <p:sldId id="279"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8" d="100"/>
          <a:sy n="108" d="100"/>
        </p:scale>
        <p:origin x="5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6394424-015D-414D-A4E7-DF266884A275}"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88220126"/>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46DC345-8399-480A-888A-760ABFBEB9E0}"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19267266"/>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B7C10CA-7830-49CC-BADB-26B93D6525FF}"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01100834"/>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113882F-8899-4FC7-AEDC-1DF9803A9002}"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286392"/>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0BE16A9-48FB-44B3-9A3C-F2BAD5F09A4F}"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0304871"/>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8CC0D86-23E5-4597-8AE5-DF58B60C67AB}"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91555502"/>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FB05C4A-B9CD-4036-B658-55DAC1BF988B}"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96863720"/>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52CF81-5F44-4961-9360-CF27286A6FDA}"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13358360"/>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4571F4-380A-40CB-934C-B257F5084DAC}"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45284963"/>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F91EB33-70BD-420B-8AEA-02B152485540}"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67844123"/>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99D778F-0331-4D58-BAEC-78E542BCF605}"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98798127"/>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178053D-E327-4023-8822-D50D48DBED94}" type="datetime1">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438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426954"/>
            <a:ext cx="8229600" cy="1143000"/>
          </a:xfrm>
        </p:spPr>
        <p:txBody>
          <a:bodyPr/>
          <a:lstStyle/>
          <a:p>
            <a:pPr algn="ctr"/>
            <a:r>
              <a:rPr lang="en-US" dirty="0"/>
              <a:t>Architectural patterns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06CA2D5-A020-4594-91E9-81675C840376}"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94685625"/>
      </p:ext>
    </p:extLst>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a:xfrm>
            <a:off x="448234" y="1388270"/>
            <a:ext cx="11134165" cy="4999877"/>
          </a:xfrm>
        </p:spPr>
        <p:txBody>
          <a:bodyPr/>
          <a:lstStyle/>
          <a:p>
            <a:r>
              <a:rPr lang="en-US" b="1" dirty="0"/>
              <a:t>Patterns:</a:t>
            </a:r>
            <a:r>
              <a:rPr lang="en-US" dirty="0"/>
              <a:t> </a:t>
            </a:r>
          </a:p>
          <a:p>
            <a:pPr lvl="1"/>
            <a:r>
              <a:rPr lang="en-US" b="1" dirty="0"/>
              <a:t>a way of representing, sharing and reusing knowledge about software systems</a:t>
            </a:r>
            <a:r>
              <a:rPr lang="en-US" dirty="0"/>
              <a:t>.</a:t>
            </a:r>
          </a:p>
          <a:p>
            <a:pPr lvl="1"/>
            <a:r>
              <a:rPr lang="en-US" dirty="0"/>
              <a:t>described using narrative descriptions or diagrams.</a:t>
            </a:r>
          </a:p>
          <a:p>
            <a:pPr lvl="1"/>
            <a:r>
              <a:rPr lang="en-US" dirty="0"/>
              <a:t>Must include the </a:t>
            </a:r>
            <a:r>
              <a:rPr lang="en-US" b="1" dirty="0"/>
              <a:t>pattern’s strength and weaknesses.</a:t>
            </a:r>
          </a:p>
          <a:p>
            <a:pPr lvl="1"/>
            <a:r>
              <a:rPr lang="en-US" b="1" dirty="0"/>
              <a:t>Pattern description </a:t>
            </a:r>
            <a:r>
              <a:rPr lang="en-US" dirty="0"/>
              <a:t>include:</a:t>
            </a:r>
          </a:p>
          <a:p>
            <a:pPr lvl="2"/>
            <a:r>
              <a:rPr lang="en-US" b="1" dirty="0"/>
              <a:t>Pattern name</a:t>
            </a:r>
          </a:p>
          <a:p>
            <a:pPr lvl="2"/>
            <a:r>
              <a:rPr lang="en-US" b="1" dirty="0"/>
              <a:t>Brief description</a:t>
            </a:r>
          </a:p>
          <a:p>
            <a:pPr lvl="2"/>
            <a:r>
              <a:rPr lang="en-US" b="1" dirty="0"/>
              <a:t>Graphical model</a:t>
            </a:r>
          </a:p>
          <a:p>
            <a:pPr lvl="2"/>
            <a:r>
              <a:rPr lang="en-US" b="1" dirty="0"/>
              <a:t>Example of a relevant system </a:t>
            </a:r>
            <a:r>
              <a:rPr lang="en-US" dirty="0"/>
              <a:t>where that pattern have already been used.</a:t>
            </a:r>
          </a:p>
          <a:p>
            <a:pPr lvl="2"/>
            <a:r>
              <a:rPr lang="en-US" dirty="0"/>
              <a:t>When to use that pattern , </a:t>
            </a:r>
            <a:r>
              <a:rPr lang="en-US" b="1" dirty="0"/>
              <a:t>pros &amp; cons of the pattern</a:t>
            </a:r>
            <a:r>
              <a:rPr lang="en-US" dirty="0"/>
              <a:t>.</a:t>
            </a:r>
          </a:p>
          <a:p>
            <a:r>
              <a:rPr lang="en-US" dirty="0"/>
              <a:t>The fundamental idea behind arch. is separation of concern and data independence. Because it is beneficial for incorporating the localized changes only.</a:t>
            </a:r>
          </a:p>
          <a:p>
            <a:r>
              <a:rPr lang="en-US" dirty="0"/>
              <a:t>We will discuss some widely used architectural patterns.</a:t>
            </a:r>
          </a:p>
          <a:p>
            <a:pPr marL="0" indent="0">
              <a:buNone/>
            </a:pP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D462C7A-5DA8-4DAB-9593-0B6CC0894B1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05854251"/>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p>
        </p:txBody>
      </p:sp>
      <p:sp>
        <p:nvSpPr>
          <p:cNvPr id="3" name="Content Placeholder 2"/>
          <p:cNvSpPr>
            <a:spLocks noGrp="1"/>
          </p:cNvSpPr>
          <p:nvPr>
            <p:ph idx="1"/>
          </p:nvPr>
        </p:nvSpPr>
        <p:spPr>
          <a:xfrm>
            <a:off x="251011" y="1417638"/>
            <a:ext cx="11519647" cy="4525963"/>
          </a:xfrm>
        </p:spPr>
        <p:txBody>
          <a:bodyPr/>
          <a:lstStyle/>
          <a:p>
            <a:pPr algn="just"/>
            <a:r>
              <a:rPr lang="en-US" b="1" dirty="0"/>
              <a:t>Split application into multiple sections </a:t>
            </a:r>
            <a:r>
              <a:rPr lang="en-US" dirty="0"/>
              <a:t>all have own purpose</a:t>
            </a:r>
          </a:p>
          <a:p>
            <a:pPr algn="just"/>
            <a:r>
              <a:rPr lang="en-US" dirty="0"/>
              <a:t>User sent request to controller</a:t>
            </a:r>
          </a:p>
          <a:p>
            <a:pPr algn="just"/>
            <a:r>
              <a:rPr lang="en-US" dirty="0"/>
              <a:t>Controller being the middleman between model and view, processes the client request and sent to the Model</a:t>
            </a:r>
          </a:p>
          <a:p>
            <a:pPr algn="just"/>
            <a:r>
              <a:rPr lang="en-US" dirty="0"/>
              <a:t>Model handles data logic, access database and does authentication/update/delete or whatever is needed to perform on data.</a:t>
            </a:r>
          </a:p>
          <a:p>
            <a:pPr algn="just"/>
            <a:r>
              <a:rPr lang="en-US" dirty="0"/>
              <a:t>Controller pass the raw information received from model to view</a:t>
            </a:r>
          </a:p>
          <a:p>
            <a:pPr algn="just"/>
            <a:r>
              <a:rPr lang="en-US" dirty="0"/>
              <a:t>View renders the data  </a:t>
            </a:r>
          </a:p>
          <a:p>
            <a:pPr algn="just"/>
            <a:r>
              <a:rPr lang="en-US" dirty="0"/>
              <a:t>Return to controller and controller send response to client</a:t>
            </a:r>
          </a:p>
          <a:p>
            <a:pPr algn="just"/>
            <a:r>
              <a:rPr lang="en-US" dirty="0"/>
              <a:t>This is a way to </a:t>
            </a:r>
            <a:r>
              <a:rPr lang="en-US" b="1" dirty="0"/>
              <a:t>segregate data presentation from data logic</a:t>
            </a:r>
            <a:r>
              <a:rPr lang="en-US" dirty="0"/>
              <a:t>.</a:t>
            </a:r>
          </a:p>
          <a:p>
            <a:pPr marL="0" indent="0" algn="just">
              <a:buNone/>
            </a:pPr>
            <a:endParaRPr lang="en-US" dirty="0"/>
          </a:p>
          <a:p>
            <a:pPr marL="0" indent="0" algn="just">
              <a:buNone/>
            </a:pPr>
            <a:r>
              <a:rPr lang="en-US" dirty="0"/>
              <a:t> </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D462C7A-5DA8-4DAB-9593-0B6CC0894B1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5375682"/>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 summary</a:t>
            </a:r>
            <a:r>
              <a:rPr lang="en-GB" dirty="0"/>
              <a:t> </a:t>
            </a:r>
            <a:endParaRPr lang="en-US" dirty="0"/>
          </a:p>
        </p:txBody>
      </p:sp>
      <p:graphicFrame>
        <p:nvGraphicFramePr>
          <p:cNvPr id="4" name="Content Placeholder 3"/>
          <p:cNvGraphicFramePr>
            <a:graphicFrameLocks noGrp="1"/>
          </p:cNvGraphicFramePr>
          <p:nvPr>
            <p:ph idx="1"/>
          </p:nvPr>
        </p:nvGraphicFramePr>
        <p:xfrm>
          <a:off x="609600" y="1693404"/>
          <a:ext cx="10972800" cy="4345859"/>
        </p:xfrm>
        <a:graphic>
          <a:graphicData uri="http://schemas.openxmlformats.org/drawingml/2006/table">
            <a:tbl>
              <a:tblPr firstRow="1" bandRow="1">
                <a:tableStyleId>{5C22544A-7EE6-4342-B048-85BDC9FD1C3A}</a:tableStyleId>
              </a:tblPr>
              <a:tblGrid>
                <a:gridCol w="2669223">
                  <a:extLst>
                    <a:ext uri="{9D8B030D-6E8A-4147-A177-3AD203B41FA5}">
                      <a16:colId xmlns:a16="http://schemas.microsoft.com/office/drawing/2014/main" val="20000"/>
                    </a:ext>
                  </a:extLst>
                </a:gridCol>
                <a:gridCol w="8303577">
                  <a:extLst>
                    <a:ext uri="{9D8B030D-6E8A-4147-A177-3AD203B41FA5}">
                      <a16:colId xmlns:a16="http://schemas.microsoft.com/office/drawing/2014/main" val="20001"/>
                    </a:ext>
                  </a:extLst>
                </a:gridCol>
              </a:tblGrid>
              <a:tr h="5200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33655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a:t>
                      </a:r>
                    </a:p>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divides applications into 3 parts. (Separation of concerns)</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 The Model component manages the system data and associated operations on that data.</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 The View component defines and manages how the data is presented to the user.</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 The Controller component manages user interaction (e.g., key presses, mouse clicks, etc.) and passes these interactions to the View and the Model. </a:t>
                      </a:r>
                    </a:p>
                  </a:txBody>
                  <a:tcPr marL="68580" marR="68580" marT="0" marB="0"/>
                </a:tc>
                <a:extLst>
                  <a:ext uri="{0D108BD9-81ED-4DB2-BD59-A6C34878D82A}">
                    <a16:rowId xmlns:a16="http://schemas.microsoft.com/office/drawing/2014/main" val="10001"/>
                  </a:ext>
                </a:extLst>
              </a:tr>
              <a:tr h="470132">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figure in successive slides shows the architecture of a </a:t>
                      </a:r>
                      <a:r>
                        <a:rPr lang="en-GB" sz="1400" b="1" dirty="0">
                          <a:solidFill>
                            <a:srgbClr val="000000"/>
                          </a:solidFill>
                          <a:latin typeface="Helvetica"/>
                          <a:ea typeface="Times New Roman"/>
                          <a:cs typeface="Helvetica"/>
                        </a:rPr>
                        <a:t>web-based application system </a:t>
                      </a:r>
                      <a:r>
                        <a:rPr lang="en-GB" sz="1400" dirty="0">
                          <a:solidFill>
                            <a:srgbClr val="000000"/>
                          </a:solidFill>
                          <a:latin typeface="Helvetica"/>
                          <a:ea typeface="Times New Roman"/>
                          <a:cs typeface="Helvetica"/>
                        </a:rPr>
                        <a:t>organized using the MVC pattern.</a:t>
                      </a:r>
                    </a:p>
                  </a:txBody>
                  <a:tcPr marL="68580" marR="68580" marT="0" marB="0"/>
                </a:tc>
                <a:extLst>
                  <a:ext uri="{0D108BD9-81ED-4DB2-BD59-A6C34878D82A}">
                    <a16:rowId xmlns:a16="http://schemas.microsoft.com/office/drawing/2014/main" val="10002"/>
                  </a:ext>
                </a:extLst>
              </a:tr>
              <a:tr h="695535">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a:t>
                      </a:r>
                      <a:r>
                        <a:rPr lang="en-GB" sz="1400" b="1" dirty="0">
                          <a:solidFill>
                            <a:srgbClr val="000000"/>
                          </a:solidFill>
                          <a:latin typeface="Helvetica"/>
                          <a:ea typeface="Times New Roman"/>
                          <a:cs typeface="Helvetica"/>
                        </a:rPr>
                        <a:t>when:</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there are multiple ways to view and interact with data. </a:t>
                      </a:r>
                      <a:endParaRPr lang="en-GB" sz="1400" dirty="0">
                        <a:solidFill>
                          <a:srgbClr val="000000"/>
                        </a:solidFill>
                        <a:latin typeface="Helvetica"/>
                        <a:ea typeface="Times New Roman"/>
                        <a:cs typeface="Helvetica"/>
                      </a:endParaRP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the future requirements for interaction and presentation of data are unknown.</a:t>
                      </a:r>
                      <a:r>
                        <a:rPr lang="en-GB" sz="1400" dirty="0">
                          <a:solidFill>
                            <a:srgbClr val="000000"/>
                          </a:solidFill>
                          <a:latin typeface="Helvetica"/>
                          <a:ea typeface="Times New Roman"/>
                          <a:cs typeface="Helvetica"/>
                        </a:rPr>
                        <a:t> </a:t>
                      </a:r>
                    </a:p>
                  </a:txBody>
                  <a:tcPr marL="68580" marR="68580" marT="0" marB="0"/>
                </a:tc>
                <a:extLst>
                  <a:ext uri="{0D108BD9-81ED-4DB2-BD59-A6C34878D82A}">
                    <a16:rowId xmlns:a16="http://schemas.microsoft.com/office/drawing/2014/main" val="10003"/>
                  </a:ext>
                </a:extLst>
              </a:tr>
              <a:tr h="695535">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a:t>
                      </a:r>
                      <a:r>
                        <a:rPr lang="en-GB" sz="1400" b="1" dirty="0">
                          <a:solidFill>
                            <a:srgbClr val="000000"/>
                          </a:solidFill>
                          <a:latin typeface="Helvetica"/>
                          <a:ea typeface="Times New Roman"/>
                          <a:cs typeface="Helvetica"/>
                        </a:rPr>
                        <a:t>adding a new view or changing an existing one might not affect the underlying data in the model</a:t>
                      </a:r>
                      <a:r>
                        <a:rPr lang="en-GB" sz="1400" dirty="0">
                          <a:solidFill>
                            <a:srgbClr val="000000"/>
                          </a:solidFill>
                          <a:latin typeface="Helvetica"/>
                          <a:ea typeface="Times New Roman"/>
                          <a:cs typeface="Helvetica"/>
                        </a:rPr>
                        <a:t>)</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Supports multiple presentations of the same data (changes made in one representation reflected in all of them.)</a:t>
                      </a:r>
                    </a:p>
                  </a:txBody>
                  <a:tcPr marL="68580" marR="68580" marT="0" marB="0"/>
                </a:tc>
                <a:extLst>
                  <a:ext uri="{0D108BD9-81ED-4DB2-BD59-A6C34878D82A}">
                    <a16:rowId xmlns:a16="http://schemas.microsoft.com/office/drawing/2014/main" val="10004"/>
                  </a:ext>
                </a:extLst>
              </a:tr>
              <a:tr h="47013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Can involve additional code and increase code complexity.</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4654E4C-4722-4CF2-81BD-7EDEC1E0C642}"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33903462"/>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organization of the Model-View-Controller</a:t>
            </a:r>
            <a:r>
              <a:rPr lang="en-GB" dirty="0"/>
              <a:t> </a:t>
            </a: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3A2F9D6-E893-4F66-A288-35A9A30E8FB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1D2BDABC-7F09-4A85-B119-74F78E3C3C6A}"/>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rcRect l="5735" t="15425" r="28970" b="20392"/>
          <a:stretch/>
        </p:blipFill>
        <p:spPr>
          <a:xfrm>
            <a:off x="1828799" y="1595717"/>
            <a:ext cx="7960659" cy="4401672"/>
          </a:xfrm>
          <a:prstGeom prst="rect">
            <a:avLst/>
          </a:prstGeom>
        </p:spPr>
      </p:pic>
    </p:spTree>
    <p:extLst>
      <p:ext uri="{BB962C8B-B14F-4D97-AF65-F5344CB8AC3E}">
        <p14:creationId xmlns:p14="http://schemas.microsoft.com/office/powerpoint/2010/main" val="83587185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MVC based web application</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3A2F9D6-E893-4F66-A288-35A9A30E8FB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4D910705-DFBC-4CC7-B3F7-446F94C754A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rcRect l="6030" t="15163" r="29338" b="20915"/>
          <a:stretch/>
        </p:blipFill>
        <p:spPr>
          <a:xfrm>
            <a:off x="1604682" y="1695124"/>
            <a:ext cx="9143999" cy="4383741"/>
          </a:xfrm>
          <a:prstGeom prst="rect">
            <a:avLst/>
          </a:prstGeom>
        </p:spPr>
      </p:pic>
    </p:spTree>
    <p:extLst>
      <p:ext uri="{BB962C8B-B14F-4D97-AF65-F5344CB8AC3E}">
        <p14:creationId xmlns:p14="http://schemas.microsoft.com/office/powerpoint/2010/main" val="3413867016"/>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MVC based web application</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3A2F9D6-E893-4F66-A288-35A9A30E8FB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27BA0218-9F31-408F-8ABE-DFF19E4AA6C9}"/>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rcRect l="5735" t="14509" r="28333" b="20784"/>
          <a:stretch/>
        </p:blipFill>
        <p:spPr>
          <a:xfrm>
            <a:off x="1524000" y="1837765"/>
            <a:ext cx="9398922" cy="3801035"/>
          </a:xfrm>
          <a:prstGeom prst="rect">
            <a:avLst/>
          </a:prstGeom>
        </p:spPr>
      </p:pic>
    </p:spTree>
    <p:extLst>
      <p:ext uri="{BB962C8B-B14F-4D97-AF65-F5344CB8AC3E}">
        <p14:creationId xmlns:p14="http://schemas.microsoft.com/office/powerpoint/2010/main" val="477975417"/>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Layered architecture</a:t>
            </a:r>
          </a:p>
        </p:txBody>
      </p:sp>
      <p:sp>
        <p:nvSpPr>
          <p:cNvPr id="19459" name="Rectangle 3"/>
          <p:cNvSpPr>
            <a:spLocks noGrp="1" noChangeArrowheads="1"/>
          </p:cNvSpPr>
          <p:nvPr>
            <p:ph idx="1"/>
          </p:nvPr>
        </p:nvSpPr>
        <p:spPr>
          <a:xfrm>
            <a:off x="421341" y="1417638"/>
            <a:ext cx="11161059" cy="5027986"/>
          </a:xfrm>
          <a:noFill/>
          <a:ln/>
        </p:spPr>
        <p:txBody>
          <a:bodyPr lIns="90487" tIns="44450" rIns="90487" bIns="44450"/>
          <a:lstStyle/>
          <a:p>
            <a:pPr algn="just"/>
            <a:r>
              <a:rPr lang="en-GB" b="1" dirty="0"/>
              <a:t>Organises the system functionality into a set of layers each of which provide a set of services.</a:t>
            </a:r>
          </a:p>
          <a:p>
            <a:pPr algn="just"/>
            <a:r>
              <a:rPr lang="en-GB" dirty="0"/>
              <a:t>Typically, </a:t>
            </a:r>
            <a:r>
              <a:rPr lang="en-GB" b="1" dirty="0"/>
              <a:t>layers are UI, Auth &amp; Authorization, Business logic, OS / DB</a:t>
            </a:r>
          </a:p>
          <a:p>
            <a:pPr algn="just"/>
            <a:r>
              <a:rPr lang="en-GB" b="1" dirty="0"/>
              <a:t>Every layer relies on </a:t>
            </a:r>
            <a:r>
              <a:rPr lang="en-GB" dirty="0"/>
              <a:t>facilities and services offered </a:t>
            </a:r>
            <a:r>
              <a:rPr lang="en-GB" b="1" dirty="0"/>
              <a:t>by the layer immediately beneath it.</a:t>
            </a:r>
          </a:p>
          <a:p>
            <a:pPr algn="just"/>
            <a:r>
              <a:rPr lang="en-GB" dirty="0"/>
              <a:t>Upper layer talk to layer below that, </a:t>
            </a:r>
            <a:r>
              <a:rPr lang="en-GB" b="1" dirty="0"/>
              <a:t>no jumping between layers is allowed</a:t>
            </a:r>
          </a:p>
          <a:p>
            <a:pPr algn="just"/>
            <a:r>
              <a:rPr lang="en-GB" b="1" dirty="0"/>
              <a:t>Lower layers never called to upper layer </a:t>
            </a:r>
            <a:r>
              <a:rPr lang="en-GB" dirty="0"/>
              <a:t>they just replied to the inputs from upper layer</a:t>
            </a:r>
          </a:p>
          <a:p>
            <a:pPr algn="just"/>
            <a:r>
              <a:rPr lang="en-GB" dirty="0"/>
              <a:t>Requesting something from a layer means </a:t>
            </a:r>
            <a:r>
              <a:rPr lang="en-GB" b="1" dirty="0"/>
              <a:t>iterating down to multiple layers</a:t>
            </a:r>
          </a:p>
          <a:p>
            <a:pPr algn="just"/>
            <a:r>
              <a:rPr lang="en-GB" b="1" dirty="0"/>
              <a:t>Structuring tasks into teams is easy</a:t>
            </a:r>
            <a:r>
              <a:rPr lang="en-GB" dirty="0"/>
              <a:t> as multiple teams may work for different layers. </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5DDA-ED76-4BF9-9197-4F24B18A813B}"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8968451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Layered architecture</a:t>
            </a:r>
          </a:p>
        </p:txBody>
      </p:sp>
      <p:sp>
        <p:nvSpPr>
          <p:cNvPr id="19459" name="Rectangle 3"/>
          <p:cNvSpPr>
            <a:spLocks noGrp="1" noChangeArrowheads="1"/>
          </p:cNvSpPr>
          <p:nvPr>
            <p:ph idx="1"/>
          </p:nvPr>
        </p:nvSpPr>
        <p:spPr>
          <a:xfrm>
            <a:off x="609600" y="1584703"/>
            <a:ext cx="10972800" cy="4525963"/>
          </a:xfrm>
          <a:noFill/>
          <a:ln/>
        </p:spPr>
        <p:txBody>
          <a:bodyPr lIns="90487" tIns="44450" rIns="90487" bIns="44450"/>
          <a:lstStyle/>
          <a:p>
            <a:r>
              <a:rPr lang="en-GB" dirty="0"/>
              <a:t>Advantages:</a:t>
            </a:r>
          </a:p>
          <a:p>
            <a:pPr lvl="1"/>
            <a:r>
              <a:rPr lang="en-GB" dirty="0"/>
              <a:t>Easy to embed NFRs like security by inserting a layer without disrupting the whole system i.e., </a:t>
            </a:r>
            <a:r>
              <a:rPr lang="en-GB" b="1" dirty="0"/>
              <a:t>build on top-down approach</a:t>
            </a:r>
          </a:p>
          <a:p>
            <a:pPr lvl="1"/>
            <a:r>
              <a:rPr lang="en-GB" dirty="0"/>
              <a:t>When a </a:t>
            </a:r>
            <a:r>
              <a:rPr lang="en-GB" b="1" dirty="0"/>
              <a:t>layer is updated</a:t>
            </a:r>
            <a:r>
              <a:rPr lang="en-GB" dirty="0"/>
              <a:t>, then only the </a:t>
            </a:r>
            <a:r>
              <a:rPr lang="en-GB" b="1" dirty="0"/>
              <a:t>adjacent layer is affected.</a:t>
            </a:r>
          </a:p>
          <a:p>
            <a:pPr lvl="1"/>
            <a:r>
              <a:rPr lang="en-GB" b="1" dirty="0"/>
              <a:t>Easy to support multi-platform applications as only the machine-dependent layers need some changes to support multi-OS or databases.</a:t>
            </a:r>
          </a:p>
          <a:p>
            <a:pPr lvl="1"/>
            <a:r>
              <a:rPr lang="en-GB" b="1" dirty="0"/>
              <a:t>Module replacement or upgradation is easy</a:t>
            </a:r>
          </a:p>
          <a:p>
            <a:r>
              <a:rPr lang="en-GB" dirty="0"/>
              <a:t>Disadvantages:</a:t>
            </a:r>
          </a:p>
          <a:p>
            <a:pPr lvl="1"/>
            <a:r>
              <a:rPr lang="en-GB" b="1" dirty="0"/>
              <a:t>performance is an issue as a request has to go over multiple layers for a reply</a:t>
            </a:r>
          </a:p>
          <a:p>
            <a:pPr lvl="1"/>
            <a:r>
              <a:rPr lang="en-GB" dirty="0"/>
              <a:t>Its really </a:t>
            </a:r>
            <a:r>
              <a:rPr lang="en-GB" b="1" dirty="0"/>
              <a:t>difficult to code, like avoid going to specific layers </a:t>
            </a:r>
          </a:p>
          <a:p>
            <a:pPr lvl="2"/>
            <a:r>
              <a:rPr lang="en-GB" b="1" dirty="0"/>
              <a:t>(creating this level of independence between layers is quite challenging)</a:t>
            </a:r>
            <a:r>
              <a:rPr lang="en-GB" dirty="0"/>
              <a:t>.</a:t>
            </a:r>
          </a:p>
          <a:p>
            <a:pPr lvl="1"/>
            <a:endParaRPr lang="en-GB" dirty="0"/>
          </a:p>
          <a:p>
            <a:pPr lvl="1"/>
            <a:endParaRPr lang="en-GB" dirty="0"/>
          </a:p>
          <a:p>
            <a:pPr marL="0" indent="0">
              <a:buNone/>
            </a:pPr>
            <a:endParaRPr lang="en-GB"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5DDA-ED76-4BF9-9197-4F24B18A813B}"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1711332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 summary</a:t>
            </a:r>
            <a:r>
              <a:rPr lang="en-GB" dirty="0"/>
              <a:t> </a:t>
            </a:r>
            <a:endParaRPr lang="en-US" dirty="0"/>
          </a:p>
        </p:txBody>
      </p:sp>
      <p:graphicFrame>
        <p:nvGraphicFramePr>
          <p:cNvPr id="4" name="Content Placeholder 3"/>
          <p:cNvGraphicFramePr>
            <a:graphicFrameLocks noGrp="1"/>
          </p:cNvGraphicFramePr>
          <p:nvPr>
            <p:ph idx="1"/>
          </p:nvPr>
        </p:nvGraphicFramePr>
        <p:xfrm>
          <a:off x="609600" y="1621198"/>
          <a:ext cx="10972800" cy="4440055"/>
        </p:xfrm>
        <a:graphic>
          <a:graphicData uri="http://schemas.openxmlformats.org/drawingml/2006/table">
            <a:tbl>
              <a:tblPr firstRow="1" bandRow="1">
                <a:tableStyleId>{5C22544A-7EE6-4342-B048-85BDC9FD1C3A}</a:tableStyleId>
              </a:tblPr>
              <a:tblGrid>
                <a:gridCol w="2993503">
                  <a:extLst>
                    <a:ext uri="{9D8B030D-6E8A-4147-A177-3AD203B41FA5}">
                      <a16:colId xmlns:a16="http://schemas.microsoft.com/office/drawing/2014/main" val="20000"/>
                    </a:ext>
                  </a:extLst>
                </a:gridCol>
                <a:gridCol w="7979297">
                  <a:extLst>
                    <a:ext uri="{9D8B030D-6E8A-4147-A177-3AD203B41FA5}">
                      <a16:colId xmlns:a16="http://schemas.microsoft.com/office/drawing/2014/main" val="20001"/>
                    </a:ext>
                  </a:extLst>
                </a:gridCol>
              </a:tblGrid>
              <a:tr h="318939">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81288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a:t>
                      </a:r>
                    </a:p>
                  </a:txBody>
                  <a:tcPr marL="68580" marR="68580" marT="0" marB="0"/>
                </a:tc>
                <a:extLst>
                  <a:ext uri="{0D108BD9-81ED-4DB2-BD59-A6C34878D82A}">
                    <a16:rowId xmlns:a16="http://schemas.microsoft.com/office/drawing/2014/main" val="10001"/>
                  </a:ext>
                </a:extLst>
              </a:tr>
              <a:tr h="40644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a:t>
                      </a:r>
                    </a:p>
                  </a:txBody>
                  <a:tcPr marL="68580" marR="68580" marT="0" marB="0"/>
                </a:tc>
                <a:extLst>
                  <a:ext uri="{0D108BD9-81ED-4DB2-BD59-A6C34878D82A}">
                    <a16:rowId xmlns:a16="http://schemas.microsoft.com/office/drawing/2014/main" val="10002"/>
                  </a:ext>
                </a:extLst>
              </a:tr>
              <a:tr h="733996">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building new facilities on top of existing systems</a:t>
                      </a:r>
                      <a:r>
                        <a:rPr lang="en-GB" sz="1400" dirty="0">
                          <a:solidFill>
                            <a:srgbClr val="000000"/>
                          </a:solidFill>
                          <a:latin typeface="Helvetica"/>
                          <a:ea typeface="Times New Roman"/>
                          <a:cs typeface="Helvetica"/>
                        </a:rPr>
                        <a:t>;</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development is spread across several teams</a:t>
                      </a:r>
                      <a:r>
                        <a:rPr lang="en-GB" sz="1400" dirty="0">
                          <a:solidFill>
                            <a:srgbClr val="000000"/>
                          </a:solidFill>
                          <a:latin typeface="Helvetica"/>
                          <a:ea typeface="Times New Roman"/>
                          <a:cs typeface="Helvetica"/>
                        </a:rPr>
                        <a:t> with each team responsibility for a layer of functionality; </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There is a </a:t>
                      </a:r>
                      <a:r>
                        <a:rPr lang="en-GB" sz="1400" b="1" dirty="0">
                          <a:solidFill>
                            <a:srgbClr val="000000"/>
                          </a:solidFill>
                          <a:latin typeface="Helvetica"/>
                          <a:ea typeface="Times New Roman"/>
                          <a:cs typeface="Helvetica"/>
                        </a:rPr>
                        <a:t>requirement for multi-level security</a:t>
                      </a:r>
                      <a:r>
                        <a:rPr lang="en-GB" sz="1400" dirty="0">
                          <a:solidFill>
                            <a:srgbClr val="000000"/>
                          </a:solidFill>
                          <a:latin typeface="Helvetica"/>
                          <a:ea typeface="Times New Roman"/>
                          <a:cs typeface="Helvetica"/>
                        </a:rPr>
                        <a:t>.</a:t>
                      </a:r>
                    </a:p>
                  </a:txBody>
                  <a:tcPr marL="68580" marR="68580" marT="0" marB="0"/>
                </a:tc>
                <a:extLst>
                  <a:ext uri="{0D108BD9-81ED-4DB2-BD59-A6C34878D82A}">
                    <a16:rowId xmlns:a16="http://schemas.microsoft.com/office/drawing/2014/main" val="10003"/>
                  </a:ext>
                </a:extLst>
              </a:tr>
              <a:tr h="733996">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110099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a:t>
                      </a:r>
                      <a:r>
                        <a:rPr lang="en-GB" sz="1400" b="1" dirty="0">
                          <a:solidFill>
                            <a:srgbClr val="000000"/>
                          </a:solidFill>
                          <a:latin typeface="Helvetica"/>
                          <a:ea typeface="Times New Roman"/>
                          <a:cs typeface="Helvetica"/>
                        </a:rPr>
                        <a:t>providing a clean separation between layers is often difficult</a:t>
                      </a:r>
                      <a:r>
                        <a:rPr lang="en-GB" sz="1400" dirty="0">
                          <a:solidFill>
                            <a:srgbClr val="000000"/>
                          </a:solidFill>
                          <a:latin typeface="Helvetica"/>
                          <a:ea typeface="Times New Roman"/>
                          <a:cs typeface="Helvetica"/>
                        </a:rPr>
                        <a:t> and a high-level layer may have to interact directly with lower-level layers rather than through the layer immediately below it. </a:t>
                      </a:r>
                      <a:r>
                        <a:rPr lang="en-GB" sz="1400" b="1" dirty="0">
                          <a:solidFill>
                            <a:srgbClr val="000000"/>
                          </a:solidFill>
                          <a:latin typeface="Helvetica"/>
                          <a:ea typeface="Times New Roman"/>
                          <a:cs typeface="Helvetica"/>
                        </a:rPr>
                        <a:t>Performance</a:t>
                      </a:r>
                      <a:r>
                        <a:rPr lang="en-GB" sz="1400" dirty="0">
                          <a:solidFill>
                            <a:srgbClr val="000000"/>
                          </a:solidFill>
                          <a:latin typeface="Helvetica"/>
                          <a:ea typeface="Times New Roman"/>
                          <a:cs typeface="Helvetica"/>
                        </a:rPr>
                        <a:t>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58B6466-F8B3-4DDC-8595-DA5ACC7CB0AB}"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43551165"/>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2300804" y="1887484"/>
            <a:ext cx="7271456" cy="3999021"/>
          </a:xfrm>
        </p:spPr>
      </p:pic>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CAE96A7-DD1E-45F2-9577-64E35B714322}"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21394013"/>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iLearn system</a:t>
            </a:r>
            <a:r>
              <a:rPr lang="en-GB" dirty="0"/>
              <a:t> case study</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5037" y="1585961"/>
            <a:ext cx="5781175" cy="4810291"/>
          </a:xfrm>
          <a:prstGeom prst="rect">
            <a:avLst/>
          </a:prstGeom>
        </p:spPr>
      </p:pic>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EA0305A-A40F-4C9B-ACB3-612F8635F854}"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53251874"/>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Repository architecture</a:t>
            </a:r>
          </a:p>
        </p:txBody>
      </p:sp>
      <p:sp>
        <p:nvSpPr>
          <p:cNvPr id="13315" name="Rectangle 3"/>
          <p:cNvSpPr>
            <a:spLocks noGrp="1" noChangeArrowheads="1"/>
          </p:cNvSpPr>
          <p:nvPr>
            <p:ph idx="1"/>
          </p:nvPr>
        </p:nvSpPr>
        <p:spPr>
          <a:noFill/>
          <a:ln/>
        </p:spPr>
        <p:txBody>
          <a:bodyPr lIns="90487" tIns="44450" rIns="90487" bIns="44450"/>
          <a:lstStyle/>
          <a:p>
            <a:pPr>
              <a:lnSpc>
                <a:spcPct val="90000"/>
              </a:lnSpc>
            </a:pPr>
            <a:r>
              <a:rPr lang="en-GB" b="1" dirty="0"/>
              <a:t>Sub-systems must exchange data</a:t>
            </a:r>
            <a:r>
              <a:rPr lang="en-GB" dirty="0"/>
              <a:t>. </a:t>
            </a:r>
          </a:p>
          <a:p>
            <a:pPr>
              <a:lnSpc>
                <a:spcPct val="90000"/>
              </a:lnSpc>
            </a:pPr>
            <a:r>
              <a:rPr lang="en-GB" dirty="0"/>
              <a:t>This may be done in two ways:</a:t>
            </a:r>
          </a:p>
          <a:p>
            <a:pPr lvl="1">
              <a:lnSpc>
                <a:spcPct val="90000"/>
              </a:lnSpc>
            </a:pPr>
            <a:r>
              <a:rPr lang="en-GB" b="1" dirty="0"/>
              <a:t>Shared data is held in a central database or repository </a:t>
            </a:r>
            <a:r>
              <a:rPr lang="en-GB" dirty="0"/>
              <a:t>and may be accessed by all sub-systems.</a:t>
            </a:r>
          </a:p>
          <a:p>
            <a:pPr lvl="1">
              <a:lnSpc>
                <a:spcPct val="90000"/>
              </a:lnSpc>
            </a:pPr>
            <a:r>
              <a:rPr lang="en-GB" b="1" dirty="0"/>
              <a:t>Each sub-system maintains its own database and passes data explicitly</a:t>
            </a:r>
            <a:r>
              <a:rPr lang="en-GB" dirty="0"/>
              <a:t> to other sub-systems.</a:t>
            </a:r>
          </a:p>
          <a:p>
            <a:pPr>
              <a:lnSpc>
                <a:spcPct val="90000"/>
              </a:lnSpc>
            </a:pPr>
            <a:r>
              <a:rPr lang="en-GB" dirty="0"/>
              <a:t>When </a:t>
            </a:r>
            <a:r>
              <a:rPr lang="en-GB" b="1" dirty="0"/>
              <a:t>large amounts of data </a:t>
            </a:r>
            <a:r>
              <a:rPr lang="en-GB" dirty="0"/>
              <a:t>are to be shared, the </a:t>
            </a:r>
            <a:r>
              <a:rPr lang="en-GB" b="1" dirty="0"/>
              <a:t>repository model </a:t>
            </a:r>
            <a:r>
              <a:rPr lang="en-GB" dirty="0"/>
              <a:t>of sharing is most commonly used as this is an efficient data-sharing mechanism.</a:t>
            </a:r>
          </a:p>
          <a:p>
            <a:pPr>
              <a:lnSpc>
                <a:spcPct val="90000"/>
              </a:lnSpc>
            </a:pPr>
            <a:r>
              <a:rPr lang="en-GB" dirty="0"/>
              <a:t>It’s a static structure and doesn’t change at runtime. (difference from client-server architecture).</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AAE5289-7A78-4D9D-99A2-EC15F4F60940}"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899330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93268679"/>
              </p:ext>
            </p:extLst>
          </p:nvPr>
        </p:nvGraphicFramePr>
        <p:xfrm>
          <a:off x="615576" y="1596931"/>
          <a:ext cx="10972800" cy="4454246"/>
        </p:xfrm>
        <a:graphic>
          <a:graphicData uri="http://schemas.openxmlformats.org/drawingml/2006/table">
            <a:tbl>
              <a:tblPr firstRow="1" bandRow="1">
                <a:tableStyleId>{5C22544A-7EE6-4342-B048-85BDC9FD1C3A}</a:tableStyleId>
              </a:tblPr>
              <a:tblGrid>
                <a:gridCol w="2579146">
                  <a:extLst>
                    <a:ext uri="{9D8B030D-6E8A-4147-A177-3AD203B41FA5}">
                      <a16:colId xmlns:a16="http://schemas.microsoft.com/office/drawing/2014/main" val="20000"/>
                    </a:ext>
                  </a:extLst>
                </a:gridCol>
                <a:gridCol w="8393654">
                  <a:extLst>
                    <a:ext uri="{9D8B030D-6E8A-4147-A177-3AD203B41FA5}">
                      <a16:colId xmlns:a16="http://schemas.microsoft.com/office/drawing/2014/main" val="20001"/>
                    </a:ext>
                  </a:extLst>
                </a:gridCol>
              </a:tblGrid>
              <a:tr h="525298">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60445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60445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Examples are:</a:t>
                      </a:r>
                    </a:p>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Interactive Development Environment for software, MIS etc.</a:t>
                      </a:r>
                    </a:p>
                  </a:txBody>
                  <a:tcPr marL="68580" marR="68580" marT="0" marB="0"/>
                </a:tc>
                <a:extLst>
                  <a:ext uri="{0D108BD9-81ED-4DB2-BD59-A6C34878D82A}">
                    <a16:rowId xmlns:a16="http://schemas.microsoft.com/office/drawing/2014/main" val="10002"/>
                  </a:ext>
                </a:extLst>
              </a:tr>
              <a:tr h="90668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When:</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large volumes of information are generated that has to be stored for a long time. </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90668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Advantages</a:t>
                      </a:r>
                      <a:endParaRPr lang="en-GB" sz="1400" dirty="0">
                        <a:solidFill>
                          <a:srgbClr val="000000"/>
                        </a:solidFill>
                        <a:latin typeface="Helvetica"/>
                        <a:ea typeface="Times New Roman"/>
                        <a:cs typeface="Helvetica"/>
                      </a:endParaRPr>
                    </a:p>
                  </a:txBody>
                  <a:tcPr marL="68580" marR="68580" marT="0" marB="0"/>
                </a:tc>
                <a:tc>
                  <a:txBody>
                    <a:bodyPr/>
                    <a:lstStyle/>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Components can be independent</a:t>
                      </a:r>
                      <a:r>
                        <a:rPr lang="en-GB" sz="1400" dirty="0">
                          <a:solidFill>
                            <a:srgbClr val="000000"/>
                          </a:solidFill>
                          <a:latin typeface="Helvetica"/>
                          <a:ea typeface="Times New Roman"/>
                          <a:cs typeface="Helvetica"/>
                        </a:rPr>
                        <a:t>—they do not need to know of the existence of other components. </a:t>
                      </a:r>
                      <a:r>
                        <a:rPr lang="en-GB" sz="1400" b="1" dirty="0">
                          <a:solidFill>
                            <a:srgbClr val="000000"/>
                          </a:solidFill>
                          <a:latin typeface="Helvetica"/>
                          <a:ea typeface="Times New Roman"/>
                          <a:cs typeface="Helvetica"/>
                        </a:rPr>
                        <a:t>Changes made by one component can be propagated to all components</a:t>
                      </a:r>
                      <a:r>
                        <a:rPr lang="en-GB" sz="1400" dirty="0">
                          <a:solidFill>
                            <a:srgbClr val="000000"/>
                          </a:solidFill>
                          <a:latin typeface="Helvetica"/>
                          <a:ea typeface="Times New Roman"/>
                          <a:cs typeface="Helvetica"/>
                        </a:rPr>
                        <a:t>. </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All data can be managed consistently</a:t>
                      </a:r>
                      <a:r>
                        <a:rPr lang="en-GB" sz="1400" dirty="0">
                          <a:solidFill>
                            <a:srgbClr val="000000"/>
                          </a:solidFill>
                          <a:latin typeface="Helvetica"/>
                          <a:ea typeface="Times New Roman"/>
                          <a:cs typeface="Helvetica"/>
                        </a:rPr>
                        <a:t> (e.g., backups done at the same time) ~ central repository</a:t>
                      </a:r>
                    </a:p>
                  </a:txBody>
                  <a:tcPr marL="68580" marR="68580" marT="0" marB="0"/>
                </a:tc>
                <a:extLst>
                  <a:ext uri="{0D108BD9-81ED-4DB2-BD59-A6C34878D82A}">
                    <a16:rowId xmlns:a16="http://schemas.microsoft.com/office/drawing/2014/main" val="10004"/>
                  </a:ext>
                </a:extLst>
              </a:tr>
              <a:tr h="90668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The </a:t>
                      </a:r>
                      <a:r>
                        <a:rPr lang="en-GB" sz="1400" b="1" dirty="0">
                          <a:solidFill>
                            <a:srgbClr val="000000"/>
                          </a:solidFill>
                          <a:latin typeface="Helvetica"/>
                          <a:ea typeface="Times New Roman"/>
                          <a:cs typeface="Helvetica"/>
                        </a:rPr>
                        <a:t>repository is a single point of failure </a:t>
                      </a:r>
                      <a:r>
                        <a:rPr lang="en-GB" sz="1400" dirty="0">
                          <a:solidFill>
                            <a:srgbClr val="000000"/>
                          </a:solidFill>
                          <a:latin typeface="Helvetica"/>
                          <a:ea typeface="Times New Roman"/>
                          <a:cs typeface="Helvetica"/>
                        </a:rPr>
                        <a:t>so problems in the repository affect the whole system.</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Distributing the repository across several computers may be difficult</a:t>
                      </a:r>
                      <a:r>
                        <a:rPr lang="en-GB" sz="1400" dirty="0">
                          <a:solidFill>
                            <a:srgbClr val="000000"/>
                          </a:solidFill>
                          <a:latin typeface="Helvetica"/>
                          <a:ea typeface="Times New Roman"/>
                          <a:cs typeface="Helvetica"/>
                        </a:rPr>
                        <a: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2D45791-70DD-46A0-9DBC-07F9A455E7EC}"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51205627"/>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2278457" y="1600201"/>
            <a:ext cx="7244433" cy="3984159"/>
          </a:xfrm>
        </p:spPr>
      </p:pic>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09182FF-DE6C-409A-941A-593F3FCAA93E}"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14395118"/>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a:t>
            </a:r>
            <a:r>
              <a:rPr lang="en-US"/>
              <a:t>repository architecture EXAMPLE</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09182FF-DE6C-409A-941A-593F3FCAA93E}"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Data-Centered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986" y="1852727"/>
            <a:ext cx="7072132" cy="3791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735892"/>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Client-server architecture</a:t>
            </a:r>
          </a:p>
        </p:txBody>
      </p:sp>
      <p:sp>
        <p:nvSpPr>
          <p:cNvPr id="16387" name="Rectangle 3"/>
          <p:cNvSpPr>
            <a:spLocks noGrp="1" noChangeArrowheads="1"/>
          </p:cNvSpPr>
          <p:nvPr>
            <p:ph idx="1"/>
          </p:nvPr>
        </p:nvSpPr>
        <p:spPr>
          <a:noFill/>
          <a:ln/>
        </p:spPr>
        <p:txBody>
          <a:bodyPr lIns="90487" tIns="44450" rIns="90487" bIns="44450"/>
          <a:lstStyle/>
          <a:p>
            <a:pPr>
              <a:lnSpc>
                <a:spcPct val="90000"/>
              </a:lnSpc>
            </a:pPr>
            <a:r>
              <a:rPr lang="en-GB" dirty="0"/>
              <a:t>Runtime organization of  distributed systems</a:t>
            </a:r>
          </a:p>
          <a:p>
            <a:pPr>
              <a:lnSpc>
                <a:spcPct val="90000"/>
              </a:lnSpc>
            </a:pPr>
            <a:r>
              <a:rPr lang="en-GB" dirty="0"/>
              <a:t>A set of services mounted over associated servers and client access the services via servers.</a:t>
            </a:r>
          </a:p>
          <a:p>
            <a:pPr>
              <a:lnSpc>
                <a:spcPct val="90000"/>
              </a:lnSpc>
            </a:pPr>
            <a:r>
              <a:rPr lang="en-GB" dirty="0"/>
              <a:t>Components:</a:t>
            </a:r>
          </a:p>
          <a:p>
            <a:pPr lvl="1">
              <a:lnSpc>
                <a:spcPct val="90000"/>
              </a:lnSpc>
            </a:pPr>
            <a:r>
              <a:rPr lang="en-GB" b="1" dirty="0"/>
              <a:t>A set of Servers</a:t>
            </a:r>
            <a:r>
              <a:rPr lang="en-GB" dirty="0"/>
              <a:t>: print server, file server, management server etc.</a:t>
            </a:r>
          </a:p>
          <a:p>
            <a:pPr lvl="1">
              <a:lnSpc>
                <a:spcPct val="90000"/>
              </a:lnSpc>
            </a:pPr>
            <a:r>
              <a:rPr lang="en-GB" b="1" dirty="0"/>
              <a:t>A set of clients</a:t>
            </a:r>
            <a:r>
              <a:rPr lang="en-GB" dirty="0"/>
              <a:t>: different instances of a client program running concurrently on multiple machines to access service offered by server.</a:t>
            </a:r>
          </a:p>
          <a:p>
            <a:pPr lvl="1">
              <a:lnSpc>
                <a:spcPct val="90000"/>
              </a:lnSpc>
            </a:pPr>
            <a:r>
              <a:rPr lang="en-GB" b="1" dirty="0"/>
              <a:t>Network</a:t>
            </a:r>
            <a:r>
              <a:rPr lang="en-GB" dirty="0"/>
              <a:t>: distributed system architecture using internet protocols  </a:t>
            </a:r>
          </a:p>
          <a:p>
            <a:pPr>
              <a:lnSpc>
                <a:spcPct val="90000"/>
              </a:lnSpc>
            </a:pPr>
            <a:r>
              <a:rPr lang="en-GB" dirty="0"/>
              <a:t>Client access services offered by servers via remote procedure invocation using request-reply protocols.</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4E5D32D-CA1D-4E35-B081-CD066177823A}"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8446196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 summary</a:t>
            </a:r>
            <a:r>
              <a:rPr lang="en-GB" dirty="0"/>
              <a:t> </a:t>
            </a:r>
            <a:endParaRPr lang="en-US" dirty="0"/>
          </a:p>
        </p:txBody>
      </p:sp>
      <p:graphicFrame>
        <p:nvGraphicFramePr>
          <p:cNvPr id="4" name="Content Placeholder 3"/>
          <p:cNvGraphicFramePr>
            <a:graphicFrameLocks noGrp="1"/>
          </p:cNvGraphicFramePr>
          <p:nvPr>
            <p:ph idx="1"/>
          </p:nvPr>
        </p:nvGraphicFramePr>
        <p:xfrm>
          <a:off x="609600" y="1483347"/>
          <a:ext cx="10910046" cy="4873004"/>
        </p:xfrm>
        <a:graphic>
          <a:graphicData uri="http://schemas.openxmlformats.org/drawingml/2006/table">
            <a:tbl>
              <a:tblPr firstRow="1" bandRow="1">
                <a:tableStyleId>{5C22544A-7EE6-4342-B048-85BDC9FD1C3A}</a:tableStyleId>
              </a:tblPr>
              <a:tblGrid>
                <a:gridCol w="1497105">
                  <a:extLst>
                    <a:ext uri="{9D8B030D-6E8A-4147-A177-3AD203B41FA5}">
                      <a16:colId xmlns:a16="http://schemas.microsoft.com/office/drawing/2014/main" val="20000"/>
                    </a:ext>
                  </a:extLst>
                </a:gridCol>
                <a:gridCol w="9412941">
                  <a:extLst>
                    <a:ext uri="{9D8B030D-6E8A-4147-A177-3AD203B41FA5}">
                      <a16:colId xmlns:a16="http://schemas.microsoft.com/office/drawing/2014/main" val="20001"/>
                    </a:ext>
                  </a:extLst>
                </a:gridCol>
              </a:tblGrid>
              <a:tr h="34467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793226">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9661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Generally used for web applications, email servers and file sharing systems</a:t>
                      </a:r>
                    </a:p>
                  </a:txBody>
                  <a:tcPr marL="68580" marR="68580" marT="0" marB="0"/>
                </a:tc>
                <a:extLst>
                  <a:ext uri="{0D108BD9-81ED-4DB2-BD59-A6C34878D82A}">
                    <a16:rowId xmlns:a16="http://schemas.microsoft.com/office/drawing/2014/main" val="10002"/>
                  </a:ext>
                </a:extLst>
              </a:tr>
              <a:tr h="1013685">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endParaRPr lang="en-GB" sz="1400" dirty="0">
                        <a:solidFill>
                          <a:srgbClr val="000000"/>
                        </a:solidFill>
                        <a:latin typeface="Helvetica"/>
                        <a:ea typeface="Times New Roman"/>
                        <a:cs typeface="Helvetica"/>
                      </a:endParaRPr>
                    </a:p>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 data in a shared database has to be accessed from a range of locations. </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May also be used when the load on a system is variable.</a:t>
                      </a:r>
                    </a:p>
                    <a:p>
                      <a:pPr marL="0" indent="0" algn="just">
                        <a:spcAft>
                          <a:spcPts val="0"/>
                        </a:spcAft>
                        <a:buFont typeface="Arial" panose="020B0604020202020204" pitchFamily="34" charset="0"/>
                        <a:buNone/>
                        <a:tabLst>
                          <a:tab pos="342900" algn="l"/>
                          <a:tab pos="685800" algn="l"/>
                          <a:tab pos="1028700" algn="l"/>
                        </a:tabLst>
                      </a:pPr>
                      <a:endParaRPr lang="en-GB" sz="14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3"/>
                  </a:ext>
                </a:extLst>
              </a:tr>
              <a:tr h="1216422">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Advantages</a:t>
                      </a:r>
                      <a:endParaRPr lang="en-GB" sz="1400" dirty="0">
                        <a:solidFill>
                          <a:srgbClr val="000000"/>
                        </a:solidFill>
                        <a:latin typeface="Helvetica"/>
                        <a:ea typeface="Times New Roman"/>
                        <a:cs typeface="Helvetica"/>
                      </a:endParaRPr>
                    </a:p>
                  </a:txBody>
                  <a:tcPr marL="68580" marR="68580" marT="0" marB="0"/>
                </a:tc>
                <a:tc>
                  <a:txBody>
                    <a:bodyPr/>
                    <a:lstStyle/>
                    <a:p>
                      <a:pPr marL="0" indent="0" algn="just">
                        <a:spcAft>
                          <a:spcPts val="0"/>
                        </a:spcAft>
                        <a:buFont typeface="Arial" panose="020B0604020202020204" pitchFamily="34" charset="0"/>
                        <a:buNone/>
                        <a:tabLst>
                          <a:tab pos="342900" algn="l"/>
                          <a:tab pos="685800" algn="l"/>
                          <a:tab pos="1028700" algn="l"/>
                        </a:tabLst>
                      </a:pPr>
                      <a:endParaRPr lang="en-GB" sz="1400" dirty="0">
                        <a:solidFill>
                          <a:srgbClr val="000000"/>
                        </a:solidFill>
                        <a:latin typeface="Helvetica"/>
                        <a:ea typeface="Times New Roman"/>
                        <a:cs typeface="Helvetica"/>
                      </a:endParaRP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Resource sharing</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Independent servers</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No single point failure</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transparent system upgradation</a:t>
                      </a:r>
                    </a:p>
                    <a:p>
                      <a:pPr marL="285750" indent="-285750" algn="just">
                        <a:spcAft>
                          <a:spcPts val="0"/>
                        </a:spcAft>
                        <a:buFont typeface="Arial" panose="020B0604020202020204" pitchFamily="34" charset="0"/>
                        <a:buChar char="•"/>
                        <a:tabLst>
                          <a:tab pos="342900" algn="l"/>
                          <a:tab pos="685800" algn="l"/>
                          <a:tab pos="1028700" algn="l"/>
                        </a:tabLst>
                      </a:pPr>
                      <a:endParaRPr lang="en-GB" sz="14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4"/>
                  </a:ext>
                </a:extLst>
              </a:tr>
              <a:tr h="991531">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Disadvantages</a:t>
                      </a:r>
                      <a:endParaRPr lang="en-GB" sz="1400" dirty="0">
                        <a:solidFill>
                          <a:srgbClr val="000000"/>
                        </a:solidFill>
                        <a:latin typeface="Helvetica"/>
                        <a:ea typeface="Times New Roman"/>
                        <a:cs typeface="Helvetica"/>
                      </a:endParaRPr>
                    </a:p>
                  </a:txBody>
                  <a:tcPr marL="68580" marR="68580" marT="0" marB="0"/>
                </a:tc>
                <a:tc>
                  <a:txBody>
                    <a:bodyPr/>
                    <a:lstStyle/>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a:t>
                      </a:r>
                      <a:r>
                        <a:rPr lang="en-GB" sz="1400" b="1" dirty="0">
                          <a:solidFill>
                            <a:srgbClr val="000000"/>
                          </a:solidFill>
                          <a:latin typeface="Helvetica"/>
                          <a:ea typeface="Times New Roman"/>
                          <a:cs typeface="Helvetica"/>
                        </a:rPr>
                        <a:t>denial of service attacks or server failure</a:t>
                      </a:r>
                      <a:r>
                        <a:rPr lang="en-GB" sz="1400" dirty="0">
                          <a:solidFill>
                            <a:srgbClr val="000000"/>
                          </a:solidFill>
                          <a:latin typeface="Helvetica"/>
                          <a:ea typeface="Times New Roman"/>
                          <a:cs typeface="Helvetica"/>
                        </a:rPr>
                        <a:t>. </a:t>
                      </a:r>
                    </a:p>
                    <a:p>
                      <a:pPr marL="285750" indent="-285750" algn="just">
                        <a:spcAft>
                          <a:spcPts val="0"/>
                        </a:spcAft>
                        <a:buFont typeface="Arial" panose="020B0604020202020204" pitchFamily="34" charset="0"/>
                        <a:buChar char="•"/>
                        <a:tabLst>
                          <a:tab pos="342900" algn="l"/>
                          <a:tab pos="685800" algn="l"/>
                          <a:tab pos="1028700" algn="l"/>
                        </a:tabLst>
                      </a:pPr>
                      <a:r>
                        <a:rPr lang="en-GB" sz="1400" b="1" dirty="0">
                          <a:solidFill>
                            <a:srgbClr val="000000"/>
                          </a:solidFill>
                          <a:latin typeface="Helvetica"/>
                          <a:ea typeface="Times New Roman"/>
                          <a:cs typeface="Helvetica"/>
                        </a:rPr>
                        <a:t>Performance may be unpredictable</a:t>
                      </a:r>
                      <a:r>
                        <a:rPr lang="en-GB" sz="1400" dirty="0">
                          <a:solidFill>
                            <a:srgbClr val="000000"/>
                          </a:solidFill>
                          <a:latin typeface="Helvetica"/>
                          <a:ea typeface="Times New Roman"/>
                          <a:cs typeface="Helvetica"/>
                        </a:rPr>
                        <a:t> because it depends on the network as well as the system.</a:t>
                      </a:r>
                    </a:p>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5A6D15D-8AA5-4A4B-B05E-3BDBC331A8F1}"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53385118"/>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client–server architecture for a film library</a:t>
            </a:r>
            <a:r>
              <a:rPr lang="en-GB" dirty="0"/>
              <a:t> </a:t>
            </a:r>
            <a:endParaRPr lang="en-US" dirty="0"/>
          </a:p>
        </p:txBody>
      </p:sp>
      <p:pic>
        <p:nvPicPr>
          <p:cNvPr id="4" name="Content Placeholder 3" descr="6.11 ClientServerFilmPhoto.eps"/>
          <p:cNvPicPr>
            <a:picLocks noGrp="1" noChangeAspect="1"/>
          </p:cNvPicPr>
          <p:nvPr>
            <p:ph idx="1"/>
          </p:nvPr>
        </p:nvPicPr>
        <p:blipFill>
          <a:blip r:embed="rId2"/>
          <a:srcRect l="-1062" r="-1062"/>
          <a:stretch>
            <a:fillRect/>
          </a:stretch>
        </p:blipFill>
        <p:spPr>
          <a:xfrm>
            <a:off x="2346014" y="1775831"/>
            <a:ext cx="7203898" cy="3961866"/>
          </a:xfrm>
        </p:spPr>
      </p:pic>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B6C6FFA-7C78-4696-8A4D-2D20A1FE223C}"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93459216"/>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Pipe and filter architecture</a:t>
            </a:r>
          </a:p>
        </p:txBody>
      </p:sp>
      <p:sp>
        <p:nvSpPr>
          <p:cNvPr id="33795" name="Rectangle 3"/>
          <p:cNvSpPr>
            <a:spLocks noGrp="1" noChangeArrowheads="1"/>
          </p:cNvSpPr>
          <p:nvPr>
            <p:ph idx="1"/>
          </p:nvPr>
        </p:nvSpPr>
        <p:spPr>
          <a:noFill/>
          <a:ln/>
        </p:spPr>
        <p:txBody>
          <a:bodyPr lIns="90487" tIns="44450" rIns="90487" bIns="44450"/>
          <a:lstStyle/>
          <a:p>
            <a:pPr algn="just">
              <a:lnSpc>
                <a:spcPct val="90000"/>
              </a:lnSpc>
            </a:pPr>
            <a:r>
              <a:rPr lang="en-GB" dirty="0"/>
              <a:t>Functional transformations process their inputs to produce outputs (that’s why its called as filter).</a:t>
            </a:r>
          </a:p>
          <a:p>
            <a:pPr algn="just">
              <a:lnSpc>
                <a:spcPct val="90000"/>
              </a:lnSpc>
            </a:pPr>
            <a:r>
              <a:rPr lang="en-GB" dirty="0"/>
              <a:t>May be referred to as a pipe and filter model (as in UNIX shell).</a:t>
            </a:r>
          </a:p>
          <a:p>
            <a:pPr algn="just">
              <a:lnSpc>
                <a:spcPct val="90000"/>
              </a:lnSpc>
            </a:pPr>
            <a:r>
              <a:rPr lang="en-GB" dirty="0"/>
              <a:t>Variants of this approach are very common. When transformations are sequential, this is </a:t>
            </a:r>
            <a:r>
              <a:rPr lang="en-GB" b="1" dirty="0"/>
              <a:t>a batch sequential model which is extensively used in data processing systems.</a:t>
            </a:r>
          </a:p>
          <a:p>
            <a:pPr algn="just">
              <a:lnSpc>
                <a:spcPct val="90000"/>
              </a:lnSpc>
            </a:pPr>
            <a:r>
              <a:rPr lang="en-GB" b="1" dirty="0"/>
              <a:t>Best for batch processing, embedded systems or systems with limited user interactions.</a:t>
            </a:r>
          </a:p>
          <a:p>
            <a:pPr algn="just">
              <a:lnSpc>
                <a:spcPct val="90000"/>
              </a:lnSpc>
            </a:pPr>
            <a:r>
              <a:rPr lang="en-GB" b="1" dirty="0"/>
              <a:t>Not really suitable for interactive systems </a:t>
            </a:r>
            <a:r>
              <a:rPr lang="en-GB" dirty="0"/>
              <a:t>because the input data stream needs to be pre-processed. GUI based I/O systems have complex input streams like mouse click events, for which converting into sequential in out stream is challenging.</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938B912-BFAF-411C-BA04-D528ABFD8ED6}"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874772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nvPr>
        </p:nvGraphicFramePr>
        <p:xfrm>
          <a:off x="609600" y="1600199"/>
          <a:ext cx="10972800" cy="4567093"/>
        </p:xfrm>
        <a:graphic>
          <a:graphicData uri="http://schemas.openxmlformats.org/drawingml/2006/table">
            <a:tbl>
              <a:tblPr firstRow="1" bandRow="1">
                <a:tableStyleId>{5C22544A-7EE6-4342-B048-85BDC9FD1C3A}</a:tableStyleId>
              </a:tblPr>
              <a:tblGrid>
                <a:gridCol w="2254867">
                  <a:extLst>
                    <a:ext uri="{9D8B030D-6E8A-4147-A177-3AD203B41FA5}">
                      <a16:colId xmlns:a16="http://schemas.microsoft.com/office/drawing/2014/main" val="20000"/>
                    </a:ext>
                  </a:extLst>
                </a:gridCol>
                <a:gridCol w="8717933">
                  <a:extLst>
                    <a:ext uri="{9D8B030D-6E8A-4147-A177-3AD203B41FA5}">
                      <a16:colId xmlns:a16="http://schemas.microsoft.com/office/drawing/2014/main" val="20001"/>
                    </a:ext>
                  </a:extLst>
                </a:gridCol>
              </a:tblGrid>
              <a:tr h="385628">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887473">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443737">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Coming figure is an example of a pipe and filter system used for processing invoices.</a:t>
                      </a:r>
                    </a:p>
                  </a:txBody>
                  <a:tcPr marL="68580" marR="68580" marT="0" marB="0"/>
                </a:tc>
                <a:extLst>
                  <a:ext uri="{0D108BD9-81ED-4DB2-BD59-A6C34878D82A}">
                    <a16:rowId xmlns:a16="http://schemas.microsoft.com/office/drawing/2014/main" val="10002"/>
                  </a:ext>
                </a:extLst>
              </a:tr>
              <a:tr h="681646">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marL="285750" indent="-285750" algn="just">
                        <a:spcAft>
                          <a:spcPts val="0"/>
                        </a:spcAft>
                        <a:buFont typeface="Arial" panose="020B0604020202020204" pitchFamily="34" charset="0"/>
                        <a:buChar char="•"/>
                        <a:tabLst>
                          <a:tab pos="342900" algn="l"/>
                          <a:tab pos="685800" algn="l"/>
                          <a:tab pos="1028700" algn="l"/>
                        </a:tabLst>
                      </a:pPr>
                      <a:r>
                        <a:rPr lang="en-GB" sz="1400" dirty="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p>
                      <a:pPr marL="285750" indent="-285750" algn="just">
                        <a:spcAft>
                          <a:spcPts val="0"/>
                        </a:spcAft>
                        <a:buFont typeface="Arial" panose="020B0604020202020204" pitchFamily="34" charset="0"/>
                        <a:buChar char="•"/>
                        <a:tabLst>
                          <a:tab pos="342900" algn="l"/>
                          <a:tab pos="685800" algn="l"/>
                          <a:tab pos="1028700" algn="l"/>
                        </a:tabLst>
                      </a:pPr>
                      <a:r>
                        <a:rPr lang="en-US" sz="1400" kern="1200" dirty="0">
                          <a:solidFill>
                            <a:srgbClr val="000000"/>
                          </a:solidFill>
                          <a:latin typeface="Helvetica"/>
                          <a:ea typeface="+mn-ea"/>
                          <a:cs typeface="Helvetica"/>
                        </a:rPr>
                        <a:t>Compilers. The consecutive filters perform lexical analysis, parsing, semantic analysis, and code generation</a:t>
                      </a:r>
                      <a:endParaRPr lang="en-GB" sz="1400" kern="12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3"/>
                  </a:ext>
                </a:extLst>
              </a:tr>
              <a:tr h="887473">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110934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format for data transfer has to be agreed upon between communicating transformations. Each transformation must parse its input and unparsed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3A828F1-5810-401B-A5A7-406B75E1323B}"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91435839"/>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 architecture</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2A1D021-A8FD-4B57-868A-1F54A7F6EA73}"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D4B4D6CF-B148-4245-B53A-1B8DE7FE2A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0" y="2742791"/>
            <a:ext cx="8059275" cy="1838582"/>
          </a:xfrm>
          <a:prstGeom prst="rect">
            <a:avLst/>
          </a:prstGeom>
        </p:spPr>
      </p:pic>
    </p:spTree>
    <p:extLst>
      <p:ext uri="{BB962C8B-B14F-4D97-AF65-F5344CB8AC3E}">
        <p14:creationId xmlns:p14="http://schemas.microsoft.com/office/powerpoint/2010/main" val="753845821"/>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 architecture example - object detection using CNN</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2A1D021-A8FD-4B57-868A-1F54A7F6EA73}"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26" name="Picture 2" descr="Convolutional Neural Network: A Step By Step Guide | by Shashikant |  Towards Data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236123"/>
            <a:ext cx="8382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144506"/>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 architecture example - payments system</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6 Architectural Design</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C33B370-F672-B743-B3AF-248A63C17270}"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2A1D021-A8FD-4B57-868A-1F54A7F6EA73}" type="datetime1">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08/03/2026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26" name="Picture 2" descr="pipe and filter architecture example">
            <a:extLst>
              <a:ext uri="{FF2B5EF4-FFF2-40B4-BE49-F238E27FC236}">
                <a16:creationId xmlns:a16="http://schemas.microsoft.com/office/drawing/2014/main" id="{6AC633F1-C166-4FD8-B42A-624114AA7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01115"/>
            <a:ext cx="1097280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495653"/>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1162</TotalTime>
  <Words>1849</Words>
  <Application>Microsoft Office PowerPoint</Application>
  <PresentationFormat>Widescreen</PresentationFormat>
  <Paragraphs>238</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Helvetica</vt:lpstr>
      <vt:lpstr>Wingdings</vt:lpstr>
      <vt:lpstr>SE10 slides</vt:lpstr>
      <vt:lpstr>Architectural patterns</vt:lpstr>
      <vt:lpstr>Architectural patterns</vt:lpstr>
      <vt:lpstr>MVC</vt:lpstr>
      <vt:lpstr>The Model-View-Controller (MVC) pattern summary </vt:lpstr>
      <vt:lpstr>The organization of the Model-View-Controller </vt:lpstr>
      <vt:lpstr>Example of MVC based web application</vt:lpstr>
      <vt:lpstr>Example of MVC based web application</vt:lpstr>
      <vt:lpstr>Layered architecture</vt:lpstr>
      <vt:lpstr>Layered architecture</vt:lpstr>
      <vt:lpstr>The Layered architecture pattern summary </vt:lpstr>
      <vt:lpstr>A generic layered architecture </vt:lpstr>
      <vt:lpstr>The architecture of the iLearn system case study</vt:lpstr>
      <vt:lpstr>Repository architecture</vt:lpstr>
      <vt:lpstr>The Repository pattern </vt:lpstr>
      <vt:lpstr>A repository architecture for an IDE </vt:lpstr>
      <vt:lpstr>A repository architecture EXAMPLE</vt:lpstr>
      <vt:lpstr>Client-server architecture</vt:lpstr>
      <vt:lpstr>The Client-server pattern summary </vt:lpstr>
      <vt:lpstr>A client–server architecture for a film library </vt:lpstr>
      <vt:lpstr>Pipe and filter architecture</vt:lpstr>
      <vt:lpstr>The pipe and filter pattern </vt:lpstr>
      <vt:lpstr>pipe and filter architecture</vt:lpstr>
      <vt:lpstr>pipe and filter architecture example - object detection using CNN</vt:lpstr>
      <vt:lpstr>pipe and filter architecture example - payments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patterns</dc:title>
  <dc:creator>hajra ahmed</dc:creator>
  <cp:lastModifiedBy>Hajra  Ahmed</cp:lastModifiedBy>
  <cp:revision>5</cp:revision>
  <dcterms:created xsi:type="dcterms:W3CDTF">2024-03-21T03:49:24Z</dcterms:created>
  <dcterms:modified xsi:type="dcterms:W3CDTF">2026-03-09T03:00:02Z</dcterms:modified>
</cp:coreProperties>
</file>