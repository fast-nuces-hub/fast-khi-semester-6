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022A6D-5036-4F0E-B893-50D32D761A59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B2E199-EF46-4781-9C89-A81D5E9F8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352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97396" y="4639124"/>
            <a:ext cx="5482974" cy="4113249"/>
          </a:xfrm>
          <a:ln/>
        </p:spPr>
        <p:txBody>
          <a:bodyPr lIns="96028" tIns="47172" rIns="96028" bIns="47172"/>
          <a:lstStyle/>
          <a:p>
            <a:endParaRPr lang="en-US"/>
          </a:p>
        </p:txBody>
      </p:sp>
      <p:sp>
        <p:nvSpPr>
          <p:cNvPr id="65539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01675" y="850900"/>
            <a:ext cx="6073775" cy="3417888"/>
          </a:xfrm>
          <a:ln cap="flat"/>
        </p:spPr>
      </p:sp>
    </p:spTree>
    <p:extLst>
      <p:ext uri="{BB962C8B-B14F-4D97-AF65-F5344CB8AC3E}">
        <p14:creationId xmlns:p14="http://schemas.microsoft.com/office/powerpoint/2010/main" val="1059485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997396" y="4639124"/>
            <a:ext cx="5482974" cy="4113249"/>
          </a:xfrm>
          <a:ln/>
        </p:spPr>
        <p:txBody>
          <a:bodyPr lIns="96028" tIns="47172" rIns="96028" bIns="47172"/>
          <a:lstStyle/>
          <a:p>
            <a:endParaRPr lang="en-US"/>
          </a:p>
        </p:txBody>
      </p:sp>
      <p:sp>
        <p:nvSpPr>
          <p:cNvPr id="67587" name="Rectangle 102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01675" y="850900"/>
            <a:ext cx="6073775" cy="3417888"/>
          </a:xfrm>
          <a:ln cap="flat"/>
        </p:spPr>
      </p:sp>
    </p:spTree>
    <p:extLst>
      <p:ext uri="{BB962C8B-B14F-4D97-AF65-F5344CB8AC3E}">
        <p14:creationId xmlns:p14="http://schemas.microsoft.com/office/powerpoint/2010/main" val="2096809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1 Introduction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30/10/2014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5CD492-2BC6-F348-9965-EC1D86DF57A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2943183"/>
      </p:ext>
    </p:extLst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charset="2"/>
              <a:buChar char="²"/>
              <a:defRPr sz="2400">
                <a:solidFill>
                  <a:srgbClr val="46424D"/>
                </a:solidFill>
                <a:latin typeface="Arial"/>
                <a:cs typeface="Arial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charset="2"/>
              <a:buChar char="§"/>
              <a:defRPr sz="2000">
                <a:solidFill>
                  <a:srgbClr val="46424D"/>
                </a:solidFill>
                <a:latin typeface="Arial"/>
                <a:cs typeface="Arial"/>
              </a:defRPr>
            </a:lvl2pPr>
            <a:lvl3pPr>
              <a:defRPr sz="1800">
                <a:solidFill>
                  <a:srgbClr val="46424D"/>
                </a:solidFill>
                <a:latin typeface="Arial"/>
                <a:cs typeface="Arial"/>
              </a:defRPr>
            </a:lvl3pPr>
            <a:lvl4pPr>
              <a:defRPr sz="1800">
                <a:solidFill>
                  <a:srgbClr val="46424D"/>
                </a:solidFill>
                <a:latin typeface="Arial"/>
                <a:cs typeface="Arial"/>
              </a:defRPr>
            </a:lvl4pPr>
            <a:lvl5pPr>
              <a:defRPr sz="1800">
                <a:solidFill>
                  <a:srgbClr val="46424D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1 Introduction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30/10/2014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5CD492-2BC6-F348-9965-EC1D86DF57A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7962103"/>
      </p:ext>
    </p:extLst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30/10/2014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20835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F2747F-ECC4-BB44-B379-DEBCDE6D0557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6082485"/>
      </p:ext>
    </p:extLst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30/10/2014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20835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6C1ACB-37F4-2E4E-A02F-3AD2C3500E5B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4627679"/>
      </p:ext>
    </p:extLst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30/10/2014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20835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C9741-E27D-6644-A29C-7357B3CA285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3155122"/>
      </p:ext>
    </p:extLst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30/10/2014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20835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A6FC00-01EB-8C4B-8EBA-327D665853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2214089"/>
      </p:ext>
    </p:extLst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30/10/2014</a:t>
            </a: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20835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C4B30A-E151-554F-9F57-FEC60EAD6DE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0112886"/>
      </p:ext>
    </p:extLst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30/10/2014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20835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F5AC9E-F104-7046-909E-B47A8243FECD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6503473"/>
      </p:ext>
    </p:extLst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30/10/2014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20835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9DDB79-4A56-9B43-9E32-8AACDB1BCC4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5844667"/>
      </p:ext>
    </p:extLst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30/10/2014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20835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70207B-D522-9843-9370-2EDD2ED326F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2706484"/>
      </p:ext>
    </p:extLst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30/10/2014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20835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Presentation title - </a:t>
            </a:r>
            <a:fld id="{DA4E4A1D-F72B-1945-8E69-DB563647006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16954"/>
      </p:ext>
    </p:extLst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9724309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609601" y="1419226"/>
            <a:ext cx="9741073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Sommerville Cover.jpg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3910" y="213186"/>
            <a:ext cx="1231725" cy="1219356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 flipV="1">
            <a:off x="609600" y="1417638"/>
            <a:ext cx="1095603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609600" y="1417638"/>
            <a:ext cx="1095603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1 Introduction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30/10/2014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5CD492-2BC6-F348-9965-EC1D86DF57A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360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wipe dir="r"/>
  </p:transition>
  <p:hf hdr="0" ftr="0" dt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/>
          <a:ea typeface="ＭＳ Ｐゴシック" charset="-128"/>
          <a:cs typeface="Arial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>
          <a:xfrm>
            <a:off x="4165600" y="2693987"/>
            <a:ext cx="4102217" cy="1470025"/>
          </a:xfrm>
        </p:spPr>
        <p:txBody>
          <a:bodyPr/>
          <a:lstStyle/>
          <a:p>
            <a:pPr eaLnBrk="1" hangingPunct="1"/>
            <a:r>
              <a:rPr lang="en-US" dirty="0"/>
              <a:t>Chapter 1- 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D5CD492-2BC6-F348-9965-EC1D86DF57A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5976849"/>
      </p:ext>
    </p:extLst>
  </p:cSld>
  <p:clrMapOvr>
    <a:masterClrMapping/>
  </p:clrMapOvr>
  <p:transition spd="med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covered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Professional software development</a:t>
            </a:r>
          </a:p>
          <a:p>
            <a:pPr lvl="1"/>
            <a:r>
              <a:rPr lang="en-US" dirty="0"/>
              <a:t>What is meant by software engineering &amp; why its important?</a:t>
            </a:r>
          </a:p>
          <a:p>
            <a:pPr lvl="1"/>
            <a:r>
              <a:rPr lang="en-US" dirty="0"/>
              <a:t>Development of different types of software requires different development methodologies</a:t>
            </a:r>
          </a:p>
          <a:p>
            <a:r>
              <a:rPr lang="en-US" dirty="0"/>
              <a:t>Software engineering ethics</a:t>
            </a:r>
          </a:p>
          <a:p>
            <a:pPr lvl="1"/>
            <a:r>
              <a:rPr lang="en-US" dirty="0"/>
              <a:t>A brief introduction to ethical &amp; professional concerns that affect software development.</a:t>
            </a:r>
          </a:p>
          <a:p>
            <a:r>
              <a:rPr lang="en-US" dirty="0"/>
              <a:t>Case studies</a:t>
            </a:r>
          </a:p>
          <a:p>
            <a:pPr lvl="1"/>
            <a:r>
              <a:rPr lang="en-US" dirty="0"/>
              <a:t>An introduction to three examples that are used in later chapters in the book.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D5CD492-2BC6-F348-9965-EC1D86DF57A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3492054"/>
      </p:ext>
    </p:extLst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engineering</a:t>
            </a:r>
          </a:p>
        </p:txBody>
      </p:sp>
      <p:sp>
        <p:nvSpPr>
          <p:cNvPr id="64517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economies of ALL developed nations are dependent on software.</a:t>
            </a:r>
          </a:p>
          <a:p>
            <a:r>
              <a:rPr lang="en-GB" dirty="0"/>
              <a:t>More and more systems are software controlled</a:t>
            </a:r>
          </a:p>
          <a:p>
            <a:r>
              <a:rPr lang="en-GB" b="1" dirty="0"/>
              <a:t>Software engineering is concerned with theories, methods and tools for professional software development.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D5CD492-2BC6-F348-9965-EC1D86DF57A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0235819"/>
      </p:ext>
    </p:extLst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costs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Software costs often dominate computer system costs. </a:t>
            </a:r>
          </a:p>
          <a:p>
            <a:pPr lvl="1"/>
            <a:r>
              <a:rPr lang="en-GB" dirty="0"/>
              <a:t>The costs of software on a PC are often greater than the hardware cost.</a:t>
            </a:r>
          </a:p>
          <a:p>
            <a:r>
              <a:rPr lang="en-GB" b="1" dirty="0"/>
              <a:t>Software costs more to maintain than it does to develop</a:t>
            </a:r>
            <a:r>
              <a:rPr lang="en-GB" dirty="0"/>
              <a:t>. </a:t>
            </a:r>
          </a:p>
          <a:p>
            <a:pPr lvl="1"/>
            <a:r>
              <a:rPr lang="en-GB" dirty="0"/>
              <a:t>For systems with a long life, maintenance costs may be several times development costs.</a:t>
            </a:r>
          </a:p>
          <a:p>
            <a:r>
              <a:rPr lang="en-GB" b="1" dirty="0"/>
              <a:t>Software engineering is concerned with cost-effective software development.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D5CD492-2BC6-F348-9965-EC1D86DF57A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46123"/>
      </p:ext>
    </p:extLst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Software projects fail?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i="1" dirty="0"/>
              <a:t>Increasing system complexity</a:t>
            </a:r>
            <a:r>
              <a:rPr lang="en-GB" dirty="0"/>
              <a:t> &amp; advancements in technology</a:t>
            </a:r>
          </a:p>
          <a:p>
            <a:pPr lvl="1" algn="just"/>
            <a:r>
              <a:rPr lang="en-GB" dirty="0"/>
              <a:t>As new software engineering techniques help us to build larger, more complex systems, the demands change. </a:t>
            </a:r>
            <a:r>
              <a:rPr lang="en-GB" b="1" dirty="0"/>
              <a:t>Systems have to be built and delivered more quickly</a:t>
            </a:r>
            <a:r>
              <a:rPr lang="en-GB" dirty="0"/>
              <a:t>; </a:t>
            </a:r>
            <a:r>
              <a:rPr lang="en-GB" b="1" dirty="0"/>
              <a:t>larger, even more complex systems are required</a:t>
            </a:r>
            <a:r>
              <a:rPr lang="en-GB" dirty="0"/>
              <a:t>; </a:t>
            </a:r>
            <a:r>
              <a:rPr lang="en-GB" b="1" dirty="0"/>
              <a:t>systems have to have new capabilities</a:t>
            </a:r>
            <a:r>
              <a:rPr lang="en-GB" dirty="0"/>
              <a:t> that were previously thought to be impossible. </a:t>
            </a:r>
          </a:p>
          <a:p>
            <a:pPr algn="just"/>
            <a:r>
              <a:rPr lang="en-GB" i="1" dirty="0"/>
              <a:t>Failure to use software engineering methods</a:t>
            </a:r>
            <a:r>
              <a:rPr lang="en-GB" dirty="0"/>
              <a:t> </a:t>
            </a:r>
          </a:p>
          <a:p>
            <a:pPr lvl="1" algn="just"/>
            <a:r>
              <a:rPr lang="en-GB" dirty="0"/>
              <a:t>Design something without plan and then evolving it as per needs</a:t>
            </a:r>
          </a:p>
          <a:p>
            <a:pPr lvl="1" algn="just"/>
            <a:r>
              <a:rPr lang="en-GB" dirty="0"/>
              <a:t>Fairly an easy way to development but their software is often more expensive and less reliable than it should be.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D5CD492-2BC6-F348-9965-EC1D86DF57A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9313843"/>
      </p:ext>
    </p:extLst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626958"/>
            <a:ext cx="9144000" cy="1143000"/>
          </a:xfrm>
        </p:spPr>
        <p:txBody>
          <a:bodyPr/>
          <a:lstStyle/>
          <a:p>
            <a:pPr algn="ctr"/>
            <a:r>
              <a:rPr lang="en-US" dirty="0"/>
              <a:t>Professional software development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D5CD492-2BC6-F348-9965-EC1D86DF57A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5423711"/>
      </p:ext>
    </p:extLst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1981200" y="274639"/>
            <a:ext cx="7688597" cy="1178486"/>
          </a:xfrm>
        </p:spPr>
        <p:txBody>
          <a:bodyPr/>
          <a:lstStyle/>
          <a:p>
            <a:pPr eaLnBrk="1" hangingPunct="1"/>
            <a:r>
              <a:rPr lang="en-GB" dirty="0"/>
              <a:t>Frequently asked questions about software engineering</a:t>
            </a:r>
            <a:br>
              <a:rPr lang="en-GB" dirty="0"/>
            </a:b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1636194"/>
          <a:ext cx="10972800" cy="4805817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4698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74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385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dirty="0">
                          <a:latin typeface="Arial"/>
                          <a:cs typeface="Arial"/>
                        </a:rPr>
                        <a:t>Question</a:t>
                      </a:r>
                      <a:endParaRPr lang="en-GB" sz="1400" b="1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73025" marB="73025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dirty="0">
                          <a:latin typeface="Arial"/>
                          <a:cs typeface="Arial"/>
                        </a:rPr>
                        <a:t>Answer</a:t>
                      </a:r>
                      <a:endParaRPr lang="en-GB" sz="1400" b="1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73025" marB="730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40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dirty="0">
                          <a:latin typeface="Arial"/>
                          <a:cs typeface="Arial"/>
                        </a:rPr>
                        <a:t>What is software?</a:t>
                      </a:r>
                      <a:endParaRPr lang="en-GB" sz="14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0" marB="6858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b="1" dirty="0">
                          <a:latin typeface="Arial"/>
                          <a:cs typeface="Arial"/>
                        </a:rPr>
                        <a:t>Computer programs and associated documentation</a:t>
                      </a:r>
                      <a:r>
                        <a:rPr lang="en-GB" sz="1400" dirty="0">
                          <a:latin typeface="Arial"/>
                          <a:cs typeface="Arial"/>
                        </a:rPr>
                        <a:t>. Software products may be </a:t>
                      </a:r>
                      <a:r>
                        <a:rPr lang="en-GB" sz="1400" b="1" dirty="0">
                          <a:latin typeface="Arial"/>
                          <a:cs typeface="Arial"/>
                        </a:rPr>
                        <a:t>developed for a particular customer or may be developed for a general market</a:t>
                      </a:r>
                      <a:r>
                        <a:rPr lang="en-GB" sz="1400" dirty="0">
                          <a:latin typeface="Arial"/>
                          <a:cs typeface="Arial"/>
                        </a:rPr>
                        <a:t>.</a:t>
                      </a:r>
                      <a:endParaRPr lang="en-GB" sz="14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0" marB="6858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40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dirty="0">
                          <a:latin typeface="Arial"/>
                          <a:cs typeface="Arial"/>
                        </a:rPr>
                        <a:t>What are the attributes of good software?</a:t>
                      </a:r>
                      <a:endParaRPr lang="en-GB" sz="14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0" marB="6858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b="1" dirty="0">
                          <a:latin typeface="Arial"/>
                          <a:cs typeface="Arial"/>
                        </a:rPr>
                        <a:t>deliver the required functionality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b="1" dirty="0">
                          <a:latin typeface="Arial"/>
                          <a:cs typeface="Arial"/>
                        </a:rPr>
                        <a:t>performance to the user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b="1" dirty="0">
                          <a:latin typeface="Arial"/>
                          <a:cs typeface="Arial"/>
                        </a:rPr>
                        <a:t>Maintainable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Robust 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User friendly</a:t>
                      </a:r>
                      <a:endParaRPr lang="en-GB" sz="14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0" marB="6858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85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dirty="0">
                          <a:latin typeface="Arial"/>
                          <a:cs typeface="Arial"/>
                        </a:rPr>
                        <a:t>What is software engineering?</a:t>
                      </a:r>
                      <a:endParaRPr lang="en-GB" sz="14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0" marB="6858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dirty="0">
                          <a:latin typeface="Arial"/>
                          <a:cs typeface="Arial"/>
                        </a:rPr>
                        <a:t>Software engineering is an engineering discipline that is concerned with </a:t>
                      </a:r>
                      <a:r>
                        <a:rPr lang="en-GB" sz="1400" b="1" dirty="0">
                          <a:latin typeface="Arial"/>
                          <a:cs typeface="Arial"/>
                        </a:rPr>
                        <a:t>all aspects of software production</a:t>
                      </a:r>
                      <a:r>
                        <a:rPr lang="en-GB" sz="1400" dirty="0">
                          <a:latin typeface="Arial"/>
                          <a:cs typeface="Arial"/>
                        </a:rPr>
                        <a:t>.</a:t>
                      </a:r>
                      <a:endParaRPr lang="en-GB" sz="14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0" marB="6858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385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>
                          <a:latin typeface="Arial"/>
                          <a:cs typeface="Arial"/>
                        </a:rPr>
                        <a:t>What are the fundamental software engineering activities?</a:t>
                      </a:r>
                      <a:endParaRPr lang="en-GB" sz="140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0" marB="6858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b="1" dirty="0">
                          <a:latin typeface="Arial"/>
                          <a:cs typeface="Arial"/>
                        </a:rPr>
                        <a:t>Software specification, software development, software validation and software evolution</a:t>
                      </a:r>
                      <a:r>
                        <a:rPr lang="en-GB" sz="1400" dirty="0">
                          <a:latin typeface="Arial"/>
                          <a:cs typeface="Arial"/>
                        </a:rPr>
                        <a:t>.</a:t>
                      </a:r>
                      <a:endParaRPr lang="en-GB" sz="14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0" marB="6858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340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dirty="0">
                          <a:latin typeface="Arial"/>
                          <a:cs typeface="Arial"/>
                        </a:rPr>
                        <a:t>What is the difference between software engineering and computer science?</a:t>
                      </a:r>
                      <a:endParaRPr lang="en-GB" sz="14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0" marB="6858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dirty="0">
                          <a:latin typeface="Arial"/>
                          <a:cs typeface="Arial"/>
                        </a:rPr>
                        <a:t>Computer science focuses on theory and fundamentals; software engineering is concerned with the practicalities of developing and delivering useful software.</a:t>
                      </a:r>
                      <a:endParaRPr lang="en-GB" sz="14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0" marB="6858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8866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dirty="0">
                          <a:latin typeface="Arial"/>
                          <a:cs typeface="Arial"/>
                        </a:rPr>
                        <a:t>What is the difference between software engineering and system engineering?</a:t>
                      </a:r>
                      <a:endParaRPr lang="en-GB" sz="14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0" marB="6858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dirty="0">
                          <a:latin typeface="Arial"/>
                          <a:cs typeface="Arial"/>
                        </a:rPr>
                        <a:t>System engineering is concerned with all aspects of computer-based systems development including hardware, software and process engineering. Software engineering is part of this more general process.</a:t>
                      </a:r>
                      <a:endParaRPr lang="en-GB" sz="14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0" marB="6858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D5CD492-2BC6-F348-9965-EC1D86DF57A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6960889"/>
      </p:ext>
    </p:extLst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Frequently asked questions about software engineering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1606758"/>
              </p:ext>
            </p:extLst>
          </p:nvPr>
        </p:nvGraphicFramePr>
        <p:xfrm>
          <a:off x="609600" y="1735300"/>
          <a:ext cx="10972800" cy="4272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9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3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/>
                          <a:cs typeface="Arial"/>
                        </a:rPr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/>
                          <a:cs typeface="Arial"/>
                        </a:rPr>
                        <a:t>Answer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dirty="0">
                          <a:latin typeface="Arial"/>
                          <a:cs typeface="Arial"/>
                        </a:rPr>
                        <a:t>What are the key challenges in software engineering?</a:t>
                      </a:r>
                      <a:endParaRPr lang="en-GB" sz="14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0" marB="6858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dirty="0">
                          <a:latin typeface="Arial"/>
                          <a:cs typeface="Arial"/>
                        </a:rPr>
                        <a:t>Coping with </a:t>
                      </a:r>
                      <a:r>
                        <a:rPr lang="en-GB" sz="1400" b="1" dirty="0">
                          <a:latin typeface="Arial"/>
                          <a:cs typeface="Arial"/>
                        </a:rPr>
                        <a:t>increasing diversity,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b="1" dirty="0">
                          <a:latin typeface="Arial"/>
                          <a:cs typeface="Arial"/>
                        </a:rPr>
                        <a:t>demands for reduced delivery times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b="1" dirty="0">
                          <a:latin typeface="Arial"/>
                          <a:cs typeface="Arial"/>
                        </a:rPr>
                        <a:t>and developing trustworthy software</a:t>
                      </a:r>
                      <a:r>
                        <a:rPr lang="en-GB" sz="1400" dirty="0">
                          <a:latin typeface="Arial"/>
                          <a:cs typeface="Arial"/>
                        </a:rPr>
                        <a:t>.</a:t>
                      </a:r>
                      <a:endParaRPr lang="en-GB" sz="14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0" marB="6858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dirty="0">
                          <a:latin typeface="Arial"/>
                          <a:cs typeface="Arial"/>
                        </a:rPr>
                        <a:t>What are the costs of software engineering?</a:t>
                      </a:r>
                      <a:endParaRPr lang="en-GB" sz="14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0" marB="6858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dirty="0">
                          <a:latin typeface="Arial"/>
                          <a:cs typeface="Arial"/>
                        </a:rPr>
                        <a:t>Roughly </a:t>
                      </a:r>
                      <a:r>
                        <a:rPr lang="en-GB" sz="1400" b="1" dirty="0">
                          <a:latin typeface="Arial"/>
                          <a:cs typeface="Arial"/>
                        </a:rPr>
                        <a:t>60% of software costs are development costs, 40% are testing costs</a:t>
                      </a:r>
                      <a:r>
                        <a:rPr lang="en-GB" sz="1400" dirty="0">
                          <a:latin typeface="Arial"/>
                          <a:cs typeface="Arial"/>
                        </a:rPr>
                        <a:t>. 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dirty="0">
                          <a:latin typeface="Arial"/>
                          <a:cs typeface="Arial"/>
                        </a:rPr>
                        <a:t>For custom software, evolution costs often exceed development costs.</a:t>
                      </a:r>
                      <a:endParaRPr lang="en-GB" sz="14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0" marB="6858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dirty="0">
                          <a:latin typeface="Arial"/>
                          <a:cs typeface="Arial"/>
                        </a:rPr>
                        <a:t>What are the best software engineering techniques and methods?</a:t>
                      </a:r>
                      <a:endParaRPr lang="en-GB" sz="14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0" marB="6858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dirty="0">
                          <a:latin typeface="Arial"/>
                          <a:cs typeface="Arial"/>
                        </a:rPr>
                        <a:t>While all software projects must be professionally managed and developed, different techniques are appropriate for different types of system.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dirty="0">
                          <a:latin typeface="Arial"/>
                          <a:cs typeface="Arial"/>
                        </a:rPr>
                        <a:t>For example, 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b="1" dirty="0">
                          <a:latin typeface="Arial"/>
                          <a:cs typeface="Arial"/>
                        </a:rPr>
                        <a:t>games should always be developed using a series of prototypes 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dirty="0">
                          <a:latin typeface="Arial"/>
                          <a:cs typeface="Arial"/>
                        </a:rPr>
                        <a:t>whereas </a:t>
                      </a:r>
                      <a:r>
                        <a:rPr lang="en-GB" sz="1400" b="1" dirty="0">
                          <a:latin typeface="Arial"/>
                          <a:cs typeface="Arial"/>
                        </a:rPr>
                        <a:t>safety critical control systems require a complete and analyzable specification to be developed.</a:t>
                      </a:r>
                      <a:r>
                        <a:rPr lang="en-GB" sz="1400" dirty="0">
                          <a:latin typeface="Arial"/>
                          <a:cs typeface="Arial"/>
                        </a:rPr>
                        <a:t> You can’t, therefore, say that one method is better than another.</a:t>
                      </a:r>
                      <a:endParaRPr lang="en-GB" sz="14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0" marB="6858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>
                          <a:latin typeface="Arial"/>
                          <a:cs typeface="Arial"/>
                        </a:rPr>
                        <a:t>What differences has the web made to software engineering?</a:t>
                      </a:r>
                      <a:endParaRPr lang="en-GB" sz="140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0" marB="6858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dirty="0">
                          <a:latin typeface="Arial"/>
                          <a:cs typeface="Arial"/>
                        </a:rPr>
                        <a:t>The web has led to the availability of software services and the </a:t>
                      </a:r>
                      <a:r>
                        <a:rPr lang="en-GB" sz="1400" b="1" dirty="0">
                          <a:latin typeface="Arial"/>
                          <a:cs typeface="Arial"/>
                        </a:rPr>
                        <a:t>possibility of developing highly distributed service-based systems</a:t>
                      </a:r>
                      <a:r>
                        <a:rPr lang="en-GB" sz="1400" dirty="0">
                          <a:latin typeface="Arial"/>
                          <a:cs typeface="Arial"/>
                        </a:rPr>
                        <a:t>. Web-based systems development has led to important advances in programming languages and software reuse.</a:t>
                      </a:r>
                      <a:endParaRPr lang="en-GB" sz="14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0" marB="6858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D5CD492-2BC6-F348-9965-EC1D86DF57A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7285581"/>
      </p:ext>
    </p:extLst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472" y="1483823"/>
            <a:ext cx="10972800" cy="4525963"/>
          </a:xfrm>
        </p:spPr>
        <p:txBody>
          <a:bodyPr/>
          <a:lstStyle/>
          <a:p>
            <a:r>
              <a:rPr lang="en-US" dirty="0"/>
              <a:t>Generic products</a:t>
            </a:r>
          </a:p>
          <a:p>
            <a:pPr lvl="1"/>
            <a:r>
              <a:rPr lang="en-US" dirty="0"/>
              <a:t>Stand-alone systems that are designed for open market.</a:t>
            </a:r>
          </a:p>
          <a:p>
            <a:pPr lvl="1"/>
            <a:r>
              <a:rPr lang="en-US" dirty="0"/>
              <a:t>Examples –Firefox, Excel, outlook, Power point etc.</a:t>
            </a:r>
          </a:p>
          <a:p>
            <a:r>
              <a:rPr lang="en-US" dirty="0"/>
              <a:t>Customized products</a:t>
            </a:r>
          </a:p>
          <a:p>
            <a:pPr lvl="1"/>
            <a:r>
              <a:rPr lang="en-US" dirty="0"/>
              <a:t>Software that is commissioned by a specific customer to meet their own needs. </a:t>
            </a:r>
          </a:p>
          <a:p>
            <a:pPr lvl="1"/>
            <a:r>
              <a:rPr lang="en-US" dirty="0"/>
              <a:t>Examples – embedded control systems, air traffic control software, traffic monitoring systems, CRMs, invoicing systems, bug tracking systems etc.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D5CD492-2BC6-F348-9965-EC1D86DF57A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6950404"/>
      </p:ext>
    </p:extLst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Generic products</a:t>
            </a:r>
          </a:p>
          <a:p>
            <a:pPr lvl="1"/>
            <a:r>
              <a:rPr lang="en-US" dirty="0"/>
              <a:t>The specification of </a:t>
            </a:r>
            <a:r>
              <a:rPr lang="en-US" b="1" dirty="0"/>
              <a:t>what the software should do ?</a:t>
            </a:r>
          </a:p>
          <a:p>
            <a:pPr lvl="1"/>
            <a:r>
              <a:rPr lang="en-US" b="1" dirty="0"/>
              <a:t>decision for any changes should be made by developer.</a:t>
            </a:r>
          </a:p>
          <a:p>
            <a:r>
              <a:rPr lang="en-US" dirty="0"/>
              <a:t>Customized products</a:t>
            </a:r>
          </a:p>
          <a:p>
            <a:pPr lvl="1"/>
            <a:r>
              <a:rPr lang="en-US" dirty="0"/>
              <a:t>The specification of </a:t>
            </a:r>
            <a:r>
              <a:rPr lang="en-US" b="1" dirty="0"/>
              <a:t>what the software should do?</a:t>
            </a:r>
          </a:p>
          <a:p>
            <a:pPr lvl="1"/>
            <a:r>
              <a:rPr lang="en-US" b="1" dirty="0"/>
              <a:t>decision for any changes should be made by customer.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D5CD492-2BC6-F348-9965-EC1D86DF57A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333795"/>
      </p:ext>
    </p:extLst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6087374"/>
              </p:ext>
            </p:extLst>
          </p:nvPr>
        </p:nvGraphicFramePr>
        <p:xfrm>
          <a:off x="609600" y="1600200"/>
          <a:ext cx="10972800" cy="431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5905">
                  <a:extLst>
                    <a:ext uri="{9D8B030D-6E8A-4147-A177-3AD203B41FA5}">
                      <a16:colId xmlns:a16="http://schemas.microsoft.com/office/drawing/2014/main" val="1091941112"/>
                    </a:ext>
                  </a:extLst>
                </a:gridCol>
                <a:gridCol w="4256117">
                  <a:extLst>
                    <a:ext uri="{9D8B030D-6E8A-4147-A177-3AD203B41FA5}">
                      <a16:colId xmlns:a16="http://schemas.microsoft.com/office/drawing/2014/main" val="3353607695"/>
                    </a:ext>
                  </a:extLst>
                </a:gridCol>
                <a:gridCol w="4840778">
                  <a:extLst>
                    <a:ext uri="{9D8B030D-6E8A-4147-A177-3AD203B41FA5}">
                      <a16:colId xmlns:a16="http://schemas.microsoft.com/office/drawing/2014/main" val="37688915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characteristics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Generic 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</a:t>
                      </a:r>
                      <a:r>
                        <a:rPr lang="en-US" baseline="0" dirty="0"/>
                        <a:t> Software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9335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Exclusiveness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Designed for open 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Targeted customers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275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Updates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require whenever</a:t>
                      </a:r>
                      <a:r>
                        <a:rPr lang="en-US" baseline="0" dirty="0"/>
                        <a:t> market demands change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require frequently as customer’s need</a:t>
                      </a:r>
                      <a:r>
                        <a:rPr lang="en-US" baseline="0" dirty="0"/>
                        <a:t> evolve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553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Software users have no control over software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Users</a:t>
                      </a:r>
                      <a:r>
                        <a:rPr lang="en-US" baseline="0" dirty="0"/>
                        <a:t> can have control over software development and design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911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Development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Affordable</a:t>
                      </a:r>
                      <a:r>
                        <a:rPr lang="en-US" baseline="0" dirty="0"/>
                        <a:t> as requirements are well defined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Might be costly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442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No. of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 friendly with variety of functionalities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Limited functionality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049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Meant to be scalable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Mostly cover current users’ needs</a:t>
                      </a:r>
                      <a:r>
                        <a:rPr lang="en-US" baseline="0" dirty="0"/>
                        <a:t> with slight modification flexibility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1252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Timely</a:t>
                      </a:r>
                      <a:r>
                        <a:rPr lang="en-US" baseline="0" dirty="0"/>
                        <a:t> delivery of the product matters more than the quality as the product can improve later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Quality is the utmost priority as the users are limited. Deadlines are not hard.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729301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D5CD492-2BC6-F348-9965-EC1D86DF57A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930143"/>
      </p:ext>
    </p:extLst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854</Words>
  <Application>Microsoft Office PowerPoint</Application>
  <PresentationFormat>Widescreen</PresentationFormat>
  <Paragraphs>112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Wingdings</vt:lpstr>
      <vt:lpstr>SE10 slides</vt:lpstr>
      <vt:lpstr>Chapter 1- Introduction</vt:lpstr>
      <vt:lpstr>Topics covered</vt:lpstr>
      <vt:lpstr>Software engineering</vt:lpstr>
      <vt:lpstr>Software costs</vt:lpstr>
      <vt:lpstr>Why Software projects fail?</vt:lpstr>
      <vt:lpstr>Professional software development</vt:lpstr>
      <vt:lpstr>Frequently asked questions about software engineering </vt:lpstr>
      <vt:lpstr>Frequently asked questions about software engineering</vt:lpstr>
      <vt:lpstr>Software products</vt:lpstr>
      <vt:lpstr>Product specification</vt:lpstr>
      <vt:lpstr>Comparison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1- Introduction</dc:title>
  <dc:creator>Faculty</dc:creator>
  <cp:lastModifiedBy>Hajra  Ahmed</cp:lastModifiedBy>
  <cp:revision>3</cp:revision>
  <dcterms:created xsi:type="dcterms:W3CDTF">2024-01-25T06:06:25Z</dcterms:created>
  <dcterms:modified xsi:type="dcterms:W3CDTF">2026-01-19T05:35:32Z</dcterms:modified>
</cp:coreProperties>
</file>