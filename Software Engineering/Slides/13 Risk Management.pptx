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 id="273" r:id="rId15"/>
    <p:sldId id="263" r:id="rId16"/>
    <p:sldId id="274" r:id="rId17"/>
    <p:sldId id="264" r:id="rId18"/>
    <p:sldId id="275" r:id="rId19"/>
    <p:sldId id="265" r:id="rId20"/>
    <p:sldId id="279" r:id="rId21"/>
    <p:sldId id="280" r:id="rId22"/>
    <p:sldId id="281" r:id="rId23"/>
    <p:sldId id="282" r:id="rId24"/>
    <p:sldId id="283" r:id="rId25"/>
    <p:sldId id="276"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2" d="100"/>
          <a:sy n="102" d="100"/>
        </p:scale>
        <p:origin x="8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7FFF18-799F-48B0-8935-149DE404F0E2}"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D7C6E0D0-80B5-4A92-BCF6-73C0119A9CD8}">
      <dgm:prSet phldrT="[Text]"/>
      <dgm:spPr/>
      <dgm:t>
        <a:bodyPr/>
        <a:lstStyle/>
        <a:p>
          <a:r>
            <a:rPr lang="en-US" dirty="0"/>
            <a:t>control</a:t>
          </a:r>
        </a:p>
      </dgm:t>
    </dgm:pt>
    <dgm:pt modelId="{D107B7AB-3047-45DB-AA66-B80B46F8FC31}" type="parTrans" cxnId="{5C57CB8B-D372-423A-B695-0404116E4A1C}">
      <dgm:prSet/>
      <dgm:spPr/>
      <dgm:t>
        <a:bodyPr/>
        <a:lstStyle/>
        <a:p>
          <a:endParaRPr lang="en-US"/>
        </a:p>
      </dgm:t>
    </dgm:pt>
    <dgm:pt modelId="{6C7DF5DA-A4B5-407B-A6D6-4B48E067342F}" type="sibTrans" cxnId="{5C57CB8B-D372-423A-B695-0404116E4A1C}">
      <dgm:prSet/>
      <dgm:spPr/>
      <dgm:t>
        <a:bodyPr/>
        <a:lstStyle/>
        <a:p>
          <a:endParaRPr lang="en-US"/>
        </a:p>
      </dgm:t>
    </dgm:pt>
    <dgm:pt modelId="{64807296-85D3-4537-A5F4-58DF4E1F868A}">
      <dgm:prSet phldrT="[Text]"/>
      <dgm:spPr/>
      <dgm:t>
        <a:bodyPr/>
        <a:lstStyle/>
        <a:p>
          <a:r>
            <a:rPr lang="en-US" dirty="0"/>
            <a:t>Identify</a:t>
          </a:r>
        </a:p>
      </dgm:t>
    </dgm:pt>
    <dgm:pt modelId="{C3C70C7E-FBDD-41B6-B11C-11FB3F09417E}" type="parTrans" cxnId="{ED144B1D-2C39-45A9-855C-AD7DFD12E20B}">
      <dgm:prSet/>
      <dgm:spPr/>
      <dgm:t>
        <a:bodyPr/>
        <a:lstStyle/>
        <a:p>
          <a:endParaRPr lang="en-US"/>
        </a:p>
      </dgm:t>
    </dgm:pt>
    <dgm:pt modelId="{B23E01BC-0987-477F-AB26-B5EFC99C5014}" type="sibTrans" cxnId="{ED144B1D-2C39-45A9-855C-AD7DFD12E20B}">
      <dgm:prSet/>
      <dgm:spPr/>
      <dgm:t>
        <a:bodyPr/>
        <a:lstStyle/>
        <a:p>
          <a:endParaRPr lang="en-US"/>
        </a:p>
      </dgm:t>
    </dgm:pt>
    <dgm:pt modelId="{F530248A-68CF-4F8B-840E-DC2DFA41AC26}">
      <dgm:prSet phldrT="[Text]"/>
      <dgm:spPr/>
      <dgm:t>
        <a:bodyPr/>
        <a:lstStyle/>
        <a:p>
          <a:r>
            <a:rPr lang="en-US" dirty="0"/>
            <a:t>analyze</a:t>
          </a:r>
        </a:p>
      </dgm:t>
    </dgm:pt>
    <dgm:pt modelId="{601C56D2-EBD6-4EE6-8A34-AD93B45EF731}" type="parTrans" cxnId="{BFCE86D0-25D5-44A4-A60A-21CC7F7853CA}">
      <dgm:prSet/>
      <dgm:spPr/>
      <dgm:t>
        <a:bodyPr/>
        <a:lstStyle/>
        <a:p>
          <a:endParaRPr lang="en-US"/>
        </a:p>
      </dgm:t>
    </dgm:pt>
    <dgm:pt modelId="{FD399EC9-E461-4770-B48B-5ED4EBD8578F}" type="sibTrans" cxnId="{BFCE86D0-25D5-44A4-A60A-21CC7F7853CA}">
      <dgm:prSet/>
      <dgm:spPr/>
      <dgm:t>
        <a:bodyPr/>
        <a:lstStyle/>
        <a:p>
          <a:endParaRPr lang="en-US"/>
        </a:p>
      </dgm:t>
    </dgm:pt>
    <dgm:pt modelId="{7421669C-6E5C-425D-89F4-929EF3D0CB8E}">
      <dgm:prSet phldrT="[Text]"/>
      <dgm:spPr/>
      <dgm:t>
        <a:bodyPr/>
        <a:lstStyle/>
        <a:p>
          <a:r>
            <a:rPr lang="en-US" dirty="0"/>
            <a:t>Plan </a:t>
          </a:r>
        </a:p>
      </dgm:t>
    </dgm:pt>
    <dgm:pt modelId="{0B4DCF29-DB0E-4AD1-994E-EBFD3C744D04}" type="parTrans" cxnId="{055DBA85-3AFF-4D9A-A4D1-D98D84DCE255}">
      <dgm:prSet/>
      <dgm:spPr/>
      <dgm:t>
        <a:bodyPr/>
        <a:lstStyle/>
        <a:p>
          <a:endParaRPr lang="en-US"/>
        </a:p>
      </dgm:t>
    </dgm:pt>
    <dgm:pt modelId="{C6C949C5-05C5-4E48-A9FA-C370039E1834}" type="sibTrans" cxnId="{055DBA85-3AFF-4D9A-A4D1-D98D84DCE255}">
      <dgm:prSet/>
      <dgm:spPr/>
      <dgm:t>
        <a:bodyPr/>
        <a:lstStyle/>
        <a:p>
          <a:endParaRPr lang="en-US"/>
        </a:p>
      </dgm:t>
    </dgm:pt>
    <dgm:pt modelId="{E419C72D-71FF-4B7D-BDAF-9C746631BBF8}">
      <dgm:prSet phldrT="[Text]"/>
      <dgm:spPr/>
      <dgm:t>
        <a:bodyPr/>
        <a:lstStyle/>
        <a:p>
          <a:r>
            <a:rPr lang="en-US" dirty="0"/>
            <a:t>track</a:t>
          </a:r>
        </a:p>
      </dgm:t>
    </dgm:pt>
    <dgm:pt modelId="{6FD936AC-F5AB-406B-B665-ED705BFBF3E0}" type="parTrans" cxnId="{4757BAEB-0BB0-42C6-B814-2BEBDB577501}">
      <dgm:prSet/>
      <dgm:spPr/>
      <dgm:t>
        <a:bodyPr/>
        <a:lstStyle/>
        <a:p>
          <a:endParaRPr lang="en-US"/>
        </a:p>
      </dgm:t>
    </dgm:pt>
    <dgm:pt modelId="{863DFDC5-7BDA-49CA-983F-B6330A37E499}" type="sibTrans" cxnId="{4757BAEB-0BB0-42C6-B814-2BEBDB577501}">
      <dgm:prSet/>
      <dgm:spPr/>
      <dgm:t>
        <a:bodyPr/>
        <a:lstStyle/>
        <a:p>
          <a:endParaRPr lang="en-US"/>
        </a:p>
      </dgm:t>
    </dgm:pt>
    <dgm:pt modelId="{B5614099-5BA8-4721-B33A-D706D91F11A8}" type="pres">
      <dgm:prSet presAssocID="{A37FFF18-799F-48B0-8935-149DE404F0E2}" presName="cycle" presStyleCnt="0">
        <dgm:presLayoutVars>
          <dgm:dir/>
          <dgm:resizeHandles val="exact"/>
        </dgm:presLayoutVars>
      </dgm:prSet>
      <dgm:spPr/>
    </dgm:pt>
    <dgm:pt modelId="{BB6C778D-CB3C-4E4A-BCEC-3C78B6090B0B}" type="pres">
      <dgm:prSet presAssocID="{D7C6E0D0-80B5-4A92-BCF6-73C0119A9CD8}" presName="dummy" presStyleCnt="0"/>
      <dgm:spPr/>
    </dgm:pt>
    <dgm:pt modelId="{FDAEF1AF-CC78-4DC2-9BEE-59163913C48D}" type="pres">
      <dgm:prSet presAssocID="{D7C6E0D0-80B5-4A92-BCF6-73C0119A9CD8}" presName="node" presStyleLbl="revTx" presStyleIdx="0" presStyleCnt="5">
        <dgm:presLayoutVars>
          <dgm:bulletEnabled val="1"/>
        </dgm:presLayoutVars>
      </dgm:prSet>
      <dgm:spPr/>
    </dgm:pt>
    <dgm:pt modelId="{EB0FFAA2-11DB-4891-A0C3-DEE79BA44964}" type="pres">
      <dgm:prSet presAssocID="{6C7DF5DA-A4B5-407B-A6D6-4B48E067342F}" presName="sibTrans" presStyleLbl="node1" presStyleIdx="0" presStyleCnt="5"/>
      <dgm:spPr/>
    </dgm:pt>
    <dgm:pt modelId="{96FD3E3D-5F46-4FDE-8CB1-EE83861CAADC}" type="pres">
      <dgm:prSet presAssocID="{64807296-85D3-4537-A5F4-58DF4E1F868A}" presName="dummy" presStyleCnt="0"/>
      <dgm:spPr/>
    </dgm:pt>
    <dgm:pt modelId="{855D6F41-ED09-4FCE-A4D1-B44979412D21}" type="pres">
      <dgm:prSet presAssocID="{64807296-85D3-4537-A5F4-58DF4E1F868A}" presName="node" presStyleLbl="revTx" presStyleIdx="1" presStyleCnt="5">
        <dgm:presLayoutVars>
          <dgm:bulletEnabled val="1"/>
        </dgm:presLayoutVars>
      </dgm:prSet>
      <dgm:spPr/>
    </dgm:pt>
    <dgm:pt modelId="{AD03E733-EC56-4FCA-8DC7-CE8D9035C5C6}" type="pres">
      <dgm:prSet presAssocID="{B23E01BC-0987-477F-AB26-B5EFC99C5014}" presName="sibTrans" presStyleLbl="node1" presStyleIdx="1" presStyleCnt="5"/>
      <dgm:spPr/>
    </dgm:pt>
    <dgm:pt modelId="{F497D81B-5BE7-4957-AEA1-63F197AA1481}" type="pres">
      <dgm:prSet presAssocID="{F530248A-68CF-4F8B-840E-DC2DFA41AC26}" presName="dummy" presStyleCnt="0"/>
      <dgm:spPr/>
    </dgm:pt>
    <dgm:pt modelId="{C930F45F-E095-4F4D-B675-30DBFE00FB6B}" type="pres">
      <dgm:prSet presAssocID="{F530248A-68CF-4F8B-840E-DC2DFA41AC26}" presName="node" presStyleLbl="revTx" presStyleIdx="2" presStyleCnt="5">
        <dgm:presLayoutVars>
          <dgm:bulletEnabled val="1"/>
        </dgm:presLayoutVars>
      </dgm:prSet>
      <dgm:spPr/>
    </dgm:pt>
    <dgm:pt modelId="{333F9FEA-61EF-4B12-98F8-8D8BDE57D165}" type="pres">
      <dgm:prSet presAssocID="{FD399EC9-E461-4770-B48B-5ED4EBD8578F}" presName="sibTrans" presStyleLbl="node1" presStyleIdx="2" presStyleCnt="5"/>
      <dgm:spPr/>
    </dgm:pt>
    <dgm:pt modelId="{9BBE614A-2227-4564-A6AB-070524079448}" type="pres">
      <dgm:prSet presAssocID="{7421669C-6E5C-425D-89F4-929EF3D0CB8E}" presName="dummy" presStyleCnt="0"/>
      <dgm:spPr/>
    </dgm:pt>
    <dgm:pt modelId="{63CDD652-F118-4F62-9A2C-73829E7EF11B}" type="pres">
      <dgm:prSet presAssocID="{7421669C-6E5C-425D-89F4-929EF3D0CB8E}" presName="node" presStyleLbl="revTx" presStyleIdx="3" presStyleCnt="5">
        <dgm:presLayoutVars>
          <dgm:bulletEnabled val="1"/>
        </dgm:presLayoutVars>
      </dgm:prSet>
      <dgm:spPr/>
    </dgm:pt>
    <dgm:pt modelId="{C66B2BBA-49B4-4431-822A-3D9C4D5855A1}" type="pres">
      <dgm:prSet presAssocID="{C6C949C5-05C5-4E48-A9FA-C370039E1834}" presName="sibTrans" presStyleLbl="node1" presStyleIdx="3" presStyleCnt="5"/>
      <dgm:spPr/>
    </dgm:pt>
    <dgm:pt modelId="{13FFD4C9-A53A-4DAD-95B3-2088849850BB}" type="pres">
      <dgm:prSet presAssocID="{E419C72D-71FF-4B7D-BDAF-9C746631BBF8}" presName="dummy" presStyleCnt="0"/>
      <dgm:spPr/>
    </dgm:pt>
    <dgm:pt modelId="{CF849BFD-367B-4D7B-89A0-D756C2F4A50B}" type="pres">
      <dgm:prSet presAssocID="{E419C72D-71FF-4B7D-BDAF-9C746631BBF8}" presName="node" presStyleLbl="revTx" presStyleIdx="4" presStyleCnt="5">
        <dgm:presLayoutVars>
          <dgm:bulletEnabled val="1"/>
        </dgm:presLayoutVars>
      </dgm:prSet>
      <dgm:spPr/>
    </dgm:pt>
    <dgm:pt modelId="{F034C0E0-8A28-439C-897E-C1C581A1CF57}" type="pres">
      <dgm:prSet presAssocID="{863DFDC5-7BDA-49CA-983F-B6330A37E499}" presName="sibTrans" presStyleLbl="node1" presStyleIdx="4" presStyleCnt="5"/>
      <dgm:spPr/>
    </dgm:pt>
  </dgm:ptLst>
  <dgm:cxnLst>
    <dgm:cxn modelId="{ED144B1D-2C39-45A9-855C-AD7DFD12E20B}" srcId="{A37FFF18-799F-48B0-8935-149DE404F0E2}" destId="{64807296-85D3-4537-A5F4-58DF4E1F868A}" srcOrd="1" destOrd="0" parTransId="{C3C70C7E-FBDD-41B6-B11C-11FB3F09417E}" sibTransId="{B23E01BC-0987-477F-AB26-B5EFC99C5014}"/>
    <dgm:cxn modelId="{EFBDE82D-3D38-4747-8B70-090966B56EF5}" type="presOf" srcId="{C6C949C5-05C5-4E48-A9FA-C370039E1834}" destId="{C66B2BBA-49B4-4431-822A-3D9C4D5855A1}" srcOrd="0" destOrd="0" presId="urn:microsoft.com/office/officeart/2005/8/layout/cycle1"/>
    <dgm:cxn modelId="{CD3BDE5B-E2E7-42CA-8BAF-2D94E301EC0F}" type="presOf" srcId="{863DFDC5-7BDA-49CA-983F-B6330A37E499}" destId="{F034C0E0-8A28-439C-897E-C1C581A1CF57}" srcOrd="0" destOrd="0" presId="urn:microsoft.com/office/officeart/2005/8/layout/cycle1"/>
    <dgm:cxn modelId="{BD2F9847-34F6-4F7E-8ACC-13D5EBE8BB1C}" type="presOf" srcId="{F530248A-68CF-4F8B-840E-DC2DFA41AC26}" destId="{C930F45F-E095-4F4D-B675-30DBFE00FB6B}" srcOrd="0" destOrd="0" presId="urn:microsoft.com/office/officeart/2005/8/layout/cycle1"/>
    <dgm:cxn modelId="{F380644C-CD9C-4D36-ABCD-E2C55E86B020}" type="presOf" srcId="{B23E01BC-0987-477F-AB26-B5EFC99C5014}" destId="{AD03E733-EC56-4FCA-8DC7-CE8D9035C5C6}" srcOrd="0" destOrd="0" presId="urn:microsoft.com/office/officeart/2005/8/layout/cycle1"/>
    <dgm:cxn modelId="{CF06484C-CB61-49C6-974C-A1D6DE024F0F}" type="presOf" srcId="{D7C6E0D0-80B5-4A92-BCF6-73C0119A9CD8}" destId="{FDAEF1AF-CC78-4DC2-9BEE-59163913C48D}" srcOrd="0" destOrd="0" presId="urn:microsoft.com/office/officeart/2005/8/layout/cycle1"/>
    <dgm:cxn modelId="{64385550-E5A1-4E86-92F0-E0398023FF7C}" type="presOf" srcId="{E419C72D-71FF-4B7D-BDAF-9C746631BBF8}" destId="{CF849BFD-367B-4D7B-89A0-D756C2F4A50B}" srcOrd="0" destOrd="0" presId="urn:microsoft.com/office/officeart/2005/8/layout/cycle1"/>
    <dgm:cxn modelId="{055DBA85-3AFF-4D9A-A4D1-D98D84DCE255}" srcId="{A37FFF18-799F-48B0-8935-149DE404F0E2}" destId="{7421669C-6E5C-425D-89F4-929EF3D0CB8E}" srcOrd="3" destOrd="0" parTransId="{0B4DCF29-DB0E-4AD1-994E-EBFD3C744D04}" sibTransId="{C6C949C5-05C5-4E48-A9FA-C370039E1834}"/>
    <dgm:cxn modelId="{9AC5D98A-618F-4200-943F-D8A18AF2BC31}" type="presOf" srcId="{6C7DF5DA-A4B5-407B-A6D6-4B48E067342F}" destId="{EB0FFAA2-11DB-4891-A0C3-DEE79BA44964}" srcOrd="0" destOrd="0" presId="urn:microsoft.com/office/officeart/2005/8/layout/cycle1"/>
    <dgm:cxn modelId="{5C57CB8B-D372-423A-B695-0404116E4A1C}" srcId="{A37FFF18-799F-48B0-8935-149DE404F0E2}" destId="{D7C6E0D0-80B5-4A92-BCF6-73C0119A9CD8}" srcOrd="0" destOrd="0" parTransId="{D107B7AB-3047-45DB-AA66-B80B46F8FC31}" sibTransId="{6C7DF5DA-A4B5-407B-A6D6-4B48E067342F}"/>
    <dgm:cxn modelId="{82739F92-5F9F-4CB6-B61F-5989429588A0}" type="presOf" srcId="{FD399EC9-E461-4770-B48B-5ED4EBD8578F}" destId="{333F9FEA-61EF-4B12-98F8-8D8BDE57D165}" srcOrd="0" destOrd="0" presId="urn:microsoft.com/office/officeart/2005/8/layout/cycle1"/>
    <dgm:cxn modelId="{86F537B9-B89C-420D-BC29-7F9F2F05873E}" type="presOf" srcId="{7421669C-6E5C-425D-89F4-929EF3D0CB8E}" destId="{63CDD652-F118-4F62-9A2C-73829E7EF11B}" srcOrd="0" destOrd="0" presId="urn:microsoft.com/office/officeart/2005/8/layout/cycle1"/>
    <dgm:cxn modelId="{BFCE86D0-25D5-44A4-A60A-21CC7F7853CA}" srcId="{A37FFF18-799F-48B0-8935-149DE404F0E2}" destId="{F530248A-68CF-4F8B-840E-DC2DFA41AC26}" srcOrd="2" destOrd="0" parTransId="{601C56D2-EBD6-4EE6-8A34-AD93B45EF731}" sibTransId="{FD399EC9-E461-4770-B48B-5ED4EBD8578F}"/>
    <dgm:cxn modelId="{65A8A8D1-56DA-4AA6-B371-2C2F76B72516}" type="presOf" srcId="{64807296-85D3-4537-A5F4-58DF4E1F868A}" destId="{855D6F41-ED09-4FCE-A4D1-B44979412D21}" srcOrd="0" destOrd="0" presId="urn:microsoft.com/office/officeart/2005/8/layout/cycle1"/>
    <dgm:cxn modelId="{918E42D5-670A-43C9-912A-76FD9118A438}" type="presOf" srcId="{A37FFF18-799F-48B0-8935-149DE404F0E2}" destId="{B5614099-5BA8-4721-B33A-D706D91F11A8}" srcOrd="0" destOrd="0" presId="urn:microsoft.com/office/officeart/2005/8/layout/cycle1"/>
    <dgm:cxn modelId="{4757BAEB-0BB0-42C6-B814-2BEBDB577501}" srcId="{A37FFF18-799F-48B0-8935-149DE404F0E2}" destId="{E419C72D-71FF-4B7D-BDAF-9C746631BBF8}" srcOrd="4" destOrd="0" parTransId="{6FD936AC-F5AB-406B-B665-ED705BFBF3E0}" sibTransId="{863DFDC5-7BDA-49CA-983F-B6330A37E499}"/>
    <dgm:cxn modelId="{9A0F8DB3-D2AD-4FE1-BC8C-555854FD0CB7}" type="presParOf" srcId="{B5614099-5BA8-4721-B33A-D706D91F11A8}" destId="{BB6C778D-CB3C-4E4A-BCEC-3C78B6090B0B}" srcOrd="0" destOrd="0" presId="urn:microsoft.com/office/officeart/2005/8/layout/cycle1"/>
    <dgm:cxn modelId="{B7B22AF3-E6A5-4A5B-8633-FEFDE6E12C9B}" type="presParOf" srcId="{B5614099-5BA8-4721-B33A-D706D91F11A8}" destId="{FDAEF1AF-CC78-4DC2-9BEE-59163913C48D}" srcOrd="1" destOrd="0" presId="urn:microsoft.com/office/officeart/2005/8/layout/cycle1"/>
    <dgm:cxn modelId="{6762B0F2-CC91-486E-8261-465E59DB9D43}" type="presParOf" srcId="{B5614099-5BA8-4721-B33A-D706D91F11A8}" destId="{EB0FFAA2-11DB-4891-A0C3-DEE79BA44964}" srcOrd="2" destOrd="0" presId="urn:microsoft.com/office/officeart/2005/8/layout/cycle1"/>
    <dgm:cxn modelId="{65289978-347B-47C5-9798-8EE1A53B80F6}" type="presParOf" srcId="{B5614099-5BA8-4721-B33A-D706D91F11A8}" destId="{96FD3E3D-5F46-4FDE-8CB1-EE83861CAADC}" srcOrd="3" destOrd="0" presId="urn:microsoft.com/office/officeart/2005/8/layout/cycle1"/>
    <dgm:cxn modelId="{FBF0AD0D-6DF5-446B-9AAB-42EDFE54C862}" type="presParOf" srcId="{B5614099-5BA8-4721-B33A-D706D91F11A8}" destId="{855D6F41-ED09-4FCE-A4D1-B44979412D21}" srcOrd="4" destOrd="0" presId="urn:microsoft.com/office/officeart/2005/8/layout/cycle1"/>
    <dgm:cxn modelId="{B1CB649C-E965-45F0-966F-084A9218F015}" type="presParOf" srcId="{B5614099-5BA8-4721-B33A-D706D91F11A8}" destId="{AD03E733-EC56-4FCA-8DC7-CE8D9035C5C6}" srcOrd="5" destOrd="0" presId="urn:microsoft.com/office/officeart/2005/8/layout/cycle1"/>
    <dgm:cxn modelId="{FEE9D7AD-6F8E-4C10-AC0A-9CC1B2077B0B}" type="presParOf" srcId="{B5614099-5BA8-4721-B33A-D706D91F11A8}" destId="{F497D81B-5BE7-4957-AEA1-63F197AA1481}" srcOrd="6" destOrd="0" presId="urn:microsoft.com/office/officeart/2005/8/layout/cycle1"/>
    <dgm:cxn modelId="{27723A84-2C2C-459F-916D-618667CC79CE}" type="presParOf" srcId="{B5614099-5BA8-4721-B33A-D706D91F11A8}" destId="{C930F45F-E095-4F4D-B675-30DBFE00FB6B}" srcOrd="7" destOrd="0" presId="urn:microsoft.com/office/officeart/2005/8/layout/cycle1"/>
    <dgm:cxn modelId="{03F7098A-9E6A-48EA-9B3F-18B8A322AE4A}" type="presParOf" srcId="{B5614099-5BA8-4721-B33A-D706D91F11A8}" destId="{333F9FEA-61EF-4B12-98F8-8D8BDE57D165}" srcOrd="8" destOrd="0" presId="urn:microsoft.com/office/officeart/2005/8/layout/cycle1"/>
    <dgm:cxn modelId="{6C07FBF3-FEB4-41CF-AC6C-84B5F8A9476E}" type="presParOf" srcId="{B5614099-5BA8-4721-B33A-D706D91F11A8}" destId="{9BBE614A-2227-4564-A6AB-070524079448}" srcOrd="9" destOrd="0" presId="urn:microsoft.com/office/officeart/2005/8/layout/cycle1"/>
    <dgm:cxn modelId="{971E9D97-3D1A-4051-AB2E-86784DC2E2DA}" type="presParOf" srcId="{B5614099-5BA8-4721-B33A-D706D91F11A8}" destId="{63CDD652-F118-4F62-9A2C-73829E7EF11B}" srcOrd="10" destOrd="0" presId="urn:microsoft.com/office/officeart/2005/8/layout/cycle1"/>
    <dgm:cxn modelId="{B9583177-699C-4369-A232-143BA928EC9A}" type="presParOf" srcId="{B5614099-5BA8-4721-B33A-D706D91F11A8}" destId="{C66B2BBA-49B4-4431-822A-3D9C4D5855A1}" srcOrd="11" destOrd="0" presId="urn:microsoft.com/office/officeart/2005/8/layout/cycle1"/>
    <dgm:cxn modelId="{A3C2E3CE-024F-414D-9256-781490E0B336}" type="presParOf" srcId="{B5614099-5BA8-4721-B33A-D706D91F11A8}" destId="{13FFD4C9-A53A-4DAD-95B3-2088849850BB}" srcOrd="12" destOrd="0" presId="urn:microsoft.com/office/officeart/2005/8/layout/cycle1"/>
    <dgm:cxn modelId="{6EF29BE9-EA31-4F9E-BDED-A172195D2728}" type="presParOf" srcId="{B5614099-5BA8-4721-B33A-D706D91F11A8}" destId="{CF849BFD-367B-4D7B-89A0-D756C2F4A50B}" srcOrd="13" destOrd="0" presId="urn:microsoft.com/office/officeart/2005/8/layout/cycle1"/>
    <dgm:cxn modelId="{26BB236E-B626-4EA6-861F-476201209377}" type="presParOf" srcId="{B5614099-5BA8-4721-B33A-D706D91F11A8}" destId="{F034C0E0-8A28-439C-897E-C1C581A1CF57}"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AEF1AF-CC78-4DC2-9BEE-59163913C48D}">
      <dsp:nvSpPr>
        <dsp:cNvPr id="0" name=""/>
        <dsp:cNvSpPr/>
      </dsp:nvSpPr>
      <dsp:spPr>
        <a:xfrm>
          <a:off x="5558812" y="25874"/>
          <a:ext cx="889922" cy="8899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control</a:t>
          </a:r>
        </a:p>
      </dsp:txBody>
      <dsp:txXfrm>
        <a:off x="5558812" y="25874"/>
        <a:ext cx="889922" cy="889922"/>
      </dsp:txXfrm>
    </dsp:sp>
    <dsp:sp modelId="{EB0FFAA2-11DB-4891-A0C3-DEE79BA44964}">
      <dsp:nvSpPr>
        <dsp:cNvPr id="0" name=""/>
        <dsp:cNvSpPr/>
      </dsp:nvSpPr>
      <dsp:spPr>
        <a:xfrm>
          <a:off x="3466189" y="225"/>
          <a:ext cx="3335571" cy="3335571"/>
        </a:xfrm>
        <a:prstGeom prst="circularArrow">
          <a:avLst>
            <a:gd name="adj1" fmla="val 5203"/>
            <a:gd name="adj2" fmla="val 336087"/>
            <a:gd name="adj3" fmla="val 21292531"/>
            <a:gd name="adj4" fmla="val 19766861"/>
            <a:gd name="adj5" fmla="val 60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D6F41-ED09-4FCE-A4D1-B44979412D21}">
      <dsp:nvSpPr>
        <dsp:cNvPr id="0" name=""/>
        <dsp:cNvSpPr/>
      </dsp:nvSpPr>
      <dsp:spPr>
        <a:xfrm>
          <a:off x="6096377" y="1680330"/>
          <a:ext cx="889922" cy="8899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Identify</a:t>
          </a:r>
        </a:p>
      </dsp:txBody>
      <dsp:txXfrm>
        <a:off x="6096377" y="1680330"/>
        <a:ext cx="889922" cy="889922"/>
      </dsp:txXfrm>
    </dsp:sp>
    <dsp:sp modelId="{AD03E733-EC56-4FCA-8DC7-CE8D9035C5C6}">
      <dsp:nvSpPr>
        <dsp:cNvPr id="0" name=""/>
        <dsp:cNvSpPr/>
      </dsp:nvSpPr>
      <dsp:spPr>
        <a:xfrm>
          <a:off x="3466189" y="225"/>
          <a:ext cx="3335571" cy="3335571"/>
        </a:xfrm>
        <a:prstGeom prst="circularArrow">
          <a:avLst>
            <a:gd name="adj1" fmla="val 5203"/>
            <a:gd name="adj2" fmla="val 336087"/>
            <a:gd name="adj3" fmla="val 4013962"/>
            <a:gd name="adj4" fmla="val 2254109"/>
            <a:gd name="adj5" fmla="val 60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30F45F-E095-4F4D-B675-30DBFE00FB6B}">
      <dsp:nvSpPr>
        <dsp:cNvPr id="0" name=""/>
        <dsp:cNvSpPr/>
      </dsp:nvSpPr>
      <dsp:spPr>
        <a:xfrm>
          <a:off x="4689013" y="2702839"/>
          <a:ext cx="889922" cy="8899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analyze</a:t>
          </a:r>
        </a:p>
      </dsp:txBody>
      <dsp:txXfrm>
        <a:off x="4689013" y="2702839"/>
        <a:ext cx="889922" cy="889922"/>
      </dsp:txXfrm>
    </dsp:sp>
    <dsp:sp modelId="{333F9FEA-61EF-4B12-98F8-8D8BDE57D165}">
      <dsp:nvSpPr>
        <dsp:cNvPr id="0" name=""/>
        <dsp:cNvSpPr/>
      </dsp:nvSpPr>
      <dsp:spPr>
        <a:xfrm>
          <a:off x="3466189" y="225"/>
          <a:ext cx="3335571" cy="3335571"/>
        </a:xfrm>
        <a:prstGeom prst="circularArrow">
          <a:avLst>
            <a:gd name="adj1" fmla="val 5203"/>
            <a:gd name="adj2" fmla="val 336087"/>
            <a:gd name="adj3" fmla="val 8209804"/>
            <a:gd name="adj4" fmla="val 6449951"/>
            <a:gd name="adj5" fmla="val 60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CDD652-F118-4F62-9A2C-73829E7EF11B}">
      <dsp:nvSpPr>
        <dsp:cNvPr id="0" name=""/>
        <dsp:cNvSpPr/>
      </dsp:nvSpPr>
      <dsp:spPr>
        <a:xfrm>
          <a:off x="3281650" y="1680330"/>
          <a:ext cx="889922" cy="8899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Plan </a:t>
          </a:r>
        </a:p>
      </dsp:txBody>
      <dsp:txXfrm>
        <a:off x="3281650" y="1680330"/>
        <a:ext cx="889922" cy="889922"/>
      </dsp:txXfrm>
    </dsp:sp>
    <dsp:sp modelId="{C66B2BBA-49B4-4431-822A-3D9C4D5855A1}">
      <dsp:nvSpPr>
        <dsp:cNvPr id="0" name=""/>
        <dsp:cNvSpPr/>
      </dsp:nvSpPr>
      <dsp:spPr>
        <a:xfrm>
          <a:off x="3466189" y="225"/>
          <a:ext cx="3335571" cy="3335571"/>
        </a:xfrm>
        <a:prstGeom prst="circularArrow">
          <a:avLst>
            <a:gd name="adj1" fmla="val 5203"/>
            <a:gd name="adj2" fmla="val 336087"/>
            <a:gd name="adj3" fmla="val 12297051"/>
            <a:gd name="adj4" fmla="val 10771381"/>
            <a:gd name="adj5" fmla="val 60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849BFD-367B-4D7B-89A0-D756C2F4A50B}">
      <dsp:nvSpPr>
        <dsp:cNvPr id="0" name=""/>
        <dsp:cNvSpPr/>
      </dsp:nvSpPr>
      <dsp:spPr>
        <a:xfrm>
          <a:off x="3819215" y="25874"/>
          <a:ext cx="889922" cy="8899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track</a:t>
          </a:r>
        </a:p>
      </dsp:txBody>
      <dsp:txXfrm>
        <a:off x="3819215" y="25874"/>
        <a:ext cx="889922" cy="889922"/>
      </dsp:txXfrm>
    </dsp:sp>
    <dsp:sp modelId="{F034C0E0-8A28-439C-897E-C1C581A1CF57}">
      <dsp:nvSpPr>
        <dsp:cNvPr id="0" name=""/>
        <dsp:cNvSpPr/>
      </dsp:nvSpPr>
      <dsp:spPr>
        <a:xfrm>
          <a:off x="3466189" y="225"/>
          <a:ext cx="3335571" cy="3335571"/>
        </a:xfrm>
        <a:prstGeom prst="circularArrow">
          <a:avLst>
            <a:gd name="adj1" fmla="val 5203"/>
            <a:gd name="adj2" fmla="val 336087"/>
            <a:gd name="adj3" fmla="val 16864953"/>
            <a:gd name="adj4" fmla="val 15198960"/>
            <a:gd name="adj5" fmla="val 60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smtClean="0"/>
              <a:pPr algn="r"/>
              <a:t>4/27/2026</a:t>
            </a:fld>
            <a:endParaRPr lang="en-US" dirty="0"/>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296778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89468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dirty="0">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54022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dirty="0">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463406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dirty="0">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3018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dirty="0">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926560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dirty="0">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05542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dirty="0">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32291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p:cNvSpPr>
          <p:nvPr>
            <p:ph type="pic" idx="1"/>
          </p:nvPr>
        </p:nvSpPr>
        <p:spPr>
          <a:xfrm>
            <a:off x="0" y="2267712"/>
            <a:ext cx="6571469" cy="4590288"/>
          </a:xfrm>
          <a:solidFill>
            <a:schemeClr val="bg1">
              <a:lumMod val="85000"/>
            </a:schemeClr>
          </a:solidFill>
          <a:ln>
            <a:no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44510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smtClean="0"/>
              <a:pPr algn="r"/>
              <a:t>4/27/2026</a:t>
            </a:fld>
            <a:endParaRPr lang="en-US" dirty="0"/>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978014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smtClean="0"/>
              <a:pPr algn="r"/>
              <a:t>4/27/2026</a:t>
            </a:fld>
            <a:endParaRPr lang="en-US" dirty="0"/>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598416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smtClean="0"/>
              <a:pPr algn="r"/>
              <a:t>4/27/2026</a:t>
            </a:fld>
            <a:endParaRPr lang="en-US" spc="50" dirty="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dirty="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54827480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05BB74C-33FB-4335-8808-49E247F7B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1225106"/>
            <a:ext cx="8132066" cy="3788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DD095-3DFD-9902-F666-CEC0D9F5A7DA}"/>
              </a:ext>
            </a:extLst>
          </p:cNvPr>
          <p:cNvSpPr>
            <a:spLocks noGrp="1"/>
          </p:cNvSpPr>
          <p:nvPr>
            <p:ph type="ctrTitle"/>
          </p:nvPr>
        </p:nvSpPr>
        <p:spPr>
          <a:xfrm>
            <a:off x="4703402" y="1841412"/>
            <a:ext cx="6406559" cy="2688020"/>
          </a:xfrm>
        </p:spPr>
        <p:txBody>
          <a:bodyPr>
            <a:normAutofit/>
          </a:bodyPr>
          <a:lstStyle/>
          <a:p>
            <a:pPr algn="l"/>
            <a:r>
              <a:rPr lang="en-US" sz="8100" dirty="0">
                <a:solidFill>
                  <a:schemeClr val="bg1"/>
                </a:solidFill>
              </a:rPr>
              <a:t>Risk Management</a:t>
            </a:r>
          </a:p>
        </p:txBody>
      </p:sp>
      <p:sp>
        <p:nvSpPr>
          <p:cNvPr id="3" name="Subtitle 2">
            <a:extLst>
              <a:ext uri="{FF2B5EF4-FFF2-40B4-BE49-F238E27FC236}">
                <a16:creationId xmlns:a16="http://schemas.microsoft.com/office/drawing/2014/main" id="{90FD449F-7E92-0D56-8095-FEEA84624B21}"/>
              </a:ext>
            </a:extLst>
          </p:cNvPr>
          <p:cNvSpPr>
            <a:spLocks noGrp="1"/>
          </p:cNvSpPr>
          <p:nvPr>
            <p:ph type="subTitle" idx="1"/>
          </p:nvPr>
        </p:nvSpPr>
        <p:spPr>
          <a:xfrm>
            <a:off x="4703402" y="5206246"/>
            <a:ext cx="6433990" cy="1024128"/>
          </a:xfrm>
        </p:spPr>
        <p:txBody>
          <a:bodyPr>
            <a:normAutofit/>
          </a:bodyPr>
          <a:lstStyle/>
          <a:p>
            <a:pPr algn="l">
              <a:lnSpc>
                <a:spcPct val="91000"/>
              </a:lnSpc>
            </a:pPr>
            <a:r>
              <a:rPr lang="en-US" altLang="en-US" sz="2000" i="1">
                <a:solidFill>
                  <a:schemeClr val="tx1"/>
                </a:solidFill>
                <a:latin typeface="Helvetica" panose="020B0604020202020204" pitchFamily="34" charset="0"/>
              </a:rPr>
              <a:t>Software Engineering: A Practitioner’s Approach, 7/e </a:t>
            </a:r>
          </a:p>
          <a:p>
            <a:pPr algn="l">
              <a:lnSpc>
                <a:spcPct val="91000"/>
              </a:lnSpc>
            </a:pPr>
            <a:r>
              <a:rPr lang="en-US" altLang="en-US" sz="2000" b="1">
                <a:solidFill>
                  <a:schemeClr val="tx1"/>
                </a:solidFill>
              </a:rPr>
              <a:t>by Roger S. Pressman</a:t>
            </a:r>
          </a:p>
          <a:p>
            <a:pPr algn="l">
              <a:lnSpc>
                <a:spcPct val="91000"/>
              </a:lnSpc>
            </a:pPr>
            <a:endParaRPr lang="en-US" sz="2000">
              <a:solidFill>
                <a:schemeClr val="tx1"/>
              </a:solidFill>
            </a:endParaRPr>
          </a:p>
        </p:txBody>
      </p:sp>
      <p:pic>
        <p:nvPicPr>
          <p:cNvPr id="20" name="Picture 19">
            <a:extLst>
              <a:ext uri="{FF2B5EF4-FFF2-40B4-BE49-F238E27FC236}">
                <a16:creationId xmlns:a16="http://schemas.microsoft.com/office/drawing/2014/main" id="{9E9D4720-DF3C-3416-9EEF-06910F99A473}"/>
              </a:ext>
            </a:extLst>
          </p:cNvPr>
          <p:cNvPicPr>
            <a:picLocks noChangeAspect="1"/>
          </p:cNvPicPr>
          <p:nvPr/>
        </p:nvPicPr>
        <p:blipFill rotWithShape="1">
          <a:blip r:embed="rId2"/>
          <a:srcRect l="17929" r="28496" b="1"/>
          <a:stretch/>
        </p:blipFill>
        <p:spPr>
          <a:xfrm>
            <a:off x="20" y="1225106"/>
            <a:ext cx="4059915" cy="3788958"/>
          </a:xfrm>
          <a:prstGeom prst="rect">
            <a:avLst/>
          </a:prstGeom>
        </p:spPr>
      </p:pic>
    </p:spTree>
    <p:extLst>
      <p:ext uri="{BB962C8B-B14F-4D97-AF65-F5344CB8AC3E}">
        <p14:creationId xmlns:p14="http://schemas.microsoft.com/office/powerpoint/2010/main" val="1640217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9A1C012-8297-4361-ACE8-A2509FB18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5260063" y="0"/>
            <a:ext cx="6931937" cy="6857990"/>
          </a:xfrm>
          <a:prstGeom prst="rect">
            <a:avLst/>
          </a:prstGeom>
        </p:spPr>
      </p:pic>
      <p:sp>
        <p:nvSpPr>
          <p:cNvPr id="13" name="Rectangle 12">
            <a:extLst>
              <a:ext uri="{FF2B5EF4-FFF2-40B4-BE49-F238E27FC236}">
                <a16:creationId xmlns:a16="http://schemas.microsoft.com/office/drawing/2014/main" id="{365A786E-9028-443F-8713-B9552D9A2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2777" y="0"/>
            <a:ext cx="7779221"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6977133" y="1153333"/>
            <a:ext cx="4950351" cy="3657600"/>
          </a:xfrm>
        </p:spPr>
        <p:txBody>
          <a:bodyPr vert="horz" lIns="91440" tIns="45720" rIns="91440" bIns="45720" rtlCol="0" anchor="ctr">
            <a:normAutofit/>
          </a:bodyPr>
          <a:lstStyle/>
          <a:p>
            <a:r>
              <a:rPr lang="en-US" dirty="0"/>
              <a:t>Project Risks</a:t>
            </a:r>
          </a:p>
        </p:txBody>
      </p:sp>
      <p:sp>
        <p:nvSpPr>
          <p:cNvPr id="3" name="TextBox 2">
            <a:extLst>
              <a:ext uri="{FF2B5EF4-FFF2-40B4-BE49-F238E27FC236}">
                <a16:creationId xmlns:a16="http://schemas.microsoft.com/office/drawing/2014/main" id="{8ECE9A0F-7CCA-34B4-C76A-EC3C410020BC}"/>
              </a:ext>
            </a:extLst>
          </p:cNvPr>
          <p:cNvSpPr txBox="1"/>
          <p:nvPr/>
        </p:nvSpPr>
        <p:spPr>
          <a:xfrm>
            <a:off x="264516" y="2060729"/>
            <a:ext cx="5645956"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can go wrong? </a:t>
            </a:r>
          </a:p>
          <a:p>
            <a:pPr marL="742950" lvl="1" indent="-285750">
              <a:buFont typeface="Arial" panose="020B0604020202020204" pitchFamily="34" charset="0"/>
              <a:buChar char="•"/>
            </a:pPr>
            <a:r>
              <a:rPr lang="en-US" sz="2400" dirty="0"/>
              <a:t>ISSUE</a:t>
            </a:r>
          </a:p>
          <a:p>
            <a:pPr marL="285750" indent="-285750">
              <a:buFont typeface="Arial" panose="020B0604020202020204" pitchFamily="34" charset="0"/>
              <a:buChar char="•"/>
            </a:pPr>
            <a:r>
              <a:rPr lang="en-US" sz="2400" dirty="0"/>
              <a:t>What is the likelihood?</a:t>
            </a:r>
          </a:p>
          <a:p>
            <a:pPr marL="742950" lvl="1" indent="-285750">
              <a:buFont typeface="Arial" panose="020B0604020202020204" pitchFamily="34" charset="0"/>
              <a:buChar char="•"/>
            </a:pPr>
            <a:r>
              <a:rPr lang="en-US" sz="2400" dirty="0"/>
              <a:t>PROBABILITY of OCCURECNCE</a:t>
            </a:r>
          </a:p>
          <a:p>
            <a:pPr marL="285750" indent="-285750">
              <a:buFont typeface="Arial" panose="020B0604020202020204" pitchFamily="34" charset="0"/>
              <a:buChar char="•"/>
            </a:pPr>
            <a:r>
              <a:rPr lang="en-US" sz="2400" dirty="0"/>
              <a:t>What will the damage be?</a:t>
            </a:r>
          </a:p>
          <a:p>
            <a:pPr marL="742950" lvl="1" indent="-285750">
              <a:buFont typeface="Arial" panose="020B0604020202020204" pitchFamily="34" charset="0"/>
              <a:buChar char="•"/>
            </a:pPr>
            <a:r>
              <a:rPr lang="en-US" sz="2400" dirty="0"/>
              <a:t>IMPACT</a:t>
            </a:r>
          </a:p>
          <a:p>
            <a:pPr marL="285750" indent="-285750">
              <a:buFont typeface="Arial" panose="020B0604020202020204" pitchFamily="34" charset="0"/>
              <a:buChar char="•"/>
            </a:pPr>
            <a:r>
              <a:rPr lang="en-US" sz="2400" dirty="0"/>
              <a:t>What can we do about it?</a:t>
            </a:r>
          </a:p>
          <a:p>
            <a:pPr marL="742950" lvl="1" indent="-285750">
              <a:buFont typeface="Arial" panose="020B0604020202020204" pitchFamily="34" charset="0"/>
              <a:buChar char="•"/>
            </a:pPr>
            <a:r>
              <a:rPr lang="en-US" sz="2400" dirty="0"/>
              <a:t>MITIGATION</a:t>
            </a:r>
          </a:p>
        </p:txBody>
      </p:sp>
    </p:spTree>
    <p:extLst>
      <p:ext uri="{BB962C8B-B14F-4D97-AF65-F5344CB8AC3E}">
        <p14:creationId xmlns:p14="http://schemas.microsoft.com/office/powerpoint/2010/main" val="2640134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9A1C012-8297-4361-ACE8-A2509FB18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4620177" y="0"/>
            <a:ext cx="7571823" cy="6857990"/>
          </a:xfrm>
          <a:prstGeom prst="rect">
            <a:avLst/>
          </a:prstGeom>
        </p:spPr>
      </p:pic>
      <p:sp>
        <p:nvSpPr>
          <p:cNvPr id="13" name="Rectangle 12">
            <a:extLst>
              <a:ext uri="{FF2B5EF4-FFF2-40B4-BE49-F238E27FC236}">
                <a16:creationId xmlns:a16="http://schemas.microsoft.com/office/drawing/2014/main" id="{365A786E-9028-443F-8713-B9552D9A2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2777" y="0"/>
            <a:ext cx="7779221"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6281529" y="954156"/>
            <a:ext cx="4950351" cy="3657600"/>
          </a:xfrm>
        </p:spPr>
        <p:txBody>
          <a:bodyPr vert="horz" lIns="91440" tIns="45720" rIns="91440" bIns="45720" rtlCol="0" anchor="ctr">
            <a:normAutofit/>
          </a:bodyPr>
          <a:lstStyle/>
          <a:p>
            <a:r>
              <a:rPr lang="en-US" dirty="0"/>
              <a:t>Risk </a:t>
            </a:r>
            <a:r>
              <a:rPr lang="en-US" dirty="0" err="1"/>
              <a:t>Mangement</a:t>
            </a:r>
            <a:endParaRPr lang="en-US" dirty="0"/>
          </a:p>
        </p:txBody>
      </p:sp>
      <p:sp>
        <p:nvSpPr>
          <p:cNvPr id="3" name="TextBox 2">
            <a:extLst>
              <a:ext uri="{FF2B5EF4-FFF2-40B4-BE49-F238E27FC236}">
                <a16:creationId xmlns:a16="http://schemas.microsoft.com/office/drawing/2014/main" id="{8ECE9A0F-7CCA-34B4-C76A-EC3C410020BC}"/>
              </a:ext>
            </a:extLst>
          </p:cNvPr>
          <p:cNvSpPr txBox="1"/>
          <p:nvPr/>
        </p:nvSpPr>
        <p:spPr>
          <a:xfrm>
            <a:off x="154887" y="1287537"/>
            <a:ext cx="4361590"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project team </a:t>
            </a:r>
            <a:r>
              <a:rPr lang="en-US" sz="2000" u="sng" dirty="0"/>
              <a:t>reacts to risks </a:t>
            </a:r>
            <a:r>
              <a:rPr lang="en-US" sz="2000" dirty="0"/>
              <a:t>when they occur</a:t>
            </a:r>
          </a:p>
          <a:p>
            <a:endParaRPr lang="en-US" sz="2000" dirty="0"/>
          </a:p>
          <a:p>
            <a:pPr marL="285750" indent="-285750">
              <a:buFont typeface="Arial" panose="020B0604020202020204" pitchFamily="34" charset="0"/>
              <a:buChar char="•"/>
            </a:pPr>
            <a:r>
              <a:rPr lang="en-US" sz="2000" u="sng" dirty="0"/>
              <a:t>Mitigation - </a:t>
            </a:r>
            <a:r>
              <a:rPr lang="en-US" sz="2000" dirty="0"/>
              <a:t> plan for additional resources in anticipation </a:t>
            </a:r>
          </a:p>
          <a:p>
            <a:endParaRPr lang="en-US" sz="2000" dirty="0"/>
          </a:p>
          <a:p>
            <a:pPr marL="285750" indent="-285750">
              <a:buFont typeface="Arial" panose="020B0604020202020204" pitchFamily="34" charset="0"/>
              <a:buChar char="•"/>
            </a:pPr>
            <a:r>
              <a:rPr lang="en-US" sz="2000" u="sng" dirty="0"/>
              <a:t>fix on failure </a:t>
            </a:r>
            <a:r>
              <a:rPr lang="en-US" sz="2000" dirty="0"/>
              <a:t>— resource are found and applied when the risk strikes</a:t>
            </a:r>
          </a:p>
          <a:p>
            <a:endParaRPr lang="en-US" sz="2000" dirty="0"/>
          </a:p>
          <a:p>
            <a:pPr marL="285750" indent="-285750">
              <a:buFont typeface="Arial" panose="020B0604020202020204" pitchFamily="34" charset="0"/>
              <a:buChar char="•"/>
            </a:pPr>
            <a:r>
              <a:rPr lang="en-US" sz="2000" u="sng" dirty="0"/>
              <a:t>crisis management </a:t>
            </a:r>
            <a:r>
              <a:rPr lang="en-US" sz="2000" dirty="0"/>
              <a:t>— how to recover if the project encounters an event leading to project failure</a:t>
            </a:r>
          </a:p>
        </p:txBody>
      </p:sp>
    </p:spTree>
    <p:extLst>
      <p:ext uri="{BB962C8B-B14F-4D97-AF65-F5344CB8AC3E}">
        <p14:creationId xmlns:p14="http://schemas.microsoft.com/office/powerpoint/2010/main" val="119298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9A1C012-8297-4361-ACE8-A2509FB18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4620177" y="0"/>
            <a:ext cx="7571823" cy="6857990"/>
          </a:xfrm>
          <a:prstGeom prst="rect">
            <a:avLst/>
          </a:prstGeom>
        </p:spPr>
      </p:pic>
      <p:sp>
        <p:nvSpPr>
          <p:cNvPr id="13" name="Rectangle 12">
            <a:extLst>
              <a:ext uri="{FF2B5EF4-FFF2-40B4-BE49-F238E27FC236}">
                <a16:creationId xmlns:a16="http://schemas.microsoft.com/office/drawing/2014/main" id="{365A786E-9028-443F-8713-B9552D9A2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2777" y="0"/>
            <a:ext cx="7779221"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6281529" y="954156"/>
            <a:ext cx="4950351" cy="3657600"/>
          </a:xfrm>
        </p:spPr>
        <p:txBody>
          <a:bodyPr vert="horz" lIns="91440" tIns="45720" rIns="91440" bIns="45720" rtlCol="0" anchor="ctr">
            <a:normAutofit/>
          </a:bodyPr>
          <a:lstStyle/>
          <a:p>
            <a:r>
              <a:rPr lang="en-US"/>
              <a:t>Risk </a:t>
            </a:r>
            <a:r>
              <a:rPr lang="en-US" dirty="0" err="1"/>
              <a:t>Mangement</a:t>
            </a:r>
            <a:endParaRPr lang="en-US" dirty="0"/>
          </a:p>
        </p:txBody>
      </p:sp>
      <p:sp>
        <p:nvSpPr>
          <p:cNvPr id="3" name="TextBox 2">
            <a:extLst>
              <a:ext uri="{FF2B5EF4-FFF2-40B4-BE49-F238E27FC236}">
                <a16:creationId xmlns:a16="http://schemas.microsoft.com/office/drawing/2014/main" id="{8ECE9A0F-7CCA-34B4-C76A-EC3C410020BC}"/>
              </a:ext>
            </a:extLst>
          </p:cNvPr>
          <p:cNvSpPr txBox="1"/>
          <p:nvPr/>
        </p:nvSpPr>
        <p:spPr>
          <a:xfrm>
            <a:off x="154887" y="1287537"/>
            <a:ext cx="4361590" cy="2862322"/>
          </a:xfrm>
          <a:prstGeom prst="rect">
            <a:avLst/>
          </a:prstGeom>
          <a:noFill/>
        </p:spPr>
        <p:txBody>
          <a:bodyPr wrap="square" rtlCol="0">
            <a:spAutoFit/>
          </a:bodyPr>
          <a:lstStyle/>
          <a:p>
            <a:endParaRPr lang="en-US" sz="2000" dirty="0"/>
          </a:p>
          <a:p>
            <a:pPr marL="285750" indent="-285750">
              <a:buFont typeface="Arial" panose="020B0604020202020204" pitchFamily="34" charset="0"/>
              <a:buChar char="•"/>
            </a:pPr>
            <a:r>
              <a:rPr lang="en-US" sz="2000" dirty="0"/>
              <a:t>formal risk analysis is performed</a:t>
            </a:r>
          </a:p>
          <a:p>
            <a:pPr marL="285750" indent="-285750">
              <a:buFont typeface="Arial" panose="020B0604020202020204" pitchFamily="34" charset="0"/>
              <a:buChar char="•"/>
            </a:pPr>
            <a:r>
              <a:rPr lang="en-US" sz="2000" dirty="0"/>
              <a:t>organization corrects the root causes of risk</a:t>
            </a:r>
          </a:p>
          <a:p>
            <a:pPr marL="742950" lvl="1" indent="-285750">
              <a:buFont typeface="Arial" panose="020B0604020202020204" pitchFamily="34" charset="0"/>
              <a:buChar char="•"/>
            </a:pPr>
            <a:r>
              <a:rPr lang="en-US" sz="2000" dirty="0"/>
              <a:t>examining risk sources that lie beyond the bounds of the software</a:t>
            </a:r>
          </a:p>
          <a:p>
            <a:pPr marL="742950" lvl="1" indent="-285750">
              <a:buFont typeface="Arial" panose="020B0604020202020204" pitchFamily="34" charset="0"/>
              <a:buChar char="•"/>
            </a:pPr>
            <a:r>
              <a:rPr lang="en-US" sz="2000" dirty="0"/>
              <a:t>developing the skill to manage change </a:t>
            </a:r>
          </a:p>
        </p:txBody>
      </p:sp>
    </p:spTree>
    <p:extLst>
      <p:ext uri="{BB962C8B-B14F-4D97-AF65-F5344CB8AC3E}">
        <p14:creationId xmlns:p14="http://schemas.microsoft.com/office/powerpoint/2010/main" val="409756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9A1C012-8297-4361-ACE8-A2509FB18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6645244" y="10"/>
            <a:ext cx="5546756" cy="6857990"/>
          </a:xfrm>
          <a:prstGeom prst="rect">
            <a:avLst/>
          </a:prstGeom>
        </p:spPr>
      </p:pic>
      <p:sp>
        <p:nvSpPr>
          <p:cNvPr id="13" name="Rectangle 12">
            <a:extLst>
              <a:ext uri="{FF2B5EF4-FFF2-40B4-BE49-F238E27FC236}">
                <a16:creationId xmlns:a16="http://schemas.microsoft.com/office/drawing/2014/main" id="{365A786E-9028-443F-8713-B9552D9A2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2777" y="0"/>
            <a:ext cx="7779221"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7241647" y="899835"/>
            <a:ext cx="4950351" cy="3657600"/>
          </a:xfrm>
        </p:spPr>
        <p:txBody>
          <a:bodyPr vert="horz" lIns="91440" tIns="45720" rIns="91440" bIns="45720" rtlCol="0" anchor="ctr">
            <a:normAutofit fontScale="90000"/>
          </a:bodyPr>
          <a:lstStyle/>
          <a:p>
            <a:r>
              <a:rPr lang="en-US" dirty="0"/>
              <a:t>7 principles</a:t>
            </a:r>
            <a:br>
              <a:rPr lang="en-US" dirty="0"/>
            </a:br>
            <a:r>
              <a:rPr lang="en-US" dirty="0"/>
              <a:t>to avoid project failure</a:t>
            </a:r>
          </a:p>
        </p:txBody>
      </p:sp>
      <p:sp>
        <p:nvSpPr>
          <p:cNvPr id="3" name="TextBox 2">
            <a:extLst>
              <a:ext uri="{FF2B5EF4-FFF2-40B4-BE49-F238E27FC236}">
                <a16:creationId xmlns:a16="http://schemas.microsoft.com/office/drawing/2014/main" id="{8ECE9A0F-7CCA-34B4-C76A-EC3C410020BC}"/>
              </a:ext>
            </a:extLst>
          </p:cNvPr>
          <p:cNvSpPr txBox="1"/>
          <p:nvPr/>
        </p:nvSpPr>
        <p:spPr>
          <a:xfrm>
            <a:off x="0" y="233746"/>
            <a:ext cx="6562784" cy="5796972"/>
          </a:xfrm>
          <a:prstGeom prst="rect">
            <a:avLst/>
          </a:prstGeom>
          <a:noFill/>
        </p:spPr>
        <p:txBody>
          <a:bodyPr wrap="square" rtlCol="0">
            <a:spAutoFit/>
          </a:bodyPr>
          <a:lstStyle/>
          <a:p>
            <a:pPr algn="just" eaLnBrk="1" hangingPunct="1">
              <a:lnSpc>
                <a:spcPct val="90000"/>
              </a:lnSpc>
              <a:spcBef>
                <a:spcPts val="300"/>
              </a:spcBef>
            </a:pPr>
            <a:r>
              <a:rPr lang="en-US" altLang="en-US" sz="1800" b="1" dirty="0"/>
              <a:t>Maintain a global perspective</a:t>
            </a:r>
            <a:r>
              <a:rPr lang="en-US" altLang="en-US" sz="1800" dirty="0"/>
              <a:t>—identify all the software risks in the scope of application</a:t>
            </a:r>
          </a:p>
          <a:p>
            <a:pPr algn="just" eaLnBrk="1" hangingPunct="1">
              <a:lnSpc>
                <a:spcPct val="90000"/>
              </a:lnSpc>
              <a:spcBef>
                <a:spcPts val="300"/>
              </a:spcBef>
            </a:pPr>
            <a:endParaRPr lang="en-US" altLang="en-US" sz="1800" dirty="0"/>
          </a:p>
          <a:p>
            <a:pPr algn="just" eaLnBrk="1" hangingPunct="1">
              <a:lnSpc>
                <a:spcPct val="90000"/>
              </a:lnSpc>
              <a:spcBef>
                <a:spcPts val="300"/>
              </a:spcBef>
            </a:pPr>
            <a:r>
              <a:rPr lang="en-US" altLang="en-US" sz="1800" b="1" dirty="0"/>
              <a:t>Take a forward-looking view</a:t>
            </a:r>
            <a:r>
              <a:rPr lang="en-US" altLang="en-US" sz="1800" dirty="0"/>
              <a:t>—establish plan B in case of risk occurrence</a:t>
            </a:r>
          </a:p>
          <a:p>
            <a:pPr algn="just" eaLnBrk="1" hangingPunct="1">
              <a:lnSpc>
                <a:spcPct val="90000"/>
              </a:lnSpc>
              <a:spcBef>
                <a:spcPts val="300"/>
              </a:spcBef>
            </a:pPr>
            <a:endParaRPr lang="en-US" altLang="en-US" sz="1800" dirty="0"/>
          </a:p>
          <a:p>
            <a:pPr algn="just" eaLnBrk="1" hangingPunct="1">
              <a:lnSpc>
                <a:spcPct val="90000"/>
              </a:lnSpc>
              <a:spcBef>
                <a:spcPts val="300"/>
              </a:spcBef>
            </a:pPr>
            <a:r>
              <a:rPr lang="en-US" altLang="en-US" sz="1800" b="1" dirty="0"/>
              <a:t>Encourage open communication</a:t>
            </a:r>
            <a:r>
              <a:rPr lang="en-US" altLang="en-US" sz="1800" dirty="0"/>
              <a:t>—if someone states a potential risk, don’t discount it. </a:t>
            </a:r>
          </a:p>
          <a:p>
            <a:pPr algn="just" eaLnBrk="1" hangingPunct="1">
              <a:lnSpc>
                <a:spcPct val="90000"/>
              </a:lnSpc>
              <a:spcBef>
                <a:spcPts val="300"/>
              </a:spcBef>
            </a:pPr>
            <a:endParaRPr lang="en-US" altLang="en-US" sz="1800" dirty="0"/>
          </a:p>
          <a:p>
            <a:pPr algn="just" eaLnBrk="1" hangingPunct="1">
              <a:lnSpc>
                <a:spcPct val="90000"/>
              </a:lnSpc>
            </a:pPr>
            <a:r>
              <a:rPr lang="en-US" altLang="en-US" sz="1800" b="1" dirty="0"/>
              <a:t>Integrate</a:t>
            </a:r>
            <a:r>
              <a:rPr lang="en-US" altLang="en-US" sz="1800" dirty="0"/>
              <a:t>—risk consideration integrated in software development</a:t>
            </a:r>
          </a:p>
          <a:p>
            <a:pPr algn="just" eaLnBrk="1" hangingPunct="1">
              <a:lnSpc>
                <a:spcPct val="90000"/>
              </a:lnSpc>
            </a:pPr>
            <a:endParaRPr lang="en-US" altLang="en-US" sz="1800" dirty="0"/>
          </a:p>
          <a:p>
            <a:pPr algn="just" eaLnBrk="1" hangingPunct="1">
              <a:lnSpc>
                <a:spcPct val="90000"/>
              </a:lnSpc>
            </a:pPr>
            <a:r>
              <a:rPr lang="en-US" altLang="en-US" sz="1800" b="1" dirty="0"/>
              <a:t>Emphasize a continuous process</a:t>
            </a:r>
            <a:r>
              <a:rPr lang="en-US" altLang="en-US" sz="1800" dirty="0"/>
              <a:t>—the team </a:t>
            </a:r>
            <a:r>
              <a:rPr lang="en-US" altLang="en-US" dirty="0"/>
              <a:t>i</a:t>
            </a:r>
            <a:r>
              <a:rPr lang="en-US" altLang="en-US" sz="1800" dirty="0"/>
              <a:t>s continuously monitoring for evolving risks and their mitigation plans, incase of occurrence.</a:t>
            </a:r>
          </a:p>
          <a:p>
            <a:pPr algn="just" eaLnBrk="1" hangingPunct="1">
              <a:lnSpc>
                <a:spcPct val="90000"/>
              </a:lnSpc>
            </a:pPr>
            <a:endParaRPr lang="en-US" altLang="en-US" sz="1800" dirty="0"/>
          </a:p>
          <a:p>
            <a:pPr algn="just" eaLnBrk="1" hangingPunct="1">
              <a:lnSpc>
                <a:spcPct val="90000"/>
              </a:lnSpc>
            </a:pPr>
            <a:r>
              <a:rPr lang="en-US" altLang="en-US" sz="1800" b="1" dirty="0"/>
              <a:t>Develop a shared product vision</a:t>
            </a:r>
            <a:r>
              <a:rPr lang="en-US" altLang="en-US" sz="1800" dirty="0"/>
              <a:t>—if scope is same for all product owners, then risk assessment done should be more valuable and all are on same page.</a:t>
            </a:r>
          </a:p>
          <a:p>
            <a:pPr algn="just" eaLnBrk="1" hangingPunct="1">
              <a:lnSpc>
                <a:spcPct val="90000"/>
              </a:lnSpc>
            </a:pPr>
            <a:endParaRPr lang="en-US" altLang="en-US" sz="1800" dirty="0"/>
          </a:p>
          <a:p>
            <a:pPr algn="just" eaLnBrk="1" hangingPunct="1">
              <a:lnSpc>
                <a:spcPct val="90000"/>
              </a:lnSpc>
            </a:pPr>
            <a:r>
              <a:rPr lang="en-US" altLang="en-US" sz="1800" b="1" dirty="0"/>
              <a:t>Encourage teamwork</a:t>
            </a:r>
            <a:r>
              <a:rPr lang="en-US" altLang="en-US" sz="1800" dirty="0"/>
              <a:t>—the talents, skills and knowledge of all stakeholder should be pooled</a:t>
            </a:r>
            <a:endParaRPr lang="en-US" altLang="en-US" sz="2400" dirty="0"/>
          </a:p>
          <a:p>
            <a:pPr algn="just"/>
            <a:endParaRPr lang="en-US" dirty="0"/>
          </a:p>
        </p:txBody>
      </p:sp>
    </p:spTree>
    <p:extLst>
      <p:ext uri="{BB962C8B-B14F-4D97-AF65-F5344CB8AC3E}">
        <p14:creationId xmlns:p14="http://schemas.microsoft.com/office/powerpoint/2010/main" val="17499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18368-FE97-46FE-66EE-57BCE5A9722D}"/>
              </a:ext>
            </a:extLst>
          </p:cNvPr>
          <p:cNvSpPr>
            <a:spLocks noGrp="1"/>
          </p:cNvSpPr>
          <p:nvPr>
            <p:ph type="title"/>
          </p:nvPr>
        </p:nvSpPr>
        <p:spPr/>
        <p:txBody>
          <a:bodyPr>
            <a:normAutofit fontScale="90000"/>
          </a:bodyPr>
          <a:lstStyle/>
          <a:p>
            <a:r>
              <a:rPr lang="en-US" dirty="0"/>
              <a:t>Risk Management paradigm</a:t>
            </a:r>
          </a:p>
        </p:txBody>
      </p:sp>
      <p:graphicFrame>
        <p:nvGraphicFramePr>
          <p:cNvPr id="4" name="Content Placeholder 3">
            <a:extLst>
              <a:ext uri="{FF2B5EF4-FFF2-40B4-BE49-F238E27FC236}">
                <a16:creationId xmlns:a16="http://schemas.microsoft.com/office/drawing/2014/main" id="{51E672EE-62FA-D0F0-755E-D990906D8B6A}"/>
              </a:ext>
            </a:extLst>
          </p:cNvPr>
          <p:cNvGraphicFramePr>
            <a:graphicFrameLocks noGrp="1"/>
          </p:cNvGraphicFramePr>
          <p:nvPr>
            <p:ph idx="1"/>
            <p:extLst>
              <p:ext uri="{D42A27DB-BD31-4B8C-83A1-F6EECF244321}">
                <p14:modId xmlns:p14="http://schemas.microsoft.com/office/powerpoint/2010/main" val="3787761538"/>
              </p:ext>
            </p:extLst>
          </p:nvPr>
        </p:nvGraphicFramePr>
        <p:xfrm>
          <a:off x="960438" y="2587625"/>
          <a:ext cx="102679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Arrow Connector 7">
            <a:extLst>
              <a:ext uri="{FF2B5EF4-FFF2-40B4-BE49-F238E27FC236}">
                <a16:creationId xmlns:a16="http://schemas.microsoft.com/office/drawing/2014/main" id="{7B336765-31AE-F945-8409-312202F76961}"/>
              </a:ext>
            </a:extLst>
          </p:cNvPr>
          <p:cNvCxnSpPr>
            <a:cxnSpLocks/>
          </p:cNvCxnSpPr>
          <p:nvPr/>
        </p:nvCxnSpPr>
        <p:spPr>
          <a:xfrm flipH="1">
            <a:off x="7954392" y="4172505"/>
            <a:ext cx="834501" cy="4616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952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9A1C012-8297-4361-ACE8-A2509FB18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6019060" y="0"/>
            <a:ext cx="6172940" cy="6857990"/>
          </a:xfrm>
          <a:prstGeom prst="rect">
            <a:avLst/>
          </a:prstGeom>
        </p:spPr>
      </p:pic>
      <p:sp>
        <p:nvSpPr>
          <p:cNvPr id="13" name="Rectangle 12">
            <a:extLst>
              <a:ext uri="{FF2B5EF4-FFF2-40B4-BE49-F238E27FC236}">
                <a16:creationId xmlns:a16="http://schemas.microsoft.com/office/drawing/2014/main" id="{365A786E-9028-443F-8713-B9552D9A2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2777" y="0"/>
            <a:ext cx="7779221" cy="6858000"/>
          </a:xfrm>
          <a:prstGeom prst="rect">
            <a:avLst/>
          </a:prstGeom>
          <a:gradFill>
            <a:gsLst>
              <a:gs pos="58000">
                <a:schemeClr val="tx1">
                  <a:alpha val="30000"/>
                </a:schemeClr>
              </a:gs>
              <a:gs pos="33000">
                <a:schemeClr val="tx1">
                  <a:alpha val="20000"/>
                </a:schemeClr>
              </a:gs>
              <a:gs pos="0">
                <a:schemeClr val="tx1">
                  <a:alpha val="0"/>
                </a:schemeClr>
              </a:gs>
              <a:gs pos="100000">
                <a:schemeClr val="tx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6282755" y="963033"/>
            <a:ext cx="5754358" cy="3657600"/>
          </a:xfrm>
        </p:spPr>
        <p:txBody>
          <a:bodyPr vert="horz" lIns="91440" tIns="45720" rIns="91440" bIns="45720" rtlCol="0" anchor="ctr">
            <a:normAutofit/>
          </a:bodyPr>
          <a:lstStyle/>
          <a:p>
            <a:r>
              <a:rPr lang="en-US" dirty="0"/>
              <a:t>Risk identification</a:t>
            </a:r>
          </a:p>
        </p:txBody>
      </p:sp>
      <p:sp>
        <p:nvSpPr>
          <p:cNvPr id="3" name="TextBox 2">
            <a:extLst>
              <a:ext uri="{FF2B5EF4-FFF2-40B4-BE49-F238E27FC236}">
                <a16:creationId xmlns:a16="http://schemas.microsoft.com/office/drawing/2014/main" id="{8ECE9A0F-7CCA-34B4-C76A-EC3C410020BC}"/>
              </a:ext>
            </a:extLst>
          </p:cNvPr>
          <p:cNvSpPr txBox="1"/>
          <p:nvPr/>
        </p:nvSpPr>
        <p:spPr>
          <a:xfrm>
            <a:off x="154887" y="156382"/>
            <a:ext cx="5709288" cy="6717223"/>
          </a:xfrm>
          <a:prstGeom prst="rect">
            <a:avLst/>
          </a:prstGeom>
          <a:noFill/>
        </p:spPr>
        <p:txBody>
          <a:bodyPr wrap="square" rtlCol="0">
            <a:spAutoFit/>
          </a:bodyPr>
          <a:lstStyle/>
          <a:p>
            <a:pPr algn="just" eaLnBrk="1" hangingPunct="1">
              <a:lnSpc>
                <a:spcPct val="90000"/>
              </a:lnSpc>
              <a:spcBef>
                <a:spcPts val="600"/>
              </a:spcBef>
            </a:pPr>
            <a:r>
              <a:rPr lang="en-US" altLang="en-US" sz="1800" i="1" u="sng" dirty="0">
                <a:solidFill>
                  <a:schemeClr val="folHlink"/>
                </a:solidFill>
              </a:rPr>
              <a:t>Product size</a:t>
            </a:r>
            <a:r>
              <a:rPr lang="en-US" altLang="en-US" sz="1800" dirty="0"/>
              <a:t>—risks arise with the overall size of the software to be built or modified.</a:t>
            </a:r>
          </a:p>
          <a:p>
            <a:pPr algn="just" eaLnBrk="1" hangingPunct="1">
              <a:lnSpc>
                <a:spcPct val="90000"/>
              </a:lnSpc>
              <a:spcBef>
                <a:spcPts val="600"/>
              </a:spcBef>
            </a:pPr>
            <a:endParaRPr lang="en-US" altLang="en-US" sz="1800" dirty="0"/>
          </a:p>
          <a:p>
            <a:pPr algn="just" eaLnBrk="1" hangingPunct="1">
              <a:lnSpc>
                <a:spcPct val="90000"/>
              </a:lnSpc>
              <a:spcBef>
                <a:spcPts val="300"/>
              </a:spcBef>
            </a:pPr>
            <a:r>
              <a:rPr lang="en-US" altLang="en-US" sz="1800" i="1" u="sng" dirty="0">
                <a:solidFill>
                  <a:schemeClr val="folHlink"/>
                </a:solidFill>
              </a:rPr>
              <a:t>Business impact</a:t>
            </a:r>
            <a:r>
              <a:rPr lang="en-US" altLang="en-US" sz="1800" dirty="0"/>
              <a:t>—risks arise because of management and marketplace constraints.</a:t>
            </a:r>
          </a:p>
          <a:p>
            <a:pPr algn="just" eaLnBrk="1" hangingPunct="1">
              <a:lnSpc>
                <a:spcPct val="90000"/>
              </a:lnSpc>
            </a:pPr>
            <a:endParaRPr lang="en-US" altLang="en-US" sz="1800" i="1" u="sng" dirty="0">
              <a:solidFill>
                <a:schemeClr val="folHlink"/>
              </a:solidFill>
            </a:endParaRPr>
          </a:p>
          <a:p>
            <a:pPr algn="just" eaLnBrk="1" hangingPunct="1">
              <a:lnSpc>
                <a:spcPct val="90000"/>
              </a:lnSpc>
            </a:pPr>
            <a:r>
              <a:rPr lang="en-US" altLang="en-US" sz="1800" i="1" u="sng" dirty="0">
                <a:solidFill>
                  <a:schemeClr val="folHlink"/>
                </a:solidFill>
              </a:rPr>
              <a:t>Customer characteristics</a:t>
            </a:r>
            <a:r>
              <a:rPr lang="en-US" altLang="en-US" sz="1800" dirty="0"/>
              <a:t>—</a:t>
            </a:r>
            <a:r>
              <a:rPr lang="en-US" dirty="0"/>
              <a:t>Risks arise when customers are not very knowledgeable or when developers struggle to communicate with them promptly.</a:t>
            </a:r>
          </a:p>
          <a:p>
            <a:pPr algn="just" eaLnBrk="1" hangingPunct="1">
              <a:lnSpc>
                <a:spcPct val="90000"/>
              </a:lnSpc>
            </a:pPr>
            <a:endParaRPr lang="en-US" altLang="en-US" sz="1800" i="1" u="sng" dirty="0">
              <a:solidFill>
                <a:schemeClr val="folHlink"/>
              </a:solidFill>
            </a:endParaRPr>
          </a:p>
          <a:p>
            <a:pPr algn="just" eaLnBrk="1" hangingPunct="1">
              <a:lnSpc>
                <a:spcPct val="90000"/>
              </a:lnSpc>
            </a:pPr>
            <a:r>
              <a:rPr lang="en-US" altLang="en-US" sz="1800" i="1" u="sng" dirty="0">
                <a:solidFill>
                  <a:schemeClr val="folHlink"/>
                </a:solidFill>
              </a:rPr>
              <a:t>Process definition</a:t>
            </a:r>
            <a:r>
              <a:rPr lang="en-US" altLang="en-US" sz="1800" dirty="0"/>
              <a:t>—risks associated with the defined software process followed by the development organization.</a:t>
            </a:r>
          </a:p>
          <a:p>
            <a:pPr algn="just" eaLnBrk="1" hangingPunct="1">
              <a:lnSpc>
                <a:spcPct val="90000"/>
              </a:lnSpc>
            </a:pPr>
            <a:endParaRPr lang="en-US" altLang="en-US" sz="1800" i="1" u="sng" dirty="0">
              <a:solidFill>
                <a:schemeClr val="folHlink"/>
              </a:solidFill>
            </a:endParaRPr>
          </a:p>
          <a:p>
            <a:pPr algn="just" eaLnBrk="1" hangingPunct="1">
              <a:lnSpc>
                <a:spcPct val="90000"/>
              </a:lnSpc>
            </a:pPr>
            <a:r>
              <a:rPr lang="en-US" altLang="en-US" sz="1800" i="1" u="sng" dirty="0">
                <a:solidFill>
                  <a:schemeClr val="folHlink"/>
                </a:solidFill>
              </a:rPr>
              <a:t>Development environment</a:t>
            </a:r>
            <a:r>
              <a:rPr lang="en-US" altLang="en-US" sz="1800" dirty="0"/>
              <a:t>—risks associated with the availability and quality of the tools to be used to build the product.</a:t>
            </a:r>
          </a:p>
          <a:p>
            <a:pPr algn="just" eaLnBrk="1" hangingPunct="1">
              <a:lnSpc>
                <a:spcPct val="90000"/>
              </a:lnSpc>
            </a:pPr>
            <a:endParaRPr lang="en-US" altLang="en-US" sz="1800" i="1" u="sng" dirty="0">
              <a:solidFill>
                <a:schemeClr val="folHlink"/>
              </a:solidFill>
            </a:endParaRPr>
          </a:p>
          <a:p>
            <a:pPr algn="just" eaLnBrk="1" hangingPunct="1">
              <a:lnSpc>
                <a:spcPct val="90000"/>
              </a:lnSpc>
            </a:pPr>
            <a:r>
              <a:rPr lang="en-US" altLang="en-US" sz="1800" i="1" u="sng" dirty="0">
                <a:solidFill>
                  <a:schemeClr val="folHlink"/>
                </a:solidFill>
              </a:rPr>
              <a:t>Technology to be built</a:t>
            </a:r>
            <a:r>
              <a:rPr lang="en-US" altLang="en-US" sz="1800" dirty="0"/>
              <a:t>—risks associated with the complexity of the system to be built and the "newness" of the technology that is packaged by the system.</a:t>
            </a:r>
          </a:p>
          <a:p>
            <a:pPr algn="just" eaLnBrk="1" hangingPunct="1">
              <a:lnSpc>
                <a:spcPct val="90000"/>
              </a:lnSpc>
            </a:pPr>
            <a:endParaRPr lang="en-US" altLang="en-US" sz="1800" i="1" u="sng" dirty="0">
              <a:solidFill>
                <a:schemeClr val="folHlink"/>
              </a:solidFill>
            </a:endParaRPr>
          </a:p>
          <a:p>
            <a:pPr algn="just" eaLnBrk="1" hangingPunct="1">
              <a:lnSpc>
                <a:spcPct val="90000"/>
              </a:lnSpc>
            </a:pPr>
            <a:r>
              <a:rPr lang="en-US" altLang="en-US" sz="1800" i="1" u="sng" dirty="0">
                <a:solidFill>
                  <a:schemeClr val="folHlink"/>
                </a:solidFill>
              </a:rPr>
              <a:t>Staff size and experience</a:t>
            </a:r>
            <a:r>
              <a:rPr lang="en-US" altLang="en-US" sz="1800" dirty="0"/>
              <a:t>—risks associated with the overall technical and project experience of the software engineers who will do the work.</a:t>
            </a:r>
          </a:p>
          <a:p>
            <a:pPr algn="just"/>
            <a:endParaRPr lang="en-US" dirty="0"/>
          </a:p>
        </p:txBody>
      </p:sp>
    </p:spTree>
    <p:extLst>
      <p:ext uri="{BB962C8B-B14F-4D97-AF65-F5344CB8AC3E}">
        <p14:creationId xmlns:p14="http://schemas.microsoft.com/office/powerpoint/2010/main" val="287804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Risk due to project Size</a:t>
            </a:r>
          </a:p>
        </p:txBody>
      </p:sp>
      <p:sp>
        <p:nvSpPr>
          <p:cNvPr id="17" name="TextBox 16">
            <a:extLst>
              <a:ext uri="{FF2B5EF4-FFF2-40B4-BE49-F238E27FC236}">
                <a16:creationId xmlns:a16="http://schemas.microsoft.com/office/drawing/2014/main" id="{8ECE9A0F-7CCA-34B4-C76A-EC3C410020BC}"/>
              </a:ext>
            </a:extLst>
          </p:cNvPr>
          <p:cNvSpPr txBox="1"/>
          <p:nvPr/>
        </p:nvSpPr>
        <p:spPr>
          <a:xfrm>
            <a:off x="925941" y="2740389"/>
            <a:ext cx="10268712" cy="3433031"/>
          </a:xfrm>
          <a:prstGeom prst="rect">
            <a:avLst/>
          </a:prstGeom>
        </p:spPr>
        <p:txBody>
          <a:bodyPr vert="horz" lIns="91440" tIns="45720" rIns="91440" bIns="45720" rtlCol="0" anchor="t">
            <a:normAutofit/>
          </a:bodyPr>
          <a:lstStyle/>
          <a:p>
            <a:r>
              <a:rPr lang="en-US" altLang="en-US" b="1" i="1" dirty="0">
                <a:solidFill>
                  <a:schemeClr val="folHlink"/>
                </a:solidFill>
                <a:latin typeface="Helvetica" panose="020B0604020202020204" pitchFamily="34" charset="0"/>
              </a:rPr>
              <a:t>Attributes that affect risk:</a:t>
            </a:r>
          </a:p>
          <a:p>
            <a:pPr marL="285750" indent="-285750">
              <a:buFont typeface="Arial" panose="020B0604020202020204" pitchFamily="34" charset="0"/>
              <a:buChar char="•"/>
            </a:pPr>
            <a:r>
              <a:rPr lang="en-US" altLang="en-US" dirty="0"/>
              <a:t>Estimates size of product in terms of LOC or </a:t>
            </a:r>
            <a:r>
              <a:rPr lang="en-US" altLang="en-US" dirty="0" err="1"/>
              <a:t>FP,in</a:t>
            </a:r>
            <a:r>
              <a:rPr lang="en-US" altLang="en-US" dirty="0"/>
              <a:t> number of programs, file or transactions</a:t>
            </a:r>
          </a:p>
          <a:p>
            <a:pPr marL="285750" indent="-285750">
              <a:buFont typeface="Arial" panose="020B0604020202020204" pitchFamily="34" charset="0"/>
              <a:buChar char="•"/>
            </a:pPr>
            <a:r>
              <a:rPr lang="en-US" altLang="en-US" dirty="0"/>
              <a:t>% deviation in size of product from average of previous products</a:t>
            </a:r>
          </a:p>
          <a:p>
            <a:pPr marL="285750" indent="-285750">
              <a:buFont typeface="Arial" panose="020B0604020202020204" pitchFamily="34" charset="0"/>
              <a:buChar char="•"/>
            </a:pPr>
            <a:r>
              <a:rPr lang="en-US" altLang="en-US" dirty="0"/>
              <a:t>Size of database in the product</a:t>
            </a:r>
          </a:p>
          <a:p>
            <a:pPr marL="285750" indent="-285750">
              <a:buFont typeface="Arial" panose="020B0604020202020204" pitchFamily="34" charset="0"/>
              <a:buChar char="•"/>
            </a:pPr>
            <a:r>
              <a:rPr lang="en-US" altLang="en-US" dirty="0"/>
              <a:t>Number of users</a:t>
            </a:r>
          </a:p>
          <a:p>
            <a:pPr marL="285750" indent="-285750">
              <a:buFont typeface="Arial" panose="020B0604020202020204" pitchFamily="34" charset="0"/>
              <a:buChar char="•"/>
            </a:pPr>
            <a:r>
              <a:rPr lang="en-US" altLang="en-US" dirty="0"/>
              <a:t>Number of changes cater before &amp; after delivery</a:t>
            </a:r>
          </a:p>
          <a:p>
            <a:pPr marL="285750" indent="-285750">
              <a:buFont typeface="Arial" panose="020B0604020202020204" pitchFamily="34" charset="0"/>
              <a:buChar char="•"/>
            </a:pPr>
            <a:r>
              <a:rPr lang="en-US" altLang="en-US" dirty="0"/>
              <a:t>Amount of reused software</a:t>
            </a:r>
          </a:p>
          <a:p>
            <a:pPr marL="285750" indent="-285750">
              <a:buFont typeface="Arial" panose="020B0604020202020204" pitchFamily="34" charset="0"/>
              <a:buChar char="•"/>
            </a:pPr>
            <a:endParaRPr lang="en-US" altLang="en-US" b="1" i="1" dirty="0">
              <a:solidFill>
                <a:schemeClr val="folHlink"/>
              </a:solidFill>
              <a:latin typeface="Helvetica" panose="020B0604020202020204" pitchFamily="34" charset="0"/>
            </a:endParaRPr>
          </a:p>
          <a:p>
            <a:endParaRPr lang="en-US" altLang="en-US" b="1" i="1" dirty="0">
              <a:solidFill>
                <a:schemeClr val="folHlink"/>
              </a:solidFill>
              <a:latin typeface="Helvetica" panose="020B0604020202020204" pitchFamily="34" charset="0"/>
            </a:endParaRPr>
          </a:p>
          <a:p>
            <a:pPr marL="285750" indent="-285750">
              <a:lnSpc>
                <a:spcPct val="101000"/>
              </a:lnSpc>
              <a:buFont typeface="Arial" panose="020B0604020202020204" pitchFamily="34" charset="0"/>
              <a:buChar char="•"/>
            </a:pPr>
            <a:endParaRPr lang="en-US" altLang="en-US" spc="50" dirty="0"/>
          </a:p>
          <a:p>
            <a:pPr>
              <a:lnSpc>
                <a:spcPct val="101000"/>
              </a:lnSpc>
            </a:pPr>
            <a:endParaRPr lang="en-US" spc="50" dirty="0"/>
          </a:p>
        </p:txBody>
      </p:sp>
    </p:spTree>
    <p:extLst>
      <p:ext uri="{BB962C8B-B14F-4D97-AF65-F5344CB8AC3E}">
        <p14:creationId xmlns:p14="http://schemas.microsoft.com/office/powerpoint/2010/main" val="292759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fontScale="90000"/>
          </a:bodyPr>
          <a:lstStyle/>
          <a:p>
            <a:r>
              <a:rPr lang="en-US" kern="1200" cap="all" spc="120" baseline="0" dirty="0">
                <a:solidFill>
                  <a:schemeClr val="bg1"/>
                </a:solidFill>
                <a:latin typeface="+mj-lt"/>
                <a:ea typeface="+mj-ea"/>
                <a:cs typeface="+mj-cs"/>
              </a:rPr>
              <a:t>Risk due to </a:t>
            </a:r>
            <a:r>
              <a:rPr lang="en-US" dirty="0"/>
              <a:t>business impact</a:t>
            </a:r>
            <a:endParaRPr lang="en-US" kern="1200" cap="all" spc="120" baseline="0" dirty="0">
              <a:solidFill>
                <a:schemeClr val="bg1"/>
              </a:solidFill>
              <a:latin typeface="+mj-lt"/>
              <a:ea typeface="+mj-ea"/>
              <a:cs typeface="+mj-cs"/>
            </a:endParaRPr>
          </a:p>
        </p:txBody>
      </p:sp>
      <p:sp>
        <p:nvSpPr>
          <p:cNvPr id="17" name="TextBox 16">
            <a:extLst>
              <a:ext uri="{FF2B5EF4-FFF2-40B4-BE49-F238E27FC236}">
                <a16:creationId xmlns:a16="http://schemas.microsoft.com/office/drawing/2014/main" id="{8ECE9A0F-7CCA-34B4-C76A-EC3C410020BC}"/>
              </a:ext>
            </a:extLst>
          </p:cNvPr>
          <p:cNvSpPr txBox="1"/>
          <p:nvPr/>
        </p:nvSpPr>
        <p:spPr>
          <a:xfrm>
            <a:off x="925941" y="2740389"/>
            <a:ext cx="10268712" cy="3433031"/>
          </a:xfrm>
          <a:prstGeom prst="rect">
            <a:avLst/>
          </a:prstGeom>
        </p:spPr>
        <p:txBody>
          <a:bodyPr vert="horz" lIns="91440" tIns="45720" rIns="91440" bIns="45720" rtlCol="0" anchor="t">
            <a:normAutofit/>
          </a:bodyPr>
          <a:lstStyle/>
          <a:p>
            <a:r>
              <a:rPr lang="en-US" altLang="en-US" b="1" i="1" dirty="0">
                <a:solidFill>
                  <a:schemeClr val="folHlink"/>
                </a:solidFill>
                <a:latin typeface="Helvetica" panose="020B0604020202020204" pitchFamily="34" charset="0"/>
              </a:rPr>
              <a:t>Attributes that affect risk:</a:t>
            </a:r>
          </a:p>
          <a:p>
            <a:pPr marL="285750" indent="-285750">
              <a:buFont typeface="Arial" panose="020B0604020202020204" pitchFamily="34" charset="0"/>
              <a:buChar char="•"/>
            </a:pPr>
            <a:r>
              <a:rPr lang="en-US" altLang="en-US" dirty="0"/>
              <a:t>Effect of product on company’s revenue</a:t>
            </a:r>
          </a:p>
          <a:p>
            <a:pPr marL="285750" indent="-285750">
              <a:buFont typeface="Arial" panose="020B0604020202020204" pitchFamily="34" charset="0"/>
              <a:buChar char="•"/>
            </a:pPr>
            <a:r>
              <a:rPr lang="en-US" altLang="en-US" dirty="0"/>
              <a:t>Are delivery deadlines reasonable?</a:t>
            </a:r>
          </a:p>
          <a:p>
            <a:pPr marL="285750" indent="-285750">
              <a:buFont typeface="Arial" panose="020B0604020202020204" pitchFamily="34" charset="0"/>
              <a:buChar char="•"/>
            </a:pPr>
            <a:r>
              <a:rPr lang="en-US" altLang="en-US" dirty="0"/>
              <a:t>Interoperability constraints</a:t>
            </a:r>
          </a:p>
          <a:p>
            <a:pPr marL="285750" indent="-285750">
              <a:buFont typeface="Arial" panose="020B0604020202020204" pitchFamily="34" charset="0"/>
              <a:buChar char="•"/>
            </a:pPr>
            <a:r>
              <a:rPr lang="en-US" altLang="en-US" dirty="0"/>
              <a:t>No. of users</a:t>
            </a:r>
          </a:p>
          <a:p>
            <a:pPr marL="285750" indent="-285750">
              <a:buFont typeface="Arial" panose="020B0604020202020204" pitchFamily="34" charset="0"/>
              <a:buChar char="•"/>
            </a:pPr>
            <a:r>
              <a:rPr lang="en-US" altLang="en-US" dirty="0"/>
              <a:t>Sophistication of end users</a:t>
            </a:r>
          </a:p>
          <a:p>
            <a:pPr marL="285750" indent="-285750">
              <a:buFont typeface="Arial" panose="020B0604020202020204" pitchFamily="34" charset="0"/>
              <a:buChar char="•"/>
            </a:pPr>
            <a:r>
              <a:rPr lang="en-US" altLang="en-US" dirty="0"/>
              <a:t>Govt. constraints</a:t>
            </a:r>
          </a:p>
          <a:p>
            <a:pPr marL="285750" indent="-285750">
              <a:buFont typeface="Arial" panose="020B0604020202020204" pitchFamily="34" charset="0"/>
              <a:buChar char="•"/>
            </a:pPr>
            <a:r>
              <a:rPr lang="en-US" altLang="en-US" dirty="0"/>
              <a:t>Cost with late delivery</a:t>
            </a:r>
          </a:p>
          <a:p>
            <a:pPr marL="285750" indent="-285750">
              <a:buFont typeface="Arial" panose="020B0604020202020204" pitchFamily="34" charset="0"/>
              <a:buChar char="•"/>
            </a:pPr>
            <a:r>
              <a:rPr lang="en-US" altLang="en-US" dirty="0"/>
              <a:t>Cost with a defective product</a:t>
            </a:r>
          </a:p>
          <a:p>
            <a:endParaRPr lang="en-US" altLang="en-US" dirty="0"/>
          </a:p>
          <a:p>
            <a:pPr marL="285750" indent="-285750">
              <a:buFont typeface="Arial" panose="020B0604020202020204" pitchFamily="34" charset="0"/>
              <a:buChar char="•"/>
            </a:pPr>
            <a:endParaRPr lang="en-US" altLang="en-US" b="1" i="1" dirty="0">
              <a:solidFill>
                <a:schemeClr val="folHlink"/>
              </a:solidFill>
              <a:latin typeface="Helvetica" panose="020B0604020202020204" pitchFamily="34" charset="0"/>
            </a:endParaRPr>
          </a:p>
          <a:p>
            <a:endParaRPr lang="en-US" altLang="en-US" b="1" i="1" dirty="0">
              <a:solidFill>
                <a:schemeClr val="folHlink"/>
              </a:solidFill>
              <a:latin typeface="Helvetica" panose="020B0604020202020204" pitchFamily="34" charset="0"/>
            </a:endParaRPr>
          </a:p>
          <a:p>
            <a:pPr marL="285750" indent="-285750">
              <a:lnSpc>
                <a:spcPct val="101000"/>
              </a:lnSpc>
              <a:buFont typeface="Arial" panose="020B0604020202020204" pitchFamily="34" charset="0"/>
              <a:buChar char="•"/>
            </a:pPr>
            <a:endParaRPr lang="en-US" altLang="en-US" spc="50" dirty="0"/>
          </a:p>
          <a:p>
            <a:pPr>
              <a:lnSpc>
                <a:spcPct val="101000"/>
              </a:lnSpc>
            </a:pPr>
            <a:endParaRPr lang="en-US" spc="50" dirty="0"/>
          </a:p>
        </p:txBody>
      </p:sp>
    </p:spTree>
    <p:extLst>
      <p:ext uri="{BB962C8B-B14F-4D97-AF65-F5344CB8AC3E}">
        <p14:creationId xmlns:p14="http://schemas.microsoft.com/office/powerpoint/2010/main" val="3673986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Risk due to </a:t>
            </a:r>
            <a:r>
              <a:rPr lang="en-US" dirty="0"/>
              <a:t>customer</a:t>
            </a:r>
            <a:endParaRPr lang="en-US" kern="1200" cap="all" spc="120" baseline="0" dirty="0">
              <a:solidFill>
                <a:schemeClr val="bg1"/>
              </a:solidFill>
              <a:latin typeface="+mj-lt"/>
              <a:ea typeface="+mj-ea"/>
              <a:cs typeface="+mj-cs"/>
            </a:endParaRPr>
          </a:p>
        </p:txBody>
      </p:sp>
      <p:sp>
        <p:nvSpPr>
          <p:cNvPr id="17" name="TextBox 16">
            <a:extLst>
              <a:ext uri="{FF2B5EF4-FFF2-40B4-BE49-F238E27FC236}">
                <a16:creationId xmlns:a16="http://schemas.microsoft.com/office/drawing/2014/main" id="{8ECE9A0F-7CCA-34B4-C76A-EC3C410020BC}"/>
              </a:ext>
            </a:extLst>
          </p:cNvPr>
          <p:cNvSpPr txBox="1"/>
          <p:nvPr/>
        </p:nvSpPr>
        <p:spPr>
          <a:xfrm>
            <a:off x="925941" y="2740389"/>
            <a:ext cx="10268712" cy="3433031"/>
          </a:xfrm>
          <a:prstGeom prst="rect">
            <a:avLst/>
          </a:prstGeom>
        </p:spPr>
        <p:txBody>
          <a:bodyPr vert="horz" lIns="91440" tIns="45720" rIns="91440" bIns="45720" rtlCol="0" anchor="t">
            <a:normAutofit/>
          </a:bodyPr>
          <a:lstStyle/>
          <a:p>
            <a:r>
              <a:rPr lang="en-US" altLang="en-US" b="1" i="1" dirty="0">
                <a:solidFill>
                  <a:schemeClr val="folHlink"/>
                </a:solidFill>
                <a:latin typeface="Helvetica" panose="020B0604020202020204" pitchFamily="34" charset="0"/>
              </a:rPr>
              <a:t>Attributes that affect risk:</a:t>
            </a:r>
          </a:p>
          <a:p>
            <a:pPr marL="285750" indent="-285750">
              <a:buFont typeface="Arial" panose="020B0604020202020204" pitchFamily="34" charset="0"/>
              <a:buChar char="•"/>
            </a:pPr>
            <a:r>
              <a:rPr lang="en-US" altLang="en-US" dirty="0"/>
              <a:t>Does the customer know requirements well?</a:t>
            </a:r>
          </a:p>
          <a:p>
            <a:pPr marL="285750" indent="-285750">
              <a:buFont typeface="Arial" panose="020B0604020202020204" pitchFamily="34" charset="0"/>
              <a:buChar char="•"/>
            </a:pPr>
            <a:r>
              <a:rPr lang="en-US" altLang="en-US" dirty="0"/>
              <a:t>Is customer willing to give time to technical team</a:t>
            </a:r>
          </a:p>
          <a:p>
            <a:pPr marL="285750" indent="-285750">
              <a:buFont typeface="Arial" panose="020B0604020202020204" pitchFamily="34" charset="0"/>
              <a:buChar char="•"/>
            </a:pPr>
            <a:r>
              <a:rPr lang="en-US" altLang="en-US" dirty="0"/>
              <a:t>Is customer participating in reviews?</a:t>
            </a:r>
          </a:p>
          <a:p>
            <a:pPr marL="285750" indent="-285750">
              <a:buFont typeface="Arial" panose="020B0604020202020204" pitchFamily="34" charset="0"/>
              <a:buChar char="•"/>
            </a:pPr>
            <a:r>
              <a:rPr lang="en-US" altLang="en-US" dirty="0"/>
              <a:t>Is customer technically sound?</a:t>
            </a:r>
          </a:p>
          <a:p>
            <a:pPr marL="285750" indent="-285750">
              <a:buFont typeface="Arial" panose="020B0604020202020204" pitchFamily="34" charset="0"/>
              <a:buChar char="•"/>
            </a:pPr>
            <a:r>
              <a:rPr lang="en-US" altLang="en-US" dirty="0"/>
              <a:t>Does customer understand software engineering practices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endParaRPr lang="en-US" altLang="en-US" b="1" i="1" dirty="0">
              <a:solidFill>
                <a:schemeClr val="folHlink"/>
              </a:solidFill>
              <a:latin typeface="Helvetica" panose="020B0604020202020204" pitchFamily="34" charset="0"/>
            </a:endParaRPr>
          </a:p>
          <a:p>
            <a:endParaRPr lang="en-US" altLang="en-US" b="1" i="1" dirty="0">
              <a:solidFill>
                <a:schemeClr val="folHlink"/>
              </a:solidFill>
              <a:latin typeface="Helvetica" panose="020B0604020202020204" pitchFamily="34" charset="0"/>
            </a:endParaRPr>
          </a:p>
          <a:p>
            <a:pPr marL="285750" indent="-285750">
              <a:lnSpc>
                <a:spcPct val="101000"/>
              </a:lnSpc>
              <a:buFont typeface="Arial" panose="020B0604020202020204" pitchFamily="34" charset="0"/>
              <a:buChar char="•"/>
            </a:pPr>
            <a:endParaRPr lang="en-US" altLang="en-US" spc="50" dirty="0"/>
          </a:p>
          <a:p>
            <a:pPr>
              <a:lnSpc>
                <a:spcPct val="101000"/>
              </a:lnSpc>
            </a:pPr>
            <a:endParaRPr lang="en-US" spc="50" dirty="0"/>
          </a:p>
        </p:txBody>
      </p:sp>
    </p:spTree>
    <p:extLst>
      <p:ext uri="{BB962C8B-B14F-4D97-AF65-F5344CB8AC3E}">
        <p14:creationId xmlns:p14="http://schemas.microsoft.com/office/powerpoint/2010/main" val="2142552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fontScale="90000"/>
          </a:bodyPr>
          <a:lstStyle/>
          <a:p>
            <a:r>
              <a:rPr lang="en-US" kern="1200" cap="all" spc="120" baseline="0" dirty="0">
                <a:solidFill>
                  <a:schemeClr val="bg1"/>
                </a:solidFill>
                <a:latin typeface="+mj-lt"/>
                <a:ea typeface="+mj-ea"/>
                <a:cs typeface="+mj-cs"/>
              </a:rPr>
              <a:t>Risk due to </a:t>
            </a:r>
            <a:r>
              <a:rPr lang="en-US" dirty="0"/>
              <a:t>process maturity</a:t>
            </a:r>
            <a:endParaRPr lang="en-US" kern="1200" cap="all" spc="120" baseline="0" dirty="0">
              <a:solidFill>
                <a:schemeClr val="bg1"/>
              </a:solidFill>
              <a:latin typeface="+mj-lt"/>
              <a:ea typeface="+mj-ea"/>
              <a:cs typeface="+mj-cs"/>
            </a:endParaRPr>
          </a:p>
        </p:txBody>
      </p:sp>
      <p:sp>
        <p:nvSpPr>
          <p:cNvPr id="17" name="TextBox 16">
            <a:extLst>
              <a:ext uri="{FF2B5EF4-FFF2-40B4-BE49-F238E27FC236}">
                <a16:creationId xmlns:a16="http://schemas.microsoft.com/office/drawing/2014/main" id="{8ECE9A0F-7CCA-34B4-C76A-EC3C410020BC}"/>
              </a:ext>
            </a:extLst>
          </p:cNvPr>
          <p:cNvSpPr txBox="1"/>
          <p:nvPr/>
        </p:nvSpPr>
        <p:spPr>
          <a:xfrm>
            <a:off x="925941" y="2740389"/>
            <a:ext cx="10268712" cy="3433031"/>
          </a:xfrm>
          <a:prstGeom prst="rect">
            <a:avLst/>
          </a:prstGeom>
        </p:spPr>
        <p:txBody>
          <a:bodyPr vert="horz" lIns="91440" tIns="45720" rIns="91440" bIns="45720" rtlCol="0" anchor="t">
            <a:normAutofit/>
          </a:bodyPr>
          <a:lstStyle/>
          <a:p>
            <a:r>
              <a:rPr lang="en-US" altLang="en-US" b="1" i="1" dirty="0">
                <a:solidFill>
                  <a:schemeClr val="folHlink"/>
                </a:solidFill>
                <a:latin typeface="Helvetica" panose="020B0604020202020204" pitchFamily="34" charset="0"/>
              </a:rPr>
              <a:t>Attributes that affect risk:</a:t>
            </a:r>
          </a:p>
          <a:p>
            <a:pPr marL="285750" indent="-285750">
              <a:buFont typeface="Arial" panose="020B0604020202020204" pitchFamily="34" charset="0"/>
              <a:buChar char="•"/>
            </a:pPr>
            <a:r>
              <a:rPr lang="en-US" altLang="en-US" dirty="0"/>
              <a:t>A process framework established?</a:t>
            </a:r>
          </a:p>
          <a:p>
            <a:pPr marL="285750" indent="-285750">
              <a:buFont typeface="Arial" panose="020B0604020202020204" pitchFamily="34" charset="0"/>
              <a:buChar char="•"/>
            </a:pPr>
            <a:r>
              <a:rPr lang="en-US" altLang="en-US" dirty="0"/>
              <a:t>Are teams following it?</a:t>
            </a:r>
          </a:p>
          <a:p>
            <a:pPr marL="285750" indent="-285750">
              <a:buFont typeface="Arial" panose="020B0604020202020204" pitchFamily="34" charset="0"/>
              <a:buChar char="•"/>
            </a:pPr>
            <a:r>
              <a:rPr lang="en-US" altLang="en-US" dirty="0"/>
              <a:t>Management support for SE practices?</a:t>
            </a:r>
          </a:p>
          <a:p>
            <a:pPr marL="285750" indent="-285750">
              <a:buFont typeface="Arial" panose="020B0604020202020204" pitchFamily="34" charset="0"/>
              <a:buChar char="•"/>
            </a:pPr>
            <a:r>
              <a:rPr lang="en-US" altLang="en-US" dirty="0"/>
              <a:t>Proactive approach to SQA</a:t>
            </a:r>
          </a:p>
          <a:p>
            <a:pPr marL="285750" indent="-285750">
              <a:buFont typeface="Arial" panose="020B0604020202020204" pitchFamily="34" charset="0"/>
              <a:buChar char="•"/>
            </a:pPr>
            <a:r>
              <a:rPr lang="en-US" altLang="en-US" dirty="0"/>
              <a:t>Conduct technical reviews?</a:t>
            </a:r>
          </a:p>
          <a:p>
            <a:pPr marL="285750" indent="-285750">
              <a:buFont typeface="Arial" panose="020B0604020202020204" pitchFamily="34" charset="0"/>
              <a:buChar char="•"/>
            </a:pPr>
            <a:r>
              <a:rPr lang="en-US" altLang="en-US" dirty="0"/>
              <a:t>Documentation formats established?</a:t>
            </a:r>
          </a:p>
          <a:p>
            <a:pPr marL="285750" indent="-285750">
              <a:buFont typeface="Arial" panose="020B0604020202020204" pitchFamily="34" charset="0"/>
              <a:buChar char="•"/>
            </a:pPr>
            <a:endParaRPr lang="en-US" altLang="en-US" b="1" i="1" dirty="0">
              <a:solidFill>
                <a:schemeClr val="folHlink"/>
              </a:solidFill>
              <a:latin typeface="Helvetica" panose="020B0604020202020204" pitchFamily="34" charset="0"/>
            </a:endParaRPr>
          </a:p>
          <a:p>
            <a:endParaRPr lang="en-US" altLang="en-US" b="1" i="1" dirty="0">
              <a:solidFill>
                <a:schemeClr val="folHlink"/>
              </a:solidFill>
              <a:latin typeface="Helvetica" panose="020B0604020202020204" pitchFamily="34" charset="0"/>
            </a:endParaRPr>
          </a:p>
          <a:p>
            <a:pPr marL="285750" indent="-285750">
              <a:lnSpc>
                <a:spcPct val="101000"/>
              </a:lnSpc>
              <a:buFont typeface="Arial" panose="020B0604020202020204" pitchFamily="34" charset="0"/>
              <a:buChar char="•"/>
            </a:pPr>
            <a:endParaRPr lang="en-US" altLang="en-US" spc="50" dirty="0"/>
          </a:p>
          <a:p>
            <a:pPr>
              <a:lnSpc>
                <a:spcPct val="101000"/>
              </a:lnSpc>
            </a:pPr>
            <a:endParaRPr lang="en-US" spc="50" dirty="0"/>
          </a:p>
        </p:txBody>
      </p:sp>
    </p:spTree>
    <p:extLst>
      <p:ext uri="{BB962C8B-B14F-4D97-AF65-F5344CB8AC3E}">
        <p14:creationId xmlns:p14="http://schemas.microsoft.com/office/powerpoint/2010/main" val="2876121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Technology risks</a:t>
            </a:r>
          </a:p>
        </p:txBody>
      </p:sp>
      <p:sp>
        <p:nvSpPr>
          <p:cNvPr id="17" name="TextBox 16">
            <a:extLst>
              <a:ext uri="{FF2B5EF4-FFF2-40B4-BE49-F238E27FC236}">
                <a16:creationId xmlns:a16="http://schemas.microsoft.com/office/drawing/2014/main" id="{8ECE9A0F-7CCA-34B4-C76A-EC3C410020BC}"/>
              </a:ext>
            </a:extLst>
          </p:cNvPr>
          <p:cNvSpPr txBox="1"/>
          <p:nvPr/>
        </p:nvSpPr>
        <p:spPr>
          <a:xfrm>
            <a:off x="925941" y="2740389"/>
            <a:ext cx="10268712" cy="3433031"/>
          </a:xfrm>
          <a:prstGeom prst="rect">
            <a:avLst/>
          </a:prstGeom>
        </p:spPr>
        <p:txBody>
          <a:bodyPr vert="horz" lIns="91440" tIns="45720" rIns="91440" bIns="45720" rtlCol="0" anchor="t">
            <a:normAutofit/>
          </a:bodyPr>
          <a:lstStyle/>
          <a:p>
            <a:r>
              <a:rPr lang="en-US" altLang="en-US" b="1" i="1" dirty="0">
                <a:solidFill>
                  <a:schemeClr val="folHlink"/>
                </a:solidFill>
                <a:latin typeface="Helvetica" panose="020B0604020202020204" pitchFamily="34" charset="0"/>
              </a:rPr>
              <a:t>Attributes that affect risk:</a:t>
            </a:r>
          </a:p>
          <a:p>
            <a:pPr marL="285750" indent="-285750">
              <a:buFont typeface="Arial" panose="020B0604020202020204" pitchFamily="34" charset="0"/>
              <a:buChar char="•"/>
            </a:pPr>
            <a:r>
              <a:rPr lang="en-US" altLang="en-US" dirty="0"/>
              <a:t>The technology new to organization?</a:t>
            </a:r>
          </a:p>
          <a:p>
            <a:pPr marL="285750" indent="-285750">
              <a:buFont typeface="Arial" panose="020B0604020202020204" pitchFamily="34" charset="0"/>
              <a:buChar char="•"/>
            </a:pPr>
            <a:r>
              <a:rPr lang="en-US" altLang="en-US" dirty="0"/>
              <a:t>New algo. or I/O techniques used?</a:t>
            </a:r>
          </a:p>
          <a:p>
            <a:pPr marL="285750" indent="-285750">
              <a:buFont typeface="Arial" panose="020B0604020202020204" pitchFamily="34" charset="0"/>
              <a:buChar char="•"/>
            </a:pPr>
            <a:r>
              <a:rPr lang="en-US" altLang="en-US" dirty="0"/>
              <a:t>New or improved hardware?</a:t>
            </a:r>
          </a:p>
          <a:p>
            <a:pPr marL="285750" indent="-285750">
              <a:buFont typeface="Arial" panose="020B0604020202020204" pitchFamily="34" charset="0"/>
              <a:buChar char="•"/>
            </a:pPr>
            <a:r>
              <a:rPr lang="en-US" altLang="en-US" dirty="0"/>
              <a:t>Specialized UI requirement?</a:t>
            </a:r>
          </a:p>
          <a:p>
            <a:pPr marL="285750" indent="-285750">
              <a:buFont typeface="Arial" panose="020B0604020202020204" pitchFamily="34" charset="0"/>
              <a:buChar char="•"/>
            </a:pPr>
            <a:r>
              <a:rPr lang="en-US" altLang="en-US" dirty="0"/>
              <a:t>Application radically different?</a:t>
            </a:r>
          </a:p>
          <a:p>
            <a:pPr marL="285750" indent="-285750">
              <a:buFont typeface="Arial" panose="020B0604020202020204" pitchFamily="34" charset="0"/>
              <a:buChar char="•"/>
            </a:pPr>
            <a:r>
              <a:rPr lang="en-US" altLang="en-US" dirty="0"/>
              <a:t>New SE methods used?</a:t>
            </a:r>
          </a:p>
          <a:p>
            <a:pPr marL="285750" indent="-285750">
              <a:buFont typeface="Arial" panose="020B0604020202020204" pitchFamily="34" charset="0"/>
              <a:buChar char="•"/>
            </a:pPr>
            <a:r>
              <a:rPr lang="en-US" altLang="en-US" dirty="0"/>
              <a:t>Significant performance constraints?</a:t>
            </a:r>
          </a:p>
          <a:p>
            <a:pPr marL="285750" indent="-285750">
              <a:buFont typeface="Arial" panose="020B0604020202020204" pitchFamily="34" charset="0"/>
              <a:buChar char="•"/>
            </a:pPr>
            <a:r>
              <a:rPr lang="en-US" altLang="en-US" dirty="0"/>
              <a:t>The functionality asked is doubtfully doable</a:t>
            </a:r>
          </a:p>
          <a:p>
            <a:pPr marL="285750" indent="-285750">
              <a:buFont typeface="Arial" panose="020B0604020202020204" pitchFamily="34" charset="0"/>
              <a:buChar char="•"/>
            </a:pPr>
            <a:endParaRPr lang="en-US" altLang="en-US" b="1" i="1" dirty="0">
              <a:solidFill>
                <a:schemeClr val="folHlink"/>
              </a:solidFill>
              <a:latin typeface="Helvetica" panose="020B0604020202020204" pitchFamily="34" charset="0"/>
            </a:endParaRPr>
          </a:p>
          <a:p>
            <a:endParaRPr lang="en-US" altLang="en-US" b="1" i="1" dirty="0">
              <a:solidFill>
                <a:schemeClr val="folHlink"/>
              </a:solidFill>
              <a:latin typeface="Helvetica" panose="020B0604020202020204" pitchFamily="34" charset="0"/>
            </a:endParaRPr>
          </a:p>
          <a:p>
            <a:pPr marL="285750" indent="-285750">
              <a:lnSpc>
                <a:spcPct val="101000"/>
              </a:lnSpc>
              <a:buFont typeface="Arial" panose="020B0604020202020204" pitchFamily="34" charset="0"/>
              <a:buChar char="•"/>
            </a:pPr>
            <a:endParaRPr lang="en-US" altLang="en-US" spc="50" dirty="0"/>
          </a:p>
          <a:p>
            <a:pPr>
              <a:lnSpc>
                <a:spcPct val="101000"/>
              </a:lnSpc>
            </a:pPr>
            <a:endParaRPr lang="en-US" spc="50" dirty="0"/>
          </a:p>
        </p:txBody>
      </p:sp>
    </p:spTree>
    <p:extLst>
      <p:ext uri="{BB962C8B-B14F-4D97-AF65-F5344CB8AC3E}">
        <p14:creationId xmlns:p14="http://schemas.microsoft.com/office/powerpoint/2010/main" val="2379538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Staff/people risk</a:t>
            </a:r>
          </a:p>
        </p:txBody>
      </p:sp>
      <p:sp>
        <p:nvSpPr>
          <p:cNvPr id="17" name="TextBox 16">
            <a:extLst>
              <a:ext uri="{FF2B5EF4-FFF2-40B4-BE49-F238E27FC236}">
                <a16:creationId xmlns:a16="http://schemas.microsoft.com/office/drawing/2014/main" id="{8ECE9A0F-7CCA-34B4-C76A-EC3C410020BC}"/>
              </a:ext>
            </a:extLst>
          </p:cNvPr>
          <p:cNvSpPr txBox="1"/>
          <p:nvPr/>
        </p:nvSpPr>
        <p:spPr>
          <a:xfrm>
            <a:off x="925941" y="2740389"/>
            <a:ext cx="10268712" cy="3433031"/>
          </a:xfrm>
          <a:prstGeom prst="rect">
            <a:avLst/>
          </a:prstGeom>
        </p:spPr>
        <p:txBody>
          <a:bodyPr vert="horz" lIns="91440" tIns="45720" rIns="91440" bIns="45720" rtlCol="0" anchor="t">
            <a:normAutofit/>
          </a:bodyPr>
          <a:lstStyle/>
          <a:p>
            <a:r>
              <a:rPr lang="en-US" altLang="en-US" b="1" i="1" dirty="0">
                <a:solidFill>
                  <a:schemeClr val="folHlink"/>
                </a:solidFill>
                <a:latin typeface="Helvetica" panose="020B0604020202020204" pitchFamily="34" charset="0"/>
              </a:rPr>
              <a:t>Attributes that affect risk:</a:t>
            </a:r>
          </a:p>
          <a:p>
            <a:pPr marL="285750" indent="-285750">
              <a:buFont typeface="Arial" panose="020B0604020202020204" pitchFamily="34" charset="0"/>
              <a:buChar char="•"/>
            </a:pPr>
            <a:r>
              <a:rPr lang="en-US" altLang="en-US" dirty="0"/>
              <a:t>Best people available?</a:t>
            </a:r>
          </a:p>
          <a:p>
            <a:pPr marL="285750" indent="-285750">
              <a:buFont typeface="Arial" panose="020B0604020202020204" pitchFamily="34" charset="0"/>
              <a:buChar char="•"/>
            </a:pPr>
            <a:r>
              <a:rPr lang="en-US" altLang="en-US" dirty="0"/>
              <a:t>Staff with right skillset?</a:t>
            </a:r>
          </a:p>
          <a:p>
            <a:pPr marL="285750" indent="-285750">
              <a:buFont typeface="Arial" panose="020B0604020202020204" pitchFamily="34" charset="0"/>
              <a:buChar char="•"/>
            </a:pPr>
            <a:r>
              <a:rPr lang="en-US" altLang="en-US" dirty="0"/>
              <a:t>Enough people availability?</a:t>
            </a:r>
          </a:p>
          <a:p>
            <a:pPr marL="285750" indent="-285750">
              <a:buFont typeface="Arial" panose="020B0604020202020204" pitchFamily="34" charset="0"/>
              <a:buChar char="•"/>
            </a:pPr>
            <a:r>
              <a:rPr lang="en-US" altLang="en-US" dirty="0"/>
              <a:t>Committed and dedicated workforce?</a:t>
            </a:r>
          </a:p>
          <a:p>
            <a:pPr marL="285750" indent="-285750">
              <a:buFont typeface="Arial" panose="020B0604020202020204" pitchFamily="34" charset="0"/>
              <a:buChar char="•"/>
            </a:pPr>
            <a:r>
              <a:rPr lang="en-US" altLang="en-US" dirty="0"/>
              <a:t>Necessary training received ?</a:t>
            </a:r>
          </a:p>
          <a:p>
            <a:pPr marL="285750" indent="-285750">
              <a:buFont typeface="Arial" panose="020B0604020202020204" pitchFamily="34" charset="0"/>
              <a:buChar char="•"/>
            </a:pPr>
            <a:r>
              <a:rPr lang="en-US" altLang="en-US" dirty="0"/>
              <a:t>Turnover among staff will be low?</a:t>
            </a:r>
          </a:p>
          <a:p>
            <a:pPr marL="285750" indent="-285750">
              <a:buFont typeface="Arial" panose="020B0604020202020204" pitchFamily="34" charset="0"/>
              <a:buChar char="•"/>
            </a:pPr>
            <a:endParaRPr lang="en-US" altLang="en-US" b="1" i="1" dirty="0">
              <a:solidFill>
                <a:schemeClr val="folHlink"/>
              </a:solidFill>
              <a:latin typeface="Helvetica" panose="020B0604020202020204" pitchFamily="34" charset="0"/>
            </a:endParaRPr>
          </a:p>
          <a:p>
            <a:endParaRPr lang="en-US" altLang="en-US" b="1" i="1" dirty="0">
              <a:solidFill>
                <a:schemeClr val="folHlink"/>
              </a:solidFill>
              <a:latin typeface="Helvetica" panose="020B0604020202020204" pitchFamily="34" charset="0"/>
            </a:endParaRPr>
          </a:p>
          <a:p>
            <a:pPr marL="285750" indent="-285750">
              <a:lnSpc>
                <a:spcPct val="101000"/>
              </a:lnSpc>
              <a:buFont typeface="Arial" panose="020B0604020202020204" pitchFamily="34" charset="0"/>
              <a:buChar char="•"/>
            </a:pPr>
            <a:endParaRPr lang="en-US" altLang="en-US" spc="50" dirty="0"/>
          </a:p>
          <a:p>
            <a:pPr>
              <a:lnSpc>
                <a:spcPct val="101000"/>
              </a:lnSpc>
            </a:pPr>
            <a:endParaRPr lang="en-US" spc="50" dirty="0"/>
          </a:p>
        </p:txBody>
      </p:sp>
    </p:spTree>
    <p:extLst>
      <p:ext uri="{BB962C8B-B14F-4D97-AF65-F5344CB8AC3E}">
        <p14:creationId xmlns:p14="http://schemas.microsoft.com/office/powerpoint/2010/main" val="1605025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0" y="0"/>
            <a:ext cx="12192000" cy="6857990"/>
          </a:xfrm>
          <a:prstGeom prst="rect">
            <a:avLst/>
          </a:prstGeom>
        </p:spPr>
      </p:pic>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1484554" y="1057523"/>
            <a:ext cx="12037113" cy="3657600"/>
          </a:xfrm>
        </p:spPr>
        <p:txBody>
          <a:bodyPr vert="horz" lIns="91440" tIns="45720" rIns="91440" bIns="45720" rtlCol="0" anchor="ctr">
            <a:normAutofit/>
          </a:bodyPr>
          <a:lstStyle/>
          <a:p>
            <a:r>
              <a:rPr lang="en-US" dirty="0"/>
              <a:t>Assessing project risk</a:t>
            </a:r>
          </a:p>
        </p:txBody>
      </p:sp>
    </p:spTree>
    <p:extLst>
      <p:ext uri="{BB962C8B-B14F-4D97-AF65-F5344CB8AC3E}">
        <p14:creationId xmlns:p14="http://schemas.microsoft.com/office/powerpoint/2010/main" val="1975391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Assessing project risk </a:t>
            </a:r>
          </a:p>
        </p:txBody>
      </p:sp>
      <p:sp>
        <p:nvSpPr>
          <p:cNvPr id="17" name="TextBox 16">
            <a:extLst>
              <a:ext uri="{FF2B5EF4-FFF2-40B4-BE49-F238E27FC236}">
                <a16:creationId xmlns:a16="http://schemas.microsoft.com/office/drawing/2014/main" id="{8ECE9A0F-7CCA-34B4-C76A-EC3C410020BC}"/>
              </a:ext>
            </a:extLst>
          </p:cNvPr>
          <p:cNvSpPr txBox="1"/>
          <p:nvPr/>
        </p:nvSpPr>
        <p:spPr>
          <a:xfrm>
            <a:off x="925941" y="2740389"/>
            <a:ext cx="10268712" cy="3433031"/>
          </a:xfrm>
          <a:prstGeom prst="rect">
            <a:avLst/>
          </a:prstGeom>
        </p:spPr>
        <p:txBody>
          <a:bodyPr vert="horz" lIns="91440" tIns="45720" rIns="91440" bIns="45720" rtlCol="0" anchor="t">
            <a:normAutofit lnSpcReduction="10000"/>
          </a:bodyPr>
          <a:lstStyle/>
          <a:p>
            <a:pPr marL="285750" indent="-285750">
              <a:lnSpc>
                <a:spcPct val="101000"/>
              </a:lnSpc>
              <a:spcBef>
                <a:spcPts val="300"/>
              </a:spcBef>
              <a:buFont typeface="Arial" panose="020B0604020202020204" pitchFamily="34" charset="0"/>
              <a:buChar char="•"/>
            </a:pPr>
            <a:r>
              <a:rPr lang="en-US" altLang="en-US" spc="50" dirty="0"/>
              <a:t>Have top software and customer managers formally committed to support the project?</a:t>
            </a:r>
          </a:p>
          <a:p>
            <a:pPr marL="285750" indent="-285750">
              <a:lnSpc>
                <a:spcPct val="101000"/>
              </a:lnSpc>
              <a:spcBef>
                <a:spcPts val="300"/>
              </a:spcBef>
              <a:buFont typeface="Arial" panose="020B0604020202020204" pitchFamily="34" charset="0"/>
              <a:buChar char="•"/>
            </a:pPr>
            <a:r>
              <a:rPr lang="en-US" altLang="en-US" spc="50" dirty="0"/>
              <a:t>Are end-users enthusiastically committed to the project and the system/product to be built?</a:t>
            </a:r>
          </a:p>
          <a:p>
            <a:pPr marL="285750" indent="-285750">
              <a:lnSpc>
                <a:spcPct val="101000"/>
              </a:lnSpc>
              <a:spcBef>
                <a:spcPts val="300"/>
              </a:spcBef>
              <a:buFont typeface="Arial" panose="020B0604020202020204" pitchFamily="34" charset="0"/>
              <a:buChar char="•"/>
            </a:pPr>
            <a:r>
              <a:rPr lang="en-US" altLang="en-US" spc="50" dirty="0"/>
              <a:t>Are requirements fully understood by the SE team and their customers?</a:t>
            </a:r>
          </a:p>
          <a:p>
            <a:pPr marL="285750" indent="-285750">
              <a:lnSpc>
                <a:spcPct val="101000"/>
              </a:lnSpc>
              <a:spcBef>
                <a:spcPts val="300"/>
              </a:spcBef>
              <a:buFont typeface="Arial" panose="020B0604020202020204" pitchFamily="34" charset="0"/>
              <a:buChar char="•"/>
            </a:pPr>
            <a:r>
              <a:rPr lang="en-US" altLang="en-US" spc="50" dirty="0"/>
              <a:t>Have customers been involved fully in the definition of requirements?</a:t>
            </a:r>
          </a:p>
          <a:p>
            <a:pPr marL="285750" indent="-285750">
              <a:lnSpc>
                <a:spcPct val="101000"/>
              </a:lnSpc>
              <a:buFont typeface="Arial" panose="020B0604020202020204" pitchFamily="34" charset="0"/>
              <a:buChar char="•"/>
            </a:pPr>
            <a:r>
              <a:rPr lang="en-US" altLang="en-US" spc="50" dirty="0"/>
              <a:t>Do end-users have realistic expectations?</a:t>
            </a:r>
          </a:p>
          <a:p>
            <a:pPr marL="285750" indent="-285750" eaLnBrk="1" hangingPunct="1">
              <a:lnSpc>
                <a:spcPct val="90000"/>
              </a:lnSpc>
              <a:spcBef>
                <a:spcPts val="300"/>
              </a:spcBef>
              <a:buFont typeface="Arial" panose="020B0604020202020204" pitchFamily="34" charset="0"/>
              <a:buChar char="•"/>
            </a:pPr>
            <a:r>
              <a:rPr lang="en-US" altLang="en-US" sz="1800" dirty="0"/>
              <a:t>Is </a:t>
            </a:r>
            <a:r>
              <a:rPr lang="en-US" altLang="en-US" spc="50" dirty="0"/>
              <a:t>project scope stable?</a:t>
            </a:r>
          </a:p>
          <a:p>
            <a:pPr marL="285750" indent="-285750" eaLnBrk="1" hangingPunct="1">
              <a:lnSpc>
                <a:spcPct val="90000"/>
              </a:lnSpc>
              <a:spcBef>
                <a:spcPts val="300"/>
              </a:spcBef>
              <a:buFont typeface="Arial" panose="020B0604020202020204" pitchFamily="34" charset="0"/>
              <a:buChar char="•"/>
            </a:pPr>
            <a:r>
              <a:rPr lang="en-US" altLang="en-US" spc="50" dirty="0"/>
              <a:t>Does the software engineering team have the right mix of skills?</a:t>
            </a:r>
          </a:p>
          <a:p>
            <a:pPr marL="285750" indent="-285750" eaLnBrk="1" hangingPunct="1">
              <a:lnSpc>
                <a:spcPct val="90000"/>
              </a:lnSpc>
              <a:spcBef>
                <a:spcPts val="300"/>
              </a:spcBef>
              <a:buFont typeface="Arial" panose="020B0604020202020204" pitchFamily="34" charset="0"/>
              <a:buChar char="•"/>
            </a:pPr>
            <a:r>
              <a:rPr lang="en-US" altLang="en-US" spc="50" dirty="0"/>
              <a:t>Are project requirements stable?</a:t>
            </a:r>
          </a:p>
          <a:p>
            <a:pPr marL="285750" indent="-285750" eaLnBrk="1" hangingPunct="1">
              <a:lnSpc>
                <a:spcPct val="90000"/>
              </a:lnSpc>
              <a:spcBef>
                <a:spcPts val="300"/>
              </a:spcBef>
              <a:buFont typeface="Arial" panose="020B0604020202020204" pitchFamily="34" charset="0"/>
              <a:buChar char="•"/>
            </a:pPr>
            <a:r>
              <a:rPr lang="en-US" altLang="en-US" spc="50" dirty="0"/>
              <a:t>Does the project team have experience with the technology to be implemented?</a:t>
            </a:r>
          </a:p>
          <a:p>
            <a:pPr marL="285750" indent="-285750" eaLnBrk="1" hangingPunct="1">
              <a:lnSpc>
                <a:spcPct val="90000"/>
              </a:lnSpc>
              <a:spcBef>
                <a:spcPts val="300"/>
              </a:spcBef>
              <a:buFont typeface="Arial" panose="020B0604020202020204" pitchFamily="34" charset="0"/>
              <a:buChar char="•"/>
            </a:pPr>
            <a:r>
              <a:rPr lang="en-US" altLang="en-US" spc="50" dirty="0"/>
              <a:t>Is the number of people on the project team adequate to do the job?</a:t>
            </a:r>
          </a:p>
          <a:p>
            <a:pPr marL="285750" indent="-285750" eaLnBrk="1" hangingPunct="1">
              <a:lnSpc>
                <a:spcPct val="90000"/>
              </a:lnSpc>
              <a:buFont typeface="Arial" panose="020B0604020202020204" pitchFamily="34" charset="0"/>
              <a:buChar char="•"/>
            </a:pPr>
            <a:r>
              <a:rPr lang="en-US" altLang="en-US" spc="50" dirty="0"/>
              <a:t>Do all customer/user constituencies agree on the importance of the project and on the requirements for the system/product to be built?</a:t>
            </a:r>
          </a:p>
          <a:p>
            <a:pPr marL="285750" indent="-285750">
              <a:lnSpc>
                <a:spcPct val="101000"/>
              </a:lnSpc>
              <a:buFont typeface="Arial" panose="020B0604020202020204" pitchFamily="34" charset="0"/>
              <a:buChar char="•"/>
            </a:pPr>
            <a:endParaRPr lang="en-US" altLang="en-US" spc="50" dirty="0"/>
          </a:p>
          <a:p>
            <a:pPr>
              <a:lnSpc>
                <a:spcPct val="101000"/>
              </a:lnSpc>
            </a:pPr>
            <a:endParaRPr lang="en-US" spc="50" dirty="0"/>
          </a:p>
        </p:txBody>
      </p:sp>
    </p:spTree>
    <p:extLst>
      <p:ext uri="{BB962C8B-B14F-4D97-AF65-F5344CB8AC3E}">
        <p14:creationId xmlns:p14="http://schemas.microsoft.com/office/powerpoint/2010/main" val="3015257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0" y="0"/>
            <a:ext cx="12192000" cy="6857990"/>
          </a:xfrm>
          <a:prstGeom prst="rect">
            <a:avLst/>
          </a:prstGeom>
        </p:spPr>
      </p:pic>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1484554" y="1057523"/>
            <a:ext cx="12037113" cy="3657600"/>
          </a:xfrm>
        </p:spPr>
        <p:txBody>
          <a:bodyPr vert="horz" lIns="91440" tIns="45720" rIns="91440" bIns="45720" rtlCol="0" anchor="ctr">
            <a:normAutofit/>
          </a:bodyPr>
          <a:lstStyle/>
          <a:p>
            <a:r>
              <a:rPr lang="en-US" dirty="0"/>
              <a:t>Risk components</a:t>
            </a:r>
          </a:p>
        </p:txBody>
      </p:sp>
    </p:spTree>
    <p:extLst>
      <p:ext uri="{BB962C8B-B14F-4D97-AF65-F5344CB8AC3E}">
        <p14:creationId xmlns:p14="http://schemas.microsoft.com/office/powerpoint/2010/main" val="2090707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a:solidFill>
                  <a:schemeClr val="bg1"/>
                </a:solidFill>
                <a:latin typeface="+mj-lt"/>
                <a:ea typeface="+mj-ea"/>
                <a:cs typeface="+mj-cs"/>
              </a:rPr>
              <a:t>Risk components</a:t>
            </a:r>
          </a:p>
        </p:txBody>
      </p:sp>
      <p:sp>
        <p:nvSpPr>
          <p:cNvPr id="3" name="TextBox 2">
            <a:extLst>
              <a:ext uri="{FF2B5EF4-FFF2-40B4-BE49-F238E27FC236}">
                <a16:creationId xmlns:a16="http://schemas.microsoft.com/office/drawing/2014/main" id="{8ECE9A0F-7CCA-34B4-C76A-EC3C410020BC}"/>
              </a:ext>
            </a:extLst>
          </p:cNvPr>
          <p:cNvSpPr txBox="1"/>
          <p:nvPr/>
        </p:nvSpPr>
        <p:spPr>
          <a:xfrm>
            <a:off x="960120" y="2784143"/>
            <a:ext cx="10507202" cy="3433031"/>
          </a:xfrm>
          <a:prstGeom prst="rect">
            <a:avLst/>
          </a:prstGeom>
        </p:spPr>
        <p:txBody>
          <a:bodyPr vert="horz" lIns="91440" tIns="45720" rIns="91440" bIns="45720" rtlCol="0" anchor="t">
            <a:normAutofit/>
          </a:bodyPr>
          <a:lstStyle/>
          <a:p>
            <a:pPr marL="285750" indent="-285750">
              <a:lnSpc>
                <a:spcPct val="101000"/>
              </a:lnSpc>
              <a:spcBef>
                <a:spcPts val="600"/>
              </a:spcBef>
              <a:buFont typeface="Arial" panose="020B0604020202020204" pitchFamily="34" charset="0"/>
              <a:buChar char="•"/>
            </a:pPr>
            <a:r>
              <a:rPr lang="en-US" altLang="en-US" b="1" i="1" spc="50" dirty="0"/>
              <a:t>performance risk</a:t>
            </a:r>
            <a:r>
              <a:rPr lang="en-US" altLang="en-US" spc="50" dirty="0"/>
              <a:t>—the degree of </a:t>
            </a:r>
            <a:r>
              <a:rPr lang="en-US" altLang="en-US" u="sng" spc="50" dirty="0"/>
              <a:t>uncertainty that the product will meet its requirements </a:t>
            </a:r>
            <a:r>
              <a:rPr lang="en-US" altLang="en-US" spc="50" dirty="0"/>
              <a:t>and be fit for its intended use.</a:t>
            </a:r>
          </a:p>
          <a:p>
            <a:pPr marL="285750" indent="-285750">
              <a:lnSpc>
                <a:spcPct val="101000"/>
              </a:lnSpc>
              <a:spcBef>
                <a:spcPts val="300"/>
              </a:spcBef>
              <a:buFont typeface="Arial" panose="020B0604020202020204" pitchFamily="34" charset="0"/>
              <a:buChar char="•"/>
            </a:pPr>
            <a:r>
              <a:rPr lang="en-US" altLang="en-US" b="1" i="1" spc="50" dirty="0"/>
              <a:t>cost risk</a:t>
            </a:r>
            <a:r>
              <a:rPr lang="en-US" altLang="en-US" spc="50" dirty="0"/>
              <a:t>—the degree of uncertainty that the </a:t>
            </a:r>
            <a:r>
              <a:rPr lang="en-US" altLang="en-US" u="sng" spc="50" dirty="0"/>
              <a:t>project budget will be maintained</a:t>
            </a:r>
            <a:r>
              <a:rPr lang="en-US" altLang="en-US" spc="50" dirty="0"/>
              <a:t>.</a:t>
            </a:r>
          </a:p>
          <a:p>
            <a:pPr marL="285750" indent="-285750">
              <a:lnSpc>
                <a:spcPct val="101000"/>
              </a:lnSpc>
              <a:buFont typeface="Arial" panose="020B0604020202020204" pitchFamily="34" charset="0"/>
              <a:buChar char="•"/>
            </a:pPr>
            <a:r>
              <a:rPr lang="en-US" altLang="en-US" b="1" i="1" spc="50" dirty="0"/>
              <a:t>support risk</a:t>
            </a:r>
            <a:r>
              <a:rPr lang="en-US" altLang="en-US" spc="50" dirty="0"/>
              <a:t>—the degree of uncertainty that the </a:t>
            </a:r>
            <a:r>
              <a:rPr lang="en-US" altLang="en-US" u="sng" spc="50" dirty="0"/>
              <a:t>resultant software will be easy to correct, adapt, and enhance.</a:t>
            </a:r>
          </a:p>
          <a:p>
            <a:pPr marL="285750" indent="-285750">
              <a:lnSpc>
                <a:spcPct val="101000"/>
              </a:lnSpc>
              <a:buFont typeface="Arial" panose="020B0604020202020204" pitchFamily="34" charset="0"/>
              <a:buChar char="•"/>
            </a:pPr>
            <a:r>
              <a:rPr lang="en-US" altLang="en-US" b="1" i="1" spc="50" dirty="0"/>
              <a:t>schedule risk</a:t>
            </a:r>
            <a:r>
              <a:rPr lang="en-US" altLang="en-US" spc="50" dirty="0"/>
              <a:t>—the degree of uncertainty that the </a:t>
            </a:r>
            <a:r>
              <a:rPr lang="en-US" altLang="en-US" u="sng" spc="50" dirty="0"/>
              <a:t>project schedule will be maintained</a:t>
            </a:r>
            <a:r>
              <a:rPr lang="en-US" altLang="en-US" spc="50" dirty="0"/>
              <a:t>, and that the product will be delivered on time.</a:t>
            </a:r>
          </a:p>
        </p:txBody>
      </p:sp>
    </p:spTree>
    <p:extLst>
      <p:ext uri="{BB962C8B-B14F-4D97-AF65-F5344CB8AC3E}">
        <p14:creationId xmlns:p14="http://schemas.microsoft.com/office/powerpoint/2010/main" val="1099599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0" y="0"/>
            <a:ext cx="12192000" cy="6857990"/>
          </a:xfrm>
          <a:prstGeom prst="rect">
            <a:avLst/>
          </a:prstGeom>
        </p:spPr>
      </p:pic>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2922736" y="1146300"/>
            <a:ext cx="12037113" cy="3657600"/>
          </a:xfrm>
        </p:spPr>
        <p:txBody>
          <a:bodyPr vert="horz" lIns="91440" tIns="45720" rIns="91440" bIns="45720" rtlCol="0" anchor="ctr">
            <a:normAutofit/>
          </a:bodyPr>
          <a:lstStyle/>
          <a:p>
            <a:r>
              <a:rPr lang="en-US" dirty="0"/>
              <a:t>Risk Estimation</a:t>
            </a:r>
          </a:p>
        </p:txBody>
      </p:sp>
    </p:spTree>
    <p:extLst>
      <p:ext uri="{BB962C8B-B14F-4D97-AF65-F5344CB8AC3E}">
        <p14:creationId xmlns:p14="http://schemas.microsoft.com/office/powerpoint/2010/main" val="2820977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Risk Estimation</a:t>
            </a:r>
          </a:p>
        </p:txBody>
      </p:sp>
      <p:sp>
        <p:nvSpPr>
          <p:cNvPr id="3" name="TextBox 2">
            <a:extLst>
              <a:ext uri="{FF2B5EF4-FFF2-40B4-BE49-F238E27FC236}">
                <a16:creationId xmlns:a16="http://schemas.microsoft.com/office/drawing/2014/main" id="{8ECE9A0F-7CCA-34B4-C76A-EC3C410020BC}"/>
              </a:ext>
            </a:extLst>
          </p:cNvPr>
          <p:cNvSpPr txBox="1"/>
          <p:nvPr/>
        </p:nvSpPr>
        <p:spPr>
          <a:xfrm>
            <a:off x="960120" y="2784143"/>
            <a:ext cx="10507202" cy="3433031"/>
          </a:xfrm>
          <a:prstGeom prst="rect">
            <a:avLst/>
          </a:prstGeom>
        </p:spPr>
        <p:txBody>
          <a:bodyPr vert="horz" lIns="91440" tIns="45720" rIns="91440" bIns="45720" rtlCol="0" anchor="t">
            <a:normAutofit/>
          </a:bodyPr>
          <a:lstStyle/>
          <a:p>
            <a:pPr marL="285750" indent="-285750" eaLnBrk="1" hangingPunct="1">
              <a:lnSpc>
                <a:spcPct val="90000"/>
              </a:lnSpc>
              <a:spcBef>
                <a:spcPts val="300"/>
              </a:spcBef>
              <a:buFont typeface="Arial" panose="020B0604020202020204" pitchFamily="34" charset="0"/>
              <a:buChar char="•"/>
            </a:pPr>
            <a:r>
              <a:rPr lang="en-US" altLang="en-US" i="1" dirty="0"/>
              <a:t>Risk estimation</a:t>
            </a:r>
            <a:r>
              <a:rPr lang="en-US" altLang="en-US" dirty="0"/>
              <a:t> attempts </a:t>
            </a:r>
            <a:r>
              <a:rPr lang="en-US" altLang="en-US" b="1" dirty="0"/>
              <a:t>to rate each risk in two ways</a:t>
            </a:r>
          </a:p>
          <a:p>
            <a:pPr marL="742950" lvl="1" indent="-285750" eaLnBrk="1" hangingPunct="1">
              <a:lnSpc>
                <a:spcPct val="90000"/>
              </a:lnSpc>
              <a:spcBef>
                <a:spcPts val="300"/>
              </a:spcBef>
              <a:buFont typeface="Arial" panose="020B0604020202020204" pitchFamily="34" charset="0"/>
              <a:buChar char="•"/>
            </a:pPr>
            <a:r>
              <a:rPr lang="en-US" altLang="en-US" b="1" dirty="0"/>
              <a:t> </a:t>
            </a:r>
            <a:r>
              <a:rPr lang="en-US" altLang="en-US" b="1" u="sng" dirty="0"/>
              <a:t>the probability</a:t>
            </a:r>
            <a:r>
              <a:rPr lang="en-US" altLang="en-US" b="1" dirty="0"/>
              <a:t> </a:t>
            </a:r>
            <a:r>
              <a:rPr lang="en-US" altLang="en-US" dirty="0"/>
              <a:t>that the risk is real </a:t>
            </a:r>
          </a:p>
          <a:p>
            <a:pPr marL="742950" lvl="1" indent="-285750" eaLnBrk="1" hangingPunct="1">
              <a:lnSpc>
                <a:spcPct val="90000"/>
              </a:lnSpc>
              <a:spcBef>
                <a:spcPts val="300"/>
              </a:spcBef>
              <a:buFont typeface="Arial" panose="020B0604020202020204" pitchFamily="34" charset="0"/>
              <a:buChar char="•"/>
            </a:pPr>
            <a:r>
              <a:rPr lang="en-US" altLang="en-US" dirty="0"/>
              <a:t> </a:t>
            </a:r>
            <a:r>
              <a:rPr lang="en-US" altLang="en-US" b="1" dirty="0"/>
              <a:t>the </a:t>
            </a:r>
            <a:r>
              <a:rPr lang="en-US" altLang="en-US" b="1" u="sng" dirty="0"/>
              <a:t>consequences/impact</a:t>
            </a:r>
            <a:r>
              <a:rPr lang="en-US" altLang="en-US" b="1" dirty="0"/>
              <a:t> </a:t>
            </a:r>
            <a:r>
              <a:rPr lang="en-US" altLang="en-US" dirty="0"/>
              <a:t>of the problems associated with the risk, should it occur. </a:t>
            </a:r>
          </a:p>
          <a:p>
            <a:pPr lvl="1" eaLnBrk="1" hangingPunct="1">
              <a:lnSpc>
                <a:spcPct val="90000"/>
              </a:lnSpc>
              <a:spcBef>
                <a:spcPts val="300"/>
              </a:spcBef>
            </a:pPr>
            <a:endParaRPr lang="en-US" altLang="en-US" dirty="0"/>
          </a:p>
          <a:p>
            <a:pPr>
              <a:lnSpc>
                <a:spcPct val="101000"/>
              </a:lnSpc>
              <a:spcBef>
                <a:spcPts val="600"/>
              </a:spcBef>
            </a:pPr>
            <a:endParaRPr lang="en-US" altLang="en-US" spc="50" dirty="0"/>
          </a:p>
        </p:txBody>
      </p:sp>
    </p:spTree>
    <p:extLst>
      <p:ext uri="{BB962C8B-B14F-4D97-AF65-F5344CB8AC3E}">
        <p14:creationId xmlns:p14="http://schemas.microsoft.com/office/powerpoint/2010/main" val="949672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Building a risk table</a:t>
            </a:r>
          </a:p>
        </p:txBody>
      </p:sp>
      <p:pic>
        <p:nvPicPr>
          <p:cNvPr id="5" name="Picture 4">
            <a:extLst>
              <a:ext uri="{FF2B5EF4-FFF2-40B4-BE49-F238E27FC236}">
                <a16:creationId xmlns:a16="http://schemas.microsoft.com/office/drawing/2014/main" id="{E8C4C8C1-DFE2-F3F2-E64C-AE46723FE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2444" y="2418070"/>
            <a:ext cx="6506483" cy="4286848"/>
          </a:xfrm>
          <a:prstGeom prst="rect">
            <a:avLst/>
          </a:prstGeom>
        </p:spPr>
      </p:pic>
    </p:spTree>
    <p:extLst>
      <p:ext uri="{BB962C8B-B14F-4D97-AF65-F5344CB8AC3E}">
        <p14:creationId xmlns:p14="http://schemas.microsoft.com/office/powerpoint/2010/main" val="1155980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Building a risk table</a:t>
            </a:r>
          </a:p>
        </p:txBody>
      </p:sp>
      <p:pic>
        <p:nvPicPr>
          <p:cNvPr id="5" name="Picture 4">
            <a:extLst>
              <a:ext uri="{FF2B5EF4-FFF2-40B4-BE49-F238E27FC236}">
                <a16:creationId xmlns:a16="http://schemas.microsoft.com/office/drawing/2014/main" id="{E8C4C8C1-DFE2-F3F2-E64C-AE46723FE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14" y="2336412"/>
            <a:ext cx="5333575" cy="4286848"/>
          </a:xfrm>
          <a:prstGeom prst="rect">
            <a:avLst/>
          </a:prstGeom>
        </p:spPr>
      </p:pic>
      <p:sp>
        <p:nvSpPr>
          <p:cNvPr id="3" name="Rectangle 3">
            <a:extLst>
              <a:ext uri="{FF2B5EF4-FFF2-40B4-BE49-F238E27FC236}">
                <a16:creationId xmlns:a16="http://schemas.microsoft.com/office/drawing/2014/main" id="{92E4C5B6-0469-A6B5-4A92-EA6CA5B3910E}"/>
              </a:ext>
            </a:extLst>
          </p:cNvPr>
          <p:cNvSpPr txBox="1">
            <a:spLocks noChangeArrowheads="1"/>
          </p:cNvSpPr>
          <p:nvPr/>
        </p:nvSpPr>
        <p:spPr>
          <a:xfrm>
            <a:off x="5643982" y="2582803"/>
            <a:ext cx="6221413" cy="3405188"/>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7" tIns="44450" rIns="90487" bIns="4445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Estimate the </a:t>
            </a:r>
            <a:r>
              <a:rPr lang="en-US" altLang="en-US" dirty="0">
                <a:solidFill>
                  <a:schemeClr val="tx2"/>
                </a:solidFill>
              </a:rPr>
              <a:t>probability</a:t>
            </a:r>
            <a:r>
              <a:rPr lang="en-US" altLang="en-US" dirty="0"/>
              <a:t> of occurrence</a:t>
            </a:r>
          </a:p>
          <a:p>
            <a:r>
              <a:rPr lang="en-US" altLang="en-US" dirty="0"/>
              <a:t>Estimate the </a:t>
            </a:r>
            <a:r>
              <a:rPr lang="en-US" altLang="en-US" dirty="0">
                <a:solidFill>
                  <a:schemeClr val="tx2"/>
                </a:solidFill>
              </a:rPr>
              <a:t>impact</a:t>
            </a:r>
            <a:r>
              <a:rPr lang="en-US" altLang="en-US" dirty="0"/>
              <a:t> on the project on a scale of 1 to 5, where</a:t>
            </a:r>
          </a:p>
          <a:p>
            <a:pPr lvl="1"/>
            <a:r>
              <a:rPr lang="en-US" altLang="en-US" dirty="0"/>
              <a:t> 1 = low impact on project success</a:t>
            </a:r>
          </a:p>
          <a:p>
            <a:pPr lvl="1"/>
            <a:r>
              <a:rPr lang="en-US" altLang="en-US" dirty="0"/>
              <a:t> 5 = catastrophic impact on project success</a:t>
            </a:r>
          </a:p>
          <a:p>
            <a:r>
              <a:rPr lang="en-US" altLang="en-US" dirty="0"/>
              <a:t> sort the table by probability and impact</a:t>
            </a:r>
          </a:p>
        </p:txBody>
      </p:sp>
    </p:spTree>
    <p:extLst>
      <p:ext uri="{BB962C8B-B14F-4D97-AF65-F5344CB8AC3E}">
        <p14:creationId xmlns:p14="http://schemas.microsoft.com/office/powerpoint/2010/main" val="292083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Building a risk table</a:t>
            </a:r>
          </a:p>
        </p:txBody>
      </p:sp>
      <p:pic>
        <p:nvPicPr>
          <p:cNvPr id="5" name="Picture 4">
            <a:extLst>
              <a:ext uri="{FF2B5EF4-FFF2-40B4-BE49-F238E27FC236}">
                <a16:creationId xmlns:a16="http://schemas.microsoft.com/office/drawing/2014/main" id="{E8C4C8C1-DFE2-F3F2-E64C-AE46723FE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14" y="2336412"/>
            <a:ext cx="5333575" cy="4286848"/>
          </a:xfrm>
          <a:prstGeom prst="rect">
            <a:avLst/>
          </a:prstGeom>
        </p:spPr>
      </p:pic>
      <p:sp>
        <p:nvSpPr>
          <p:cNvPr id="4" name="Text Box 4">
            <a:extLst>
              <a:ext uri="{FF2B5EF4-FFF2-40B4-BE49-F238E27FC236}">
                <a16:creationId xmlns:a16="http://schemas.microsoft.com/office/drawing/2014/main" id="{741E0B2E-E9AD-EB56-3148-748DA4CDC20F}"/>
              </a:ext>
            </a:extLst>
          </p:cNvPr>
          <p:cNvSpPr txBox="1">
            <a:spLocks noChangeArrowheads="1"/>
          </p:cNvSpPr>
          <p:nvPr/>
        </p:nvSpPr>
        <p:spPr bwMode="auto">
          <a:xfrm>
            <a:off x="5565155" y="2797946"/>
            <a:ext cx="6629400" cy="2965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US" altLang="en-US" dirty="0">
                <a:latin typeface="Palatino" pitchFamily="-128" charset="0"/>
              </a:rPr>
              <a:t>The overall </a:t>
            </a:r>
            <a:r>
              <a:rPr lang="en-US" altLang="en-US" i="1" dirty="0">
                <a:solidFill>
                  <a:schemeClr val="folHlink"/>
                </a:solidFill>
                <a:latin typeface="Palatino" pitchFamily="-128" charset="0"/>
              </a:rPr>
              <a:t>risk exposure or impact,</a:t>
            </a:r>
            <a:r>
              <a:rPr lang="en-US" altLang="en-US" dirty="0">
                <a:solidFill>
                  <a:schemeClr val="folHlink"/>
                </a:solidFill>
                <a:latin typeface="Palatino" pitchFamily="-128" charset="0"/>
              </a:rPr>
              <a:t> RE,</a:t>
            </a:r>
            <a:r>
              <a:rPr lang="en-US" altLang="en-US" dirty="0">
                <a:latin typeface="Palatino" pitchFamily="-128" charset="0"/>
              </a:rPr>
              <a:t> is determined using the following relationship:</a:t>
            </a:r>
          </a:p>
          <a:p>
            <a:pPr>
              <a:spcBef>
                <a:spcPts val="600"/>
              </a:spcBef>
              <a:spcAft>
                <a:spcPts val="600"/>
              </a:spcAft>
            </a:pPr>
            <a:r>
              <a:rPr lang="en-US" altLang="en-US" dirty="0">
                <a:latin typeface="Palatino" pitchFamily="-128" charset="0"/>
              </a:rPr>
              <a:t>		</a:t>
            </a:r>
            <a:r>
              <a:rPr lang="en-US" altLang="en-US" b="1" dirty="0">
                <a:solidFill>
                  <a:schemeClr val="folHlink"/>
                </a:solidFill>
                <a:latin typeface="Palatino" pitchFamily="-128" charset="0"/>
              </a:rPr>
              <a:t>RE = </a:t>
            </a:r>
            <a:r>
              <a:rPr lang="en-US" altLang="en-US" b="1" i="1" dirty="0">
                <a:solidFill>
                  <a:schemeClr val="folHlink"/>
                </a:solidFill>
                <a:latin typeface="Palatino" pitchFamily="-128" charset="0"/>
              </a:rPr>
              <a:t>P</a:t>
            </a:r>
            <a:r>
              <a:rPr lang="en-US" altLang="en-US" b="1" dirty="0">
                <a:solidFill>
                  <a:schemeClr val="folHlink"/>
                </a:solidFill>
                <a:latin typeface="Palatino" pitchFamily="-128" charset="0"/>
              </a:rPr>
              <a:t> x </a:t>
            </a:r>
            <a:r>
              <a:rPr lang="en-US" altLang="en-US" b="1" i="1" dirty="0">
                <a:solidFill>
                  <a:schemeClr val="folHlink"/>
                </a:solidFill>
                <a:latin typeface="Palatino" pitchFamily="-128" charset="0"/>
              </a:rPr>
              <a:t>C</a:t>
            </a:r>
            <a:endParaRPr lang="en-US" altLang="en-US" b="1" dirty="0">
              <a:solidFill>
                <a:schemeClr val="folHlink"/>
              </a:solidFill>
              <a:latin typeface="Palatino" pitchFamily="-128" charset="0"/>
            </a:endParaRPr>
          </a:p>
          <a:p>
            <a:pPr>
              <a:spcBef>
                <a:spcPts val="300"/>
              </a:spcBef>
            </a:pPr>
            <a:r>
              <a:rPr lang="en-US" altLang="en-US" dirty="0">
                <a:latin typeface="Palatino" pitchFamily="-128" charset="0"/>
              </a:rPr>
              <a:t>where </a:t>
            </a:r>
          </a:p>
          <a:p>
            <a:pPr>
              <a:spcBef>
                <a:spcPts val="300"/>
              </a:spcBef>
            </a:pPr>
            <a:r>
              <a:rPr lang="en-US" altLang="en-US" i="1" dirty="0">
                <a:solidFill>
                  <a:schemeClr val="folHlink"/>
                </a:solidFill>
                <a:latin typeface="Palatino" pitchFamily="-128" charset="0"/>
              </a:rPr>
              <a:t>P</a:t>
            </a:r>
            <a:r>
              <a:rPr lang="en-US" altLang="en-US" dirty="0">
                <a:latin typeface="Palatino" pitchFamily="-128" charset="0"/>
              </a:rPr>
              <a:t> is the probability of occurrence for a risk, and </a:t>
            </a:r>
          </a:p>
          <a:p>
            <a:pPr>
              <a:spcBef>
                <a:spcPts val="300"/>
              </a:spcBef>
            </a:pPr>
            <a:r>
              <a:rPr lang="en-US" altLang="en-US" i="1" dirty="0">
                <a:solidFill>
                  <a:schemeClr val="folHlink"/>
                </a:solidFill>
                <a:latin typeface="Palatino" pitchFamily="-128" charset="0"/>
              </a:rPr>
              <a:t>C</a:t>
            </a:r>
            <a:r>
              <a:rPr lang="en-US" altLang="en-US" dirty="0">
                <a:latin typeface="Palatino" pitchFamily="-128" charset="0"/>
              </a:rPr>
              <a:t> is the cost to the project should the risk occur.</a:t>
            </a:r>
          </a:p>
          <a:p>
            <a:pPr>
              <a:lnSpc>
                <a:spcPct val="90000"/>
              </a:lnSpc>
              <a:spcBef>
                <a:spcPct val="50000"/>
              </a:spcBef>
            </a:pPr>
            <a:endParaRPr lang="en-US" altLang="en-US" sz="1800" b="1" dirty="0">
              <a:latin typeface="Palatino" pitchFamily="-128" charset="0"/>
            </a:endParaRPr>
          </a:p>
        </p:txBody>
      </p:sp>
    </p:spTree>
    <p:extLst>
      <p:ext uri="{BB962C8B-B14F-4D97-AF65-F5344CB8AC3E}">
        <p14:creationId xmlns:p14="http://schemas.microsoft.com/office/powerpoint/2010/main" val="3595642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960120" y="317814"/>
            <a:ext cx="10268712" cy="1700784"/>
          </a:xfrm>
        </p:spPr>
        <p:txBody>
          <a:bodyPr vert="horz" lIns="91440" tIns="45720" rIns="91440" bIns="45720" rtlCol="0" anchor="ctr">
            <a:normAutofit/>
          </a:bodyPr>
          <a:lstStyle/>
          <a:p>
            <a:r>
              <a:rPr lang="en-US" kern="1200" cap="all" spc="120" baseline="0" dirty="0">
                <a:solidFill>
                  <a:schemeClr val="bg1"/>
                </a:solidFill>
                <a:latin typeface="+mj-lt"/>
                <a:ea typeface="+mj-ea"/>
                <a:cs typeface="+mj-cs"/>
              </a:rPr>
              <a:t>Building a risk table</a:t>
            </a:r>
          </a:p>
        </p:txBody>
      </p:sp>
      <p:pic>
        <p:nvPicPr>
          <p:cNvPr id="5" name="Picture 4">
            <a:extLst>
              <a:ext uri="{FF2B5EF4-FFF2-40B4-BE49-F238E27FC236}">
                <a16:creationId xmlns:a16="http://schemas.microsoft.com/office/drawing/2014/main" id="{E8C4C8C1-DFE2-F3F2-E64C-AE46723FE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14" y="2355266"/>
            <a:ext cx="5333575" cy="4286848"/>
          </a:xfrm>
          <a:prstGeom prst="rect">
            <a:avLst/>
          </a:prstGeom>
        </p:spPr>
      </p:pic>
      <p:sp>
        <p:nvSpPr>
          <p:cNvPr id="3" name="Rectangle 3">
            <a:extLst>
              <a:ext uri="{FF2B5EF4-FFF2-40B4-BE49-F238E27FC236}">
                <a16:creationId xmlns:a16="http://schemas.microsoft.com/office/drawing/2014/main" id="{F663032A-2EDC-EAC7-6635-6BA50D1060D9}"/>
              </a:ext>
            </a:extLst>
          </p:cNvPr>
          <p:cNvSpPr txBox="1">
            <a:spLocks noChangeArrowheads="1"/>
          </p:cNvSpPr>
          <p:nvPr/>
        </p:nvSpPr>
        <p:spPr>
          <a:xfrm>
            <a:off x="5565155" y="2336412"/>
            <a:ext cx="6330607" cy="4191000"/>
          </a:xfrm>
          <a:prstGeom prst="rect">
            <a:avLst/>
          </a:prstGeom>
        </p:spPr>
        <p:txBody>
          <a:bodyPr vert="horz" lIns="91440" tIns="45720" rIns="91440" bIns="45720" rtlCol="0">
            <a:normAutofit fontScale="92500"/>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en-US" sz="1800" b="1" dirty="0"/>
              <a:t>Risk identification.</a:t>
            </a:r>
            <a:r>
              <a:rPr lang="en-US" altLang="en-US" sz="1800" dirty="0"/>
              <a:t>  Only 70 percent of the software components scheduled for reuse will, in fact, be integrated into the application. The remaining functionality will have to be custom developed.</a:t>
            </a:r>
          </a:p>
          <a:p>
            <a:pPr>
              <a:spcBef>
                <a:spcPts val="300"/>
              </a:spcBef>
            </a:pPr>
            <a:r>
              <a:rPr lang="en-US" altLang="en-US" sz="1800" b="1" dirty="0"/>
              <a:t>Risk probability.</a:t>
            </a:r>
            <a:r>
              <a:rPr lang="en-US" altLang="en-US" sz="1800" dirty="0"/>
              <a:t>  80% (likely).</a:t>
            </a:r>
          </a:p>
          <a:p>
            <a:pPr>
              <a:spcBef>
                <a:spcPts val="300"/>
              </a:spcBef>
            </a:pPr>
            <a:r>
              <a:rPr lang="en-US" altLang="en-US" sz="1800" b="1" dirty="0"/>
              <a:t>Risk impact.</a:t>
            </a:r>
            <a:r>
              <a:rPr lang="en-US" altLang="en-US" sz="1800" dirty="0"/>
              <a:t>  60 reusable software components were planned. If only 70 percent can be used, 18 components would have to be developed from scratch (in addition to other custom software that has been scheduled for development). Since the average component is 100 LOC and local data indicate that the software engineering cost for each LOC is $14.00, the overall cost (impact) to develop the components would be 18 x 100 x 14 = $25,200.</a:t>
            </a:r>
          </a:p>
          <a:p>
            <a:r>
              <a:rPr lang="en-US" altLang="en-US" sz="1800" b="1" dirty="0">
                <a:solidFill>
                  <a:schemeClr val="folHlink"/>
                </a:solidFill>
              </a:rPr>
              <a:t>Risk exposure. </a:t>
            </a:r>
            <a:r>
              <a:rPr lang="en-US" altLang="en-US" sz="1800" dirty="0">
                <a:solidFill>
                  <a:schemeClr val="folHlink"/>
                </a:solidFill>
              </a:rPr>
              <a:t> RE = 0.80 x 25,200 ~ $20,200.</a:t>
            </a:r>
          </a:p>
        </p:txBody>
      </p:sp>
    </p:spTree>
    <p:extLst>
      <p:ext uri="{BB962C8B-B14F-4D97-AF65-F5344CB8AC3E}">
        <p14:creationId xmlns:p14="http://schemas.microsoft.com/office/powerpoint/2010/main" val="132972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417250" y="317814"/>
            <a:ext cx="10811582" cy="1700784"/>
          </a:xfrm>
        </p:spPr>
        <p:txBody>
          <a:bodyPr vert="horz" lIns="91440" tIns="45720" rIns="91440" bIns="45720" rtlCol="0" anchor="ctr">
            <a:normAutofit fontScale="90000"/>
          </a:bodyPr>
          <a:lstStyle/>
          <a:p>
            <a:r>
              <a:rPr lang="en-US" kern="1200" cap="all" spc="120" baseline="0" dirty="0">
                <a:solidFill>
                  <a:schemeClr val="bg1"/>
                </a:solidFill>
                <a:latin typeface="+mj-lt"/>
                <a:ea typeface="+mj-ea"/>
                <a:cs typeface="+mj-cs"/>
              </a:rPr>
              <a:t>Risk mitigation, monitoring &amp; management</a:t>
            </a:r>
          </a:p>
        </p:txBody>
      </p:sp>
      <p:pic>
        <p:nvPicPr>
          <p:cNvPr id="5" name="Picture 4">
            <a:extLst>
              <a:ext uri="{FF2B5EF4-FFF2-40B4-BE49-F238E27FC236}">
                <a16:creationId xmlns:a16="http://schemas.microsoft.com/office/drawing/2014/main" id="{E8C4C8C1-DFE2-F3F2-E64C-AE46723FE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14" y="2336412"/>
            <a:ext cx="5333575" cy="4286848"/>
          </a:xfrm>
          <a:prstGeom prst="rect">
            <a:avLst/>
          </a:prstGeom>
        </p:spPr>
      </p:pic>
      <p:sp>
        <p:nvSpPr>
          <p:cNvPr id="4" name="Text Box 4">
            <a:extLst>
              <a:ext uri="{FF2B5EF4-FFF2-40B4-BE49-F238E27FC236}">
                <a16:creationId xmlns:a16="http://schemas.microsoft.com/office/drawing/2014/main" id="{741E0B2E-E9AD-EB56-3148-748DA4CDC20F}"/>
              </a:ext>
            </a:extLst>
          </p:cNvPr>
          <p:cNvSpPr txBox="1">
            <a:spLocks noChangeArrowheads="1"/>
          </p:cNvSpPr>
          <p:nvPr/>
        </p:nvSpPr>
        <p:spPr bwMode="auto">
          <a:xfrm>
            <a:off x="5565155" y="2797946"/>
            <a:ext cx="6629400" cy="3251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85750" indent="-285750" algn="just" eaLnBrk="1" hangingPunct="1">
              <a:lnSpc>
                <a:spcPct val="80000"/>
              </a:lnSpc>
            </a:pPr>
            <a:r>
              <a:rPr lang="en-US" altLang="en-US" dirty="0">
                <a:solidFill>
                  <a:schemeClr val="folHlink"/>
                </a:solidFill>
              </a:rPr>
              <a:t>mitigation</a:t>
            </a:r>
            <a:r>
              <a:rPr lang="en-US" altLang="en-US" dirty="0"/>
              <a:t>—how can we avoid the risk?</a:t>
            </a:r>
          </a:p>
          <a:p>
            <a:pPr marL="285750" indent="-285750" algn="just" eaLnBrk="1" hangingPunct="1">
              <a:lnSpc>
                <a:spcPct val="80000"/>
              </a:lnSpc>
            </a:pPr>
            <a:endParaRPr lang="en-US" altLang="en-US" dirty="0"/>
          </a:p>
          <a:p>
            <a:pPr marL="285750" indent="-285750" algn="just" eaLnBrk="1" hangingPunct="1">
              <a:lnSpc>
                <a:spcPct val="80000"/>
              </a:lnSpc>
            </a:pPr>
            <a:r>
              <a:rPr lang="en-US" altLang="en-US" dirty="0">
                <a:solidFill>
                  <a:schemeClr val="folHlink"/>
                </a:solidFill>
              </a:rPr>
              <a:t>monitoring</a:t>
            </a:r>
            <a:r>
              <a:rPr lang="en-US" altLang="en-US" dirty="0"/>
              <a:t>—what factors can we track that will enable us to determine if the risk is becoming more or less likely?</a:t>
            </a:r>
          </a:p>
          <a:p>
            <a:pPr marL="285750" indent="-285750" algn="just" eaLnBrk="1" hangingPunct="1">
              <a:lnSpc>
                <a:spcPct val="80000"/>
              </a:lnSpc>
            </a:pPr>
            <a:endParaRPr lang="en-US" altLang="en-US" dirty="0"/>
          </a:p>
          <a:p>
            <a:pPr marL="285750" indent="-285750" algn="just" eaLnBrk="1" hangingPunct="1">
              <a:lnSpc>
                <a:spcPct val="80000"/>
              </a:lnSpc>
            </a:pPr>
            <a:r>
              <a:rPr lang="en-US" altLang="en-US" dirty="0">
                <a:solidFill>
                  <a:schemeClr val="folHlink"/>
                </a:solidFill>
              </a:rPr>
              <a:t>management</a:t>
            </a:r>
            <a:r>
              <a:rPr lang="en-US" altLang="en-US" dirty="0"/>
              <a:t>—what contingency plans do we have if the risk becomes a reality?</a:t>
            </a:r>
          </a:p>
          <a:p>
            <a:pPr>
              <a:spcBef>
                <a:spcPts val="300"/>
              </a:spcBef>
            </a:pPr>
            <a:endParaRPr lang="en-US" altLang="en-US" dirty="0">
              <a:latin typeface="Palatino" pitchFamily="-128" charset="0"/>
            </a:endParaRPr>
          </a:p>
          <a:p>
            <a:pPr>
              <a:lnSpc>
                <a:spcPct val="90000"/>
              </a:lnSpc>
              <a:spcBef>
                <a:spcPct val="50000"/>
              </a:spcBef>
            </a:pPr>
            <a:endParaRPr lang="en-US" altLang="en-US" sz="1800" b="1" dirty="0">
              <a:latin typeface="Palatino" pitchFamily="-128" charset="0"/>
            </a:endParaRPr>
          </a:p>
        </p:txBody>
      </p:sp>
    </p:spTree>
    <p:extLst>
      <p:ext uri="{BB962C8B-B14F-4D97-AF65-F5344CB8AC3E}">
        <p14:creationId xmlns:p14="http://schemas.microsoft.com/office/powerpoint/2010/main" val="2026331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lue and orange Colour Powder background">
            <a:extLst>
              <a:ext uri="{FF2B5EF4-FFF2-40B4-BE49-F238E27FC236}">
                <a16:creationId xmlns:a16="http://schemas.microsoft.com/office/drawing/2014/main" id="{10E23BDA-03AF-A124-9F24-1F3E7722FFF6}"/>
              </a:ext>
            </a:extLst>
          </p:cNvPr>
          <p:cNvPicPr>
            <a:picLocks noChangeAspect="1"/>
          </p:cNvPicPr>
          <p:nvPr/>
        </p:nvPicPr>
        <p:blipFill rotWithShape="1">
          <a:blip r:embed="rId2"/>
          <a:srcRect t="2962" r="-1" b="12747"/>
          <a:stretch/>
        </p:blipFill>
        <p:spPr>
          <a:xfrm>
            <a:off x="0" y="10"/>
            <a:ext cx="12192000" cy="6857990"/>
          </a:xfrm>
          <a:prstGeom prst="rect">
            <a:avLst/>
          </a:prstGeom>
        </p:spPr>
      </p:pic>
      <p:sp>
        <p:nvSpPr>
          <p:cNvPr id="2" name="Title 1">
            <a:extLst>
              <a:ext uri="{FF2B5EF4-FFF2-40B4-BE49-F238E27FC236}">
                <a16:creationId xmlns:a16="http://schemas.microsoft.com/office/drawing/2014/main" id="{7C2060E0-5D10-D2E3-07C3-FCE84C125B64}"/>
              </a:ext>
            </a:extLst>
          </p:cNvPr>
          <p:cNvSpPr>
            <a:spLocks noGrp="1"/>
          </p:cNvSpPr>
          <p:nvPr>
            <p:ph type="title"/>
          </p:nvPr>
        </p:nvSpPr>
        <p:spPr>
          <a:xfrm>
            <a:off x="534643" y="915480"/>
            <a:ext cx="12037113" cy="3657600"/>
          </a:xfrm>
        </p:spPr>
        <p:txBody>
          <a:bodyPr vert="horz" lIns="91440" tIns="45720" rIns="91440" bIns="45720" rtlCol="0" anchor="ctr">
            <a:normAutofit/>
          </a:bodyPr>
          <a:lstStyle/>
          <a:p>
            <a:r>
              <a:rPr lang="en-US" dirty="0"/>
              <a:t>Recording risk information</a:t>
            </a:r>
          </a:p>
        </p:txBody>
      </p:sp>
    </p:spTree>
    <p:extLst>
      <p:ext uri="{BB962C8B-B14F-4D97-AF65-F5344CB8AC3E}">
        <p14:creationId xmlns:p14="http://schemas.microsoft.com/office/powerpoint/2010/main" val="4085187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58FB36D-73B3-45EF-8CD4-221CCC8BE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D7835D7-DF12-420F-843A-1C5083D2B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38FFE91-8A9F-4748-1554-F088AFB74311}"/>
              </a:ext>
            </a:extLst>
          </p:cNvPr>
          <p:cNvPicPr>
            <a:picLocks noChangeAspect="1"/>
          </p:cNvPicPr>
          <p:nvPr/>
        </p:nvPicPr>
        <p:blipFill rotWithShape="1">
          <a:blip r:embed="rId2">
            <a:extLst>
              <a:ext uri="{28A0092B-C50C-407E-A947-70E740481C1C}">
                <a14:useLocalDpi xmlns:a14="http://schemas.microsoft.com/office/drawing/2010/main" val="0"/>
              </a:ext>
            </a:extLst>
          </a:blip>
          <a:srcRect l="1152" t="12976" r="1478" b="14937"/>
          <a:stretch/>
        </p:blipFill>
        <p:spPr>
          <a:xfrm>
            <a:off x="2760955" y="2663301"/>
            <a:ext cx="6205491" cy="3426782"/>
          </a:xfrm>
          <a:prstGeom prst="rect">
            <a:avLst/>
          </a:prstGeom>
        </p:spPr>
      </p:pic>
    </p:spTree>
    <p:extLst>
      <p:ext uri="{BB962C8B-B14F-4D97-AF65-F5344CB8AC3E}">
        <p14:creationId xmlns:p14="http://schemas.microsoft.com/office/powerpoint/2010/main" val="920542981"/>
      </p:ext>
    </p:extLst>
  </p:cSld>
  <p:clrMapOvr>
    <a:masterClrMapping/>
  </p:clrMapOvr>
</p:sld>
</file>

<file path=ppt/theme/theme1.xml><?xml version="1.0" encoding="utf-8"?>
<a:theme xmlns:a="http://schemas.openxmlformats.org/drawingml/2006/main" name="JuxtaposeVTI">
  <a:themeElements>
    <a:clrScheme name="AnalogousFromLightSeedRightStep">
      <a:dk1>
        <a:srgbClr val="000000"/>
      </a:dk1>
      <a:lt1>
        <a:srgbClr val="FFFFFF"/>
      </a:lt1>
      <a:dk2>
        <a:srgbClr val="22333C"/>
      </a:dk2>
      <a:lt2>
        <a:srgbClr val="E2E4E8"/>
      </a:lt2>
      <a:accent1>
        <a:srgbClr val="ADA07A"/>
      </a:accent1>
      <a:accent2>
        <a:srgbClr val="9DA767"/>
      </a:accent2>
      <a:accent3>
        <a:srgbClr val="8DAA78"/>
      </a:accent3>
      <a:accent4>
        <a:srgbClr val="6EB16D"/>
      </a:accent4>
      <a:accent5>
        <a:srgbClr val="78AA8D"/>
      </a:accent5>
      <a:accent6>
        <a:srgbClr val="6AACA1"/>
      </a:accent6>
      <a:hlink>
        <a:srgbClr val="697BAE"/>
      </a:hlink>
      <a:folHlink>
        <a:srgbClr val="7F7F7F"/>
      </a:folHlink>
    </a:clrScheme>
    <a:fontScheme name="Custom 167">
      <a:majorFont>
        <a:latin typeface="Franklin Gothic Demi Cond"/>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FBDCC3B4-6EA8-442A-B697-43C068E31FE3}" vid="{090F2E09-E4E2-4F71-A70E-279F5A0D9E0A}"/>
    </a:ext>
  </a:extLst>
</a:theme>
</file>

<file path=docProps/app.xml><?xml version="1.0" encoding="utf-8"?>
<Properties xmlns="http://schemas.openxmlformats.org/officeDocument/2006/extended-properties" xmlns:vt="http://schemas.openxmlformats.org/officeDocument/2006/docPropsVTypes">
  <TotalTime>258</TotalTime>
  <Words>1246</Words>
  <Application>Microsoft Office PowerPoint</Application>
  <PresentationFormat>Widescreen</PresentationFormat>
  <Paragraphs>174</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Franklin Gothic Demi Cond</vt:lpstr>
      <vt:lpstr>Franklin Gothic Medium</vt:lpstr>
      <vt:lpstr>Helvetica</vt:lpstr>
      <vt:lpstr>Palatino</vt:lpstr>
      <vt:lpstr>Wingdings</vt:lpstr>
      <vt:lpstr>JuxtaposeVTI</vt:lpstr>
      <vt:lpstr>Risk Management</vt:lpstr>
      <vt:lpstr>Project Risks</vt:lpstr>
      <vt:lpstr>Risk Mangement</vt:lpstr>
      <vt:lpstr>Risk Mangement</vt:lpstr>
      <vt:lpstr>7 principles to avoid project failure</vt:lpstr>
      <vt:lpstr>Risk Management paradigm</vt:lpstr>
      <vt:lpstr>Risk identification</vt:lpstr>
      <vt:lpstr>Risk due to project Size</vt:lpstr>
      <vt:lpstr>Risk due to business impact</vt:lpstr>
      <vt:lpstr>Risk due to customer</vt:lpstr>
      <vt:lpstr>Risk due to process maturity</vt:lpstr>
      <vt:lpstr>Technology risks</vt:lpstr>
      <vt:lpstr>Staff/people risk</vt:lpstr>
      <vt:lpstr>Assessing project risk</vt:lpstr>
      <vt:lpstr>Assessing project risk </vt:lpstr>
      <vt:lpstr>Risk components</vt:lpstr>
      <vt:lpstr>Risk components</vt:lpstr>
      <vt:lpstr>Risk Estimation</vt:lpstr>
      <vt:lpstr>Risk Estimation</vt:lpstr>
      <vt:lpstr>Building a risk table</vt:lpstr>
      <vt:lpstr>Building a risk table</vt:lpstr>
      <vt:lpstr>Building a risk table</vt:lpstr>
      <vt:lpstr>Building a risk table</vt:lpstr>
      <vt:lpstr>Risk mitigation, monitoring &amp; management</vt:lpstr>
      <vt:lpstr>Recording risk information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dc:title>
  <dc:creator>Hajra  Ahmed</dc:creator>
  <cp:lastModifiedBy>Hajra  Ahmed</cp:lastModifiedBy>
  <cp:revision>14</cp:revision>
  <dcterms:created xsi:type="dcterms:W3CDTF">2024-05-07T17:10:35Z</dcterms:created>
  <dcterms:modified xsi:type="dcterms:W3CDTF">2026-04-27T03:39:01Z</dcterms:modified>
</cp:coreProperties>
</file>