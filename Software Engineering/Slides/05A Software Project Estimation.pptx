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1" r:id="rId1"/>
  </p:sldMasterIdLst>
  <p:notesMasterIdLst>
    <p:notesMasterId r:id="rId20"/>
  </p:notesMasterIdLst>
  <p:sldIdLst>
    <p:sldId id="256" r:id="rId2"/>
    <p:sldId id="257" r:id="rId3"/>
    <p:sldId id="279" r:id="rId4"/>
    <p:sldId id="280" r:id="rId5"/>
    <p:sldId id="281" r:id="rId6"/>
    <p:sldId id="258" r:id="rId7"/>
    <p:sldId id="259" r:id="rId8"/>
    <p:sldId id="276" r:id="rId9"/>
    <p:sldId id="260" r:id="rId10"/>
    <p:sldId id="261" r:id="rId11"/>
    <p:sldId id="263" r:id="rId12"/>
    <p:sldId id="262" r:id="rId13"/>
    <p:sldId id="264" r:id="rId14"/>
    <p:sldId id="265" r:id="rId15"/>
    <p:sldId id="266" r:id="rId16"/>
    <p:sldId id="267" r:id="rId17"/>
    <p:sldId id="277" r:id="rId18"/>
    <p:sldId id="278" r:id="rId19"/>
  </p:sldIdLst>
  <p:sldSz cx="9144000" cy="6858000" type="screen4x3"/>
  <p:notesSz cx="7315200" cy="96012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BBBF"/>
    <a:srgbClr val="8BBABE"/>
    <a:srgbClr val="E62D33"/>
    <a:srgbClr val="394E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683" autoAdjust="0"/>
  </p:normalViewPr>
  <p:slideViewPr>
    <p:cSldViewPr>
      <p:cViewPr varScale="1">
        <p:scale>
          <a:sx n="101" d="100"/>
          <a:sy n="101" d="100"/>
        </p:scale>
        <p:origin x="1836"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eaLnBrk="0" hangingPunct="0">
              <a:defRPr sz="1300"/>
            </a:lvl1pPr>
          </a:lstStyle>
          <a:p>
            <a:pPr>
              <a:defRPr/>
            </a:pPr>
            <a:endParaRPr lang="en-US"/>
          </a:p>
        </p:txBody>
      </p:sp>
      <p:sp>
        <p:nvSpPr>
          <p:cNvPr id="5123"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0" hangingPunct="0">
              <a:defRPr sz="1300"/>
            </a:lvl1pPr>
          </a:lstStyle>
          <a:p>
            <a:pPr>
              <a:defRPr/>
            </a:pPr>
            <a:endParaRPr lang="en-US"/>
          </a:p>
        </p:txBody>
      </p:sp>
      <p:sp>
        <p:nvSpPr>
          <p:cNvPr id="14340"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eaLnBrk="0" hangingPunct="0">
              <a:defRPr sz="1300"/>
            </a:lvl1pPr>
          </a:lstStyle>
          <a:p>
            <a:pPr>
              <a:defRPr/>
            </a:pPr>
            <a:endParaRPr lang="en-US"/>
          </a:p>
        </p:txBody>
      </p:sp>
      <p:sp>
        <p:nvSpPr>
          <p:cNvPr id="5127"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vl1pPr>
          </a:lstStyle>
          <a:p>
            <a:fld id="{4F2D02CA-8634-4264-9CA0-6300A48C0482}"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C082614-CB93-442F-8BEB-CEFB1A2F69EA}" type="slidenum">
              <a:rPr lang="en-US" altLang="en-US" sz="1300"/>
              <a:pPr>
                <a:spcBef>
                  <a:spcPct val="0"/>
                </a:spcBef>
              </a:pPr>
              <a:t>1</a:t>
            </a:fld>
            <a:endParaRPr lang="en-US" altLang="en-US" sz="1300"/>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10DACC9-2597-48E1-B1FB-356E2603558B}" type="slidenum">
              <a:rPr lang="en-US" altLang="en-US" sz="1300"/>
              <a:pPr>
                <a:spcBef>
                  <a:spcPct val="0"/>
                </a:spcBef>
              </a:pPr>
              <a:t>2</a:t>
            </a:fld>
            <a:endParaRPr lang="en-US" altLang="en-US" sz="130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42884-1B67-BD56-1816-61FEAA724EFC}"/>
            </a:ext>
          </a:extLst>
        </p:cNvPr>
        <p:cNvGrpSpPr/>
        <p:nvPr/>
      </p:nvGrpSpPr>
      <p:grpSpPr>
        <a:xfrm>
          <a:off x="0" y="0"/>
          <a:ext cx="0" cy="0"/>
          <a:chOff x="0" y="0"/>
          <a:chExt cx="0" cy="0"/>
        </a:xfrm>
      </p:grpSpPr>
      <p:sp>
        <p:nvSpPr>
          <p:cNvPr id="18434" name="Rectangle 7">
            <a:extLst>
              <a:ext uri="{FF2B5EF4-FFF2-40B4-BE49-F238E27FC236}">
                <a16:creationId xmlns:a16="http://schemas.microsoft.com/office/drawing/2014/main" id="{EDE3BBC9-D690-BA48-E57A-7ECDACE72C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10DACC9-2597-48E1-B1FB-356E2603558B}" type="slidenum">
              <a:rPr lang="en-US" altLang="en-US" sz="1300"/>
              <a:pPr>
                <a:spcBef>
                  <a:spcPct val="0"/>
                </a:spcBef>
              </a:pPr>
              <a:t>3</a:t>
            </a:fld>
            <a:endParaRPr lang="en-US" altLang="en-US" sz="1300"/>
          </a:p>
        </p:txBody>
      </p:sp>
      <p:sp>
        <p:nvSpPr>
          <p:cNvPr id="18435" name="Rectangle 2">
            <a:extLst>
              <a:ext uri="{FF2B5EF4-FFF2-40B4-BE49-F238E27FC236}">
                <a16:creationId xmlns:a16="http://schemas.microsoft.com/office/drawing/2014/main" id="{31F72D71-CA40-B9D6-6870-E6A2AB8E2576}"/>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ECE6C1AC-F270-F8B3-0E9F-338B8AEDD01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8939007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6EBCB-5F4E-F994-4DCC-E392FCCEDB36}"/>
            </a:ext>
          </a:extLst>
        </p:cNvPr>
        <p:cNvGrpSpPr/>
        <p:nvPr/>
      </p:nvGrpSpPr>
      <p:grpSpPr>
        <a:xfrm>
          <a:off x="0" y="0"/>
          <a:ext cx="0" cy="0"/>
          <a:chOff x="0" y="0"/>
          <a:chExt cx="0" cy="0"/>
        </a:xfrm>
      </p:grpSpPr>
      <p:sp>
        <p:nvSpPr>
          <p:cNvPr id="18434" name="Rectangle 7">
            <a:extLst>
              <a:ext uri="{FF2B5EF4-FFF2-40B4-BE49-F238E27FC236}">
                <a16:creationId xmlns:a16="http://schemas.microsoft.com/office/drawing/2014/main" id="{B63B014D-B24A-F5E9-62AC-8D22792DFB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10DACC9-2597-48E1-B1FB-356E2603558B}" type="slidenum">
              <a:rPr lang="en-US" altLang="en-US" sz="1300"/>
              <a:pPr>
                <a:spcBef>
                  <a:spcPct val="0"/>
                </a:spcBef>
              </a:pPr>
              <a:t>4</a:t>
            </a:fld>
            <a:endParaRPr lang="en-US" altLang="en-US" sz="1300"/>
          </a:p>
        </p:txBody>
      </p:sp>
      <p:sp>
        <p:nvSpPr>
          <p:cNvPr id="18435" name="Rectangle 2">
            <a:extLst>
              <a:ext uri="{FF2B5EF4-FFF2-40B4-BE49-F238E27FC236}">
                <a16:creationId xmlns:a16="http://schemas.microsoft.com/office/drawing/2014/main" id="{EF44F639-D552-8D71-05A1-EB65FA110A3D}"/>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538F6D69-7C39-3C7B-4D8D-2B1A918260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2312060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28FD4-4DA7-4996-4111-7DE0DC4BB191}"/>
            </a:ext>
          </a:extLst>
        </p:cNvPr>
        <p:cNvGrpSpPr/>
        <p:nvPr/>
      </p:nvGrpSpPr>
      <p:grpSpPr>
        <a:xfrm>
          <a:off x="0" y="0"/>
          <a:ext cx="0" cy="0"/>
          <a:chOff x="0" y="0"/>
          <a:chExt cx="0" cy="0"/>
        </a:xfrm>
      </p:grpSpPr>
      <p:sp>
        <p:nvSpPr>
          <p:cNvPr id="18434" name="Rectangle 7">
            <a:extLst>
              <a:ext uri="{FF2B5EF4-FFF2-40B4-BE49-F238E27FC236}">
                <a16:creationId xmlns:a16="http://schemas.microsoft.com/office/drawing/2014/main" id="{D9E4467C-197E-0917-508F-DDAA021872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10DACC9-2597-48E1-B1FB-356E2603558B}" type="slidenum">
              <a:rPr lang="en-US" altLang="en-US" sz="1300"/>
              <a:pPr>
                <a:spcBef>
                  <a:spcPct val="0"/>
                </a:spcBef>
              </a:pPr>
              <a:t>5</a:t>
            </a:fld>
            <a:endParaRPr lang="en-US" altLang="en-US" sz="1300"/>
          </a:p>
        </p:txBody>
      </p:sp>
      <p:sp>
        <p:nvSpPr>
          <p:cNvPr id="18435" name="Rectangle 2">
            <a:extLst>
              <a:ext uri="{FF2B5EF4-FFF2-40B4-BE49-F238E27FC236}">
                <a16:creationId xmlns:a16="http://schemas.microsoft.com/office/drawing/2014/main" id="{D45450E8-13C4-6FD0-7865-2130752192F3}"/>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421879DF-B176-3C2D-6A31-544739AB94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741171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3D026F2-DC23-49AE-A3FC-ECA4E51CB536}" type="slidenum">
              <a:rPr lang="en-US" altLang="en-US" sz="1300"/>
              <a:pPr>
                <a:spcBef>
                  <a:spcPct val="0"/>
                </a:spcBef>
              </a:pPr>
              <a:t>6</a:t>
            </a:fld>
            <a:endParaRPr lang="en-US" altLang="en-US" sz="1300"/>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DBAAC62-38B3-402F-8757-7347A5C1062E}" type="slidenum">
              <a:rPr lang="en-US" altLang="en-US" sz="1300"/>
              <a:pPr>
                <a:spcBef>
                  <a:spcPct val="0"/>
                </a:spcBef>
              </a:pPr>
              <a:t>7</a:t>
            </a:fld>
            <a:endParaRPr lang="en-US" altLang="en-US" sz="130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15C6071-D62B-46F0-95CA-699AA2C02B9B}" type="slidenum">
              <a:rPr lang="en-US" altLang="en-US" sz="1300"/>
              <a:pPr>
                <a:spcBef>
                  <a:spcPct val="0"/>
                </a:spcBef>
              </a:pPr>
              <a:t>8</a:t>
            </a:fld>
            <a:endParaRPr lang="en-US" altLang="en-US" sz="1300"/>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96ACF25-A171-4825-8F46-E11F83EB5FEC}" type="slidenum">
              <a:rPr lang="en-US" altLang="en-US" sz="1300"/>
              <a:pPr>
                <a:spcBef>
                  <a:spcPct val="0"/>
                </a:spcBef>
              </a:pPr>
              <a:t>9</a:t>
            </a:fld>
            <a:endParaRPr lang="en-US" altLang="en-US" sz="130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B439159-1BEF-4B19-8A90-66BE58551A62}" type="slidenum">
              <a:rPr lang="en-US" altLang="en-US" sz="1300"/>
              <a:pPr>
                <a:spcBef>
                  <a:spcPct val="0"/>
                </a:spcBef>
              </a:pPr>
              <a:t>10</a:t>
            </a:fld>
            <a:endParaRPr lang="en-US" altLang="en-US" sz="130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3BE9A52-CC63-45E9-A154-2BADDA0100A5}" type="slidenum">
              <a:rPr lang="en-US" altLang="en-US" sz="1300"/>
              <a:pPr>
                <a:spcBef>
                  <a:spcPct val="0"/>
                </a:spcBef>
              </a:pPr>
              <a:t>11</a:t>
            </a:fld>
            <a:endParaRPr lang="en-US" altLang="en-US" sz="1300"/>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D8FA16F-F3EE-420E-A6CB-86DDCCDC8D25}" type="slidenum">
              <a:rPr lang="en-US" altLang="en-US" sz="1300"/>
              <a:pPr>
                <a:spcBef>
                  <a:spcPct val="0"/>
                </a:spcBef>
              </a:pPr>
              <a:t>12</a:t>
            </a:fld>
            <a:endParaRPr lang="en-US" altLang="en-US" sz="1300"/>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D27A675-2F9F-4DF8-8DB1-C81FAD0FB058}" type="slidenum">
              <a:rPr lang="en-US" altLang="en-US" sz="1300"/>
              <a:pPr>
                <a:spcBef>
                  <a:spcPct val="0"/>
                </a:spcBef>
              </a:pPr>
              <a:t>13</a:t>
            </a:fld>
            <a:endParaRPr lang="en-US" altLang="en-US" sz="1300"/>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7CC46D4-56A8-454A-8D23-F207EBF097E6}" type="slidenum">
              <a:rPr lang="en-US" altLang="en-US" sz="1300"/>
              <a:pPr>
                <a:spcBef>
                  <a:spcPct val="0"/>
                </a:spcBef>
              </a:pPr>
              <a:t>14</a:t>
            </a:fld>
            <a:endParaRPr lang="en-US" altLang="en-US" sz="1300"/>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D6A9721-0EFB-4DFB-A35B-019AFFA61A20}" type="slidenum">
              <a:rPr lang="en-US" altLang="en-US" sz="1300"/>
              <a:pPr>
                <a:spcBef>
                  <a:spcPct val="0"/>
                </a:spcBef>
              </a:pPr>
              <a:t>15</a:t>
            </a:fld>
            <a:endParaRPr lang="en-US" altLang="en-US" sz="1300"/>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562C5FE-2110-4C59-B6BC-E9D6C1EE3211}" type="slidenum">
              <a:rPr lang="en-US" altLang="en-US" sz="1300"/>
              <a:pPr>
                <a:spcBef>
                  <a:spcPct val="0"/>
                </a:spcBef>
              </a:pPr>
              <a:t>16</a:t>
            </a:fld>
            <a:endParaRPr lang="en-US" altLang="en-US" sz="1300"/>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562C5FE-2110-4C59-B6BC-E9D6C1EE3211}" type="slidenum">
              <a:rPr lang="en-US" altLang="en-US" sz="1300"/>
              <a:pPr>
                <a:spcBef>
                  <a:spcPct val="0"/>
                </a:spcBef>
              </a:pPr>
              <a:t>17</a:t>
            </a:fld>
            <a:endParaRPr lang="en-US" altLang="en-US" sz="1300"/>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2175299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562C5FE-2110-4C59-B6BC-E9D6C1EE3211}" type="slidenum">
              <a:rPr lang="en-US" altLang="en-US" sz="1300"/>
              <a:pPr>
                <a:spcBef>
                  <a:spcPct val="0"/>
                </a:spcBef>
              </a:pPr>
              <a:t>18</a:t>
            </a:fld>
            <a:endParaRPr lang="en-US" altLang="en-US" sz="1300"/>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6423672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8639DDBE-A683-425D-9D4E-CDD02AE39632}" type="datetime1">
              <a:rPr lang="en-US" smtClean="0"/>
              <a:pPr>
                <a:defRPr/>
              </a:pPr>
              <a:t>2/17/2026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4B5B85C-DA1D-4875-89CF-2A3749C53D94}" type="slidenum">
              <a:rPr lang="en-US" altLang="en-US" smtClean="0"/>
              <a:pPr/>
              <a:t>‹#›</a:t>
            </a:fld>
            <a:endParaRPr lang="en-US" altLang="en-US"/>
          </a:p>
        </p:txBody>
      </p:sp>
    </p:spTree>
    <p:extLst>
      <p:ext uri="{BB962C8B-B14F-4D97-AF65-F5344CB8AC3E}">
        <p14:creationId xmlns:p14="http://schemas.microsoft.com/office/powerpoint/2010/main" val="473001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5B7A5D1D-8AC9-4AA3-85B8-BDC578E61FAD}" type="datetime1">
              <a:rPr lang="en-US" smtClean="0"/>
              <a:pPr>
                <a:defRPr/>
              </a:pPr>
              <a:t>2/17/2026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35CEA1B-B8E8-4518-B36B-E8DAC0F7F300}" type="slidenum">
              <a:rPr lang="en-US" altLang="en-US" smtClean="0"/>
              <a:pPr/>
              <a:t>‹#›</a:t>
            </a:fld>
            <a:endParaRPr lang="en-US" altLang="en-US"/>
          </a:p>
        </p:txBody>
      </p:sp>
    </p:spTree>
    <p:extLst>
      <p:ext uri="{BB962C8B-B14F-4D97-AF65-F5344CB8AC3E}">
        <p14:creationId xmlns:p14="http://schemas.microsoft.com/office/powerpoint/2010/main" val="2696430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C3B07F6D-F0D6-4776-87B2-61FC47031906}" type="datetime1">
              <a:rPr lang="en-US" smtClean="0"/>
              <a:pPr>
                <a:defRPr/>
              </a:pPr>
              <a:t>2/17/2026</a:t>
            </a:fld>
            <a:endParaRPr lang="en-US"/>
          </a:p>
        </p:txBody>
      </p:sp>
      <p:sp>
        <p:nvSpPr>
          <p:cNvPr id="5" name="Footer Placeholder 4"/>
          <p:cNvSpPr>
            <a:spLocks noGrp="1"/>
          </p:cNvSpPr>
          <p:nvPr>
            <p:ph type="ftr" sz="quarter" idx="11"/>
          </p:nvPr>
        </p:nvSpPr>
        <p:spPr/>
        <p:txBody>
          <a:bodyPr/>
          <a:lstStyle/>
          <a:p>
            <a:pPr>
              <a:defRPr/>
            </a:pPr>
            <a:r>
              <a:rPr lang="en-US"/>
              <a:t>http://www.stellman-greene.com</a:t>
            </a:r>
          </a:p>
        </p:txBody>
      </p:sp>
      <p:sp>
        <p:nvSpPr>
          <p:cNvPr id="6" name="Slide Number Placeholder 5"/>
          <p:cNvSpPr>
            <a:spLocks noGrp="1"/>
          </p:cNvSpPr>
          <p:nvPr>
            <p:ph type="sldNum" sz="quarter" idx="12"/>
          </p:nvPr>
        </p:nvSpPr>
        <p:spPr/>
        <p:txBody>
          <a:bodyPr/>
          <a:lstStyle/>
          <a:p>
            <a:fld id="{3C658B25-EF6C-4CFF-BD27-14C1CE94A870}" type="slidenum">
              <a:rPr lang="en-US" altLang="en-US" smtClean="0"/>
              <a:pPr/>
              <a:t>‹#›</a:t>
            </a:fld>
            <a:endParaRPr lang="en-US" altLang="en-US"/>
          </a:p>
        </p:txBody>
      </p:sp>
    </p:spTree>
    <p:extLst>
      <p:ext uri="{BB962C8B-B14F-4D97-AF65-F5344CB8AC3E}">
        <p14:creationId xmlns:p14="http://schemas.microsoft.com/office/powerpoint/2010/main" val="1830955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50153667-FE54-4368-BD2B-3A7A2454707E}" type="datetime1">
              <a:rPr lang="en-US" smtClean="0"/>
              <a:pPr>
                <a:defRPr/>
              </a:pPr>
              <a:t>2/17/2026</a:t>
            </a:fld>
            <a:endParaRPr lang="en-US"/>
          </a:p>
        </p:txBody>
      </p:sp>
      <p:sp>
        <p:nvSpPr>
          <p:cNvPr id="6" name="Footer Placeholder 5"/>
          <p:cNvSpPr>
            <a:spLocks noGrp="1"/>
          </p:cNvSpPr>
          <p:nvPr>
            <p:ph type="ftr" sz="quarter" idx="11"/>
          </p:nvPr>
        </p:nvSpPr>
        <p:spPr/>
        <p:txBody>
          <a:bodyPr/>
          <a:lstStyle/>
          <a:p>
            <a:pPr>
              <a:defRPr/>
            </a:pPr>
            <a:r>
              <a:rPr lang="en-US"/>
              <a:t>http://www.stellman-greene.com</a:t>
            </a:r>
          </a:p>
        </p:txBody>
      </p:sp>
      <p:sp>
        <p:nvSpPr>
          <p:cNvPr id="7" name="Slide Number Placeholder 6"/>
          <p:cNvSpPr>
            <a:spLocks noGrp="1"/>
          </p:cNvSpPr>
          <p:nvPr>
            <p:ph type="sldNum" sz="quarter" idx="12"/>
          </p:nvPr>
        </p:nvSpPr>
        <p:spPr/>
        <p:txBody>
          <a:bodyPr/>
          <a:lstStyle/>
          <a:p>
            <a:fld id="{77115343-A8FA-49BA-ADB7-017A0E7801FF}" type="slidenum">
              <a:rPr lang="en-US" altLang="en-US" smtClean="0"/>
              <a:pPr/>
              <a:t>‹#›</a:t>
            </a:fld>
            <a:endParaRPr lang="en-US" altLang="en-US"/>
          </a:p>
        </p:txBody>
      </p:sp>
    </p:spTree>
    <p:extLst>
      <p:ext uri="{BB962C8B-B14F-4D97-AF65-F5344CB8AC3E}">
        <p14:creationId xmlns:p14="http://schemas.microsoft.com/office/powerpoint/2010/main" val="1078268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00206522-EB11-49B8-9BC9-CA585C4368AD}" type="datetime1">
              <a:rPr lang="en-US" smtClean="0"/>
              <a:pPr>
                <a:defRPr/>
              </a:pPr>
              <a:t>2/17/2026</a:t>
            </a:fld>
            <a:endParaRPr lang="en-US"/>
          </a:p>
        </p:txBody>
      </p:sp>
      <p:sp>
        <p:nvSpPr>
          <p:cNvPr id="8" name="Footer Placeholder 7"/>
          <p:cNvSpPr>
            <a:spLocks noGrp="1"/>
          </p:cNvSpPr>
          <p:nvPr>
            <p:ph type="ftr" sz="quarter" idx="11"/>
          </p:nvPr>
        </p:nvSpPr>
        <p:spPr/>
        <p:txBody>
          <a:bodyPr/>
          <a:lstStyle/>
          <a:p>
            <a:pPr>
              <a:defRPr/>
            </a:pPr>
            <a:r>
              <a:rPr lang="en-US"/>
              <a:t>http://www.stellman-greene.com</a:t>
            </a:r>
          </a:p>
        </p:txBody>
      </p:sp>
      <p:sp>
        <p:nvSpPr>
          <p:cNvPr id="9" name="Slide Number Placeholder 8"/>
          <p:cNvSpPr>
            <a:spLocks noGrp="1"/>
          </p:cNvSpPr>
          <p:nvPr>
            <p:ph type="sldNum" sz="quarter" idx="12"/>
          </p:nvPr>
        </p:nvSpPr>
        <p:spPr/>
        <p:txBody>
          <a:bodyPr/>
          <a:lstStyle/>
          <a:p>
            <a:fld id="{E15FD31C-2EB4-4055-935B-7A792DEAF942}" type="slidenum">
              <a:rPr lang="en-US" altLang="en-US" smtClean="0"/>
              <a:pPr/>
              <a:t>‹#›</a:t>
            </a:fld>
            <a:endParaRPr lang="en-US" altLang="en-US"/>
          </a:p>
        </p:txBody>
      </p:sp>
    </p:spTree>
    <p:extLst>
      <p:ext uri="{BB962C8B-B14F-4D97-AF65-F5344CB8AC3E}">
        <p14:creationId xmlns:p14="http://schemas.microsoft.com/office/powerpoint/2010/main" val="3886007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4171DE47-FD03-47CE-AE66-82617FC8EA38}" type="datetime1">
              <a:rPr lang="en-US" smtClean="0"/>
              <a:pPr>
                <a:defRPr/>
              </a:pPr>
              <a:t>2/17/2026</a:t>
            </a:fld>
            <a:endParaRPr lang="en-US"/>
          </a:p>
        </p:txBody>
      </p:sp>
      <p:sp>
        <p:nvSpPr>
          <p:cNvPr id="4" name="Footer Placeholder 3"/>
          <p:cNvSpPr>
            <a:spLocks noGrp="1"/>
          </p:cNvSpPr>
          <p:nvPr>
            <p:ph type="ftr" sz="quarter" idx="11"/>
          </p:nvPr>
        </p:nvSpPr>
        <p:spPr/>
        <p:txBody>
          <a:bodyPr/>
          <a:lstStyle/>
          <a:p>
            <a:pPr>
              <a:defRPr/>
            </a:pPr>
            <a:r>
              <a:rPr lang="en-US"/>
              <a:t>http://www.stellman-greene.com</a:t>
            </a:r>
          </a:p>
        </p:txBody>
      </p:sp>
      <p:sp>
        <p:nvSpPr>
          <p:cNvPr id="5" name="Slide Number Placeholder 4"/>
          <p:cNvSpPr>
            <a:spLocks noGrp="1"/>
          </p:cNvSpPr>
          <p:nvPr>
            <p:ph type="sldNum" sz="quarter" idx="12"/>
          </p:nvPr>
        </p:nvSpPr>
        <p:spPr/>
        <p:txBody>
          <a:bodyPr/>
          <a:lstStyle/>
          <a:p>
            <a:fld id="{85FDC911-9D12-42C7-B5CC-CFF045C6D651}" type="slidenum">
              <a:rPr lang="en-US" altLang="en-US" smtClean="0"/>
              <a:pPr/>
              <a:t>‹#›</a:t>
            </a:fld>
            <a:endParaRPr lang="en-US" altLang="en-US"/>
          </a:p>
        </p:txBody>
      </p:sp>
    </p:spTree>
    <p:extLst>
      <p:ext uri="{BB962C8B-B14F-4D97-AF65-F5344CB8AC3E}">
        <p14:creationId xmlns:p14="http://schemas.microsoft.com/office/powerpoint/2010/main" val="1321623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F3104A34-1413-44A9-9CCE-1987628826AE}" type="datetime1">
              <a:rPr lang="en-US" smtClean="0"/>
              <a:pPr>
                <a:defRPr/>
              </a:pPr>
              <a:t>2/17/2026</a:t>
            </a:fld>
            <a:endParaRPr lang="en-US"/>
          </a:p>
        </p:txBody>
      </p:sp>
      <p:sp>
        <p:nvSpPr>
          <p:cNvPr id="3" name="Footer Placeholder 2"/>
          <p:cNvSpPr>
            <a:spLocks noGrp="1"/>
          </p:cNvSpPr>
          <p:nvPr>
            <p:ph type="ftr" sz="quarter" idx="11"/>
          </p:nvPr>
        </p:nvSpPr>
        <p:spPr/>
        <p:txBody>
          <a:bodyPr/>
          <a:lstStyle/>
          <a:p>
            <a:pPr>
              <a:defRPr/>
            </a:pPr>
            <a:r>
              <a:rPr lang="en-US"/>
              <a:t>http://www.stellman-greene.com</a:t>
            </a:r>
          </a:p>
        </p:txBody>
      </p:sp>
      <p:sp>
        <p:nvSpPr>
          <p:cNvPr id="4" name="Slide Number Placeholder 3"/>
          <p:cNvSpPr>
            <a:spLocks noGrp="1"/>
          </p:cNvSpPr>
          <p:nvPr>
            <p:ph type="sldNum" sz="quarter" idx="12"/>
          </p:nvPr>
        </p:nvSpPr>
        <p:spPr/>
        <p:txBody>
          <a:bodyPr/>
          <a:lstStyle/>
          <a:p>
            <a:fld id="{F2642829-4589-4CEF-BEE9-3C8DF1FECBFB}" type="slidenum">
              <a:rPr lang="en-US" altLang="en-US" smtClean="0"/>
              <a:pPr/>
              <a:t>‹#›</a:t>
            </a:fld>
            <a:endParaRPr lang="en-US" altLang="en-US"/>
          </a:p>
        </p:txBody>
      </p:sp>
    </p:spTree>
    <p:extLst>
      <p:ext uri="{BB962C8B-B14F-4D97-AF65-F5344CB8AC3E}">
        <p14:creationId xmlns:p14="http://schemas.microsoft.com/office/powerpoint/2010/main" val="1156697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2FFB1775-26D0-4B63-BC64-9D35A55A60F5}" type="datetime1">
              <a:rPr lang="en-US" smtClean="0"/>
              <a:pPr>
                <a:defRPr/>
              </a:pPr>
              <a:t>2/17/2026</a:t>
            </a:fld>
            <a:endParaRPr lang="en-US"/>
          </a:p>
        </p:txBody>
      </p:sp>
      <p:sp>
        <p:nvSpPr>
          <p:cNvPr id="6" name="Footer Placeholder 5"/>
          <p:cNvSpPr>
            <a:spLocks noGrp="1"/>
          </p:cNvSpPr>
          <p:nvPr>
            <p:ph type="ftr" sz="quarter" idx="11"/>
          </p:nvPr>
        </p:nvSpPr>
        <p:spPr/>
        <p:txBody>
          <a:bodyPr/>
          <a:lstStyle/>
          <a:p>
            <a:pPr>
              <a:defRPr/>
            </a:pPr>
            <a:r>
              <a:rPr lang="en-US"/>
              <a:t>http://www.stellman-greene.com</a:t>
            </a:r>
          </a:p>
        </p:txBody>
      </p:sp>
      <p:sp>
        <p:nvSpPr>
          <p:cNvPr id="7" name="Slide Number Placeholder 6"/>
          <p:cNvSpPr>
            <a:spLocks noGrp="1"/>
          </p:cNvSpPr>
          <p:nvPr>
            <p:ph type="sldNum" sz="quarter" idx="12"/>
          </p:nvPr>
        </p:nvSpPr>
        <p:spPr/>
        <p:txBody>
          <a:bodyPr/>
          <a:lstStyle/>
          <a:p>
            <a:fld id="{A9450010-E620-47D3-88F0-677F21AC9856}" type="slidenum">
              <a:rPr lang="en-US" altLang="en-US" smtClean="0"/>
              <a:pPr/>
              <a:t>‹#›</a:t>
            </a:fld>
            <a:endParaRPr lang="en-US" altLang="en-US"/>
          </a:p>
        </p:txBody>
      </p:sp>
    </p:spTree>
    <p:extLst>
      <p:ext uri="{BB962C8B-B14F-4D97-AF65-F5344CB8AC3E}">
        <p14:creationId xmlns:p14="http://schemas.microsoft.com/office/powerpoint/2010/main" val="182094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515A160B-61F2-4DC6-A28C-1E696E70D22A}" type="datetime1">
              <a:rPr lang="en-US" smtClean="0"/>
              <a:pPr>
                <a:defRPr/>
              </a:pPr>
              <a:t>2/17/2026</a:t>
            </a:fld>
            <a:endParaRPr lang="en-US"/>
          </a:p>
        </p:txBody>
      </p:sp>
      <p:sp>
        <p:nvSpPr>
          <p:cNvPr id="6" name="Footer Placeholder 5"/>
          <p:cNvSpPr>
            <a:spLocks noGrp="1"/>
          </p:cNvSpPr>
          <p:nvPr>
            <p:ph type="ftr" sz="quarter" idx="11"/>
          </p:nvPr>
        </p:nvSpPr>
        <p:spPr/>
        <p:txBody>
          <a:bodyPr/>
          <a:lstStyle/>
          <a:p>
            <a:pPr>
              <a:defRPr/>
            </a:pPr>
            <a:r>
              <a:rPr lang="en-US"/>
              <a:t>http://www.stellman-greene.com</a:t>
            </a:r>
          </a:p>
        </p:txBody>
      </p:sp>
      <p:sp>
        <p:nvSpPr>
          <p:cNvPr id="7" name="Slide Number Placeholder 6"/>
          <p:cNvSpPr>
            <a:spLocks noGrp="1"/>
          </p:cNvSpPr>
          <p:nvPr>
            <p:ph type="sldNum" sz="quarter" idx="12"/>
          </p:nvPr>
        </p:nvSpPr>
        <p:spPr/>
        <p:txBody>
          <a:bodyPr/>
          <a:lstStyle/>
          <a:p>
            <a:fld id="{F11449B8-EBBB-4205-8572-4D34A8D2CA4A}" type="slidenum">
              <a:rPr lang="en-US" altLang="en-US" smtClean="0"/>
              <a:pPr/>
              <a:t>‹#›</a:t>
            </a:fld>
            <a:endParaRPr lang="en-US" altLang="en-US"/>
          </a:p>
        </p:txBody>
      </p:sp>
    </p:spTree>
    <p:extLst>
      <p:ext uri="{BB962C8B-B14F-4D97-AF65-F5344CB8AC3E}">
        <p14:creationId xmlns:p14="http://schemas.microsoft.com/office/powerpoint/2010/main" val="3073367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270C6319-0858-4A31-A8F8-686FC727C9CF}" type="datetime1">
              <a:rPr lang="en-US" smtClean="0"/>
              <a:pPr>
                <a:defRPr/>
              </a:pPr>
              <a:t>2/17/2026</a:t>
            </a:fld>
            <a:endParaRPr lang="en-US"/>
          </a:p>
        </p:txBody>
      </p:sp>
      <p:sp>
        <p:nvSpPr>
          <p:cNvPr id="5" name="Footer Placeholder 4"/>
          <p:cNvSpPr>
            <a:spLocks noGrp="1"/>
          </p:cNvSpPr>
          <p:nvPr>
            <p:ph type="ftr" sz="quarter" idx="11"/>
          </p:nvPr>
        </p:nvSpPr>
        <p:spPr/>
        <p:txBody>
          <a:bodyPr/>
          <a:lstStyle/>
          <a:p>
            <a:pPr>
              <a:defRPr/>
            </a:pPr>
            <a:r>
              <a:rPr lang="en-US"/>
              <a:t>http://www.stellman-greene.com</a:t>
            </a:r>
          </a:p>
        </p:txBody>
      </p:sp>
      <p:sp>
        <p:nvSpPr>
          <p:cNvPr id="6" name="Slide Number Placeholder 5"/>
          <p:cNvSpPr>
            <a:spLocks noGrp="1"/>
          </p:cNvSpPr>
          <p:nvPr>
            <p:ph type="sldNum" sz="quarter" idx="12"/>
          </p:nvPr>
        </p:nvSpPr>
        <p:spPr/>
        <p:txBody>
          <a:bodyPr/>
          <a:lstStyle/>
          <a:p>
            <a:fld id="{116C4B90-003A-40F4-9B94-03991A5F45F7}" type="slidenum">
              <a:rPr lang="en-US" altLang="en-US" smtClean="0"/>
              <a:pPr/>
              <a:t>‹#›</a:t>
            </a:fld>
            <a:endParaRPr lang="en-US" altLang="en-US"/>
          </a:p>
        </p:txBody>
      </p:sp>
    </p:spTree>
    <p:extLst>
      <p:ext uri="{BB962C8B-B14F-4D97-AF65-F5344CB8AC3E}">
        <p14:creationId xmlns:p14="http://schemas.microsoft.com/office/powerpoint/2010/main" val="1100746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ED2EA9BF-BD15-40A3-976E-BA6B6B8F9EBD}" type="datetime1">
              <a:rPr lang="en-US" smtClean="0"/>
              <a:pPr>
                <a:defRPr/>
              </a:pPr>
              <a:t>2/17/2026</a:t>
            </a:fld>
            <a:endParaRPr lang="en-US"/>
          </a:p>
        </p:txBody>
      </p:sp>
      <p:sp>
        <p:nvSpPr>
          <p:cNvPr id="5" name="Footer Placeholder 4"/>
          <p:cNvSpPr>
            <a:spLocks noGrp="1"/>
          </p:cNvSpPr>
          <p:nvPr>
            <p:ph type="ftr" sz="quarter" idx="11"/>
          </p:nvPr>
        </p:nvSpPr>
        <p:spPr/>
        <p:txBody>
          <a:bodyPr/>
          <a:lstStyle/>
          <a:p>
            <a:pPr>
              <a:defRPr/>
            </a:pPr>
            <a:r>
              <a:rPr lang="en-US"/>
              <a:t>http://www.stellman-greene.com</a:t>
            </a:r>
          </a:p>
        </p:txBody>
      </p:sp>
      <p:sp>
        <p:nvSpPr>
          <p:cNvPr id="6" name="Slide Number Placeholder 5"/>
          <p:cNvSpPr>
            <a:spLocks noGrp="1"/>
          </p:cNvSpPr>
          <p:nvPr>
            <p:ph type="sldNum" sz="quarter" idx="12"/>
          </p:nvPr>
        </p:nvSpPr>
        <p:spPr/>
        <p:txBody>
          <a:bodyPr/>
          <a:lstStyle/>
          <a:p>
            <a:fld id="{90555190-837A-46C0-847D-2BCBA41B3E61}" type="slidenum">
              <a:rPr lang="en-US" altLang="en-US" smtClean="0"/>
              <a:pPr/>
              <a:t>‹#›</a:t>
            </a:fld>
            <a:endParaRPr lang="en-US" altLang="en-US"/>
          </a:p>
        </p:txBody>
      </p:sp>
    </p:spTree>
    <p:extLst>
      <p:ext uri="{BB962C8B-B14F-4D97-AF65-F5344CB8AC3E}">
        <p14:creationId xmlns:p14="http://schemas.microsoft.com/office/powerpoint/2010/main" val="27904063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5800" y="41148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7239000" y="6324600"/>
            <a:ext cx="1905000" cy="228600"/>
          </a:xfrm>
          <a:prstGeom prst="rect">
            <a:avLst/>
          </a:prstGeom>
        </p:spPr>
        <p:txBody>
          <a:bodyPr/>
          <a:lstStyle>
            <a:lvl1pPr eaLnBrk="1" hangingPunct="1">
              <a:defRPr/>
            </a:lvl1pPr>
          </a:lstStyle>
          <a:p>
            <a:pPr>
              <a:defRPr/>
            </a:pPr>
            <a:fld id="{7468579A-70C6-4EBA-94DC-43929D320F91}" type="datetime1">
              <a:rPr lang="en-US"/>
              <a:pPr>
                <a:defRPr/>
              </a:pPr>
              <a:t>2/17/2026</a:t>
            </a:fld>
            <a:endParaRPr lang="en-US"/>
          </a:p>
        </p:txBody>
      </p:sp>
      <p:sp>
        <p:nvSpPr>
          <p:cNvPr id="6" name="Footer Placeholder 5"/>
          <p:cNvSpPr>
            <a:spLocks noGrp="1"/>
          </p:cNvSpPr>
          <p:nvPr>
            <p:ph type="ftr" sz="quarter" idx="11"/>
          </p:nvPr>
        </p:nvSpPr>
        <p:spPr>
          <a:xfrm>
            <a:off x="0" y="6553200"/>
            <a:ext cx="3657600" cy="228600"/>
          </a:xfrm>
          <a:prstGeom prst="rect">
            <a:avLst/>
          </a:prstGeom>
        </p:spPr>
        <p:txBody>
          <a:bodyPr/>
          <a:lstStyle>
            <a:lvl1pPr eaLnBrk="1" hangingPunct="1">
              <a:defRPr/>
            </a:lvl1pPr>
          </a:lstStyle>
          <a:p>
            <a:pPr>
              <a:defRPr/>
            </a:pPr>
            <a:r>
              <a:rPr lang="en-US"/>
              <a:t>http://www.stellman-greene.com</a:t>
            </a:r>
          </a:p>
        </p:txBody>
      </p:sp>
      <p:sp>
        <p:nvSpPr>
          <p:cNvPr id="7" name="Slide Number Placeholder 6"/>
          <p:cNvSpPr>
            <a:spLocks noGrp="1"/>
          </p:cNvSpPr>
          <p:nvPr>
            <p:ph type="sldNum" sz="quarter" idx="12"/>
          </p:nvPr>
        </p:nvSpPr>
        <p:spPr/>
        <p:txBody>
          <a:bodyPr/>
          <a:lstStyle>
            <a:lvl1pPr>
              <a:defRPr/>
            </a:lvl1pPr>
          </a:lstStyle>
          <a:p>
            <a:fld id="{3C0C42BF-1DD1-443A-AF86-FE820336C288}" type="slidenum">
              <a:rPr lang="en-US" altLang="en-US"/>
              <a:pPr/>
              <a:t>‹#›</a:t>
            </a:fld>
            <a:endParaRPr lang="en-US" altLang="en-US"/>
          </a:p>
        </p:txBody>
      </p:sp>
    </p:spTree>
    <p:extLst>
      <p:ext uri="{BB962C8B-B14F-4D97-AF65-F5344CB8AC3E}">
        <p14:creationId xmlns:p14="http://schemas.microsoft.com/office/powerpoint/2010/main" val="38360912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DFF08F-DC6B-4601-B491-B0F83F6DD2DA}" type="datetimeFigureOut">
              <a:rPr lang="en-US" smtClean="0"/>
              <a:pPr/>
              <a:t>2/17/2026</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8FBDB7-1022-4C79-9D41-F4347C35C42E}" type="slidenum">
              <a:rPr lang="en-US" altLang="en-US" smtClean="0"/>
              <a:pPr/>
              <a:t>‹#›</a:t>
            </a:fld>
            <a:endParaRPr lang="en-US" altLang="en-US"/>
          </a:p>
        </p:txBody>
      </p:sp>
    </p:spTree>
    <p:extLst>
      <p:ext uri="{BB962C8B-B14F-4D97-AF65-F5344CB8AC3E}">
        <p14:creationId xmlns:p14="http://schemas.microsoft.com/office/powerpoint/2010/main" val="1958415443"/>
      </p:ext>
    </p:extLst>
  </p:cSld>
  <p:clrMap bg1="lt1" tx1="dk1" bg2="lt2" tx2="dk2" accent1="accent1" accent2="accent2" accent3="accent3" accent4="accent4" accent5="accent5" accent6="accent6" hlink="hlink" folHlink="folHlink"/>
  <p:sldLayoutIdLst>
    <p:sldLayoutId id="2147483872" r:id="rId1"/>
    <p:sldLayoutId id="2147483873" r:id="rId2"/>
    <p:sldLayoutId id="2147483874" r:id="rId3"/>
    <p:sldLayoutId id="2147483875" r:id="rId4"/>
    <p:sldLayoutId id="2147483876" r:id="rId5"/>
    <p:sldLayoutId id="2147483877" r:id="rId6"/>
    <p:sldLayoutId id="2147483878" r:id="rId7"/>
    <p:sldLayoutId id="2147483879" r:id="rId8"/>
    <p:sldLayoutId id="2147483880" r:id="rId9"/>
    <p:sldLayoutId id="2147483881" r:id="rId10"/>
    <p:sldLayoutId id="2147483882" r:id="rId11"/>
    <p:sldLayoutId id="2147483883"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ctrTitle"/>
          </p:nvPr>
        </p:nvSpPr>
        <p:spPr>
          <a:xfrm>
            <a:off x="685800" y="2286000"/>
            <a:ext cx="7772400" cy="2387600"/>
          </a:xfrm>
        </p:spPr>
        <p:txBody>
          <a:bodyPr>
            <a:normAutofit fontScale="90000"/>
          </a:bodyPr>
          <a:lstStyle/>
          <a:p>
            <a:pPr eaLnBrk="1" hangingPunct="1"/>
            <a:r>
              <a:rPr lang="en-US" altLang="en-US" b="1" dirty="0"/>
              <a:t>Software Project Estimation</a:t>
            </a:r>
            <a:br>
              <a:rPr lang="en-US" altLang="en-US" dirty="0"/>
            </a:br>
            <a:r>
              <a:rPr lang="en-US" altLang="en-US" dirty="0"/>
              <a:t>(wideband Delphi estimation technique)</a:t>
            </a:r>
          </a:p>
        </p:txBody>
      </p:sp>
      <p:sp>
        <p:nvSpPr>
          <p:cNvPr id="15362" name="Slide Number Placeholder 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sz="3200">
                <a:solidFill>
                  <a:srgbClr val="B8BBBF"/>
                </a:solidFill>
                <a:latin typeface="Arial" panose="020B0604020202020204" pitchFamily="34" charset="0"/>
              </a:defRPr>
            </a:lvl1pPr>
            <a:lvl2pPr marL="742950" indent="-285750">
              <a:spcBef>
                <a:spcPct val="20000"/>
              </a:spcBef>
              <a:buFont typeface="Wingdings 3" panose="05040102010807070707" pitchFamily="18" charset="2"/>
              <a:buChar char="w"/>
              <a:defRPr sz="2800">
                <a:solidFill>
                  <a:srgbClr val="B8BBBF"/>
                </a:solidFill>
                <a:latin typeface="Arial" panose="020B0604020202020204" pitchFamily="34" charset="0"/>
              </a:defRPr>
            </a:lvl2pPr>
            <a:lvl3pPr marL="1143000" indent="-228600">
              <a:spcBef>
                <a:spcPct val="20000"/>
              </a:spcBef>
              <a:buChar char="•"/>
              <a:defRPr sz="2400">
                <a:solidFill>
                  <a:srgbClr val="B8BBBF"/>
                </a:solidFill>
                <a:latin typeface="Arial" panose="020B0604020202020204" pitchFamily="34" charset="0"/>
              </a:defRPr>
            </a:lvl3pPr>
            <a:lvl4pPr marL="1600200" indent="-228600">
              <a:spcBef>
                <a:spcPct val="20000"/>
              </a:spcBef>
              <a:buChar char="–"/>
              <a:defRPr sz="2000">
                <a:solidFill>
                  <a:srgbClr val="B8BBBF"/>
                </a:solidFill>
                <a:latin typeface="Arial" panose="020B0604020202020204" pitchFamily="34" charset="0"/>
              </a:defRPr>
            </a:lvl4pPr>
            <a:lvl5pPr marL="2057400" indent="-228600">
              <a:spcBef>
                <a:spcPct val="20000"/>
              </a:spcBef>
              <a:buChar char="»"/>
              <a:defRPr sz="2000">
                <a:solidFill>
                  <a:srgbClr val="B8BBB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B8BBB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B8BBB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B8BBB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B8BBBF"/>
                </a:solidFill>
                <a:latin typeface="Arial" panose="020B0604020202020204" pitchFamily="34" charset="0"/>
              </a:defRPr>
            </a:lvl9pPr>
          </a:lstStyle>
          <a:p>
            <a:pPr>
              <a:spcBef>
                <a:spcPct val="0"/>
              </a:spcBef>
              <a:buFontTx/>
              <a:buNone/>
            </a:pPr>
            <a:fld id="{B6DABA02-21CD-4765-9EDB-540041BD3FB8}" type="slidenum">
              <a:rPr lang="en-US" altLang="en-US" sz="1400">
                <a:solidFill>
                  <a:srgbClr val="E62D33"/>
                </a:solidFill>
              </a:rPr>
              <a:pPr>
                <a:spcBef>
                  <a:spcPct val="0"/>
                </a:spcBef>
                <a:buFontTx/>
                <a:buNone/>
              </a:pPr>
              <a:t>1</a:t>
            </a:fld>
            <a:endParaRPr lang="en-US" altLang="en-US" sz="1400" dirty="0">
              <a:solidFill>
                <a:srgbClr val="E62D33"/>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723900" y="-152400"/>
            <a:ext cx="7772400" cy="971550"/>
          </a:xfrm>
        </p:spPr>
        <p:txBody>
          <a:bodyPr/>
          <a:lstStyle/>
          <a:p>
            <a:pPr eaLnBrk="1" hangingPunct="1"/>
            <a:r>
              <a:rPr lang="en-US" altLang="en-US" dirty="0"/>
              <a:t>What is Project Estimation?</a:t>
            </a:r>
          </a:p>
        </p:txBody>
      </p:sp>
      <p:sp>
        <p:nvSpPr>
          <p:cNvPr id="17412" name="Rectangle 3"/>
          <p:cNvSpPr>
            <a:spLocks noGrp="1" noChangeArrowheads="1"/>
          </p:cNvSpPr>
          <p:nvPr>
            <p:ph idx="1"/>
          </p:nvPr>
        </p:nvSpPr>
        <p:spPr>
          <a:xfrm>
            <a:off x="296863" y="762000"/>
            <a:ext cx="8550275" cy="5638800"/>
          </a:xfrm>
        </p:spPr>
        <p:txBody>
          <a:bodyPr>
            <a:normAutofit/>
          </a:bodyPr>
          <a:lstStyle/>
          <a:p>
            <a:pPr algn="just" eaLnBrk="1" hangingPunct="1">
              <a:defRPr/>
            </a:pPr>
            <a:r>
              <a:rPr lang="en-US" altLang="en-US" sz="2800" b="1" dirty="0"/>
              <a:t>How much will the project take in terms of time, cost, money and manpower?</a:t>
            </a:r>
          </a:p>
          <a:p>
            <a:pPr algn="just" eaLnBrk="1" hangingPunct="1">
              <a:defRPr/>
            </a:pPr>
            <a:endParaRPr lang="en-US" altLang="en-US" sz="2800" dirty="0"/>
          </a:p>
          <a:p>
            <a:pPr algn="just" eaLnBrk="1" hangingPunct="1">
              <a:defRPr/>
            </a:pPr>
            <a:r>
              <a:rPr lang="en-US" altLang="en-US" sz="2800" dirty="0"/>
              <a:t>For example, if we are designing a system . Following needs to be answered first,</a:t>
            </a:r>
          </a:p>
          <a:p>
            <a:pPr lvl="1" algn="just">
              <a:defRPr/>
            </a:pPr>
            <a:r>
              <a:rPr lang="en-US" altLang="en-US" dirty="0"/>
              <a:t>How many developers are needed?</a:t>
            </a:r>
          </a:p>
          <a:p>
            <a:pPr lvl="1" algn="just">
              <a:defRPr/>
            </a:pPr>
            <a:r>
              <a:rPr lang="en-US" altLang="en-US" dirty="0"/>
              <a:t>How many months will it take?</a:t>
            </a:r>
          </a:p>
          <a:p>
            <a:pPr lvl="1" algn="just">
              <a:defRPr/>
            </a:pPr>
            <a:r>
              <a:rPr lang="en-US" altLang="en-US" dirty="0"/>
              <a:t>What will be total project cist?</a:t>
            </a:r>
          </a:p>
          <a:p>
            <a:pPr lvl="1" algn="just">
              <a:defRPr/>
            </a:pPr>
            <a:r>
              <a:rPr lang="en-US" altLang="en-US" dirty="0"/>
              <a:t>What tools or infrastructure is needed?</a:t>
            </a:r>
          </a:p>
          <a:p>
            <a:pPr marL="457200" lvl="1" indent="0" algn="just">
              <a:buNone/>
              <a:defRPr/>
            </a:pPr>
            <a:endParaRPr lang="en-US" altLang="en-US" sz="2400" b="1" dirty="0"/>
          </a:p>
          <a:p>
            <a:pPr algn="just" eaLnBrk="1" hangingPunct="1">
              <a:defRPr/>
            </a:pPr>
            <a:r>
              <a:rPr lang="en-US" altLang="en-US" sz="2800" dirty="0"/>
              <a:t>After that project manager put forward the proposal for acceptance.</a:t>
            </a:r>
          </a:p>
          <a:p>
            <a:pPr algn="just" eaLnBrk="1" hangingPunct="1">
              <a:defRPr/>
            </a:pPr>
            <a:endParaRPr lang="en-US" altLang="en-US" sz="2800" b="1" dirty="0"/>
          </a:p>
          <a:p>
            <a:pPr algn="just" eaLnBrk="1" hangingPunct="1">
              <a:defRPr/>
            </a:pPr>
            <a:endParaRPr lang="en-US" altLang="en-US" sz="2400" b="1" dirty="0"/>
          </a:p>
          <a:p>
            <a:pPr algn="just" eaLnBrk="1" hangingPunct="1">
              <a:defRPr/>
            </a:pPr>
            <a:endParaRPr lang="en-US" altLang="en-US" sz="2400" b="1" dirty="0"/>
          </a:p>
          <a:p>
            <a:pPr algn="just" eaLnBrk="1" hangingPunct="1">
              <a:defRPr/>
            </a:pPr>
            <a:endParaRPr lang="en-US" altLang="en-US" sz="2400" b="1" dirty="0"/>
          </a:p>
          <a:p>
            <a:pPr marL="457200" lvl="1" indent="0" algn="just" eaLnBrk="1" hangingPunct="1">
              <a:buFont typeface="Wingdings 3" panose="05040102010807070707" pitchFamily="18" charset="2"/>
              <a:buNone/>
              <a:defRPr/>
            </a:pPr>
            <a:endParaRPr lang="en-US" altLang="en-US" sz="2400" b="1" dirty="0"/>
          </a:p>
          <a:p>
            <a:pPr marL="457200" lvl="1" indent="0" algn="just" eaLnBrk="1" hangingPunct="1">
              <a:buFont typeface="Wingdings 3" panose="05040102010807070707" pitchFamily="18" charset="2"/>
              <a:buNone/>
              <a:defRPr/>
            </a:pPr>
            <a:endParaRPr lang="en-US" altLang="en-US" sz="2400" dirty="0"/>
          </a:p>
          <a:p>
            <a:pPr algn="just" eaLnBrk="1" hangingPunct="1">
              <a:defRPr/>
            </a:pPr>
            <a:endParaRPr lang="en-US" altLang="en-US" sz="2800" dirty="0"/>
          </a:p>
        </p:txBody>
      </p:sp>
      <p:sp>
        <p:nvSpPr>
          <p:cNvPr id="17410" name="Slide Number Placeholder 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sz="3200">
                <a:solidFill>
                  <a:srgbClr val="B8BBBF"/>
                </a:solidFill>
                <a:latin typeface="Arial" panose="020B0604020202020204" pitchFamily="34" charset="0"/>
              </a:defRPr>
            </a:lvl1pPr>
            <a:lvl2pPr marL="742950" indent="-285750">
              <a:spcBef>
                <a:spcPct val="20000"/>
              </a:spcBef>
              <a:buFont typeface="Wingdings 3" panose="05040102010807070707" pitchFamily="18" charset="2"/>
              <a:buChar char="w"/>
              <a:defRPr sz="2800">
                <a:solidFill>
                  <a:srgbClr val="B8BBBF"/>
                </a:solidFill>
                <a:latin typeface="Arial" panose="020B0604020202020204" pitchFamily="34" charset="0"/>
              </a:defRPr>
            </a:lvl2pPr>
            <a:lvl3pPr marL="1143000" indent="-228600">
              <a:spcBef>
                <a:spcPct val="20000"/>
              </a:spcBef>
              <a:buChar char="•"/>
              <a:defRPr sz="2400">
                <a:solidFill>
                  <a:srgbClr val="B8BBBF"/>
                </a:solidFill>
                <a:latin typeface="Arial" panose="020B0604020202020204" pitchFamily="34" charset="0"/>
              </a:defRPr>
            </a:lvl3pPr>
            <a:lvl4pPr marL="1600200" indent="-228600">
              <a:spcBef>
                <a:spcPct val="20000"/>
              </a:spcBef>
              <a:buChar char="–"/>
              <a:defRPr sz="2000">
                <a:solidFill>
                  <a:srgbClr val="B8BBBF"/>
                </a:solidFill>
                <a:latin typeface="Arial" panose="020B0604020202020204" pitchFamily="34" charset="0"/>
              </a:defRPr>
            </a:lvl4pPr>
            <a:lvl5pPr marL="2057400" indent="-228600">
              <a:spcBef>
                <a:spcPct val="20000"/>
              </a:spcBef>
              <a:buChar char="»"/>
              <a:defRPr sz="2000">
                <a:solidFill>
                  <a:srgbClr val="B8BBB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B8BBB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B8BBB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B8BBB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B8BBBF"/>
                </a:solidFill>
                <a:latin typeface="Arial" panose="020B0604020202020204" pitchFamily="34" charset="0"/>
              </a:defRPr>
            </a:lvl9pPr>
          </a:lstStyle>
          <a:p>
            <a:pPr>
              <a:spcBef>
                <a:spcPct val="0"/>
              </a:spcBef>
              <a:buFontTx/>
              <a:buNone/>
            </a:pPr>
            <a:fld id="{82EB639F-A427-4597-B650-C5B8C0FC1E76}" type="slidenum">
              <a:rPr lang="en-US" altLang="en-US" sz="1400">
                <a:solidFill>
                  <a:srgbClr val="E62D33"/>
                </a:solidFill>
              </a:rPr>
              <a:pPr>
                <a:spcBef>
                  <a:spcPct val="0"/>
                </a:spcBef>
                <a:buFontTx/>
                <a:buNone/>
              </a:pPr>
              <a:t>2</a:t>
            </a:fld>
            <a:endParaRPr lang="en-US" altLang="en-US" sz="1400">
              <a:solidFill>
                <a:srgbClr val="E62D33"/>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2D18A-C9FA-D693-4540-774601E8D912}"/>
            </a:ext>
          </a:extLst>
        </p:cNvPr>
        <p:cNvGrpSpPr/>
        <p:nvPr/>
      </p:nvGrpSpPr>
      <p:grpSpPr>
        <a:xfrm>
          <a:off x="0" y="0"/>
          <a:ext cx="0" cy="0"/>
          <a:chOff x="0" y="0"/>
          <a:chExt cx="0" cy="0"/>
        </a:xfrm>
      </p:grpSpPr>
      <p:sp>
        <p:nvSpPr>
          <p:cNvPr id="17411" name="Rectangle 2">
            <a:extLst>
              <a:ext uri="{FF2B5EF4-FFF2-40B4-BE49-F238E27FC236}">
                <a16:creationId xmlns:a16="http://schemas.microsoft.com/office/drawing/2014/main" id="{54CCE696-F92C-C1EA-0A18-497BDA226FD8}"/>
              </a:ext>
            </a:extLst>
          </p:cNvPr>
          <p:cNvSpPr>
            <a:spLocks noGrp="1" noChangeArrowheads="1"/>
          </p:cNvSpPr>
          <p:nvPr>
            <p:ph type="title"/>
          </p:nvPr>
        </p:nvSpPr>
        <p:spPr>
          <a:xfrm>
            <a:off x="723900" y="-152400"/>
            <a:ext cx="7772400" cy="971550"/>
          </a:xfrm>
        </p:spPr>
        <p:txBody>
          <a:bodyPr/>
          <a:lstStyle/>
          <a:p>
            <a:pPr eaLnBrk="1" hangingPunct="1"/>
            <a:r>
              <a:rPr lang="en-US" altLang="en-US" dirty="0"/>
              <a:t>Need for Project Estimation</a:t>
            </a:r>
          </a:p>
        </p:txBody>
      </p:sp>
      <p:sp>
        <p:nvSpPr>
          <p:cNvPr id="17412" name="Rectangle 3">
            <a:extLst>
              <a:ext uri="{FF2B5EF4-FFF2-40B4-BE49-F238E27FC236}">
                <a16:creationId xmlns:a16="http://schemas.microsoft.com/office/drawing/2014/main" id="{74DB17B2-8739-5D2F-5504-75B9AC347ABF}"/>
              </a:ext>
            </a:extLst>
          </p:cNvPr>
          <p:cNvSpPr>
            <a:spLocks noGrp="1" noChangeArrowheads="1"/>
          </p:cNvSpPr>
          <p:nvPr>
            <p:ph idx="1"/>
          </p:nvPr>
        </p:nvSpPr>
        <p:spPr>
          <a:xfrm>
            <a:off x="296863" y="762000"/>
            <a:ext cx="8550275" cy="5638800"/>
          </a:xfrm>
        </p:spPr>
        <p:txBody>
          <a:bodyPr>
            <a:normAutofit/>
          </a:bodyPr>
          <a:lstStyle/>
          <a:p>
            <a:pPr lvl="1" algn="just">
              <a:defRPr/>
            </a:pPr>
            <a:r>
              <a:rPr lang="en-US" altLang="en-US" sz="3200" dirty="0"/>
              <a:t>Budget planning</a:t>
            </a:r>
          </a:p>
          <a:p>
            <a:pPr lvl="1" algn="just">
              <a:defRPr/>
            </a:pPr>
            <a:r>
              <a:rPr lang="en-US" altLang="en-US" sz="3200" dirty="0"/>
              <a:t>Time scheduling</a:t>
            </a:r>
          </a:p>
          <a:p>
            <a:pPr lvl="1" algn="just">
              <a:defRPr/>
            </a:pPr>
            <a:r>
              <a:rPr lang="en-US" altLang="en-US" sz="3200" dirty="0"/>
              <a:t>Resource allocation</a:t>
            </a:r>
          </a:p>
          <a:p>
            <a:pPr lvl="1" algn="just">
              <a:defRPr/>
            </a:pPr>
            <a:r>
              <a:rPr lang="en-US" altLang="en-US" sz="3200" dirty="0"/>
              <a:t>Risk management</a:t>
            </a:r>
          </a:p>
          <a:p>
            <a:pPr lvl="1" algn="just">
              <a:defRPr/>
            </a:pPr>
            <a:r>
              <a:rPr lang="en-US" altLang="en-US" sz="3200" dirty="0"/>
              <a:t>Stake holders’ communication</a:t>
            </a:r>
          </a:p>
          <a:p>
            <a:pPr lvl="1" algn="just">
              <a:defRPr/>
            </a:pPr>
            <a:r>
              <a:rPr lang="en-US" altLang="en-US" sz="3200" dirty="0"/>
              <a:t>Project feasibility analysis</a:t>
            </a:r>
          </a:p>
          <a:p>
            <a:pPr algn="just" eaLnBrk="1" hangingPunct="1">
              <a:defRPr/>
            </a:pPr>
            <a:endParaRPr lang="en-US" altLang="en-US" sz="2400" b="1" dirty="0"/>
          </a:p>
          <a:p>
            <a:pPr algn="just" eaLnBrk="1" hangingPunct="1">
              <a:defRPr/>
            </a:pPr>
            <a:endParaRPr lang="en-US" altLang="en-US" sz="2400" b="1" dirty="0"/>
          </a:p>
          <a:p>
            <a:pPr algn="just" eaLnBrk="1" hangingPunct="1">
              <a:defRPr/>
            </a:pPr>
            <a:endParaRPr lang="en-US" altLang="en-US" sz="2400" b="1" dirty="0"/>
          </a:p>
          <a:p>
            <a:pPr marL="457200" lvl="1" indent="0" algn="just" eaLnBrk="1" hangingPunct="1">
              <a:buFont typeface="Wingdings 3" panose="05040102010807070707" pitchFamily="18" charset="2"/>
              <a:buNone/>
              <a:defRPr/>
            </a:pPr>
            <a:endParaRPr lang="en-US" altLang="en-US" sz="2400" b="1" dirty="0"/>
          </a:p>
          <a:p>
            <a:pPr marL="457200" lvl="1" indent="0" algn="just" eaLnBrk="1" hangingPunct="1">
              <a:buFont typeface="Wingdings 3" panose="05040102010807070707" pitchFamily="18" charset="2"/>
              <a:buNone/>
              <a:defRPr/>
            </a:pPr>
            <a:endParaRPr lang="en-US" altLang="en-US" sz="2400" dirty="0"/>
          </a:p>
          <a:p>
            <a:pPr algn="just" eaLnBrk="1" hangingPunct="1">
              <a:defRPr/>
            </a:pPr>
            <a:endParaRPr lang="en-US" altLang="en-US" sz="2800" dirty="0"/>
          </a:p>
        </p:txBody>
      </p:sp>
      <p:sp>
        <p:nvSpPr>
          <p:cNvPr id="17410" name="Slide Number Placeholder 5">
            <a:extLst>
              <a:ext uri="{FF2B5EF4-FFF2-40B4-BE49-F238E27FC236}">
                <a16:creationId xmlns:a16="http://schemas.microsoft.com/office/drawing/2014/main" id="{A997BB4A-B651-1030-26E0-CA59E4FA8D8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sz="3200">
                <a:solidFill>
                  <a:srgbClr val="B8BBBF"/>
                </a:solidFill>
                <a:latin typeface="Arial" panose="020B0604020202020204" pitchFamily="34" charset="0"/>
              </a:defRPr>
            </a:lvl1pPr>
            <a:lvl2pPr marL="742950" indent="-285750">
              <a:spcBef>
                <a:spcPct val="20000"/>
              </a:spcBef>
              <a:buFont typeface="Wingdings 3" panose="05040102010807070707" pitchFamily="18" charset="2"/>
              <a:buChar char="w"/>
              <a:defRPr sz="2800">
                <a:solidFill>
                  <a:srgbClr val="B8BBBF"/>
                </a:solidFill>
                <a:latin typeface="Arial" panose="020B0604020202020204" pitchFamily="34" charset="0"/>
              </a:defRPr>
            </a:lvl2pPr>
            <a:lvl3pPr marL="1143000" indent="-228600">
              <a:spcBef>
                <a:spcPct val="20000"/>
              </a:spcBef>
              <a:buChar char="•"/>
              <a:defRPr sz="2400">
                <a:solidFill>
                  <a:srgbClr val="B8BBBF"/>
                </a:solidFill>
                <a:latin typeface="Arial" panose="020B0604020202020204" pitchFamily="34" charset="0"/>
              </a:defRPr>
            </a:lvl3pPr>
            <a:lvl4pPr marL="1600200" indent="-228600">
              <a:spcBef>
                <a:spcPct val="20000"/>
              </a:spcBef>
              <a:buChar char="–"/>
              <a:defRPr sz="2000">
                <a:solidFill>
                  <a:srgbClr val="B8BBBF"/>
                </a:solidFill>
                <a:latin typeface="Arial" panose="020B0604020202020204" pitchFamily="34" charset="0"/>
              </a:defRPr>
            </a:lvl4pPr>
            <a:lvl5pPr marL="2057400" indent="-228600">
              <a:spcBef>
                <a:spcPct val="20000"/>
              </a:spcBef>
              <a:buChar char="»"/>
              <a:defRPr sz="2000">
                <a:solidFill>
                  <a:srgbClr val="B8BBB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B8BBB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B8BBB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B8BBB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B8BBBF"/>
                </a:solidFill>
                <a:latin typeface="Arial" panose="020B0604020202020204" pitchFamily="34" charset="0"/>
              </a:defRPr>
            </a:lvl9pPr>
          </a:lstStyle>
          <a:p>
            <a:pPr>
              <a:spcBef>
                <a:spcPct val="0"/>
              </a:spcBef>
              <a:buFontTx/>
              <a:buNone/>
            </a:pPr>
            <a:fld id="{82EB639F-A427-4597-B650-C5B8C0FC1E76}" type="slidenum">
              <a:rPr lang="en-US" altLang="en-US" sz="1400">
                <a:solidFill>
                  <a:srgbClr val="E62D33"/>
                </a:solidFill>
              </a:rPr>
              <a:pPr>
                <a:spcBef>
                  <a:spcPct val="0"/>
                </a:spcBef>
                <a:buFontTx/>
                <a:buNone/>
              </a:pPr>
              <a:t>3</a:t>
            </a:fld>
            <a:endParaRPr lang="en-US" altLang="en-US" sz="1400">
              <a:solidFill>
                <a:srgbClr val="E62D33"/>
              </a:solidFill>
            </a:endParaRPr>
          </a:p>
        </p:txBody>
      </p:sp>
    </p:spTree>
    <p:extLst>
      <p:ext uri="{BB962C8B-B14F-4D97-AF65-F5344CB8AC3E}">
        <p14:creationId xmlns:p14="http://schemas.microsoft.com/office/powerpoint/2010/main" val="36314663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E8E7C-8955-8DEE-AC5F-A8F95F00844F}"/>
            </a:ext>
          </a:extLst>
        </p:cNvPr>
        <p:cNvGrpSpPr/>
        <p:nvPr/>
      </p:nvGrpSpPr>
      <p:grpSpPr>
        <a:xfrm>
          <a:off x="0" y="0"/>
          <a:ext cx="0" cy="0"/>
          <a:chOff x="0" y="0"/>
          <a:chExt cx="0" cy="0"/>
        </a:xfrm>
      </p:grpSpPr>
      <p:sp>
        <p:nvSpPr>
          <p:cNvPr id="17411" name="Rectangle 2">
            <a:extLst>
              <a:ext uri="{FF2B5EF4-FFF2-40B4-BE49-F238E27FC236}">
                <a16:creationId xmlns:a16="http://schemas.microsoft.com/office/drawing/2014/main" id="{8FA59786-DD3B-CB18-08E5-7B153B71574D}"/>
              </a:ext>
            </a:extLst>
          </p:cNvPr>
          <p:cNvSpPr>
            <a:spLocks noGrp="1" noChangeArrowheads="1"/>
          </p:cNvSpPr>
          <p:nvPr>
            <p:ph type="title"/>
          </p:nvPr>
        </p:nvSpPr>
        <p:spPr>
          <a:xfrm>
            <a:off x="723900" y="-152400"/>
            <a:ext cx="7772400" cy="971550"/>
          </a:xfrm>
        </p:spPr>
        <p:txBody>
          <a:bodyPr/>
          <a:lstStyle/>
          <a:p>
            <a:pPr eaLnBrk="1" hangingPunct="1"/>
            <a:r>
              <a:rPr lang="en-US" altLang="en-US" dirty="0"/>
              <a:t>Need for Project Estimation</a:t>
            </a:r>
          </a:p>
        </p:txBody>
      </p:sp>
      <p:sp>
        <p:nvSpPr>
          <p:cNvPr id="17412" name="Rectangle 3">
            <a:extLst>
              <a:ext uri="{FF2B5EF4-FFF2-40B4-BE49-F238E27FC236}">
                <a16:creationId xmlns:a16="http://schemas.microsoft.com/office/drawing/2014/main" id="{58E6E52C-36DE-6DF8-30FC-2432A544556A}"/>
              </a:ext>
            </a:extLst>
          </p:cNvPr>
          <p:cNvSpPr>
            <a:spLocks noGrp="1" noChangeArrowheads="1"/>
          </p:cNvSpPr>
          <p:nvPr>
            <p:ph idx="1"/>
          </p:nvPr>
        </p:nvSpPr>
        <p:spPr>
          <a:xfrm>
            <a:off x="296863" y="762000"/>
            <a:ext cx="8550275" cy="5638800"/>
          </a:xfrm>
        </p:spPr>
        <p:txBody>
          <a:bodyPr>
            <a:normAutofit fontScale="92500" lnSpcReduction="10000"/>
          </a:bodyPr>
          <a:lstStyle/>
          <a:p>
            <a:pPr marL="0" indent="0" algn="just">
              <a:buNone/>
              <a:defRPr/>
            </a:pPr>
            <a:r>
              <a:rPr lang="en-US" altLang="en-US" sz="3600" dirty="0"/>
              <a:t>Let’s say a team is building an LMS:</a:t>
            </a:r>
          </a:p>
          <a:p>
            <a:pPr marL="0" indent="0" algn="just">
              <a:buNone/>
              <a:defRPr/>
            </a:pPr>
            <a:endParaRPr lang="en-US" altLang="en-US" sz="3600" dirty="0"/>
          </a:p>
          <a:p>
            <a:pPr marL="457200" lvl="1" indent="0" algn="just">
              <a:buNone/>
              <a:defRPr/>
            </a:pPr>
            <a:r>
              <a:rPr lang="en-US" altLang="en-US" sz="3200" u="sng" dirty="0"/>
              <a:t>Without estimation,</a:t>
            </a:r>
          </a:p>
          <a:p>
            <a:pPr lvl="2" algn="just">
              <a:defRPr/>
            </a:pPr>
            <a:r>
              <a:rPr lang="en-US" altLang="en-US" sz="2800" dirty="0"/>
              <a:t>Deadlines might be unrealistic</a:t>
            </a:r>
          </a:p>
          <a:p>
            <a:pPr lvl="2" algn="just">
              <a:defRPr/>
            </a:pPr>
            <a:r>
              <a:rPr lang="en-US" altLang="en-US" sz="2800" dirty="0"/>
              <a:t>Budget may exceed its limits</a:t>
            </a:r>
          </a:p>
          <a:p>
            <a:pPr lvl="2" algn="just">
              <a:defRPr/>
            </a:pPr>
            <a:r>
              <a:rPr lang="en-US" altLang="en-US" sz="2800" dirty="0"/>
              <a:t>Team might be insufficient</a:t>
            </a:r>
            <a:endParaRPr lang="en-US" altLang="en-US" sz="3200" dirty="0"/>
          </a:p>
          <a:p>
            <a:pPr marL="457200" lvl="1" indent="0" algn="just">
              <a:buNone/>
              <a:defRPr/>
            </a:pPr>
            <a:r>
              <a:rPr lang="en-US" altLang="en-US" sz="3200" u="sng" dirty="0"/>
              <a:t>With estimation</a:t>
            </a:r>
          </a:p>
          <a:p>
            <a:pPr lvl="2" algn="just">
              <a:defRPr/>
            </a:pPr>
            <a:r>
              <a:rPr lang="en-US" altLang="en-US" sz="2800" dirty="0"/>
              <a:t>Effort=1200 person-hours (1 person working for an hours)</a:t>
            </a:r>
          </a:p>
          <a:p>
            <a:pPr lvl="2" algn="just">
              <a:defRPr/>
            </a:pPr>
            <a:r>
              <a:rPr lang="en-US" altLang="en-US" sz="2800" dirty="0"/>
              <a:t>Duration = 4months</a:t>
            </a:r>
          </a:p>
          <a:p>
            <a:pPr lvl="2" algn="just">
              <a:defRPr/>
            </a:pPr>
            <a:r>
              <a:rPr lang="en-US" altLang="en-US" sz="2800" dirty="0"/>
              <a:t>Cost= PKR 1,200,000</a:t>
            </a:r>
          </a:p>
          <a:p>
            <a:pPr lvl="2" algn="just">
              <a:defRPr/>
            </a:pPr>
            <a:r>
              <a:rPr lang="en-US" altLang="en-US" sz="2800" dirty="0"/>
              <a:t>Team = 4 developers + 1 tester</a:t>
            </a:r>
          </a:p>
          <a:p>
            <a:pPr marL="0" indent="0" algn="just">
              <a:buNone/>
              <a:defRPr/>
            </a:pPr>
            <a:r>
              <a:rPr lang="en-US" altLang="en-US" sz="3600" dirty="0"/>
              <a:t>Now, planning is structured and controlled.</a:t>
            </a:r>
            <a:endParaRPr lang="en-US" altLang="en-US" sz="2400" b="1" dirty="0"/>
          </a:p>
          <a:p>
            <a:pPr marL="457200" lvl="1" indent="0" algn="just" eaLnBrk="1" hangingPunct="1">
              <a:buFont typeface="Wingdings 3" panose="05040102010807070707" pitchFamily="18" charset="2"/>
              <a:buNone/>
              <a:defRPr/>
            </a:pPr>
            <a:endParaRPr lang="en-US" altLang="en-US" sz="2400" b="1" dirty="0"/>
          </a:p>
          <a:p>
            <a:pPr marL="457200" lvl="1" indent="0" algn="just" eaLnBrk="1" hangingPunct="1">
              <a:buFont typeface="Wingdings 3" panose="05040102010807070707" pitchFamily="18" charset="2"/>
              <a:buNone/>
              <a:defRPr/>
            </a:pPr>
            <a:endParaRPr lang="en-US" altLang="en-US" sz="2400" dirty="0"/>
          </a:p>
          <a:p>
            <a:pPr algn="just" eaLnBrk="1" hangingPunct="1">
              <a:defRPr/>
            </a:pPr>
            <a:endParaRPr lang="en-US" altLang="en-US" sz="2800" dirty="0"/>
          </a:p>
        </p:txBody>
      </p:sp>
      <p:sp>
        <p:nvSpPr>
          <p:cNvPr id="17410" name="Slide Number Placeholder 5">
            <a:extLst>
              <a:ext uri="{FF2B5EF4-FFF2-40B4-BE49-F238E27FC236}">
                <a16:creationId xmlns:a16="http://schemas.microsoft.com/office/drawing/2014/main" id="{BE975850-078F-176B-E7E8-A11F2B5EFB9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sz="3200">
                <a:solidFill>
                  <a:srgbClr val="B8BBBF"/>
                </a:solidFill>
                <a:latin typeface="Arial" panose="020B0604020202020204" pitchFamily="34" charset="0"/>
              </a:defRPr>
            </a:lvl1pPr>
            <a:lvl2pPr marL="742950" indent="-285750">
              <a:spcBef>
                <a:spcPct val="20000"/>
              </a:spcBef>
              <a:buFont typeface="Wingdings 3" panose="05040102010807070707" pitchFamily="18" charset="2"/>
              <a:buChar char="w"/>
              <a:defRPr sz="2800">
                <a:solidFill>
                  <a:srgbClr val="B8BBBF"/>
                </a:solidFill>
                <a:latin typeface="Arial" panose="020B0604020202020204" pitchFamily="34" charset="0"/>
              </a:defRPr>
            </a:lvl2pPr>
            <a:lvl3pPr marL="1143000" indent="-228600">
              <a:spcBef>
                <a:spcPct val="20000"/>
              </a:spcBef>
              <a:buChar char="•"/>
              <a:defRPr sz="2400">
                <a:solidFill>
                  <a:srgbClr val="B8BBBF"/>
                </a:solidFill>
                <a:latin typeface="Arial" panose="020B0604020202020204" pitchFamily="34" charset="0"/>
              </a:defRPr>
            </a:lvl3pPr>
            <a:lvl4pPr marL="1600200" indent="-228600">
              <a:spcBef>
                <a:spcPct val="20000"/>
              </a:spcBef>
              <a:buChar char="–"/>
              <a:defRPr sz="2000">
                <a:solidFill>
                  <a:srgbClr val="B8BBBF"/>
                </a:solidFill>
                <a:latin typeface="Arial" panose="020B0604020202020204" pitchFamily="34" charset="0"/>
              </a:defRPr>
            </a:lvl4pPr>
            <a:lvl5pPr marL="2057400" indent="-228600">
              <a:spcBef>
                <a:spcPct val="20000"/>
              </a:spcBef>
              <a:buChar char="»"/>
              <a:defRPr sz="2000">
                <a:solidFill>
                  <a:srgbClr val="B8BBB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B8BBB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B8BBB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B8BBB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B8BBBF"/>
                </a:solidFill>
                <a:latin typeface="Arial" panose="020B0604020202020204" pitchFamily="34" charset="0"/>
              </a:defRPr>
            </a:lvl9pPr>
          </a:lstStyle>
          <a:p>
            <a:pPr>
              <a:spcBef>
                <a:spcPct val="0"/>
              </a:spcBef>
              <a:buFontTx/>
              <a:buNone/>
            </a:pPr>
            <a:fld id="{82EB639F-A427-4597-B650-C5B8C0FC1E76}" type="slidenum">
              <a:rPr lang="en-US" altLang="en-US" sz="1400">
                <a:solidFill>
                  <a:srgbClr val="E62D33"/>
                </a:solidFill>
              </a:rPr>
              <a:pPr>
                <a:spcBef>
                  <a:spcPct val="0"/>
                </a:spcBef>
                <a:buFontTx/>
                <a:buNone/>
              </a:pPr>
              <a:t>4</a:t>
            </a:fld>
            <a:endParaRPr lang="en-US" altLang="en-US" sz="1400">
              <a:solidFill>
                <a:srgbClr val="E62D33"/>
              </a:solidFill>
            </a:endParaRPr>
          </a:p>
        </p:txBody>
      </p:sp>
    </p:spTree>
    <p:extLst>
      <p:ext uri="{BB962C8B-B14F-4D97-AF65-F5344CB8AC3E}">
        <p14:creationId xmlns:p14="http://schemas.microsoft.com/office/powerpoint/2010/main" val="897165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6F33E-A564-33B1-F7C9-7487C9578039}"/>
            </a:ext>
          </a:extLst>
        </p:cNvPr>
        <p:cNvGrpSpPr/>
        <p:nvPr/>
      </p:nvGrpSpPr>
      <p:grpSpPr>
        <a:xfrm>
          <a:off x="0" y="0"/>
          <a:ext cx="0" cy="0"/>
          <a:chOff x="0" y="0"/>
          <a:chExt cx="0" cy="0"/>
        </a:xfrm>
      </p:grpSpPr>
      <p:sp>
        <p:nvSpPr>
          <p:cNvPr id="17411" name="Rectangle 2">
            <a:extLst>
              <a:ext uri="{FF2B5EF4-FFF2-40B4-BE49-F238E27FC236}">
                <a16:creationId xmlns:a16="http://schemas.microsoft.com/office/drawing/2014/main" id="{11B2CADA-9704-BBFB-E300-1BF30179A864}"/>
              </a:ext>
            </a:extLst>
          </p:cNvPr>
          <p:cNvSpPr>
            <a:spLocks noGrp="1" noChangeArrowheads="1"/>
          </p:cNvSpPr>
          <p:nvPr>
            <p:ph type="title"/>
          </p:nvPr>
        </p:nvSpPr>
        <p:spPr>
          <a:xfrm>
            <a:off x="723900" y="-152400"/>
            <a:ext cx="7772400" cy="971550"/>
          </a:xfrm>
        </p:spPr>
        <p:txBody>
          <a:bodyPr>
            <a:normAutofit/>
          </a:bodyPr>
          <a:lstStyle/>
          <a:p>
            <a:pPr eaLnBrk="1" hangingPunct="1"/>
            <a:r>
              <a:rPr lang="en-US" altLang="en-US" dirty="0"/>
              <a:t>Estimation techniques</a:t>
            </a:r>
          </a:p>
        </p:txBody>
      </p:sp>
      <p:sp>
        <p:nvSpPr>
          <p:cNvPr id="17412" name="Rectangle 3">
            <a:extLst>
              <a:ext uri="{FF2B5EF4-FFF2-40B4-BE49-F238E27FC236}">
                <a16:creationId xmlns:a16="http://schemas.microsoft.com/office/drawing/2014/main" id="{E769A2A2-DC3D-3E48-10BC-E4A04AD8C504}"/>
              </a:ext>
            </a:extLst>
          </p:cNvPr>
          <p:cNvSpPr>
            <a:spLocks noGrp="1" noChangeArrowheads="1"/>
          </p:cNvSpPr>
          <p:nvPr>
            <p:ph idx="1"/>
          </p:nvPr>
        </p:nvSpPr>
        <p:spPr>
          <a:xfrm>
            <a:off x="296863" y="762000"/>
            <a:ext cx="8550275" cy="5638800"/>
          </a:xfrm>
        </p:spPr>
        <p:txBody>
          <a:bodyPr>
            <a:normAutofit/>
          </a:bodyPr>
          <a:lstStyle/>
          <a:p>
            <a:pPr lvl="1" algn="just">
              <a:defRPr/>
            </a:pPr>
            <a:r>
              <a:rPr lang="en-US" altLang="en-US" sz="2400" b="1" dirty="0"/>
              <a:t>COCOMO</a:t>
            </a:r>
          </a:p>
          <a:p>
            <a:pPr lvl="1" algn="just">
              <a:defRPr/>
            </a:pPr>
            <a:r>
              <a:rPr lang="en-US" altLang="en-US" b="1" dirty="0"/>
              <a:t>Wideband </a:t>
            </a:r>
            <a:r>
              <a:rPr lang="en-US" altLang="en-US" b="1" dirty="0" err="1"/>
              <a:t>delphi</a:t>
            </a:r>
            <a:r>
              <a:rPr lang="en-US" altLang="en-US" b="1" dirty="0"/>
              <a:t> estimation</a:t>
            </a:r>
          </a:p>
          <a:p>
            <a:pPr lvl="1" algn="just">
              <a:defRPr/>
            </a:pPr>
            <a:r>
              <a:rPr lang="en-US" altLang="en-US" sz="2400" b="1" dirty="0"/>
              <a:t>Functional points estimation</a:t>
            </a:r>
          </a:p>
          <a:p>
            <a:pPr lvl="1" algn="just">
              <a:defRPr/>
            </a:pPr>
            <a:r>
              <a:rPr lang="en-US" altLang="en-US" b="1" dirty="0"/>
              <a:t>LOC estimation</a:t>
            </a:r>
          </a:p>
          <a:p>
            <a:pPr lvl="1" algn="just">
              <a:defRPr/>
            </a:pPr>
            <a:endParaRPr lang="en-US" altLang="en-US" sz="2400" b="1" dirty="0"/>
          </a:p>
          <a:p>
            <a:pPr marL="457200" lvl="1" indent="0" algn="just" eaLnBrk="1" hangingPunct="1">
              <a:buFont typeface="Wingdings 3" panose="05040102010807070707" pitchFamily="18" charset="2"/>
              <a:buNone/>
              <a:defRPr/>
            </a:pPr>
            <a:endParaRPr lang="en-US" altLang="en-US" sz="2400" dirty="0"/>
          </a:p>
          <a:p>
            <a:pPr algn="just" eaLnBrk="1" hangingPunct="1">
              <a:defRPr/>
            </a:pPr>
            <a:endParaRPr lang="en-US" altLang="en-US" sz="2800" dirty="0"/>
          </a:p>
        </p:txBody>
      </p:sp>
      <p:sp>
        <p:nvSpPr>
          <p:cNvPr id="17410" name="Slide Number Placeholder 5">
            <a:extLst>
              <a:ext uri="{FF2B5EF4-FFF2-40B4-BE49-F238E27FC236}">
                <a16:creationId xmlns:a16="http://schemas.microsoft.com/office/drawing/2014/main" id="{A5DE201A-69E2-D40F-78EA-2AAD6356321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sz="3200">
                <a:solidFill>
                  <a:srgbClr val="B8BBBF"/>
                </a:solidFill>
                <a:latin typeface="Arial" panose="020B0604020202020204" pitchFamily="34" charset="0"/>
              </a:defRPr>
            </a:lvl1pPr>
            <a:lvl2pPr marL="742950" indent="-285750">
              <a:spcBef>
                <a:spcPct val="20000"/>
              </a:spcBef>
              <a:buFont typeface="Wingdings 3" panose="05040102010807070707" pitchFamily="18" charset="2"/>
              <a:buChar char="w"/>
              <a:defRPr sz="2800">
                <a:solidFill>
                  <a:srgbClr val="B8BBBF"/>
                </a:solidFill>
                <a:latin typeface="Arial" panose="020B0604020202020204" pitchFamily="34" charset="0"/>
              </a:defRPr>
            </a:lvl2pPr>
            <a:lvl3pPr marL="1143000" indent="-228600">
              <a:spcBef>
                <a:spcPct val="20000"/>
              </a:spcBef>
              <a:buChar char="•"/>
              <a:defRPr sz="2400">
                <a:solidFill>
                  <a:srgbClr val="B8BBBF"/>
                </a:solidFill>
                <a:latin typeface="Arial" panose="020B0604020202020204" pitchFamily="34" charset="0"/>
              </a:defRPr>
            </a:lvl3pPr>
            <a:lvl4pPr marL="1600200" indent="-228600">
              <a:spcBef>
                <a:spcPct val="20000"/>
              </a:spcBef>
              <a:buChar char="–"/>
              <a:defRPr sz="2000">
                <a:solidFill>
                  <a:srgbClr val="B8BBBF"/>
                </a:solidFill>
                <a:latin typeface="Arial" panose="020B0604020202020204" pitchFamily="34" charset="0"/>
              </a:defRPr>
            </a:lvl4pPr>
            <a:lvl5pPr marL="2057400" indent="-228600">
              <a:spcBef>
                <a:spcPct val="20000"/>
              </a:spcBef>
              <a:buChar char="»"/>
              <a:defRPr sz="2000">
                <a:solidFill>
                  <a:srgbClr val="B8BBB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B8BBB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B8BBB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B8BBB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B8BBBF"/>
                </a:solidFill>
                <a:latin typeface="Arial" panose="020B0604020202020204" pitchFamily="34" charset="0"/>
              </a:defRPr>
            </a:lvl9pPr>
          </a:lstStyle>
          <a:p>
            <a:pPr>
              <a:spcBef>
                <a:spcPct val="0"/>
              </a:spcBef>
              <a:buFontTx/>
              <a:buNone/>
            </a:pPr>
            <a:fld id="{82EB639F-A427-4597-B650-C5B8C0FC1E76}" type="slidenum">
              <a:rPr lang="en-US" altLang="en-US" sz="1400">
                <a:solidFill>
                  <a:srgbClr val="E62D33"/>
                </a:solidFill>
              </a:rPr>
              <a:pPr>
                <a:spcBef>
                  <a:spcPct val="0"/>
                </a:spcBef>
                <a:buFontTx/>
                <a:buNone/>
              </a:pPr>
              <a:t>5</a:t>
            </a:fld>
            <a:endParaRPr lang="en-US" altLang="en-US" sz="1400">
              <a:solidFill>
                <a:srgbClr val="E62D33"/>
              </a:solidFill>
            </a:endParaRPr>
          </a:p>
        </p:txBody>
      </p:sp>
    </p:spTree>
    <p:extLst>
      <p:ext uri="{BB962C8B-B14F-4D97-AF65-F5344CB8AC3E}">
        <p14:creationId xmlns:p14="http://schemas.microsoft.com/office/powerpoint/2010/main" val="3839457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3"/>
          <p:cNvSpPr>
            <a:spLocks noGrp="1" noChangeArrowheads="1"/>
          </p:cNvSpPr>
          <p:nvPr>
            <p:ph idx="1"/>
          </p:nvPr>
        </p:nvSpPr>
        <p:spPr>
          <a:xfrm>
            <a:off x="533400" y="1371600"/>
            <a:ext cx="8229600" cy="4114800"/>
          </a:xfrm>
        </p:spPr>
        <p:txBody>
          <a:bodyPr/>
          <a:lstStyle/>
          <a:p>
            <a:pPr marL="0" indent="0" eaLnBrk="1" hangingPunct="1">
              <a:lnSpc>
                <a:spcPct val="90000"/>
              </a:lnSpc>
              <a:buFontTx/>
              <a:buNone/>
              <a:defRPr/>
            </a:pPr>
            <a:r>
              <a:rPr lang="en-US" altLang="en-US" sz="2800" dirty="0"/>
              <a:t>For good estimation, following are needed:</a:t>
            </a:r>
          </a:p>
          <a:p>
            <a:pPr marL="0" indent="0" eaLnBrk="1" hangingPunct="1">
              <a:lnSpc>
                <a:spcPct val="90000"/>
              </a:lnSpc>
              <a:buFontTx/>
              <a:buNone/>
              <a:defRPr/>
            </a:pPr>
            <a:endParaRPr lang="en-US" altLang="en-US" sz="2400" dirty="0"/>
          </a:p>
          <a:p>
            <a:pPr lvl="1" eaLnBrk="1" hangingPunct="1">
              <a:lnSpc>
                <a:spcPct val="90000"/>
              </a:lnSpc>
              <a:defRPr/>
            </a:pPr>
            <a:r>
              <a:rPr lang="en-US" altLang="en-US" sz="2400" dirty="0"/>
              <a:t>WBS</a:t>
            </a:r>
          </a:p>
          <a:p>
            <a:pPr lvl="1" eaLnBrk="1" hangingPunct="1">
              <a:lnSpc>
                <a:spcPct val="90000"/>
              </a:lnSpc>
              <a:defRPr/>
            </a:pPr>
            <a:r>
              <a:rPr lang="en-US" altLang="en-US" sz="2400" dirty="0"/>
              <a:t>deliverables</a:t>
            </a:r>
          </a:p>
          <a:p>
            <a:pPr lvl="1" eaLnBrk="1" hangingPunct="1">
              <a:lnSpc>
                <a:spcPct val="90000"/>
              </a:lnSpc>
              <a:defRPr/>
            </a:pPr>
            <a:r>
              <a:rPr lang="en-US" altLang="en-US" sz="2400" dirty="0"/>
              <a:t>A clear effort estimation for each task</a:t>
            </a:r>
          </a:p>
          <a:p>
            <a:pPr lvl="1" eaLnBrk="1" hangingPunct="1">
              <a:lnSpc>
                <a:spcPct val="90000"/>
              </a:lnSpc>
              <a:defRPr/>
            </a:pPr>
            <a:r>
              <a:rPr lang="en-US" altLang="en-US" sz="2400" dirty="0"/>
              <a:t>A list of assumptions which were necessary for making the estimate</a:t>
            </a:r>
          </a:p>
          <a:p>
            <a:pPr lvl="1" eaLnBrk="1" hangingPunct="1">
              <a:lnSpc>
                <a:spcPct val="90000"/>
              </a:lnSpc>
              <a:defRPr/>
            </a:pPr>
            <a:r>
              <a:rPr lang="en-US" altLang="en-US" sz="2400" dirty="0"/>
              <a:t>Consensus among the project team that the estimate is accurate</a:t>
            </a:r>
          </a:p>
          <a:p>
            <a:pPr lvl="1" eaLnBrk="1" hangingPunct="1">
              <a:lnSpc>
                <a:spcPct val="90000"/>
              </a:lnSpc>
              <a:defRPr/>
            </a:pPr>
            <a:endParaRPr lang="en-US" altLang="en-US" sz="2400" dirty="0"/>
          </a:p>
        </p:txBody>
      </p:sp>
      <p:sp>
        <p:nvSpPr>
          <p:cNvPr id="23554" name="Slide Number Placeholder 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sz="3200">
                <a:solidFill>
                  <a:srgbClr val="B8BBBF"/>
                </a:solidFill>
                <a:latin typeface="Arial" panose="020B0604020202020204" pitchFamily="34" charset="0"/>
              </a:defRPr>
            </a:lvl1pPr>
            <a:lvl2pPr marL="742950" indent="-285750">
              <a:spcBef>
                <a:spcPct val="20000"/>
              </a:spcBef>
              <a:buFont typeface="Wingdings 3" panose="05040102010807070707" pitchFamily="18" charset="2"/>
              <a:buChar char="w"/>
              <a:defRPr sz="2800">
                <a:solidFill>
                  <a:srgbClr val="B8BBBF"/>
                </a:solidFill>
                <a:latin typeface="Arial" panose="020B0604020202020204" pitchFamily="34" charset="0"/>
              </a:defRPr>
            </a:lvl2pPr>
            <a:lvl3pPr marL="1143000" indent="-228600">
              <a:spcBef>
                <a:spcPct val="20000"/>
              </a:spcBef>
              <a:buChar char="•"/>
              <a:defRPr sz="2400">
                <a:solidFill>
                  <a:srgbClr val="B8BBBF"/>
                </a:solidFill>
                <a:latin typeface="Arial" panose="020B0604020202020204" pitchFamily="34" charset="0"/>
              </a:defRPr>
            </a:lvl3pPr>
            <a:lvl4pPr marL="1600200" indent="-228600">
              <a:spcBef>
                <a:spcPct val="20000"/>
              </a:spcBef>
              <a:buChar char="–"/>
              <a:defRPr sz="2000">
                <a:solidFill>
                  <a:srgbClr val="B8BBBF"/>
                </a:solidFill>
                <a:latin typeface="Arial" panose="020B0604020202020204" pitchFamily="34" charset="0"/>
              </a:defRPr>
            </a:lvl4pPr>
            <a:lvl5pPr marL="2057400" indent="-228600">
              <a:spcBef>
                <a:spcPct val="20000"/>
              </a:spcBef>
              <a:buChar char="»"/>
              <a:defRPr sz="2000">
                <a:solidFill>
                  <a:srgbClr val="B8BBB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B8BBB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B8BBB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B8BBB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B8BBBF"/>
                </a:solidFill>
                <a:latin typeface="Arial" panose="020B0604020202020204" pitchFamily="34" charset="0"/>
              </a:defRPr>
            </a:lvl9pPr>
          </a:lstStyle>
          <a:p>
            <a:pPr>
              <a:spcBef>
                <a:spcPct val="0"/>
              </a:spcBef>
              <a:buFontTx/>
              <a:buNone/>
            </a:pPr>
            <a:fld id="{BD1C4D75-8F6C-419F-816F-C8A87123E3AB}" type="slidenum">
              <a:rPr lang="en-US" altLang="en-US" sz="1400">
                <a:solidFill>
                  <a:srgbClr val="E62D33"/>
                </a:solidFill>
              </a:rPr>
              <a:pPr>
                <a:spcBef>
                  <a:spcPct val="0"/>
                </a:spcBef>
                <a:buFontTx/>
                <a:buNone/>
              </a:pPr>
              <a:t>6</a:t>
            </a:fld>
            <a:endParaRPr lang="en-US" altLang="en-US" sz="1400">
              <a:solidFill>
                <a:srgbClr val="E62D33"/>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228600" y="609600"/>
            <a:ext cx="8915400" cy="1143000"/>
          </a:xfrm>
        </p:spPr>
        <p:txBody>
          <a:bodyPr>
            <a:normAutofit fontScale="90000"/>
          </a:bodyPr>
          <a:lstStyle/>
          <a:p>
            <a:pPr eaLnBrk="1" hangingPunct="1"/>
            <a:r>
              <a:rPr lang="en-US" altLang="en-US" sz="4000" b="1" dirty="0"/>
              <a:t>Assumptions Make Estimates More Accurate</a:t>
            </a:r>
          </a:p>
        </p:txBody>
      </p:sp>
      <p:sp>
        <p:nvSpPr>
          <p:cNvPr id="21508" name="Rectangle 3"/>
          <p:cNvSpPr>
            <a:spLocks noGrp="1" noChangeArrowheads="1"/>
          </p:cNvSpPr>
          <p:nvPr>
            <p:ph idx="1"/>
          </p:nvPr>
        </p:nvSpPr>
        <p:spPr>
          <a:xfrm>
            <a:off x="76200" y="1981200"/>
            <a:ext cx="8991600" cy="4114800"/>
          </a:xfrm>
        </p:spPr>
        <p:txBody>
          <a:bodyPr/>
          <a:lstStyle/>
          <a:p>
            <a:pPr algn="just" eaLnBrk="1" hangingPunct="1">
              <a:lnSpc>
                <a:spcPct val="80000"/>
              </a:lnSpc>
              <a:defRPr/>
            </a:pPr>
            <a:r>
              <a:rPr lang="en-US" altLang="en-US" sz="2800" dirty="0">
                <a:solidFill>
                  <a:schemeClr val="accent1">
                    <a:lumMod val="75000"/>
                  </a:schemeClr>
                </a:solidFill>
              </a:rPr>
              <a:t>Team members make </a:t>
            </a:r>
            <a:r>
              <a:rPr lang="en-US" altLang="en-US" sz="2800" i="1" dirty="0">
                <a:solidFill>
                  <a:schemeClr val="accent1">
                    <a:lumMod val="75000"/>
                  </a:schemeClr>
                </a:solidFill>
              </a:rPr>
              <a:t>assumptions</a:t>
            </a:r>
            <a:r>
              <a:rPr lang="en-US" altLang="en-US" sz="2800" dirty="0">
                <a:solidFill>
                  <a:schemeClr val="accent1">
                    <a:lumMod val="75000"/>
                  </a:schemeClr>
                </a:solidFill>
              </a:rPr>
              <a:t> about the work to be done to deal with incomplete information</a:t>
            </a:r>
          </a:p>
          <a:p>
            <a:pPr algn="just" eaLnBrk="1" hangingPunct="1">
              <a:lnSpc>
                <a:spcPct val="80000"/>
              </a:lnSpc>
              <a:defRPr/>
            </a:pPr>
            <a:endParaRPr lang="en-US" altLang="en-US" sz="2800" dirty="0">
              <a:solidFill>
                <a:schemeClr val="accent1">
                  <a:lumMod val="75000"/>
                </a:schemeClr>
              </a:solidFill>
            </a:endParaRPr>
          </a:p>
          <a:p>
            <a:pPr lvl="1" algn="just" eaLnBrk="1" hangingPunct="1">
              <a:lnSpc>
                <a:spcPct val="80000"/>
              </a:lnSpc>
              <a:defRPr/>
            </a:pPr>
            <a:r>
              <a:rPr lang="en-US" altLang="en-US" sz="2400" dirty="0"/>
              <a:t>Must estimate the issues needed to make decision</a:t>
            </a:r>
          </a:p>
          <a:p>
            <a:pPr lvl="1" eaLnBrk="1" hangingPunct="1">
              <a:lnSpc>
                <a:spcPct val="80000"/>
              </a:lnSpc>
              <a:defRPr/>
            </a:pPr>
            <a:endParaRPr lang="en-US" altLang="en-US" sz="2400" b="1" dirty="0"/>
          </a:p>
          <a:p>
            <a:pPr lvl="1" eaLnBrk="1" hangingPunct="1">
              <a:lnSpc>
                <a:spcPct val="80000"/>
              </a:lnSpc>
              <a:defRPr/>
            </a:pPr>
            <a:r>
              <a:rPr lang="en-US" altLang="en-US" sz="2400" b="1" dirty="0"/>
              <a:t>Assumptions must be written down</a:t>
            </a:r>
            <a:r>
              <a:rPr lang="en-US" altLang="en-US" sz="2400" dirty="0"/>
              <a:t> so that if they prove to be incorrect then it must be back tracked and corrected.</a:t>
            </a:r>
          </a:p>
        </p:txBody>
      </p:sp>
      <p:sp>
        <p:nvSpPr>
          <p:cNvPr id="25602" name="Slide Number Placeholder 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sz="3200">
                <a:solidFill>
                  <a:srgbClr val="B8BBBF"/>
                </a:solidFill>
                <a:latin typeface="Arial" panose="020B0604020202020204" pitchFamily="34" charset="0"/>
              </a:defRPr>
            </a:lvl1pPr>
            <a:lvl2pPr marL="742950" indent="-285750">
              <a:spcBef>
                <a:spcPct val="20000"/>
              </a:spcBef>
              <a:buFont typeface="Wingdings 3" panose="05040102010807070707" pitchFamily="18" charset="2"/>
              <a:buChar char="w"/>
              <a:defRPr sz="2800">
                <a:solidFill>
                  <a:srgbClr val="B8BBBF"/>
                </a:solidFill>
                <a:latin typeface="Arial" panose="020B0604020202020204" pitchFamily="34" charset="0"/>
              </a:defRPr>
            </a:lvl2pPr>
            <a:lvl3pPr marL="1143000" indent="-228600">
              <a:spcBef>
                <a:spcPct val="20000"/>
              </a:spcBef>
              <a:buChar char="•"/>
              <a:defRPr sz="2400">
                <a:solidFill>
                  <a:srgbClr val="B8BBBF"/>
                </a:solidFill>
                <a:latin typeface="Arial" panose="020B0604020202020204" pitchFamily="34" charset="0"/>
              </a:defRPr>
            </a:lvl3pPr>
            <a:lvl4pPr marL="1600200" indent="-228600">
              <a:spcBef>
                <a:spcPct val="20000"/>
              </a:spcBef>
              <a:buChar char="–"/>
              <a:defRPr sz="2000">
                <a:solidFill>
                  <a:srgbClr val="B8BBBF"/>
                </a:solidFill>
                <a:latin typeface="Arial" panose="020B0604020202020204" pitchFamily="34" charset="0"/>
              </a:defRPr>
            </a:lvl4pPr>
            <a:lvl5pPr marL="2057400" indent="-228600">
              <a:spcBef>
                <a:spcPct val="20000"/>
              </a:spcBef>
              <a:buChar char="»"/>
              <a:defRPr sz="2000">
                <a:solidFill>
                  <a:srgbClr val="B8BBB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B8BBB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B8BBB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B8BBB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B8BBBF"/>
                </a:solidFill>
                <a:latin typeface="Arial" panose="020B0604020202020204" pitchFamily="34" charset="0"/>
              </a:defRPr>
            </a:lvl9pPr>
          </a:lstStyle>
          <a:p>
            <a:pPr>
              <a:spcBef>
                <a:spcPct val="0"/>
              </a:spcBef>
              <a:buFontTx/>
              <a:buNone/>
            </a:pPr>
            <a:fld id="{20D7DDA1-A9E8-49E3-90EE-0E4D3A27AC38}" type="slidenum">
              <a:rPr lang="en-US" altLang="en-US" sz="1400">
                <a:solidFill>
                  <a:srgbClr val="E62D33"/>
                </a:solidFill>
              </a:rPr>
              <a:pPr>
                <a:spcBef>
                  <a:spcPct val="0"/>
                </a:spcBef>
                <a:buFontTx/>
                <a:buNone/>
              </a:pPr>
              <a:t>7</a:t>
            </a:fld>
            <a:endParaRPr lang="en-US" altLang="en-US" sz="1400">
              <a:solidFill>
                <a:srgbClr val="E62D33"/>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pPr eaLnBrk="1" hangingPunct="1"/>
            <a:r>
              <a:rPr lang="en-US" altLang="en-US"/>
              <a:t>Wideband Delphi</a:t>
            </a:r>
          </a:p>
        </p:txBody>
      </p:sp>
      <p:sp>
        <p:nvSpPr>
          <p:cNvPr id="23556" name="Rectangle 3"/>
          <p:cNvSpPr>
            <a:spLocks noGrp="1" noChangeArrowheads="1"/>
          </p:cNvSpPr>
          <p:nvPr>
            <p:ph idx="1"/>
          </p:nvPr>
        </p:nvSpPr>
        <p:spPr>
          <a:xfrm>
            <a:off x="533400" y="1600200"/>
            <a:ext cx="7772400" cy="4419600"/>
          </a:xfrm>
        </p:spPr>
        <p:txBody>
          <a:bodyPr/>
          <a:lstStyle/>
          <a:p>
            <a:pPr eaLnBrk="1" hangingPunct="1">
              <a:lnSpc>
                <a:spcPct val="90000"/>
              </a:lnSpc>
              <a:defRPr/>
            </a:pPr>
            <a:r>
              <a:rPr lang="en-US" altLang="en-US" i="1" dirty="0">
                <a:solidFill>
                  <a:schemeClr val="accent1">
                    <a:lumMod val="75000"/>
                  </a:schemeClr>
                </a:solidFill>
              </a:rPr>
              <a:t>Wideband Delphi </a:t>
            </a:r>
            <a:r>
              <a:rPr lang="en-US" altLang="en-US" dirty="0">
                <a:solidFill>
                  <a:schemeClr val="accent1">
                    <a:lumMod val="75000"/>
                  </a:schemeClr>
                </a:solidFill>
              </a:rPr>
              <a:t>is a process that a team can use to generate an estimate</a:t>
            </a:r>
          </a:p>
          <a:p>
            <a:pPr lvl="1" algn="just" eaLnBrk="1" hangingPunct="1">
              <a:lnSpc>
                <a:spcPct val="90000"/>
              </a:lnSpc>
              <a:defRPr/>
            </a:pPr>
            <a:r>
              <a:rPr lang="en-US" altLang="en-US" dirty="0"/>
              <a:t>The </a:t>
            </a:r>
            <a:r>
              <a:rPr lang="en-US" altLang="en-US" b="1" dirty="0"/>
              <a:t>project manager chooses an estimation team</a:t>
            </a:r>
            <a:r>
              <a:rPr lang="en-US" altLang="en-US" dirty="0"/>
              <a:t>, </a:t>
            </a:r>
          </a:p>
          <a:p>
            <a:pPr marL="457200" lvl="1" indent="0" algn="just" eaLnBrk="1" hangingPunct="1">
              <a:lnSpc>
                <a:spcPct val="90000"/>
              </a:lnSpc>
              <a:buNone/>
              <a:defRPr/>
            </a:pPr>
            <a:r>
              <a:rPr lang="en-US" altLang="en-US" dirty="0"/>
              <a:t>and gains consensus among that team on the results.</a:t>
            </a:r>
          </a:p>
          <a:p>
            <a:pPr lvl="1" algn="just" eaLnBrk="1" hangingPunct="1">
              <a:lnSpc>
                <a:spcPct val="90000"/>
              </a:lnSpc>
              <a:defRPr/>
            </a:pPr>
            <a:r>
              <a:rPr lang="en-US" altLang="en-US" dirty="0"/>
              <a:t>Wideband Delphi is a </a:t>
            </a:r>
            <a:r>
              <a:rPr lang="en-US" altLang="en-US" i="1" dirty="0">
                <a:solidFill>
                  <a:schemeClr val="accent1">
                    <a:lumMod val="75000"/>
                  </a:schemeClr>
                </a:solidFill>
              </a:rPr>
              <a:t>repeatable</a:t>
            </a:r>
            <a:r>
              <a:rPr lang="en-US" altLang="en-US" dirty="0">
                <a:solidFill>
                  <a:schemeClr val="accent1">
                    <a:lumMod val="75000"/>
                  </a:schemeClr>
                </a:solidFill>
              </a:rPr>
              <a:t> estimation process</a:t>
            </a:r>
            <a:r>
              <a:rPr lang="en-US" altLang="en-US" dirty="0"/>
              <a:t> because it consists of a straightforward set of steps that can be performed the same way each time</a:t>
            </a:r>
          </a:p>
        </p:txBody>
      </p:sp>
      <p:sp>
        <p:nvSpPr>
          <p:cNvPr id="27650" name="Slide Number Placeholder 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sz="3200">
                <a:solidFill>
                  <a:srgbClr val="B8BBBF"/>
                </a:solidFill>
                <a:latin typeface="Arial" panose="020B0604020202020204" pitchFamily="34" charset="0"/>
              </a:defRPr>
            </a:lvl1pPr>
            <a:lvl2pPr marL="742950" indent="-285750">
              <a:spcBef>
                <a:spcPct val="20000"/>
              </a:spcBef>
              <a:buFont typeface="Wingdings 3" panose="05040102010807070707" pitchFamily="18" charset="2"/>
              <a:buChar char="w"/>
              <a:defRPr sz="2800">
                <a:solidFill>
                  <a:srgbClr val="B8BBBF"/>
                </a:solidFill>
                <a:latin typeface="Arial" panose="020B0604020202020204" pitchFamily="34" charset="0"/>
              </a:defRPr>
            </a:lvl2pPr>
            <a:lvl3pPr marL="1143000" indent="-228600">
              <a:spcBef>
                <a:spcPct val="20000"/>
              </a:spcBef>
              <a:buChar char="•"/>
              <a:defRPr sz="2400">
                <a:solidFill>
                  <a:srgbClr val="B8BBBF"/>
                </a:solidFill>
                <a:latin typeface="Arial" panose="020B0604020202020204" pitchFamily="34" charset="0"/>
              </a:defRPr>
            </a:lvl3pPr>
            <a:lvl4pPr marL="1600200" indent="-228600">
              <a:spcBef>
                <a:spcPct val="20000"/>
              </a:spcBef>
              <a:buChar char="–"/>
              <a:defRPr sz="2000">
                <a:solidFill>
                  <a:srgbClr val="B8BBBF"/>
                </a:solidFill>
                <a:latin typeface="Arial" panose="020B0604020202020204" pitchFamily="34" charset="0"/>
              </a:defRPr>
            </a:lvl4pPr>
            <a:lvl5pPr marL="2057400" indent="-228600">
              <a:spcBef>
                <a:spcPct val="20000"/>
              </a:spcBef>
              <a:buChar char="»"/>
              <a:defRPr sz="2000">
                <a:solidFill>
                  <a:srgbClr val="B8BBB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B8BBB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B8BBB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B8BBB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B8BBBF"/>
                </a:solidFill>
                <a:latin typeface="Arial" panose="020B0604020202020204" pitchFamily="34" charset="0"/>
              </a:defRPr>
            </a:lvl9pPr>
          </a:lstStyle>
          <a:p>
            <a:pPr>
              <a:spcBef>
                <a:spcPct val="0"/>
              </a:spcBef>
              <a:buFontTx/>
              <a:buNone/>
            </a:pPr>
            <a:fld id="{FA8ED745-2DED-4200-9390-8E0BD827EAC7}" type="slidenum">
              <a:rPr lang="en-US" altLang="en-US" sz="1400">
                <a:solidFill>
                  <a:srgbClr val="E62D33"/>
                </a:solidFill>
              </a:rPr>
              <a:pPr>
                <a:spcBef>
                  <a:spcPct val="0"/>
                </a:spcBef>
                <a:buFontTx/>
                <a:buNone/>
              </a:pPr>
              <a:t>8</a:t>
            </a:fld>
            <a:endParaRPr lang="en-US" altLang="en-US" sz="1400">
              <a:solidFill>
                <a:srgbClr val="E62D33"/>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pPr eaLnBrk="1" hangingPunct="1"/>
            <a:r>
              <a:rPr lang="en-US" altLang="en-US" dirty="0"/>
              <a:t>Delphi Technique</a:t>
            </a:r>
          </a:p>
        </p:txBody>
      </p:sp>
      <p:sp>
        <p:nvSpPr>
          <p:cNvPr id="29700" name="Rectangle 3"/>
          <p:cNvSpPr>
            <a:spLocks noGrp="1" noChangeArrowheads="1"/>
          </p:cNvSpPr>
          <p:nvPr>
            <p:ph idx="1"/>
          </p:nvPr>
        </p:nvSpPr>
        <p:spPr>
          <a:xfrm>
            <a:off x="685800" y="1600200"/>
            <a:ext cx="7772400" cy="5181600"/>
          </a:xfrm>
        </p:spPr>
        <p:txBody>
          <a:bodyPr/>
          <a:lstStyle/>
          <a:p>
            <a:pPr eaLnBrk="1" hangingPunct="1">
              <a:lnSpc>
                <a:spcPct val="90000"/>
              </a:lnSpc>
            </a:pPr>
            <a:r>
              <a:rPr lang="en-US" altLang="en-US" dirty="0"/>
              <a:t>Take inputs from multiple stake holders </a:t>
            </a:r>
          </a:p>
          <a:p>
            <a:pPr eaLnBrk="1" hangingPunct="1">
              <a:lnSpc>
                <a:spcPct val="90000"/>
              </a:lnSpc>
            </a:pPr>
            <a:r>
              <a:rPr lang="en-US" altLang="en-US" dirty="0"/>
              <a:t>Create final estimate on that</a:t>
            </a:r>
          </a:p>
          <a:p>
            <a:pPr eaLnBrk="1" hangingPunct="1">
              <a:lnSpc>
                <a:spcPct val="90000"/>
              </a:lnSpc>
            </a:pPr>
            <a:r>
              <a:rPr lang="en-US" altLang="en-US" dirty="0"/>
              <a:t>Steps followed:</a:t>
            </a:r>
          </a:p>
          <a:p>
            <a:pPr lvl="1" eaLnBrk="1" hangingPunct="1">
              <a:lnSpc>
                <a:spcPct val="90000"/>
              </a:lnSpc>
            </a:pPr>
            <a:r>
              <a:rPr lang="en-US" altLang="en-US" dirty="0"/>
              <a:t>Must have a facilitator/coordinator</a:t>
            </a:r>
          </a:p>
          <a:p>
            <a:pPr lvl="1" eaLnBrk="1" hangingPunct="1">
              <a:lnSpc>
                <a:spcPct val="90000"/>
              </a:lnSpc>
            </a:pPr>
            <a:r>
              <a:rPr lang="en-US" altLang="en-US" dirty="0"/>
              <a:t>Create list of experts</a:t>
            </a:r>
          </a:p>
          <a:p>
            <a:pPr lvl="1" eaLnBrk="1" hangingPunct="1">
              <a:lnSpc>
                <a:spcPct val="90000"/>
              </a:lnSpc>
            </a:pPr>
            <a:r>
              <a:rPr lang="en-US" altLang="en-US" dirty="0"/>
              <a:t>Create 3-5 questions</a:t>
            </a:r>
          </a:p>
          <a:p>
            <a:pPr lvl="2" eaLnBrk="1" hangingPunct="1">
              <a:lnSpc>
                <a:spcPct val="90000"/>
              </a:lnSpc>
            </a:pPr>
            <a:r>
              <a:rPr lang="en-US" altLang="en-US" dirty="0"/>
              <a:t>For example what's better to use for project? Azure /  AWS etc..….</a:t>
            </a:r>
          </a:p>
          <a:p>
            <a:pPr lvl="1" eaLnBrk="1" hangingPunct="1">
              <a:lnSpc>
                <a:spcPct val="90000"/>
              </a:lnSpc>
            </a:pPr>
            <a:r>
              <a:rPr lang="en-US" altLang="en-US" dirty="0"/>
              <a:t>Reach to all the results</a:t>
            </a:r>
          </a:p>
          <a:p>
            <a:pPr lvl="1" eaLnBrk="1" hangingPunct="1">
              <a:lnSpc>
                <a:spcPct val="90000"/>
              </a:lnSpc>
            </a:pPr>
            <a:r>
              <a:rPr lang="en-US" altLang="en-US" dirty="0"/>
              <a:t>Analyze &amp; iterate</a:t>
            </a:r>
          </a:p>
          <a:p>
            <a:pPr lvl="1" eaLnBrk="1" hangingPunct="1">
              <a:lnSpc>
                <a:spcPct val="90000"/>
              </a:lnSpc>
            </a:pPr>
            <a:endParaRPr lang="en-US" altLang="en-US" dirty="0"/>
          </a:p>
          <a:p>
            <a:pPr lvl="1" eaLnBrk="1" hangingPunct="1">
              <a:lnSpc>
                <a:spcPct val="90000"/>
              </a:lnSpc>
            </a:pPr>
            <a:endParaRPr lang="en-US" altLang="en-US" dirty="0"/>
          </a:p>
          <a:p>
            <a:pPr lvl="1" eaLnBrk="1" hangingPunct="1">
              <a:lnSpc>
                <a:spcPct val="90000"/>
              </a:lnSpc>
            </a:pPr>
            <a:endParaRPr lang="en-US" altLang="en-US" dirty="0"/>
          </a:p>
          <a:p>
            <a:pPr eaLnBrk="1" hangingPunct="1">
              <a:lnSpc>
                <a:spcPct val="90000"/>
              </a:lnSpc>
            </a:pPr>
            <a:endParaRPr lang="en-US" altLang="en-US" dirty="0"/>
          </a:p>
        </p:txBody>
      </p:sp>
      <p:sp>
        <p:nvSpPr>
          <p:cNvPr id="29698" name="Slide Number Placeholder 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sz="3200">
                <a:solidFill>
                  <a:srgbClr val="B8BBBF"/>
                </a:solidFill>
                <a:latin typeface="Arial" panose="020B0604020202020204" pitchFamily="34" charset="0"/>
              </a:defRPr>
            </a:lvl1pPr>
            <a:lvl2pPr marL="742950" indent="-285750">
              <a:spcBef>
                <a:spcPct val="20000"/>
              </a:spcBef>
              <a:buFont typeface="Wingdings 3" panose="05040102010807070707" pitchFamily="18" charset="2"/>
              <a:buChar char="w"/>
              <a:defRPr sz="2800">
                <a:solidFill>
                  <a:srgbClr val="B8BBBF"/>
                </a:solidFill>
                <a:latin typeface="Arial" panose="020B0604020202020204" pitchFamily="34" charset="0"/>
              </a:defRPr>
            </a:lvl2pPr>
            <a:lvl3pPr marL="1143000" indent="-228600">
              <a:spcBef>
                <a:spcPct val="20000"/>
              </a:spcBef>
              <a:buChar char="•"/>
              <a:defRPr sz="2400">
                <a:solidFill>
                  <a:srgbClr val="B8BBBF"/>
                </a:solidFill>
                <a:latin typeface="Arial" panose="020B0604020202020204" pitchFamily="34" charset="0"/>
              </a:defRPr>
            </a:lvl3pPr>
            <a:lvl4pPr marL="1600200" indent="-228600">
              <a:spcBef>
                <a:spcPct val="20000"/>
              </a:spcBef>
              <a:buChar char="–"/>
              <a:defRPr sz="2000">
                <a:solidFill>
                  <a:srgbClr val="B8BBBF"/>
                </a:solidFill>
                <a:latin typeface="Arial" panose="020B0604020202020204" pitchFamily="34" charset="0"/>
              </a:defRPr>
            </a:lvl4pPr>
            <a:lvl5pPr marL="2057400" indent="-228600">
              <a:spcBef>
                <a:spcPct val="20000"/>
              </a:spcBef>
              <a:buChar char="»"/>
              <a:defRPr sz="2000">
                <a:solidFill>
                  <a:srgbClr val="B8BBB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B8BBB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B8BBB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B8BBB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B8BBBF"/>
                </a:solidFill>
                <a:latin typeface="Arial" panose="020B0604020202020204" pitchFamily="34" charset="0"/>
              </a:defRPr>
            </a:lvl9pPr>
          </a:lstStyle>
          <a:p>
            <a:pPr>
              <a:spcBef>
                <a:spcPct val="0"/>
              </a:spcBef>
              <a:buFontTx/>
              <a:buNone/>
            </a:pPr>
            <a:fld id="{D2439911-E0ED-4179-840A-4EF12BA3E3B6}" type="slidenum">
              <a:rPr lang="en-US" altLang="en-US" sz="1400">
                <a:solidFill>
                  <a:srgbClr val="E62D33"/>
                </a:solidFill>
              </a:rPr>
              <a:pPr>
                <a:spcBef>
                  <a:spcPct val="0"/>
                </a:spcBef>
                <a:buFontTx/>
                <a:buNone/>
              </a:pPr>
              <a:t>9</a:t>
            </a:fld>
            <a:endParaRPr lang="en-US" altLang="en-US" sz="1400">
              <a:solidFill>
                <a:srgbClr val="E62D33"/>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2"/>
          <p:cNvSpPr>
            <a:spLocks noGrp="1" noChangeArrowheads="1"/>
          </p:cNvSpPr>
          <p:nvPr>
            <p:ph type="title"/>
          </p:nvPr>
        </p:nvSpPr>
        <p:spPr/>
        <p:txBody>
          <a:bodyPr/>
          <a:lstStyle/>
          <a:p>
            <a:pPr eaLnBrk="1" hangingPunct="1"/>
            <a:r>
              <a:rPr lang="en-US" altLang="en-US"/>
              <a:t>The Wideband Delphi Process</a:t>
            </a:r>
          </a:p>
        </p:txBody>
      </p:sp>
      <p:sp>
        <p:nvSpPr>
          <p:cNvPr id="26629" name="Rectangle 3"/>
          <p:cNvSpPr>
            <a:spLocks noGrp="1" noChangeArrowheads="1"/>
          </p:cNvSpPr>
          <p:nvPr>
            <p:ph idx="1"/>
          </p:nvPr>
        </p:nvSpPr>
        <p:spPr/>
        <p:txBody>
          <a:bodyPr/>
          <a:lstStyle/>
          <a:p>
            <a:pPr algn="just" eaLnBrk="1" hangingPunct="1">
              <a:lnSpc>
                <a:spcPct val="90000"/>
              </a:lnSpc>
              <a:defRPr/>
            </a:pPr>
            <a:r>
              <a:rPr lang="en-US" altLang="en-US" dirty="0"/>
              <a:t>Step 1: Choose the team</a:t>
            </a:r>
          </a:p>
          <a:p>
            <a:pPr lvl="1" algn="just" eaLnBrk="1" hangingPunct="1">
              <a:lnSpc>
                <a:spcPct val="90000"/>
              </a:lnSpc>
              <a:defRPr/>
            </a:pPr>
            <a:r>
              <a:rPr lang="en-US" altLang="en-US" dirty="0">
                <a:solidFill>
                  <a:schemeClr val="accent1">
                    <a:lumMod val="75000"/>
                  </a:schemeClr>
                </a:solidFill>
              </a:rPr>
              <a:t>The project manager selects the estimation team and a moderator. The team should consist of 3 to 7 project team members. </a:t>
            </a:r>
          </a:p>
          <a:p>
            <a:pPr lvl="2" algn="just" eaLnBrk="1" hangingPunct="1">
              <a:lnSpc>
                <a:spcPct val="90000"/>
              </a:lnSpc>
              <a:defRPr/>
            </a:pPr>
            <a:r>
              <a:rPr lang="en-US" altLang="en-US" dirty="0"/>
              <a:t>The moderator should be familiar with the Delphi process, but should not have a stake in the outcome of the session if possible.</a:t>
            </a:r>
          </a:p>
          <a:p>
            <a:pPr lvl="2" algn="just" eaLnBrk="1" hangingPunct="1">
              <a:lnSpc>
                <a:spcPct val="90000"/>
              </a:lnSpc>
              <a:defRPr/>
            </a:pPr>
            <a:r>
              <a:rPr lang="en-US" altLang="en-US" dirty="0"/>
              <a:t>If possible, the project manager should not be the moderator because he should ideally be part of the estimation team.</a:t>
            </a:r>
          </a:p>
          <a:p>
            <a:pPr lvl="2" algn="just" eaLnBrk="1" hangingPunct="1">
              <a:lnSpc>
                <a:spcPct val="90000"/>
              </a:lnSpc>
              <a:defRPr/>
            </a:pPr>
            <a:endParaRPr lang="en-US" altLang="en-US" dirty="0"/>
          </a:p>
        </p:txBody>
      </p:sp>
      <p:sp>
        <p:nvSpPr>
          <p:cNvPr id="32771" name="Slide Number Placeholder 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sz="3200">
                <a:solidFill>
                  <a:srgbClr val="B8BBBF"/>
                </a:solidFill>
                <a:latin typeface="Arial" panose="020B0604020202020204" pitchFamily="34" charset="0"/>
              </a:defRPr>
            </a:lvl1pPr>
            <a:lvl2pPr marL="742950" indent="-285750">
              <a:spcBef>
                <a:spcPct val="20000"/>
              </a:spcBef>
              <a:buFont typeface="Wingdings 3" panose="05040102010807070707" pitchFamily="18" charset="2"/>
              <a:buChar char="w"/>
              <a:defRPr sz="2800">
                <a:solidFill>
                  <a:srgbClr val="B8BBBF"/>
                </a:solidFill>
                <a:latin typeface="Arial" panose="020B0604020202020204" pitchFamily="34" charset="0"/>
              </a:defRPr>
            </a:lvl2pPr>
            <a:lvl3pPr marL="1143000" indent="-228600">
              <a:spcBef>
                <a:spcPct val="20000"/>
              </a:spcBef>
              <a:buChar char="•"/>
              <a:defRPr sz="2400">
                <a:solidFill>
                  <a:srgbClr val="B8BBBF"/>
                </a:solidFill>
                <a:latin typeface="Arial" panose="020B0604020202020204" pitchFamily="34" charset="0"/>
              </a:defRPr>
            </a:lvl3pPr>
            <a:lvl4pPr marL="1600200" indent="-228600">
              <a:spcBef>
                <a:spcPct val="20000"/>
              </a:spcBef>
              <a:buChar char="–"/>
              <a:defRPr sz="2000">
                <a:solidFill>
                  <a:srgbClr val="B8BBBF"/>
                </a:solidFill>
                <a:latin typeface="Arial" panose="020B0604020202020204" pitchFamily="34" charset="0"/>
              </a:defRPr>
            </a:lvl4pPr>
            <a:lvl5pPr marL="2057400" indent="-228600">
              <a:spcBef>
                <a:spcPct val="20000"/>
              </a:spcBef>
              <a:buChar char="»"/>
              <a:defRPr sz="2000">
                <a:solidFill>
                  <a:srgbClr val="B8BBB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B8BBB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B8BBB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B8BBB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B8BBBF"/>
                </a:solidFill>
                <a:latin typeface="Arial" panose="020B0604020202020204" pitchFamily="34" charset="0"/>
              </a:defRPr>
            </a:lvl9pPr>
          </a:lstStyle>
          <a:p>
            <a:pPr>
              <a:spcBef>
                <a:spcPct val="0"/>
              </a:spcBef>
              <a:buFontTx/>
              <a:buNone/>
            </a:pPr>
            <a:fld id="{2464AB1E-B20C-44B6-A17A-C7C12FABEDD4}" type="slidenum">
              <a:rPr lang="en-US" altLang="en-US" sz="1400">
                <a:solidFill>
                  <a:srgbClr val="E62D33"/>
                </a:solidFill>
              </a:rPr>
              <a:pPr>
                <a:spcBef>
                  <a:spcPct val="0"/>
                </a:spcBef>
                <a:buFontTx/>
                <a:buNone/>
              </a:pPr>
              <a:t>10</a:t>
            </a:fld>
            <a:endParaRPr lang="en-US" altLang="en-US" sz="1400">
              <a:solidFill>
                <a:srgbClr val="E62D33"/>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pPr eaLnBrk="1" hangingPunct="1"/>
            <a:r>
              <a:rPr lang="en-US" altLang="en-US"/>
              <a:t>The Wideband Delphi Process</a:t>
            </a:r>
          </a:p>
        </p:txBody>
      </p:sp>
      <p:sp>
        <p:nvSpPr>
          <p:cNvPr id="28676" name="Rectangle 3"/>
          <p:cNvSpPr>
            <a:spLocks noGrp="1" noChangeArrowheads="1"/>
          </p:cNvSpPr>
          <p:nvPr>
            <p:ph idx="1"/>
          </p:nvPr>
        </p:nvSpPr>
        <p:spPr/>
        <p:txBody>
          <a:bodyPr/>
          <a:lstStyle/>
          <a:p>
            <a:pPr algn="just" eaLnBrk="1" hangingPunct="1">
              <a:defRPr/>
            </a:pPr>
            <a:r>
              <a:rPr lang="en-US" altLang="en-US" sz="2800" dirty="0"/>
              <a:t>Step 2: Kickoff Meeting</a:t>
            </a:r>
          </a:p>
          <a:p>
            <a:pPr lvl="1" algn="just" eaLnBrk="1" hangingPunct="1">
              <a:defRPr/>
            </a:pPr>
            <a:r>
              <a:rPr lang="en-US" altLang="en-US" sz="2400" dirty="0"/>
              <a:t>The project manager must make sure that each team member understands the Delphi process, has read the vision and scope document and any other documentation, and is familiar with the project background and needs.</a:t>
            </a:r>
          </a:p>
          <a:p>
            <a:pPr lvl="1" algn="just" eaLnBrk="1" hangingPunct="1">
              <a:defRPr/>
            </a:pPr>
            <a:r>
              <a:rPr lang="en-US" altLang="en-US" sz="2400" dirty="0"/>
              <a:t>The </a:t>
            </a:r>
            <a:r>
              <a:rPr lang="en-US" altLang="en-US" sz="2400" dirty="0">
                <a:solidFill>
                  <a:schemeClr val="accent1">
                    <a:lumMod val="75000"/>
                  </a:schemeClr>
                </a:solidFill>
              </a:rPr>
              <a:t>team brainstorms and writes down assumptions</a:t>
            </a:r>
            <a:r>
              <a:rPr lang="en-US" altLang="en-US" sz="2400" dirty="0"/>
              <a:t>.</a:t>
            </a:r>
          </a:p>
          <a:p>
            <a:pPr lvl="1" algn="just" eaLnBrk="1" hangingPunct="1">
              <a:defRPr/>
            </a:pPr>
            <a:r>
              <a:rPr lang="en-US" altLang="en-US" sz="2400" dirty="0">
                <a:solidFill>
                  <a:schemeClr val="accent1">
                    <a:lumMod val="75000"/>
                  </a:schemeClr>
                </a:solidFill>
              </a:rPr>
              <a:t>The team has the generated WBS</a:t>
            </a:r>
            <a:r>
              <a:rPr lang="en-US" altLang="en-US" sz="2400" dirty="0"/>
              <a:t>.</a:t>
            </a:r>
          </a:p>
          <a:p>
            <a:pPr lvl="1" algn="just" eaLnBrk="1" hangingPunct="1">
              <a:defRPr/>
            </a:pPr>
            <a:r>
              <a:rPr lang="en-US" altLang="en-US" sz="2400" dirty="0"/>
              <a:t>The team agrees on a unit of estimation.</a:t>
            </a:r>
          </a:p>
          <a:p>
            <a:pPr marL="914400" lvl="2" indent="0" algn="just" eaLnBrk="1" hangingPunct="1">
              <a:buNone/>
              <a:defRPr/>
            </a:pPr>
            <a:endParaRPr lang="en-US" altLang="en-US" sz="2000" dirty="0"/>
          </a:p>
        </p:txBody>
      </p:sp>
      <p:sp>
        <p:nvSpPr>
          <p:cNvPr id="34818" name="Slide Number Placeholder 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sz="3200">
                <a:solidFill>
                  <a:srgbClr val="B8BBBF"/>
                </a:solidFill>
                <a:latin typeface="Arial" panose="020B0604020202020204" pitchFamily="34" charset="0"/>
              </a:defRPr>
            </a:lvl1pPr>
            <a:lvl2pPr marL="742950" indent="-285750">
              <a:spcBef>
                <a:spcPct val="20000"/>
              </a:spcBef>
              <a:buFont typeface="Wingdings 3" panose="05040102010807070707" pitchFamily="18" charset="2"/>
              <a:buChar char="w"/>
              <a:defRPr sz="2800">
                <a:solidFill>
                  <a:srgbClr val="B8BBBF"/>
                </a:solidFill>
                <a:latin typeface="Arial" panose="020B0604020202020204" pitchFamily="34" charset="0"/>
              </a:defRPr>
            </a:lvl2pPr>
            <a:lvl3pPr marL="1143000" indent="-228600">
              <a:spcBef>
                <a:spcPct val="20000"/>
              </a:spcBef>
              <a:buChar char="•"/>
              <a:defRPr sz="2400">
                <a:solidFill>
                  <a:srgbClr val="B8BBBF"/>
                </a:solidFill>
                <a:latin typeface="Arial" panose="020B0604020202020204" pitchFamily="34" charset="0"/>
              </a:defRPr>
            </a:lvl3pPr>
            <a:lvl4pPr marL="1600200" indent="-228600">
              <a:spcBef>
                <a:spcPct val="20000"/>
              </a:spcBef>
              <a:buChar char="–"/>
              <a:defRPr sz="2000">
                <a:solidFill>
                  <a:srgbClr val="B8BBBF"/>
                </a:solidFill>
                <a:latin typeface="Arial" panose="020B0604020202020204" pitchFamily="34" charset="0"/>
              </a:defRPr>
            </a:lvl4pPr>
            <a:lvl5pPr marL="2057400" indent="-228600">
              <a:spcBef>
                <a:spcPct val="20000"/>
              </a:spcBef>
              <a:buChar char="»"/>
              <a:defRPr sz="2000">
                <a:solidFill>
                  <a:srgbClr val="B8BBB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B8BBB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B8BBB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B8BBB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B8BBBF"/>
                </a:solidFill>
                <a:latin typeface="Arial" panose="020B0604020202020204" pitchFamily="34" charset="0"/>
              </a:defRPr>
            </a:lvl9pPr>
          </a:lstStyle>
          <a:p>
            <a:pPr>
              <a:spcBef>
                <a:spcPct val="0"/>
              </a:spcBef>
              <a:buFontTx/>
              <a:buNone/>
            </a:pPr>
            <a:fld id="{300EAF8E-20A8-4CC1-B6AD-F51EF9F9BADE}" type="slidenum">
              <a:rPr lang="en-US" altLang="en-US" sz="1400">
                <a:solidFill>
                  <a:srgbClr val="E62D33"/>
                </a:solidFill>
              </a:rPr>
              <a:pPr>
                <a:spcBef>
                  <a:spcPct val="0"/>
                </a:spcBef>
                <a:buFontTx/>
                <a:buNone/>
              </a:pPr>
              <a:t>11</a:t>
            </a:fld>
            <a:endParaRPr lang="en-US" altLang="en-US" sz="1400">
              <a:solidFill>
                <a:srgbClr val="E62D33"/>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lstStyle/>
          <a:p>
            <a:pPr eaLnBrk="1" hangingPunct="1"/>
            <a:r>
              <a:rPr lang="en-US" altLang="en-US"/>
              <a:t>The Wideband Delphi Process</a:t>
            </a:r>
          </a:p>
        </p:txBody>
      </p:sp>
      <p:sp>
        <p:nvSpPr>
          <p:cNvPr id="30724" name="Rectangle 3"/>
          <p:cNvSpPr>
            <a:spLocks noGrp="1" noChangeArrowheads="1"/>
          </p:cNvSpPr>
          <p:nvPr>
            <p:ph idx="1"/>
          </p:nvPr>
        </p:nvSpPr>
        <p:spPr>
          <a:xfrm>
            <a:off x="533400" y="1981200"/>
            <a:ext cx="8077200" cy="4114800"/>
          </a:xfrm>
        </p:spPr>
        <p:txBody>
          <a:bodyPr/>
          <a:lstStyle/>
          <a:p>
            <a:pPr algn="just" eaLnBrk="1" hangingPunct="1">
              <a:defRPr/>
            </a:pPr>
            <a:r>
              <a:rPr lang="en-US" altLang="en-US" dirty="0"/>
              <a:t>Step 3: Individual Preparation</a:t>
            </a:r>
          </a:p>
          <a:p>
            <a:pPr lvl="1" algn="just" eaLnBrk="1" hangingPunct="1">
              <a:defRPr/>
            </a:pPr>
            <a:r>
              <a:rPr lang="en-US" altLang="en-US" dirty="0">
                <a:solidFill>
                  <a:schemeClr val="accent1">
                    <a:lumMod val="75000"/>
                  </a:schemeClr>
                </a:solidFill>
              </a:rPr>
              <a:t>Each team member independently generates a set of preparation results</a:t>
            </a:r>
            <a:r>
              <a:rPr lang="en-US" altLang="en-US" dirty="0"/>
              <a:t>.</a:t>
            </a:r>
          </a:p>
          <a:p>
            <a:pPr lvl="1" algn="just" eaLnBrk="1" hangingPunct="1">
              <a:defRPr/>
            </a:pPr>
            <a:r>
              <a:rPr lang="en-US" altLang="en-US" dirty="0"/>
              <a:t>For each task, </a:t>
            </a:r>
            <a:r>
              <a:rPr lang="en-US" altLang="en-US" dirty="0">
                <a:solidFill>
                  <a:schemeClr val="accent1">
                    <a:lumMod val="75000"/>
                  </a:schemeClr>
                </a:solidFill>
              </a:rPr>
              <a:t>the team member writes down an estimate for the effort required to complete the task</a:t>
            </a:r>
            <a:r>
              <a:rPr lang="en-US" altLang="en-US" dirty="0"/>
              <a:t>, </a:t>
            </a:r>
          </a:p>
          <a:p>
            <a:pPr lvl="1" algn="just" eaLnBrk="1" hangingPunct="1">
              <a:defRPr/>
            </a:pPr>
            <a:r>
              <a:rPr lang="en-US" altLang="en-US" dirty="0"/>
              <a:t>and any additional assumptions he needed to make in order to generate the estimate.</a:t>
            </a:r>
          </a:p>
        </p:txBody>
      </p:sp>
      <p:sp>
        <p:nvSpPr>
          <p:cNvPr id="36866" name="Slide Number Placeholder 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sz="3200">
                <a:solidFill>
                  <a:srgbClr val="B8BBBF"/>
                </a:solidFill>
                <a:latin typeface="Arial" panose="020B0604020202020204" pitchFamily="34" charset="0"/>
              </a:defRPr>
            </a:lvl1pPr>
            <a:lvl2pPr marL="742950" indent="-285750">
              <a:spcBef>
                <a:spcPct val="20000"/>
              </a:spcBef>
              <a:buFont typeface="Wingdings 3" panose="05040102010807070707" pitchFamily="18" charset="2"/>
              <a:buChar char="w"/>
              <a:defRPr sz="2800">
                <a:solidFill>
                  <a:srgbClr val="B8BBBF"/>
                </a:solidFill>
                <a:latin typeface="Arial" panose="020B0604020202020204" pitchFamily="34" charset="0"/>
              </a:defRPr>
            </a:lvl2pPr>
            <a:lvl3pPr marL="1143000" indent="-228600">
              <a:spcBef>
                <a:spcPct val="20000"/>
              </a:spcBef>
              <a:buChar char="•"/>
              <a:defRPr sz="2400">
                <a:solidFill>
                  <a:srgbClr val="B8BBBF"/>
                </a:solidFill>
                <a:latin typeface="Arial" panose="020B0604020202020204" pitchFamily="34" charset="0"/>
              </a:defRPr>
            </a:lvl3pPr>
            <a:lvl4pPr marL="1600200" indent="-228600">
              <a:spcBef>
                <a:spcPct val="20000"/>
              </a:spcBef>
              <a:buChar char="–"/>
              <a:defRPr sz="2000">
                <a:solidFill>
                  <a:srgbClr val="B8BBBF"/>
                </a:solidFill>
                <a:latin typeface="Arial" panose="020B0604020202020204" pitchFamily="34" charset="0"/>
              </a:defRPr>
            </a:lvl4pPr>
            <a:lvl5pPr marL="2057400" indent="-228600">
              <a:spcBef>
                <a:spcPct val="20000"/>
              </a:spcBef>
              <a:buChar char="»"/>
              <a:defRPr sz="2000">
                <a:solidFill>
                  <a:srgbClr val="B8BBB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B8BBB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B8BBB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B8BBB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B8BBBF"/>
                </a:solidFill>
                <a:latin typeface="Arial" panose="020B0604020202020204" pitchFamily="34" charset="0"/>
              </a:defRPr>
            </a:lvl9pPr>
          </a:lstStyle>
          <a:p>
            <a:pPr>
              <a:spcBef>
                <a:spcPct val="0"/>
              </a:spcBef>
              <a:buFontTx/>
              <a:buNone/>
            </a:pPr>
            <a:fld id="{E5CEBA17-050D-4650-9D26-B8E28499E750}" type="slidenum">
              <a:rPr lang="en-US" altLang="en-US" sz="1400">
                <a:solidFill>
                  <a:srgbClr val="E62D33"/>
                </a:solidFill>
              </a:rPr>
              <a:pPr>
                <a:spcBef>
                  <a:spcPct val="0"/>
                </a:spcBef>
                <a:buFontTx/>
                <a:buNone/>
              </a:pPr>
              <a:t>12</a:t>
            </a:fld>
            <a:endParaRPr lang="en-US" altLang="en-US" sz="1400">
              <a:solidFill>
                <a:srgbClr val="E62D33"/>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lstStyle/>
          <a:p>
            <a:pPr eaLnBrk="1" hangingPunct="1"/>
            <a:r>
              <a:rPr lang="en-US" altLang="en-US"/>
              <a:t>The Wideband Delphi Process</a:t>
            </a:r>
          </a:p>
        </p:txBody>
      </p:sp>
      <p:sp>
        <p:nvSpPr>
          <p:cNvPr id="33796" name="Rectangle 3"/>
          <p:cNvSpPr>
            <a:spLocks noGrp="1" noChangeArrowheads="1"/>
          </p:cNvSpPr>
          <p:nvPr>
            <p:ph idx="1"/>
          </p:nvPr>
        </p:nvSpPr>
        <p:spPr/>
        <p:txBody>
          <a:bodyPr/>
          <a:lstStyle/>
          <a:p>
            <a:pPr eaLnBrk="1" hangingPunct="1">
              <a:defRPr/>
            </a:pPr>
            <a:r>
              <a:rPr lang="en-US" altLang="en-US" sz="2800" dirty="0"/>
              <a:t>Step 4: Estimation Session</a:t>
            </a:r>
          </a:p>
          <a:p>
            <a:pPr lvl="1" eaLnBrk="1" hangingPunct="1">
              <a:defRPr/>
            </a:pPr>
            <a:r>
              <a:rPr lang="en-US" altLang="en-US" sz="2400" dirty="0">
                <a:solidFill>
                  <a:schemeClr val="accent1">
                    <a:lumMod val="75000"/>
                  </a:schemeClr>
                </a:solidFill>
              </a:rPr>
              <a:t>During the estimation session, the team comes to a consensus on the effort required for each task in the WBS</a:t>
            </a:r>
            <a:r>
              <a:rPr lang="en-US" altLang="en-US" sz="2400" dirty="0"/>
              <a:t>.</a:t>
            </a:r>
          </a:p>
          <a:p>
            <a:pPr lvl="1" eaLnBrk="1" hangingPunct="1">
              <a:defRPr/>
            </a:pPr>
            <a:r>
              <a:rPr lang="en-US" altLang="en-US" sz="2400" dirty="0"/>
              <a:t>Each team member fills out an estimation form which contains his estimates.</a:t>
            </a:r>
          </a:p>
          <a:p>
            <a:pPr lvl="1" eaLnBrk="1" hangingPunct="1">
              <a:defRPr/>
            </a:pPr>
            <a:r>
              <a:rPr lang="en-US" altLang="en-US" sz="2400" dirty="0"/>
              <a:t>The rest of the estimation session is divided into rounds during which each estimation team member revises her estimates based on a group discussion. Individual numbers are not discussed.</a:t>
            </a:r>
          </a:p>
        </p:txBody>
      </p:sp>
      <p:sp>
        <p:nvSpPr>
          <p:cNvPr id="39938" name="Slide Number Placeholder 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sz="3200">
                <a:solidFill>
                  <a:srgbClr val="B8BBBF"/>
                </a:solidFill>
                <a:latin typeface="Arial" panose="020B0604020202020204" pitchFamily="34" charset="0"/>
              </a:defRPr>
            </a:lvl1pPr>
            <a:lvl2pPr marL="742950" indent="-285750">
              <a:spcBef>
                <a:spcPct val="20000"/>
              </a:spcBef>
              <a:buFont typeface="Wingdings 3" panose="05040102010807070707" pitchFamily="18" charset="2"/>
              <a:buChar char="w"/>
              <a:defRPr sz="2800">
                <a:solidFill>
                  <a:srgbClr val="B8BBBF"/>
                </a:solidFill>
                <a:latin typeface="Arial" panose="020B0604020202020204" pitchFamily="34" charset="0"/>
              </a:defRPr>
            </a:lvl2pPr>
            <a:lvl3pPr marL="1143000" indent="-228600">
              <a:spcBef>
                <a:spcPct val="20000"/>
              </a:spcBef>
              <a:buChar char="•"/>
              <a:defRPr sz="2400">
                <a:solidFill>
                  <a:srgbClr val="B8BBBF"/>
                </a:solidFill>
                <a:latin typeface="Arial" panose="020B0604020202020204" pitchFamily="34" charset="0"/>
              </a:defRPr>
            </a:lvl3pPr>
            <a:lvl4pPr marL="1600200" indent="-228600">
              <a:spcBef>
                <a:spcPct val="20000"/>
              </a:spcBef>
              <a:buChar char="–"/>
              <a:defRPr sz="2000">
                <a:solidFill>
                  <a:srgbClr val="B8BBBF"/>
                </a:solidFill>
                <a:latin typeface="Arial" panose="020B0604020202020204" pitchFamily="34" charset="0"/>
              </a:defRPr>
            </a:lvl4pPr>
            <a:lvl5pPr marL="2057400" indent="-228600">
              <a:spcBef>
                <a:spcPct val="20000"/>
              </a:spcBef>
              <a:buChar char="»"/>
              <a:defRPr sz="2000">
                <a:solidFill>
                  <a:srgbClr val="B8BBB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B8BBB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B8BBB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B8BBB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B8BBBF"/>
                </a:solidFill>
                <a:latin typeface="Arial" panose="020B0604020202020204" pitchFamily="34" charset="0"/>
              </a:defRPr>
            </a:lvl9pPr>
          </a:lstStyle>
          <a:p>
            <a:pPr>
              <a:spcBef>
                <a:spcPct val="0"/>
              </a:spcBef>
              <a:buFontTx/>
              <a:buNone/>
            </a:pPr>
            <a:fld id="{85956C40-A5D2-4FF2-86DC-2F43F79BBC1E}" type="slidenum">
              <a:rPr lang="en-US" altLang="en-US" sz="1400">
                <a:solidFill>
                  <a:srgbClr val="E62D33"/>
                </a:solidFill>
              </a:rPr>
              <a:pPr>
                <a:spcBef>
                  <a:spcPct val="0"/>
                </a:spcBef>
                <a:buFontTx/>
                <a:buNone/>
              </a:pPr>
              <a:t>13</a:t>
            </a:fld>
            <a:endParaRPr lang="en-US" altLang="en-US" sz="1400">
              <a:solidFill>
                <a:srgbClr val="E62D33"/>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lstStyle/>
          <a:p>
            <a:pPr eaLnBrk="1" hangingPunct="1"/>
            <a:r>
              <a:rPr lang="en-US" altLang="en-US"/>
              <a:t>The Wideband Delphi Process</a:t>
            </a:r>
          </a:p>
        </p:txBody>
      </p:sp>
      <p:sp>
        <p:nvSpPr>
          <p:cNvPr id="41988" name="Rectangle 3"/>
          <p:cNvSpPr>
            <a:spLocks noGrp="1" noChangeArrowheads="1"/>
          </p:cNvSpPr>
          <p:nvPr>
            <p:ph type="body" sz="half" idx="1"/>
          </p:nvPr>
        </p:nvSpPr>
        <p:spPr/>
        <p:txBody>
          <a:bodyPr/>
          <a:lstStyle/>
          <a:p>
            <a:pPr eaLnBrk="1" hangingPunct="1"/>
            <a:r>
              <a:rPr lang="en-US" altLang="en-US" sz="2800"/>
              <a:t>Step 4: Estimation Session (continued)</a:t>
            </a:r>
          </a:p>
          <a:p>
            <a:pPr lvl="1" eaLnBrk="1" hangingPunct="1"/>
            <a:r>
              <a:rPr lang="en-US" altLang="en-US" sz="2400"/>
              <a:t>The moderator collects the estimation forms and plots the sum of the effort from each form on a line:</a:t>
            </a:r>
          </a:p>
          <a:p>
            <a:pPr lvl="1" eaLnBrk="1" hangingPunct="1"/>
            <a:endParaRPr lang="en-US" altLang="en-US" sz="2400"/>
          </a:p>
        </p:txBody>
      </p:sp>
      <p:pic>
        <p:nvPicPr>
          <p:cNvPr id="41989" name="Picture 9" descr="Figure 3-3 (Initial Estimates) 72dpi"/>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a:xfrm>
            <a:off x="1978140" y="4114800"/>
            <a:ext cx="5187720" cy="1981200"/>
          </a:xfrm>
          <a:noFill/>
        </p:spPr>
      </p:pic>
      <p:sp>
        <p:nvSpPr>
          <p:cNvPr id="41986" name="Slide Number Placeholder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4"/>
              </a:buBlip>
              <a:defRPr sz="3200">
                <a:solidFill>
                  <a:srgbClr val="B8BBBF"/>
                </a:solidFill>
                <a:latin typeface="Arial" panose="020B0604020202020204" pitchFamily="34" charset="0"/>
              </a:defRPr>
            </a:lvl1pPr>
            <a:lvl2pPr marL="742950" indent="-285750">
              <a:spcBef>
                <a:spcPct val="20000"/>
              </a:spcBef>
              <a:buFont typeface="Wingdings 3" panose="05040102010807070707" pitchFamily="18" charset="2"/>
              <a:buChar char="w"/>
              <a:defRPr sz="2800">
                <a:solidFill>
                  <a:srgbClr val="B8BBBF"/>
                </a:solidFill>
                <a:latin typeface="Arial" panose="020B0604020202020204" pitchFamily="34" charset="0"/>
              </a:defRPr>
            </a:lvl2pPr>
            <a:lvl3pPr marL="1143000" indent="-228600">
              <a:spcBef>
                <a:spcPct val="20000"/>
              </a:spcBef>
              <a:buChar char="•"/>
              <a:defRPr sz="2400">
                <a:solidFill>
                  <a:srgbClr val="B8BBBF"/>
                </a:solidFill>
                <a:latin typeface="Arial" panose="020B0604020202020204" pitchFamily="34" charset="0"/>
              </a:defRPr>
            </a:lvl3pPr>
            <a:lvl4pPr marL="1600200" indent="-228600">
              <a:spcBef>
                <a:spcPct val="20000"/>
              </a:spcBef>
              <a:buChar char="–"/>
              <a:defRPr sz="2000">
                <a:solidFill>
                  <a:srgbClr val="B8BBBF"/>
                </a:solidFill>
                <a:latin typeface="Arial" panose="020B0604020202020204" pitchFamily="34" charset="0"/>
              </a:defRPr>
            </a:lvl4pPr>
            <a:lvl5pPr marL="2057400" indent="-228600">
              <a:spcBef>
                <a:spcPct val="20000"/>
              </a:spcBef>
              <a:buChar char="»"/>
              <a:defRPr sz="2000">
                <a:solidFill>
                  <a:srgbClr val="B8BBB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B8BBB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B8BBB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B8BBB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B8BBBF"/>
                </a:solidFill>
                <a:latin typeface="Arial" panose="020B0604020202020204" pitchFamily="34" charset="0"/>
              </a:defRPr>
            </a:lvl9pPr>
          </a:lstStyle>
          <a:p>
            <a:pPr>
              <a:spcBef>
                <a:spcPct val="0"/>
              </a:spcBef>
              <a:buFontTx/>
              <a:buNone/>
            </a:pPr>
            <a:fld id="{992DE34A-E655-4476-8B39-734F559513F6}" type="slidenum">
              <a:rPr lang="en-US" altLang="en-US" sz="1400">
                <a:solidFill>
                  <a:srgbClr val="E62D33"/>
                </a:solidFill>
              </a:rPr>
              <a:pPr>
                <a:spcBef>
                  <a:spcPct val="0"/>
                </a:spcBef>
                <a:buFontTx/>
                <a:buNone/>
              </a:pPr>
              <a:t>14</a:t>
            </a:fld>
            <a:endParaRPr lang="en-US" altLang="en-US" sz="1400">
              <a:solidFill>
                <a:srgbClr val="E62D33"/>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pPr eaLnBrk="1" hangingPunct="1"/>
            <a:r>
              <a:rPr lang="en-US" altLang="en-US"/>
              <a:t>The Wideband Delphi Process</a:t>
            </a:r>
          </a:p>
        </p:txBody>
      </p:sp>
      <p:sp>
        <p:nvSpPr>
          <p:cNvPr id="44036" name="Rectangle 3"/>
          <p:cNvSpPr>
            <a:spLocks noGrp="1" noChangeArrowheads="1"/>
          </p:cNvSpPr>
          <p:nvPr>
            <p:ph type="body" sz="half" idx="1"/>
          </p:nvPr>
        </p:nvSpPr>
        <p:spPr/>
        <p:txBody>
          <a:bodyPr>
            <a:normAutofit lnSpcReduction="10000"/>
          </a:bodyPr>
          <a:lstStyle/>
          <a:p>
            <a:pPr eaLnBrk="1" hangingPunct="1">
              <a:lnSpc>
                <a:spcPct val="80000"/>
              </a:lnSpc>
            </a:pPr>
            <a:r>
              <a:rPr lang="en-US" altLang="en-US" sz="2000" dirty="0"/>
              <a:t>Step 4: Estimation Session (continued)</a:t>
            </a:r>
          </a:p>
          <a:p>
            <a:pPr lvl="1" eaLnBrk="1" hangingPunct="1">
              <a:lnSpc>
                <a:spcPct val="80000"/>
              </a:lnSpc>
            </a:pPr>
            <a:r>
              <a:rPr lang="en-US" altLang="en-US" sz="1800" dirty="0"/>
              <a:t>The team resolves any issues or disagreements that are brought up. </a:t>
            </a:r>
          </a:p>
          <a:p>
            <a:pPr lvl="2" eaLnBrk="1" hangingPunct="1">
              <a:lnSpc>
                <a:spcPct val="80000"/>
              </a:lnSpc>
            </a:pPr>
            <a:r>
              <a:rPr lang="en-US" altLang="en-US" sz="1600" dirty="0"/>
              <a:t>Individual estimate times are not discussed. These disagreements are usually about the tasks themselves. Disagreements are often resolved by adding assumptions.</a:t>
            </a:r>
          </a:p>
          <a:p>
            <a:pPr lvl="1" eaLnBrk="1" hangingPunct="1">
              <a:lnSpc>
                <a:spcPct val="80000"/>
              </a:lnSpc>
            </a:pPr>
            <a:r>
              <a:rPr lang="en-US" altLang="en-US" sz="1800" dirty="0"/>
              <a:t>The estimators all revise their individual estimates. The moderator updates the plot with the new total:</a:t>
            </a:r>
          </a:p>
          <a:p>
            <a:pPr lvl="1" eaLnBrk="1" hangingPunct="1">
              <a:lnSpc>
                <a:spcPct val="80000"/>
              </a:lnSpc>
            </a:pPr>
            <a:r>
              <a:rPr lang="en-US" altLang="en-US" sz="1800" dirty="0"/>
              <a:t>Goal: to achieve the max Convergence. </a:t>
            </a:r>
          </a:p>
          <a:p>
            <a:pPr lvl="1" eaLnBrk="1" hangingPunct="1">
              <a:lnSpc>
                <a:spcPct val="80000"/>
              </a:lnSpc>
            </a:pPr>
            <a:endParaRPr lang="en-US" altLang="en-US" sz="1800" dirty="0"/>
          </a:p>
          <a:p>
            <a:pPr lvl="1" eaLnBrk="1" hangingPunct="1">
              <a:lnSpc>
                <a:spcPct val="80000"/>
              </a:lnSpc>
            </a:pPr>
            <a:endParaRPr lang="en-US" altLang="en-US" sz="1800" dirty="0"/>
          </a:p>
          <a:p>
            <a:pPr lvl="1" eaLnBrk="1" hangingPunct="1">
              <a:lnSpc>
                <a:spcPct val="80000"/>
              </a:lnSpc>
            </a:pPr>
            <a:endParaRPr lang="en-US" altLang="en-US" sz="1800" dirty="0"/>
          </a:p>
        </p:txBody>
      </p:sp>
      <p:pic>
        <p:nvPicPr>
          <p:cNvPr id="44037" name="Picture 6" descr="Figure 3-4 (Converging estimate results) 72dpi"/>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a:xfrm>
            <a:off x="799657" y="4114800"/>
            <a:ext cx="7544685" cy="1981200"/>
          </a:xfrm>
          <a:noFill/>
        </p:spPr>
      </p:pic>
      <p:sp>
        <p:nvSpPr>
          <p:cNvPr id="44034" name="Slide Number Placeholder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4"/>
              </a:buBlip>
              <a:defRPr sz="3200">
                <a:solidFill>
                  <a:srgbClr val="B8BBBF"/>
                </a:solidFill>
                <a:latin typeface="Arial" panose="020B0604020202020204" pitchFamily="34" charset="0"/>
              </a:defRPr>
            </a:lvl1pPr>
            <a:lvl2pPr marL="742950" indent="-285750">
              <a:spcBef>
                <a:spcPct val="20000"/>
              </a:spcBef>
              <a:buFont typeface="Wingdings 3" panose="05040102010807070707" pitchFamily="18" charset="2"/>
              <a:buChar char="w"/>
              <a:defRPr sz="2800">
                <a:solidFill>
                  <a:srgbClr val="B8BBBF"/>
                </a:solidFill>
                <a:latin typeface="Arial" panose="020B0604020202020204" pitchFamily="34" charset="0"/>
              </a:defRPr>
            </a:lvl2pPr>
            <a:lvl3pPr marL="1143000" indent="-228600">
              <a:spcBef>
                <a:spcPct val="20000"/>
              </a:spcBef>
              <a:buChar char="•"/>
              <a:defRPr sz="2400">
                <a:solidFill>
                  <a:srgbClr val="B8BBBF"/>
                </a:solidFill>
                <a:latin typeface="Arial" panose="020B0604020202020204" pitchFamily="34" charset="0"/>
              </a:defRPr>
            </a:lvl3pPr>
            <a:lvl4pPr marL="1600200" indent="-228600">
              <a:spcBef>
                <a:spcPct val="20000"/>
              </a:spcBef>
              <a:buChar char="–"/>
              <a:defRPr sz="2000">
                <a:solidFill>
                  <a:srgbClr val="B8BBBF"/>
                </a:solidFill>
                <a:latin typeface="Arial" panose="020B0604020202020204" pitchFamily="34" charset="0"/>
              </a:defRPr>
            </a:lvl4pPr>
            <a:lvl5pPr marL="2057400" indent="-228600">
              <a:spcBef>
                <a:spcPct val="20000"/>
              </a:spcBef>
              <a:buChar char="»"/>
              <a:defRPr sz="2000">
                <a:solidFill>
                  <a:srgbClr val="B8BBB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B8BBB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B8BBB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B8BBB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B8BBBF"/>
                </a:solidFill>
                <a:latin typeface="Arial" panose="020B0604020202020204" pitchFamily="34" charset="0"/>
              </a:defRPr>
            </a:lvl9pPr>
          </a:lstStyle>
          <a:p>
            <a:pPr>
              <a:spcBef>
                <a:spcPct val="0"/>
              </a:spcBef>
              <a:buFontTx/>
              <a:buNone/>
            </a:pPr>
            <a:fld id="{B49071FB-5399-428B-B0AC-B584A9FC80DB}" type="slidenum">
              <a:rPr lang="en-US" altLang="en-US" sz="1400">
                <a:solidFill>
                  <a:srgbClr val="E62D33"/>
                </a:solidFill>
              </a:rPr>
              <a:pPr>
                <a:spcBef>
                  <a:spcPct val="0"/>
                </a:spcBef>
                <a:buFontTx/>
                <a:buNone/>
              </a:pPr>
              <a:t>15</a:t>
            </a:fld>
            <a:endParaRPr lang="en-US" altLang="en-US" sz="1400">
              <a:solidFill>
                <a:srgbClr val="E62D33"/>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pPr eaLnBrk="1" hangingPunct="1"/>
            <a:r>
              <a:rPr lang="en-US" altLang="en-US"/>
              <a:t>The Wideband Delphi Process</a:t>
            </a:r>
          </a:p>
        </p:txBody>
      </p:sp>
      <p:sp>
        <p:nvSpPr>
          <p:cNvPr id="46084" name="Rectangle 3"/>
          <p:cNvSpPr>
            <a:spLocks noGrp="1" noChangeArrowheads="1"/>
          </p:cNvSpPr>
          <p:nvPr>
            <p:ph idx="1"/>
          </p:nvPr>
        </p:nvSpPr>
        <p:spPr/>
        <p:txBody>
          <a:bodyPr>
            <a:normAutofit lnSpcReduction="10000"/>
          </a:bodyPr>
          <a:lstStyle/>
          <a:p>
            <a:pPr algn="just" eaLnBrk="1" hangingPunct="1">
              <a:lnSpc>
                <a:spcPct val="90000"/>
              </a:lnSpc>
            </a:pPr>
            <a:r>
              <a:rPr lang="en-US" altLang="en-US" sz="2400" dirty="0"/>
              <a:t>Step 4: Estimation Session (continued): </a:t>
            </a:r>
          </a:p>
          <a:p>
            <a:pPr lvl="1" algn="just" eaLnBrk="1" hangingPunct="1">
              <a:lnSpc>
                <a:spcPct val="90000"/>
              </a:lnSpc>
            </a:pPr>
            <a:r>
              <a:rPr lang="en-US" altLang="en-US" sz="2000" dirty="0"/>
              <a:t>The moderator leads the team through several rounds of estimates to gain consensus on the estimates. The estimation session continues until the estimates converge or the team is unwilling to revise estimates.</a:t>
            </a:r>
          </a:p>
          <a:p>
            <a:pPr lvl="1" algn="just" eaLnBrk="1" hangingPunct="1">
              <a:lnSpc>
                <a:spcPct val="90000"/>
              </a:lnSpc>
            </a:pPr>
            <a:r>
              <a:rPr lang="en-US" altLang="en-US" sz="2000" dirty="0"/>
              <a:t>Delta sheet could also be formed by showing the variation in estimates after a round. </a:t>
            </a:r>
          </a:p>
          <a:p>
            <a:pPr algn="just" eaLnBrk="1" hangingPunct="1">
              <a:lnSpc>
                <a:spcPct val="90000"/>
              </a:lnSpc>
            </a:pPr>
            <a:r>
              <a:rPr lang="en-US" altLang="en-US" sz="2400" dirty="0"/>
              <a:t>Step 5: Assemble Tasks</a:t>
            </a:r>
          </a:p>
          <a:p>
            <a:pPr lvl="1" algn="just" eaLnBrk="1" hangingPunct="1">
              <a:lnSpc>
                <a:spcPct val="90000"/>
              </a:lnSpc>
            </a:pPr>
            <a:r>
              <a:rPr lang="en-US" altLang="en-US" sz="2000" dirty="0"/>
              <a:t>The project manager works with the team to collect the estimates from the team members at the end of the meeting and compiles the final task list, estimates and assumptions.</a:t>
            </a:r>
          </a:p>
          <a:p>
            <a:pPr algn="just" eaLnBrk="1" hangingPunct="1">
              <a:lnSpc>
                <a:spcPct val="90000"/>
              </a:lnSpc>
            </a:pPr>
            <a:r>
              <a:rPr lang="en-US" altLang="en-US" sz="2400" dirty="0"/>
              <a:t>Step 6: Review Results</a:t>
            </a:r>
          </a:p>
          <a:p>
            <a:pPr lvl="1" algn="just" eaLnBrk="1" hangingPunct="1">
              <a:lnSpc>
                <a:spcPct val="90000"/>
              </a:lnSpc>
            </a:pPr>
            <a:r>
              <a:rPr lang="en-US" altLang="en-US" sz="2000" dirty="0"/>
              <a:t>The project manager reviews the final task list with the estimation team.</a:t>
            </a:r>
          </a:p>
          <a:p>
            <a:pPr lvl="1" algn="just" eaLnBrk="1" hangingPunct="1">
              <a:lnSpc>
                <a:spcPct val="90000"/>
              </a:lnSpc>
            </a:pPr>
            <a:endParaRPr lang="en-US" altLang="en-US" sz="2000" dirty="0"/>
          </a:p>
        </p:txBody>
      </p:sp>
      <p:sp>
        <p:nvSpPr>
          <p:cNvPr id="46082" name="Slide Number Placeholder 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sz="3200">
                <a:solidFill>
                  <a:srgbClr val="B8BBBF"/>
                </a:solidFill>
                <a:latin typeface="Arial" panose="020B0604020202020204" pitchFamily="34" charset="0"/>
              </a:defRPr>
            </a:lvl1pPr>
            <a:lvl2pPr marL="742950" indent="-285750">
              <a:spcBef>
                <a:spcPct val="20000"/>
              </a:spcBef>
              <a:buFont typeface="Wingdings 3" panose="05040102010807070707" pitchFamily="18" charset="2"/>
              <a:buChar char="w"/>
              <a:defRPr sz="2800">
                <a:solidFill>
                  <a:srgbClr val="B8BBBF"/>
                </a:solidFill>
                <a:latin typeface="Arial" panose="020B0604020202020204" pitchFamily="34" charset="0"/>
              </a:defRPr>
            </a:lvl2pPr>
            <a:lvl3pPr marL="1143000" indent="-228600">
              <a:spcBef>
                <a:spcPct val="20000"/>
              </a:spcBef>
              <a:buChar char="•"/>
              <a:defRPr sz="2400">
                <a:solidFill>
                  <a:srgbClr val="B8BBBF"/>
                </a:solidFill>
                <a:latin typeface="Arial" panose="020B0604020202020204" pitchFamily="34" charset="0"/>
              </a:defRPr>
            </a:lvl3pPr>
            <a:lvl4pPr marL="1600200" indent="-228600">
              <a:spcBef>
                <a:spcPct val="20000"/>
              </a:spcBef>
              <a:buChar char="–"/>
              <a:defRPr sz="2000">
                <a:solidFill>
                  <a:srgbClr val="B8BBBF"/>
                </a:solidFill>
                <a:latin typeface="Arial" panose="020B0604020202020204" pitchFamily="34" charset="0"/>
              </a:defRPr>
            </a:lvl4pPr>
            <a:lvl5pPr marL="2057400" indent="-228600">
              <a:spcBef>
                <a:spcPct val="20000"/>
              </a:spcBef>
              <a:buChar char="»"/>
              <a:defRPr sz="2000">
                <a:solidFill>
                  <a:srgbClr val="B8BBB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B8BBB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B8BBB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B8BBB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B8BBBF"/>
                </a:solidFill>
                <a:latin typeface="Arial" panose="020B0604020202020204" pitchFamily="34" charset="0"/>
              </a:defRPr>
            </a:lvl9pPr>
          </a:lstStyle>
          <a:p>
            <a:pPr>
              <a:spcBef>
                <a:spcPct val="0"/>
              </a:spcBef>
              <a:buFontTx/>
              <a:buNone/>
            </a:pPr>
            <a:fld id="{E25DE023-9578-4F58-A0A6-E37D1EF557ED}" type="slidenum">
              <a:rPr lang="en-US" altLang="en-US" sz="1400">
                <a:solidFill>
                  <a:srgbClr val="E62D33"/>
                </a:solidFill>
              </a:rPr>
              <a:pPr>
                <a:spcBef>
                  <a:spcPct val="0"/>
                </a:spcBef>
                <a:buFontTx/>
                <a:buNone/>
              </a:pPr>
              <a:t>16</a:t>
            </a:fld>
            <a:endParaRPr lang="en-US" altLang="en-US" sz="1400">
              <a:solidFill>
                <a:srgbClr val="E62D33"/>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a:xfrm>
            <a:off x="1524000" y="210907"/>
            <a:ext cx="9677400" cy="1325563"/>
          </a:xfrm>
        </p:spPr>
        <p:txBody>
          <a:bodyPr/>
          <a:lstStyle/>
          <a:p>
            <a:pPr eaLnBrk="1" hangingPunct="1"/>
            <a:r>
              <a:rPr lang="en-US" altLang="en-US" dirty="0"/>
              <a:t>Case study</a:t>
            </a:r>
          </a:p>
        </p:txBody>
      </p:sp>
      <p:sp>
        <p:nvSpPr>
          <p:cNvPr id="46082" name="Slide Number Placeholder 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sz="3200">
                <a:solidFill>
                  <a:srgbClr val="B8BBBF"/>
                </a:solidFill>
                <a:latin typeface="Arial" panose="020B0604020202020204" pitchFamily="34" charset="0"/>
              </a:defRPr>
            </a:lvl1pPr>
            <a:lvl2pPr marL="742950" indent="-285750">
              <a:spcBef>
                <a:spcPct val="20000"/>
              </a:spcBef>
              <a:buFont typeface="Wingdings 3" panose="05040102010807070707" pitchFamily="18" charset="2"/>
              <a:buChar char="w"/>
              <a:defRPr sz="2800">
                <a:solidFill>
                  <a:srgbClr val="B8BBBF"/>
                </a:solidFill>
                <a:latin typeface="Arial" panose="020B0604020202020204" pitchFamily="34" charset="0"/>
              </a:defRPr>
            </a:lvl2pPr>
            <a:lvl3pPr marL="1143000" indent="-228600">
              <a:spcBef>
                <a:spcPct val="20000"/>
              </a:spcBef>
              <a:buChar char="•"/>
              <a:defRPr sz="2400">
                <a:solidFill>
                  <a:srgbClr val="B8BBBF"/>
                </a:solidFill>
                <a:latin typeface="Arial" panose="020B0604020202020204" pitchFamily="34" charset="0"/>
              </a:defRPr>
            </a:lvl3pPr>
            <a:lvl4pPr marL="1600200" indent="-228600">
              <a:spcBef>
                <a:spcPct val="20000"/>
              </a:spcBef>
              <a:buChar char="–"/>
              <a:defRPr sz="2000">
                <a:solidFill>
                  <a:srgbClr val="B8BBBF"/>
                </a:solidFill>
                <a:latin typeface="Arial" panose="020B0604020202020204" pitchFamily="34" charset="0"/>
              </a:defRPr>
            </a:lvl4pPr>
            <a:lvl5pPr marL="2057400" indent="-228600">
              <a:spcBef>
                <a:spcPct val="20000"/>
              </a:spcBef>
              <a:buChar char="»"/>
              <a:defRPr sz="2000">
                <a:solidFill>
                  <a:srgbClr val="B8BBB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B8BBB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B8BBB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B8BBB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B8BBBF"/>
                </a:solidFill>
                <a:latin typeface="Arial" panose="020B0604020202020204" pitchFamily="34" charset="0"/>
              </a:defRPr>
            </a:lvl9pPr>
          </a:lstStyle>
          <a:p>
            <a:pPr>
              <a:spcBef>
                <a:spcPct val="0"/>
              </a:spcBef>
              <a:buFontTx/>
              <a:buNone/>
            </a:pPr>
            <a:fld id="{E25DE023-9578-4F58-A0A6-E37D1EF557ED}" type="slidenum">
              <a:rPr lang="en-US" altLang="en-US" sz="1400">
                <a:solidFill>
                  <a:srgbClr val="E62D33"/>
                </a:solidFill>
              </a:rPr>
              <a:pPr>
                <a:spcBef>
                  <a:spcPct val="0"/>
                </a:spcBef>
                <a:buFontTx/>
                <a:buNone/>
              </a:pPr>
              <a:t>17</a:t>
            </a:fld>
            <a:endParaRPr lang="en-US" altLang="en-US" sz="1400">
              <a:solidFill>
                <a:srgbClr val="E62D33"/>
              </a:solidFill>
            </a:endParaRPr>
          </a:p>
        </p:txBody>
      </p:sp>
      <p:pic>
        <p:nvPicPr>
          <p:cNvPr id="2" name="Picture 1"/>
          <p:cNvPicPr>
            <a:picLocks noChangeAspect="1"/>
          </p:cNvPicPr>
          <p:nvPr/>
        </p:nvPicPr>
        <p:blipFill>
          <a:blip r:embed="rId4"/>
          <a:stretch>
            <a:fillRect/>
          </a:stretch>
        </p:blipFill>
        <p:spPr>
          <a:xfrm>
            <a:off x="466725" y="1536470"/>
            <a:ext cx="8210550" cy="4799166"/>
          </a:xfrm>
          <a:prstGeom prst="rect">
            <a:avLst/>
          </a:prstGeom>
        </p:spPr>
      </p:pic>
    </p:spTree>
    <p:extLst>
      <p:ext uri="{BB962C8B-B14F-4D97-AF65-F5344CB8AC3E}">
        <p14:creationId xmlns:p14="http://schemas.microsoft.com/office/powerpoint/2010/main" val="1452071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a:xfrm>
            <a:off x="1524000" y="76200"/>
            <a:ext cx="7886700" cy="1325563"/>
          </a:xfrm>
        </p:spPr>
        <p:txBody>
          <a:bodyPr/>
          <a:lstStyle/>
          <a:p>
            <a:pPr eaLnBrk="1" hangingPunct="1"/>
            <a:r>
              <a:rPr lang="en-US" altLang="en-US" dirty="0"/>
              <a:t> Solution</a:t>
            </a:r>
          </a:p>
        </p:txBody>
      </p:sp>
      <p:sp>
        <p:nvSpPr>
          <p:cNvPr id="46082" name="Slide Number Placeholder 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sz="3200">
                <a:solidFill>
                  <a:srgbClr val="B8BBBF"/>
                </a:solidFill>
                <a:latin typeface="Arial" panose="020B0604020202020204" pitchFamily="34" charset="0"/>
              </a:defRPr>
            </a:lvl1pPr>
            <a:lvl2pPr marL="742950" indent="-285750">
              <a:spcBef>
                <a:spcPct val="20000"/>
              </a:spcBef>
              <a:buFont typeface="Wingdings 3" panose="05040102010807070707" pitchFamily="18" charset="2"/>
              <a:buChar char="w"/>
              <a:defRPr sz="2800">
                <a:solidFill>
                  <a:srgbClr val="B8BBBF"/>
                </a:solidFill>
                <a:latin typeface="Arial" panose="020B0604020202020204" pitchFamily="34" charset="0"/>
              </a:defRPr>
            </a:lvl2pPr>
            <a:lvl3pPr marL="1143000" indent="-228600">
              <a:spcBef>
                <a:spcPct val="20000"/>
              </a:spcBef>
              <a:buChar char="•"/>
              <a:defRPr sz="2400">
                <a:solidFill>
                  <a:srgbClr val="B8BBBF"/>
                </a:solidFill>
                <a:latin typeface="Arial" panose="020B0604020202020204" pitchFamily="34" charset="0"/>
              </a:defRPr>
            </a:lvl3pPr>
            <a:lvl4pPr marL="1600200" indent="-228600">
              <a:spcBef>
                <a:spcPct val="20000"/>
              </a:spcBef>
              <a:buChar char="–"/>
              <a:defRPr sz="2000">
                <a:solidFill>
                  <a:srgbClr val="B8BBBF"/>
                </a:solidFill>
                <a:latin typeface="Arial" panose="020B0604020202020204" pitchFamily="34" charset="0"/>
              </a:defRPr>
            </a:lvl4pPr>
            <a:lvl5pPr marL="2057400" indent="-228600">
              <a:spcBef>
                <a:spcPct val="20000"/>
              </a:spcBef>
              <a:buChar char="»"/>
              <a:defRPr sz="2000">
                <a:solidFill>
                  <a:srgbClr val="B8BBB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B8BBB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B8BBB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B8BBB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B8BBBF"/>
                </a:solidFill>
                <a:latin typeface="Arial" panose="020B0604020202020204" pitchFamily="34" charset="0"/>
              </a:defRPr>
            </a:lvl9pPr>
          </a:lstStyle>
          <a:p>
            <a:pPr>
              <a:spcBef>
                <a:spcPct val="0"/>
              </a:spcBef>
              <a:buFontTx/>
              <a:buNone/>
            </a:pPr>
            <a:fld id="{E25DE023-9578-4F58-A0A6-E37D1EF557ED}" type="slidenum">
              <a:rPr lang="en-US" altLang="en-US" sz="1400">
                <a:solidFill>
                  <a:srgbClr val="E62D33"/>
                </a:solidFill>
              </a:rPr>
              <a:pPr>
                <a:spcBef>
                  <a:spcPct val="0"/>
                </a:spcBef>
                <a:buFontTx/>
                <a:buNone/>
              </a:pPr>
              <a:t>18</a:t>
            </a:fld>
            <a:endParaRPr lang="en-US" altLang="en-US" sz="1400">
              <a:solidFill>
                <a:srgbClr val="E62D33"/>
              </a:solidFill>
            </a:endParaRPr>
          </a:p>
        </p:txBody>
      </p:sp>
      <p:pic>
        <p:nvPicPr>
          <p:cNvPr id="3" name="Picture 2"/>
          <p:cNvPicPr>
            <a:picLocks noChangeAspect="1"/>
          </p:cNvPicPr>
          <p:nvPr/>
        </p:nvPicPr>
        <p:blipFill>
          <a:blip r:embed="rId4"/>
          <a:stretch>
            <a:fillRect/>
          </a:stretch>
        </p:blipFill>
        <p:spPr>
          <a:xfrm>
            <a:off x="610155" y="1524016"/>
            <a:ext cx="7543245" cy="5197459"/>
          </a:xfrm>
          <a:prstGeom prst="rect">
            <a:avLst/>
          </a:prstGeom>
        </p:spPr>
      </p:pic>
    </p:spTree>
    <p:extLst>
      <p:ext uri="{BB962C8B-B14F-4D97-AF65-F5344CB8AC3E}">
        <p14:creationId xmlns:p14="http://schemas.microsoft.com/office/powerpoint/2010/main" val="241371073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946</TotalTime>
  <Words>923</Words>
  <Application>Microsoft Office PowerPoint</Application>
  <PresentationFormat>On-screen Show (4:3)</PresentationFormat>
  <Paragraphs>154</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Times New Roman</vt:lpstr>
      <vt:lpstr>Wingdings 3</vt:lpstr>
      <vt:lpstr>Office Theme</vt:lpstr>
      <vt:lpstr>Software Project Estimation (wideband Delphi estimation technique)</vt:lpstr>
      <vt:lpstr>What is Project Estimation?</vt:lpstr>
      <vt:lpstr>Need for Project Estimation</vt:lpstr>
      <vt:lpstr>Need for Project Estimation</vt:lpstr>
      <vt:lpstr>Estimation techniques</vt:lpstr>
      <vt:lpstr>PowerPoint Presentation</vt:lpstr>
      <vt:lpstr>Assumptions Make Estimates More Accurate</vt:lpstr>
      <vt:lpstr>Wideband Delphi</vt:lpstr>
      <vt:lpstr>Delphi Technique</vt:lpstr>
      <vt:lpstr>The Wideband Delphi Process</vt:lpstr>
      <vt:lpstr>The Wideband Delphi Process</vt:lpstr>
      <vt:lpstr>The Wideband Delphi Process</vt:lpstr>
      <vt:lpstr>The Wideband Delphi Process</vt:lpstr>
      <vt:lpstr>The Wideband Delphi Process</vt:lpstr>
      <vt:lpstr>The Wideband Delphi Process</vt:lpstr>
      <vt:lpstr>The Wideband Delphi Process</vt:lpstr>
      <vt:lpstr>Case study</vt:lpstr>
      <vt:lpstr> Solution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Hajra  Ahmed</cp:lastModifiedBy>
  <cp:revision>207</cp:revision>
  <dcterms:created xsi:type="dcterms:W3CDTF">1601-01-01T00:00:00Z</dcterms:created>
  <dcterms:modified xsi:type="dcterms:W3CDTF">2026-02-17T06:44:59Z</dcterms:modified>
</cp:coreProperties>
</file>