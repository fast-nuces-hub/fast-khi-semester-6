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9"/>
  </p:notes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320" r:id="rId11"/>
    <p:sldId id="271" r:id="rId12"/>
    <p:sldId id="339" r:id="rId13"/>
    <p:sldId id="340" r:id="rId14"/>
    <p:sldId id="260" r:id="rId15"/>
    <p:sldId id="265" r:id="rId16"/>
    <p:sldId id="259" r:id="rId17"/>
    <p:sldId id="341" r:id="rId18"/>
    <p:sldId id="342" r:id="rId19"/>
    <p:sldId id="261" r:id="rId20"/>
    <p:sldId id="262" r:id="rId21"/>
    <p:sldId id="343" r:id="rId22"/>
    <p:sldId id="301" r:id="rId23"/>
    <p:sldId id="303" r:id="rId24"/>
    <p:sldId id="344" r:id="rId25"/>
    <p:sldId id="345" r:id="rId26"/>
    <p:sldId id="305" r:id="rId27"/>
    <p:sldId id="263" r:id="rId28"/>
    <p:sldId id="306" r:id="rId29"/>
    <p:sldId id="307" r:id="rId30"/>
    <p:sldId id="283" r:id="rId31"/>
    <p:sldId id="295" r:id="rId32"/>
    <p:sldId id="346" r:id="rId33"/>
    <p:sldId id="318" r:id="rId34"/>
    <p:sldId id="287" r:id="rId35"/>
    <p:sldId id="309" r:id="rId36"/>
    <p:sldId id="331" r:id="rId37"/>
    <p:sldId id="332" r:id="rId38"/>
    <p:sldId id="313" r:id="rId39"/>
    <p:sldId id="293" r:id="rId40"/>
    <p:sldId id="294" r:id="rId41"/>
    <p:sldId id="310" r:id="rId42"/>
    <p:sldId id="311" r:id="rId43"/>
    <p:sldId id="257" r:id="rId44"/>
    <p:sldId id="258" r:id="rId45"/>
    <p:sldId id="347" r:id="rId46"/>
    <p:sldId id="348" r:id="rId47"/>
    <p:sldId id="349" r:id="rId48"/>
    <p:sldId id="350" r:id="rId49"/>
    <p:sldId id="351" r:id="rId50"/>
    <p:sldId id="266" r:id="rId51"/>
    <p:sldId id="267" r:id="rId52"/>
    <p:sldId id="268" r:id="rId53"/>
    <p:sldId id="269" r:id="rId54"/>
    <p:sldId id="270" r:id="rId55"/>
    <p:sldId id="352" r:id="rId56"/>
    <p:sldId id="272" r:id="rId57"/>
    <p:sldId id="353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2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4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ABD6A-C609-4239-B4FC-C37099D7025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83ABA9-D4E4-4E0D-9AD2-7838FB507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88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085B0-4B11-40FF-87E7-F204FD90554B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2/3/2026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9B40A3-8C98-7643-999B-D2E4C4DFCA8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5479522"/>
      </p:ext>
    </p:extLst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>
                <a:solidFill>
                  <a:srgbClr val="46424D"/>
                </a:solidFill>
                <a:latin typeface="Arial"/>
                <a:cs typeface="Arial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>
                <a:solidFill>
                  <a:srgbClr val="46424D"/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rgbClr val="46424D"/>
                </a:solidFill>
                <a:latin typeface="Arial"/>
                <a:cs typeface="Arial"/>
              </a:defRPr>
            </a:lvl3pPr>
            <a:lvl4pPr>
              <a:defRPr sz="1800">
                <a:solidFill>
                  <a:srgbClr val="46424D"/>
                </a:solidFill>
                <a:latin typeface="Arial"/>
                <a:cs typeface="Arial"/>
              </a:defRPr>
            </a:lvl4pPr>
            <a:lvl5pPr>
              <a:defRPr sz="1800">
                <a:solidFill>
                  <a:srgbClr val="46424D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A8B138-B6E8-4B9A-A22F-8FB820768E3B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2/3/2026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D720AD-0A16-4141-82CA-5619F80A2BC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209408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3BED54-0F40-4B3B-8A44-C9ADB7B39A5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2/3/2026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37AF1E-9B18-0243-8AD1-50A6A8AC0AC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602919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383717-B2DA-4175-839E-77086602A64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2/3/2026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8BC69-CB41-DD44-A638-C4F95AA942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6221587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D6D444-A0FA-408C-975B-8447EE93226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2/3/2026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2 Software Processes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43444D-6BBE-FA46-910D-A293AF635E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8393075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E430C3-638F-4D00-9ECE-2AAA8D2DAAB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2/3/2026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2 Software Processes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DD7DD-CC47-414C-BF78-C5251FE0B0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3993645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3CCA64-C60A-4B07-B33D-4289802374B8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2/3/2026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2 Software Processes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B78AD6-5F3D-BA44-875A-31E2927FBE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6163741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1F0B49-7BBF-4D3C-B6FD-291B649F621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2/3/2026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E9686C-6E28-9A40-BAFE-97DC9D1AE64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6784457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 dirty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DB4B99-C21D-4146-A2B3-745C05D6EFC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2/3/2026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5899C-C9DE-4C43-812F-DCCD705BC8B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6365963"/>
      </p:ext>
    </p:extLst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756368-D318-4434-A59B-CA4073951E5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2/3/2026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6ACDAE-E963-2B45-BB51-53CEBFE15BA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861621"/>
      </p:ext>
    </p:extLst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EB1C62-E2B7-4D9D-8809-281AA8BBA038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2/3/2026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4D119D-3673-024B-9609-A7D5472222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8205856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9724309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BD3-ABFB-4EDE-A38F-E1D963757568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2/3/2026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E67C1E-A116-FA4E-B295-2EE9C41BDD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09601" y="1419226"/>
            <a:ext cx="9741073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ommerville Cover.jp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910" y="213186"/>
            <a:ext cx="1231725" cy="121935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609600" y="1417638"/>
            <a:ext cx="1095603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03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/>
          <a:ea typeface="ＭＳ Ｐゴシック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2544793" y="2596252"/>
            <a:ext cx="6280030" cy="1470025"/>
          </a:xfrm>
        </p:spPr>
        <p:txBody>
          <a:bodyPr/>
          <a:lstStyle/>
          <a:p>
            <a:r>
              <a:rPr lang="en-US" dirty="0"/>
              <a:t>Chapter 3 – Agile Software Development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973D278-956A-2946-9CE2-9D3773855556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35288641-6347-455A-A23A-BB219CAA6464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2/3/2026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4821802"/>
      </p:ext>
    </p:extLst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Rapid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870276" cy="4525963"/>
          </a:xfrm>
        </p:spPr>
        <p:txBody>
          <a:bodyPr/>
          <a:lstStyle/>
          <a:p>
            <a:pPr algn="just"/>
            <a:r>
              <a:rPr lang="en-US" b="1" dirty="0"/>
              <a:t>Business needs may change rapidly </a:t>
            </a:r>
          </a:p>
          <a:p>
            <a:pPr marL="0" indent="0" algn="just">
              <a:buNone/>
            </a:pPr>
            <a:r>
              <a:rPr lang="en-US" dirty="0"/>
              <a:t>-&gt; no stable requirements -&gt; software has to change quickly to adapt these changes -&gt; rapid development and delivery is the most important requirement for software systems</a:t>
            </a:r>
          </a:p>
          <a:p>
            <a:pPr algn="just"/>
            <a:r>
              <a:rPr lang="en-US" b="1" dirty="0"/>
              <a:t>Requirements may change after software delivery </a:t>
            </a:r>
            <a:r>
              <a:rPr lang="en-US" dirty="0"/>
              <a:t>as the UX will help in improving design. Sometimes, external factors ,may lead to system change. </a:t>
            </a:r>
          </a:p>
          <a:p>
            <a:pPr lvl="1" algn="just"/>
            <a:r>
              <a:rPr lang="en-US" dirty="0"/>
              <a:t>For example, a live streaming application with low bandwidth issue.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just"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algn="just" defTabSz="457200">
                <a:defRPr/>
              </a:pPr>
              <a:t>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just" defTabSz="457200">
              <a:defRPr/>
            </a:pPr>
            <a:fld id="{5731AA6D-1F96-4C60-884D-0C92BE890BA6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2/3/2026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875795"/>
      </p:ext>
    </p:extLst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Rapid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33871"/>
            <a:ext cx="10903527" cy="45259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Plan-driven development:</a:t>
            </a:r>
          </a:p>
          <a:p>
            <a:pPr lvl="1" indent="-342900"/>
            <a:r>
              <a:rPr lang="en-US" dirty="0"/>
              <a:t>Could be helpful for some types of system but it </a:t>
            </a:r>
            <a:r>
              <a:rPr lang="en-US" b="1" dirty="0"/>
              <a:t>can not meet the rapidly changing business needs.</a:t>
            </a:r>
          </a:p>
          <a:p>
            <a:pPr lvl="1" indent="-342900"/>
            <a:r>
              <a:rPr lang="en-US" b="1" dirty="0"/>
              <a:t>Can be helpful for some safety critical systems</a:t>
            </a:r>
          </a:p>
          <a:p>
            <a:pPr lvl="1" indent="-342900" algn="just"/>
            <a:r>
              <a:rPr lang="en-US" dirty="0"/>
              <a:t>Using plan driven approach for software that have rapid changing business requirements might led to a delayed software product that would become obsolete after deployment.</a:t>
            </a:r>
          </a:p>
          <a:p>
            <a:r>
              <a:rPr lang="en-US" dirty="0"/>
              <a:t>Agile development:</a:t>
            </a:r>
          </a:p>
          <a:p>
            <a:pPr lvl="1"/>
            <a:r>
              <a:rPr lang="en-US" dirty="0"/>
              <a:t>methods emerged in the late 1990s, whose aim was to radically </a:t>
            </a:r>
            <a:r>
              <a:rPr lang="en-US" b="1" dirty="0"/>
              <a:t>reduce the delivery time for working software systems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F19736B4-425A-44BD-921E-C432EC164553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2/3/2026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8950383"/>
      </p:ext>
    </p:extLst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191565" cy="5058052"/>
          </a:xfrm>
        </p:spPr>
        <p:txBody>
          <a:bodyPr/>
          <a:lstStyle/>
          <a:p>
            <a:r>
              <a:rPr lang="en-US" b="1" dirty="0"/>
              <a:t>Program specification, design and implementation are inter-leaved</a:t>
            </a:r>
          </a:p>
          <a:p>
            <a:r>
              <a:rPr lang="en-US" dirty="0"/>
              <a:t>The system is </a:t>
            </a:r>
            <a:r>
              <a:rPr lang="en-US" b="1" dirty="0"/>
              <a:t>developed as a series of versions or increments with stakeholders involved in version specification and evaluation</a:t>
            </a:r>
          </a:p>
          <a:p>
            <a:r>
              <a:rPr lang="en-US" b="1" dirty="0"/>
              <a:t>Frequent delivery of new versions for evaluation every 2-3 weeks</a:t>
            </a:r>
          </a:p>
          <a:p>
            <a:r>
              <a:rPr lang="en-US" dirty="0"/>
              <a:t>Extensive tool support to speedup the development process (e.g. automated testing tools, configuration/integration tools) e.g. selenium </a:t>
            </a:r>
          </a:p>
          <a:p>
            <a:r>
              <a:rPr lang="en-US" b="1" dirty="0"/>
              <a:t>Minimize documentation overhead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1910E2C8-00D3-4576-85FC-72D6033EAA5A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2/3/2026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3089870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Plan-driven and agile development comparison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4" name="Picture 3" descr="3.2 PlanBasedAgile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751" y="1785249"/>
            <a:ext cx="5731937" cy="435799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48D68E36-A104-443C-8792-66CD200EA2F4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2/3/2026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2573877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819965" cy="5058052"/>
          </a:xfrm>
        </p:spPr>
        <p:txBody>
          <a:bodyPr/>
          <a:lstStyle/>
          <a:p>
            <a:r>
              <a:rPr lang="en-US" dirty="0"/>
              <a:t>Agile consider design &amp; implementation as main activity.</a:t>
            </a:r>
          </a:p>
          <a:p>
            <a:r>
              <a:rPr lang="en-US" dirty="0"/>
              <a:t>Requirement elicitation &amp; testing are merged into the design &amp; implementation phase.</a:t>
            </a:r>
          </a:p>
          <a:p>
            <a:r>
              <a:rPr lang="en-US" dirty="0"/>
              <a:t>Issue?</a:t>
            </a:r>
          </a:p>
          <a:p>
            <a:pPr lvl="1"/>
            <a:r>
              <a:rPr lang="en-US" dirty="0"/>
              <a:t>We can’t keep track of the change in requirements as no official documents have been made</a:t>
            </a:r>
          </a:p>
          <a:p>
            <a:r>
              <a:rPr lang="en-US" dirty="0"/>
              <a:t>So plan-driven / Agile ? </a:t>
            </a:r>
          </a:p>
          <a:p>
            <a:pPr lvl="1"/>
            <a:r>
              <a:rPr lang="en-US" dirty="0"/>
              <a:t>So a better approach is that the plan driven model may work in increments &amp; agile methodology may focus a bit to documentation as well.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8AC934DB-7D64-44AB-8FDE-640EDBF5E5EF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2/3/2026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002206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55838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Agile methods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7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346784FE-4329-4DAE-B9C6-3547BF806135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2/3/2026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4200676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Agile methods</a:t>
            </a:r>
          </a:p>
        </p:txBody>
      </p:sp>
      <p:sp>
        <p:nvSpPr>
          <p:cNvPr id="116633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17639"/>
            <a:ext cx="10972800" cy="4743465"/>
          </a:xfrm>
        </p:spPr>
        <p:txBody>
          <a:bodyPr/>
          <a:lstStyle/>
          <a:p>
            <a:pPr algn="just"/>
            <a:r>
              <a:rPr lang="en-US" dirty="0"/>
              <a:t>Characteristics:</a:t>
            </a:r>
          </a:p>
          <a:p>
            <a:pPr lvl="1" algn="just"/>
            <a:r>
              <a:rPr lang="en-US" b="1" dirty="0"/>
              <a:t>Focus on the code rather than the design</a:t>
            </a:r>
          </a:p>
          <a:p>
            <a:pPr lvl="1" algn="just"/>
            <a:r>
              <a:rPr lang="en-US" dirty="0"/>
              <a:t>Are based on an </a:t>
            </a:r>
            <a:r>
              <a:rPr lang="en-US" b="1" dirty="0"/>
              <a:t>iterative approach to software development</a:t>
            </a:r>
          </a:p>
          <a:p>
            <a:pPr lvl="1" algn="just"/>
            <a:r>
              <a:rPr lang="en-US" dirty="0"/>
              <a:t>Are </a:t>
            </a:r>
            <a:r>
              <a:rPr lang="en-US" b="1" dirty="0"/>
              <a:t>intended to deliver working software quickly </a:t>
            </a:r>
            <a:r>
              <a:rPr lang="en-US" dirty="0"/>
              <a:t>and evolve this quickly to meet changing requirements.</a:t>
            </a:r>
          </a:p>
          <a:p>
            <a:pPr algn="just"/>
            <a:r>
              <a:rPr lang="en-US" dirty="0"/>
              <a:t>Aim:</a:t>
            </a:r>
          </a:p>
          <a:p>
            <a:pPr lvl="1" algn="just"/>
            <a:r>
              <a:rPr lang="en-US" b="1" dirty="0"/>
              <a:t>reduce overheads </a:t>
            </a:r>
            <a:r>
              <a:rPr lang="en-US" dirty="0"/>
              <a:t>in the software process (e.g. by </a:t>
            </a:r>
            <a:r>
              <a:rPr lang="en-US" b="1" dirty="0"/>
              <a:t>limiting documentation</a:t>
            </a:r>
            <a:r>
              <a:rPr lang="en-US" dirty="0"/>
              <a:t>)</a:t>
            </a:r>
          </a:p>
          <a:p>
            <a:pPr lvl="1" algn="just"/>
            <a:r>
              <a:rPr lang="en-US" b="1" dirty="0"/>
              <a:t>able to respond quickly to changing requirements </a:t>
            </a:r>
            <a:r>
              <a:rPr lang="en-US" dirty="0"/>
              <a:t>without excessive rework.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8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1DE7A0FF-E303-4E93-94AA-C58C4D53F53F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2/3/2026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4108934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principles of agile methods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65158"/>
              </p:ext>
            </p:extLst>
          </p:nvPr>
        </p:nvGraphicFramePr>
        <p:xfrm>
          <a:off x="609600" y="1661728"/>
          <a:ext cx="10972800" cy="4494194"/>
        </p:xfrm>
        <a:graphic>
          <a:graphicData uri="http://schemas.openxmlformats.org/drawingml/2006/table">
            <a:tbl>
              <a:tblPr/>
              <a:tblGrid>
                <a:gridCol w="3052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3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646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Principle</a:t>
                      </a:r>
                    </a:p>
                  </a:txBody>
                  <a:tcPr marL="73025" marR="73025" marT="9144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Description</a:t>
                      </a:r>
                    </a:p>
                  </a:txBody>
                  <a:tcPr marL="73025" marR="73025" marT="9144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5110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Customer involvement 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Customers should be closely involved throughout the development process. Their role is provide and prioritize new system requirements and to evaluate the iterations of the system.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349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Incremental delivery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The software is developed in increments with the customer specifying the requirements to be included in each increment.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2531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People not process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The skills of the development team should be recognized and exploited. </a:t>
                      </a: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Team members should be left to develop their own ways of working without prescriptive processes.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953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Embrace change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Expect the system requirements to change and so design the system to accommodate these changes.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2531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Maintain simplicity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Focus on simplicity in both the software being developed and in the development process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. Wherever possible, actively work to eliminate complexity from the system.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F046AAA7-E06A-457C-B9DC-7D518C8C24C0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2/3/2026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9355450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154238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Agile development techniques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10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7CFF244B-3D2B-4777-81F4-5D2D157D75C6}" type="datetime8">
              <a:rPr lang="en-PK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02/03/2026 10:59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3893865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Extreme programming</a:t>
            </a:r>
          </a:p>
        </p:txBody>
      </p:sp>
      <p:sp>
        <p:nvSpPr>
          <p:cNvPr id="1168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Extreme Programming (XP) takes an ‘extreme’ approach to iterative development. 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Requirements are expressed as scenarios </a:t>
            </a:r>
            <a:r>
              <a:rPr lang="en-US" dirty="0"/>
              <a:t>(also user stories)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Deliver modules in </a:t>
            </a:r>
            <a:r>
              <a:rPr lang="en-US" b="1" dirty="0"/>
              <a:t>increments</a:t>
            </a:r>
            <a:r>
              <a:rPr lang="en-US" dirty="0"/>
              <a:t>;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All </a:t>
            </a:r>
            <a:r>
              <a:rPr lang="en-US" b="1" dirty="0"/>
              <a:t>tests must be run for every build </a:t>
            </a:r>
            <a:r>
              <a:rPr lang="en-US" dirty="0"/>
              <a:t>and the build is only accepted if tests run successfully.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11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71DB7D49-6E1D-4675-BBF7-31DBE52357FF}" type="datetime8">
              <a:rPr lang="en-PK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02/03/2026 10:59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Extreme programming</a:t>
            </a:r>
          </a:p>
        </p:txBody>
      </p:sp>
      <p:sp>
        <p:nvSpPr>
          <p:cNvPr id="116838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06501"/>
            <a:ext cx="11087819" cy="5514975"/>
          </a:xfrm>
        </p:spPr>
        <p:txBody>
          <a:bodyPr/>
          <a:lstStyle/>
          <a:p>
            <a:pPr marL="0" indent="-400050" algn="just">
              <a:lnSpc>
                <a:spcPct val="90000"/>
              </a:lnSpc>
              <a:buNone/>
            </a:pPr>
            <a:endParaRPr lang="en-US" dirty="0"/>
          </a:p>
          <a:p>
            <a:pPr algn="just">
              <a:lnSpc>
                <a:spcPct val="90000"/>
              </a:lnSpc>
            </a:pPr>
            <a:r>
              <a:rPr lang="en-US" dirty="0"/>
              <a:t>Use </a:t>
            </a:r>
            <a:r>
              <a:rPr lang="en-US" b="1" dirty="0"/>
              <a:t>frequent iteration for developing User Stories.</a:t>
            </a:r>
          </a:p>
          <a:p>
            <a:pPr algn="just">
              <a:lnSpc>
                <a:spcPct val="90000"/>
              </a:lnSpc>
            </a:pPr>
            <a:r>
              <a:rPr lang="en-US" b="1" dirty="0"/>
              <a:t>User stories</a:t>
            </a:r>
            <a:r>
              <a:rPr lang="en-US" dirty="0"/>
              <a:t>: simple and informal statements of the customer about the functionalities needed. 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On User stories, the project team proposes </a:t>
            </a:r>
            <a:r>
              <a:rPr lang="en-US" b="1" dirty="0"/>
              <a:t>Metaphors</a:t>
            </a:r>
            <a:r>
              <a:rPr lang="en-US" dirty="0"/>
              <a:t> (show how system would work?).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The development team may decide to build a </a:t>
            </a:r>
            <a:r>
              <a:rPr lang="en-US" b="1" dirty="0"/>
              <a:t>Spike</a:t>
            </a:r>
            <a:r>
              <a:rPr lang="en-US" dirty="0"/>
              <a:t> for some feature.</a:t>
            </a:r>
          </a:p>
          <a:p>
            <a:pPr algn="just">
              <a:lnSpc>
                <a:spcPct val="90000"/>
              </a:lnSpc>
            </a:pPr>
            <a:r>
              <a:rPr lang="en-US" b="1" dirty="0"/>
              <a:t>Spike</a:t>
            </a:r>
            <a:r>
              <a:rPr lang="en-US" dirty="0"/>
              <a:t>: very simple program that is constructed to explore the suitability of the proposed solution (similar to prototype). 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12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BFC34302-4898-45B0-8314-B4EED0E1ABBA}" type="datetime8">
              <a:rPr lang="en-PK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02/03/2026 10:59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5138952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Extreme programming</a:t>
            </a:r>
          </a:p>
        </p:txBody>
      </p:sp>
      <p:sp>
        <p:nvSpPr>
          <p:cNvPr id="116838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417639"/>
            <a:ext cx="8229600" cy="5514975"/>
          </a:xfrm>
        </p:spPr>
        <p:txBody>
          <a:bodyPr/>
          <a:lstStyle/>
          <a:p>
            <a:pPr marL="0" indent="-400050" algn="just">
              <a:lnSpc>
                <a:spcPct val="90000"/>
              </a:lnSpc>
              <a:buNone/>
            </a:pPr>
            <a:endParaRPr lang="en-US" dirty="0"/>
          </a:p>
          <a:p>
            <a:pPr algn="just">
              <a:lnSpc>
                <a:spcPct val="90000"/>
              </a:lnSpc>
            </a:pPr>
            <a:r>
              <a:rPr lang="en-US" dirty="0"/>
              <a:t>Activities in XP: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listening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Designing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Coding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Testing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Feedback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Applications that uses XP: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Small scale project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Project using new technology/ research based projects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06C63894-C316-4A84-B581-8E5F2AA60D3F}" type="datetime8">
              <a:rPr lang="en-PK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02/03/2026 10:59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4632568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Extreme programming practices (a)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14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580272"/>
          <a:ext cx="10972800" cy="4679679"/>
        </p:xfrm>
        <a:graphic>
          <a:graphicData uri="http://schemas.openxmlformats.org/drawingml/2006/table">
            <a:tbl>
              <a:tblPr/>
              <a:tblGrid>
                <a:gridCol w="3109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2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672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Principle or practice</a:t>
                      </a:r>
                    </a:p>
                  </a:txBody>
                  <a:tcPr marL="73025" marR="73025" marT="9144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Description</a:t>
                      </a:r>
                    </a:p>
                  </a:txBody>
                  <a:tcPr marL="73025" marR="73025" marT="9144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3847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Incremental planning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Requirements are recorded on story cards</a:t>
                      </a:r>
                    </a:p>
                    <a:p>
                      <a:pPr marL="285750" marR="0" lvl="0" indent="-28575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T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he stories to be included in a release are determined by the time available and their relative priority. </a:t>
                      </a:r>
                    </a:p>
                    <a:p>
                      <a:pPr marL="285750" marR="0" lvl="0" indent="-28575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The developers break these stories into development ‘Tasks’. 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5457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Small releases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The minimal useful set of functionality is developed first. 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Releases of the system are frequent 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and incrementally add functionality to the first release.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676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Simple design 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Enough design is carried out to meet the current requirements and no more.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067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Test-first development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An </a:t>
                      </a: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automated unit test framework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 is used </a:t>
                      </a: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to write tests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 for a new piece of functionality before that functionality itself is implemented.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067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Refactoring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All developers are expected to </a:t>
                      </a: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refactor the code continuously 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as soon as possible code improvements are found. This keeps the code simple and maintainable.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e.g., a function may get deprecated.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4A1A131D-477C-4631-8AEA-1EC1C3497CB2}" type="datetime8">
              <a:rPr lang="en-PK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02/03/2026 10:59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Extreme programming practices (</a:t>
            </a:r>
            <a:r>
              <a:rPr lang="en-US" dirty="0" err="1"/>
              <a:t>b</a:t>
            </a:r>
            <a:r>
              <a:rPr lang="en-US" dirty="0"/>
              <a:t>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15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670703"/>
          <a:ext cx="10972800" cy="419669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052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25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b="0" dirty="0">
                          <a:latin typeface="Arial"/>
                          <a:cs typeface="Arial"/>
                        </a:rPr>
                        <a:t>Pair programming</a:t>
                      </a:r>
                      <a:endParaRPr lang="en-GB" sz="1600" b="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b="1" dirty="0">
                          <a:latin typeface="Arial"/>
                          <a:cs typeface="Arial"/>
                        </a:rPr>
                        <a:t>Developers work in pairs</a:t>
                      </a:r>
                      <a:r>
                        <a:rPr lang="en-GB" sz="1600" b="0" dirty="0">
                          <a:latin typeface="Arial"/>
                          <a:cs typeface="Arial"/>
                        </a:rPr>
                        <a:t>, checking each other’s work and providing the support to always do a good job.</a:t>
                      </a:r>
                      <a:endParaRPr lang="en-GB" sz="1600" b="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2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Collective ownership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The pairs of developers work on all areas of the system so that no islands of expertise develop, and </a:t>
                      </a:r>
                      <a:r>
                        <a:rPr lang="en-GB" sz="1600" b="1" dirty="0">
                          <a:latin typeface="Arial"/>
                          <a:cs typeface="Arial"/>
                        </a:rPr>
                        <a:t>all the developers take responsibility for all the code</a:t>
                      </a:r>
                      <a:r>
                        <a:rPr lang="en-GB" sz="1600" dirty="0">
                          <a:latin typeface="Arial"/>
                          <a:cs typeface="Arial"/>
                        </a:rPr>
                        <a:t>. Anyone can change anything.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1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Continuous integration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As soon as the work on a </a:t>
                      </a:r>
                      <a:r>
                        <a:rPr lang="en-GB" sz="1600" b="1" dirty="0">
                          <a:latin typeface="Arial"/>
                          <a:cs typeface="Arial"/>
                        </a:rPr>
                        <a:t>task is complete</a:t>
                      </a:r>
                      <a:r>
                        <a:rPr lang="en-GB" sz="1600" dirty="0">
                          <a:latin typeface="Arial"/>
                          <a:cs typeface="Arial"/>
                        </a:rPr>
                        <a:t>, it is </a:t>
                      </a:r>
                      <a:r>
                        <a:rPr lang="en-GB" sz="1600" b="1" dirty="0">
                          <a:latin typeface="Arial"/>
                          <a:cs typeface="Arial"/>
                        </a:rPr>
                        <a:t>integrated into the whole system</a:t>
                      </a:r>
                      <a:r>
                        <a:rPr lang="en-GB" sz="1600" dirty="0">
                          <a:latin typeface="Arial"/>
                          <a:cs typeface="Arial"/>
                        </a:rPr>
                        <a:t>. After any such integration, all the unit tests in the system must pass.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993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On-site customer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600" dirty="0">
                          <a:latin typeface="Arial"/>
                          <a:cs typeface="Arial"/>
                        </a:rPr>
                        <a:t>A representative of the end-user of the system (the </a:t>
                      </a:r>
                      <a:r>
                        <a:rPr lang="en-GB" sz="1600" b="1" dirty="0">
                          <a:latin typeface="Arial"/>
                          <a:cs typeface="Arial"/>
                        </a:rPr>
                        <a:t>customer</a:t>
                      </a:r>
                      <a:r>
                        <a:rPr lang="en-GB" sz="1600" dirty="0">
                          <a:latin typeface="Arial"/>
                          <a:cs typeface="Arial"/>
                        </a:rPr>
                        <a:t>) should be </a:t>
                      </a:r>
                      <a:r>
                        <a:rPr lang="en-GB" sz="1600" b="1" dirty="0">
                          <a:latin typeface="Arial"/>
                          <a:cs typeface="Arial"/>
                        </a:rPr>
                        <a:t>available full time for the use of the XP team</a:t>
                      </a:r>
                      <a:r>
                        <a:rPr lang="en-GB" sz="1600" dirty="0">
                          <a:latin typeface="Arial"/>
                          <a:cs typeface="Arial"/>
                        </a:rPr>
                        <a:t>. In an extreme programming process, the customer is a member of the development team and is responsible for bringing system requirements to the team for implementation.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1A7BC5E2-3ED8-49EB-8704-351C97B14E6D}" type="datetime8">
              <a:rPr lang="en-PK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02/03/2026 10:59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extreme programming release cycle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16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4" name="Picture 3" descr="3.3-XP-ReleaseCycle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428" y="2372086"/>
            <a:ext cx="6558005" cy="285627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D330EA55-F215-4FEF-AC1D-5CA8E905E1D3}" type="datetime8">
              <a:rPr lang="en-PK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02/03/2026 10:59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 for requirements</a:t>
            </a:r>
          </a:p>
        </p:txBody>
      </p:sp>
      <p:sp>
        <p:nvSpPr>
          <p:cNvPr id="1170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User requirements are expressed as </a:t>
            </a:r>
            <a:r>
              <a:rPr lang="en-US" b="1" dirty="0"/>
              <a:t>user stories </a:t>
            </a:r>
            <a:r>
              <a:rPr lang="en-US" dirty="0"/>
              <a:t>or scenarios.</a:t>
            </a:r>
          </a:p>
          <a:p>
            <a:pPr algn="just"/>
            <a:r>
              <a:rPr lang="en-US" b="1" dirty="0"/>
              <a:t>written on cards</a:t>
            </a:r>
            <a:r>
              <a:rPr lang="en-US" dirty="0"/>
              <a:t>; known as Task cards.</a:t>
            </a:r>
          </a:p>
          <a:p>
            <a:pPr algn="just"/>
            <a:r>
              <a:rPr lang="en-US" dirty="0"/>
              <a:t>Development team performs </a:t>
            </a:r>
            <a:r>
              <a:rPr lang="en-US" b="1" dirty="0"/>
              <a:t>tasks’ breakdown</a:t>
            </a:r>
            <a:r>
              <a:rPr lang="en-US" dirty="0"/>
              <a:t> </a:t>
            </a:r>
            <a:r>
              <a:rPr lang="en-US" b="1" dirty="0"/>
              <a:t>based on deadline and cost estimates.</a:t>
            </a:r>
          </a:p>
          <a:p>
            <a:pPr algn="just"/>
            <a:r>
              <a:rPr lang="en-US" b="1" dirty="0"/>
              <a:t>The customer chooses the stories for inclusion in the next release based on their priorities and the schedule estimates.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17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D5F25E8A-80B6-4EB3-86F7-3F7DF013F0A0}" type="datetime8">
              <a:rPr lang="en-PK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02/03/2026 10:59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 for requirements</a:t>
            </a:r>
          </a:p>
        </p:txBody>
      </p:sp>
      <p:sp>
        <p:nvSpPr>
          <p:cNvPr id="1170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This user stories idea is much helpful than working with traditional long requirement documents.  </a:t>
            </a:r>
          </a:p>
          <a:p>
            <a:pPr algn="just"/>
            <a:r>
              <a:rPr lang="en-US" dirty="0"/>
              <a:t>Challenges:</a:t>
            </a:r>
          </a:p>
          <a:p>
            <a:pPr lvl="1" algn="just"/>
            <a:r>
              <a:rPr lang="en-US" dirty="0"/>
              <a:t>Completeness.</a:t>
            </a:r>
          </a:p>
          <a:p>
            <a:pPr lvl="1" algn="just"/>
            <a:r>
              <a:rPr lang="en-US" dirty="0"/>
              <a:t>Will the story cover all aspects of an activity?</a:t>
            </a:r>
          </a:p>
          <a:p>
            <a:pPr lvl="1" algn="just"/>
            <a:r>
              <a:rPr lang="en-US" dirty="0"/>
              <a:t> Does The number of proposed user stories cover the whole system requirements?</a:t>
            </a:r>
          </a:p>
          <a:p>
            <a:pPr algn="just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18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7A0CC2F1-09AA-4BDF-94B9-3D6E767A163A}" type="datetime8">
              <a:rPr lang="en-PK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02/03/2026 10:59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4505823"/>
      </p:ext>
    </p:extLst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 for a travel website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19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C137C266-4410-461E-9947-A77982D4DDE4}" type="datetime8">
              <a:rPr lang="en-PK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02/03/2026 10:59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1026" name="Picture 2" descr="17 Useful user story examples to get you started - Justinmind">
            <a:extLst>
              <a:ext uri="{FF2B5EF4-FFF2-40B4-BE49-F238E27FC236}">
                <a16:creationId xmlns:a16="http://schemas.microsoft.com/office/drawing/2014/main" id="{7FA6545E-91FF-E6C4-8648-7ABDAF3B7B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0" t="17072" r="49973" b="43763"/>
          <a:stretch/>
        </p:blipFill>
        <p:spPr bwMode="auto">
          <a:xfrm>
            <a:off x="7746520" y="1457863"/>
            <a:ext cx="4218317" cy="213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17 Useful user story examples to get you started - Justinmind">
            <a:extLst>
              <a:ext uri="{FF2B5EF4-FFF2-40B4-BE49-F238E27FC236}">
                <a16:creationId xmlns:a16="http://schemas.microsoft.com/office/drawing/2014/main" id="{AFAF6370-22B5-5065-21B1-4981D9D253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4" t="56237" r="58426" b="10465"/>
          <a:stretch/>
        </p:blipFill>
        <p:spPr bwMode="auto">
          <a:xfrm>
            <a:off x="8381448" y="4398857"/>
            <a:ext cx="3266094" cy="1811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8DBC1CF8-2826-B345-3CA1-50734AC31B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4582" y="1755561"/>
            <a:ext cx="10972800" cy="2497349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dirty="0"/>
              <a:t>Task 1: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Sign up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Login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Check for the availability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Reserve the room</a:t>
            </a:r>
          </a:p>
          <a:p>
            <a:pPr lvl="1" algn="just">
              <a:lnSpc>
                <a:spcPct val="90000"/>
              </a:lnSpc>
            </a:pPr>
            <a:endParaRPr lang="en-US" dirty="0"/>
          </a:p>
          <a:p>
            <a:pPr lvl="1" algn="just">
              <a:lnSpc>
                <a:spcPct val="90000"/>
              </a:lnSpc>
            </a:pPr>
            <a:endParaRPr lang="en-US" dirty="0"/>
          </a:p>
          <a:p>
            <a:pPr marL="457200" lvl="1" indent="0" algn="just">
              <a:lnSpc>
                <a:spcPct val="90000"/>
              </a:lnSpc>
              <a:buNone/>
            </a:pPr>
            <a:endParaRPr lang="en-US" dirty="0"/>
          </a:p>
          <a:p>
            <a:pPr algn="just">
              <a:lnSpc>
                <a:spcPct val="90000"/>
              </a:lnSpc>
            </a:pPr>
            <a:r>
              <a:rPr lang="en-US" dirty="0"/>
              <a:t>Task 2: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Cancel the reservation &amp; pay penalty charges, if any 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An email is sent to the Front Desk manager for room availability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A cancellation email is sent to the client.</a:t>
            </a: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cards for the travel website?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20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151124EE-D06F-4E2C-9736-62CD6BA765E4}" type="datetime8">
              <a:rPr lang="en-PK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02/03/2026 10:59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9E75E56-1A41-7D6B-1788-BB30E7A8E7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1"/>
            <a:ext cx="10972800" cy="4525963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dirty="0"/>
              <a:t>Task 3:</a:t>
            </a:r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go to the phot library</a:t>
            </a:r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Select a hotel from the available options</a:t>
            </a:r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Check for the photo dumps</a:t>
            </a:r>
          </a:p>
          <a:p>
            <a:pPr algn="just">
              <a:lnSpc>
                <a:spcPct val="90000"/>
              </a:lnSpc>
            </a:pPr>
            <a:endParaRPr lang="en-US" dirty="0"/>
          </a:p>
          <a:p>
            <a:pPr algn="just">
              <a:lnSpc>
                <a:spcPct val="90000"/>
              </a:lnSpc>
            </a:pPr>
            <a:endParaRPr lang="en-US" dirty="0"/>
          </a:p>
          <a:p>
            <a:pPr marL="0" indent="0" algn="just">
              <a:lnSpc>
                <a:spcPct val="90000"/>
              </a:lnSpc>
              <a:buNone/>
            </a:pPr>
            <a:endParaRPr lang="en-US" dirty="0"/>
          </a:p>
          <a:p>
            <a:pPr algn="just">
              <a:lnSpc>
                <a:spcPct val="90000"/>
              </a:lnSpc>
            </a:pPr>
            <a:r>
              <a:rPr lang="en-US" dirty="0"/>
              <a:t>Task 4:</a:t>
            </a:r>
          </a:p>
        </p:txBody>
      </p:sp>
      <p:pic>
        <p:nvPicPr>
          <p:cNvPr id="7" name="Picture 2" descr="17 Useful user story examples to get you started - Justinmind">
            <a:extLst>
              <a:ext uri="{FF2B5EF4-FFF2-40B4-BE49-F238E27FC236}">
                <a16:creationId xmlns:a16="http://schemas.microsoft.com/office/drawing/2014/main" id="{360302CD-CA15-95E9-26C0-FDD9DD50BB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10" t="19847" r="14068" b="50260"/>
          <a:stretch/>
        </p:blipFill>
        <p:spPr bwMode="auto">
          <a:xfrm>
            <a:off x="8220974" y="1647825"/>
            <a:ext cx="3821501" cy="1626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17 Useful user story examples to get you started - Justinmind">
            <a:extLst>
              <a:ext uri="{FF2B5EF4-FFF2-40B4-BE49-F238E27FC236}">
                <a16:creationId xmlns:a16="http://schemas.microsoft.com/office/drawing/2014/main" id="{4D27C67B-C3C6-D30D-E326-D5D27218FA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55" t="53671" r="10482" b="13662"/>
          <a:stretch/>
        </p:blipFill>
        <p:spPr bwMode="auto">
          <a:xfrm>
            <a:off x="8220974" y="4175006"/>
            <a:ext cx="3821501" cy="177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</a:t>
            </a:r>
          </a:p>
        </p:txBody>
      </p:sp>
      <p:sp>
        <p:nvSpPr>
          <p:cNvPr id="1171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dirty="0"/>
              <a:t>Generally, it is practiced to develop a software keeping in Mind the </a:t>
            </a:r>
            <a:r>
              <a:rPr lang="en-US" b="1" dirty="0"/>
              <a:t>design for change approach</a:t>
            </a:r>
            <a:r>
              <a:rPr lang="en-US" dirty="0"/>
              <a:t>. It is worth spending time and effort anticipating changes as this reduces costs later in the life cycle.</a:t>
            </a:r>
          </a:p>
          <a:p>
            <a:pPr algn="just"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</a:rPr>
              <a:t>XP doesn’t support the idea </a:t>
            </a:r>
            <a:r>
              <a:rPr lang="en-US" dirty="0">
                <a:solidFill>
                  <a:srgbClr val="FF0000"/>
                </a:solidFill>
              </a:rPr>
              <a:t>because it is possible that sometimes a code need to be changed utterly with a requirement change.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Rather, it </a:t>
            </a:r>
            <a:r>
              <a:rPr lang="en-US" u="sng" dirty="0"/>
              <a:t>proposes </a:t>
            </a:r>
            <a:r>
              <a:rPr lang="en-US" b="1" u="sng" dirty="0"/>
              <a:t>constant code improvement (refactoring)</a:t>
            </a:r>
            <a:r>
              <a:rPr lang="en-US" u="sng" dirty="0"/>
              <a:t> </a:t>
            </a:r>
            <a:r>
              <a:rPr lang="en-US" dirty="0"/>
              <a:t>to make changes easier when they needs to be implemented.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21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D4610E8E-8414-4449-9AC3-A24185973A98}" type="datetime8">
              <a:rPr lang="en-PK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02/03/2026 10:59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Programming team </a:t>
            </a:r>
            <a:r>
              <a:rPr lang="en-US" b="1" dirty="0"/>
              <a:t>looks for possible software improvements </a:t>
            </a:r>
          </a:p>
          <a:p>
            <a:pPr algn="just"/>
            <a:r>
              <a:rPr lang="en-US" b="1" dirty="0"/>
              <a:t>make these improvements </a:t>
            </a:r>
            <a:r>
              <a:rPr lang="en-US" dirty="0"/>
              <a:t>even if there is no immediate need for them.</a:t>
            </a:r>
          </a:p>
          <a:p>
            <a:pPr algn="just"/>
            <a:r>
              <a:rPr lang="en-US" dirty="0"/>
              <a:t>This </a:t>
            </a:r>
            <a:r>
              <a:rPr lang="en-US" b="1" dirty="0"/>
              <a:t>improves the understandability of the software</a:t>
            </a:r>
            <a:r>
              <a:rPr lang="en-US" dirty="0"/>
              <a:t> and </a:t>
            </a:r>
            <a:r>
              <a:rPr lang="en-US" b="1" dirty="0"/>
              <a:t>so reduces the need for documentation.</a:t>
            </a:r>
          </a:p>
          <a:p>
            <a:pPr algn="just"/>
            <a:r>
              <a:rPr lang="en-US" b="1" dirty="0"/>
              <a:t>Changes are easier to make </a:t>
            </a:r>
            <a:r>
              <a:rPr lang="en-US" dirty="0"/>
              <a:t>because the code is well-structured and clear. (as </a:t>
            </a:r>
            <a:r>
              <a:rPr lang="en-US" b="1" dirty="0"/>
              <a:t>simplicity</a:t>
            </a:r>
            <a:r>
              <a:rPr lang="en-US" dirty="0"/>
              <a:t> is the essence of XP)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22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7B87F318-1E08-4DA1-8425-C84DF9F95FC4}" type="datetime8">
              <a:rPr lang="en-PK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02/03/2026 10:59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refactoring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Re-organization of a class hierarchy </a:t>
            </a:r>
            <a:r>
              <a:rPr lang="en-US" b="1" dirty="0"/>
              <a:t>to remove duplicate code.</a:t>
            </a:r>
          </a:p>
          <a:p>
            <a:pPr algn="just"/>
            <a:r>
              <a:rPr lang="en-US" dirty="0"/>
              <a:t>Tidying up and </a:t>
            </a:r>
            <a:r>
              <a:rPr lang="en-US" b="1" dirty="0"/>
              <a:t>renaming attributes and methods</a:t>
            </a:r>
            <a:r>
              <a:rPr lang="en-US" dirty="0"/>
              <a:t> to make them easier to understand.</a:t>
            </a:r>
          </a:p>
          <a:p>
            <a:pPr algn="just"/>
            <a:r>
              <a:rPr lang="en-US" dirty="0"/>
              <a:t>The </a:t>
            </a:r>
            <a:r>
              <a:rPr lang="en-US" b="1" dirty="0"/>
              <a:t>replacement of inline code with calls to methods </a:t>
            </a:r>
            <a:r>
              <a:rPr lang="en-US" dirty="0"/>
              <a:t>that have been included in a program library.</a:t>
            </a:r>
          </a:p>
          <a:p>
            <a:pPr algn="just"/>
            <a:r>
              <a:rPr lang="en-US" dirty="0"/>
              <a:t>Generally, </a:t>
            </a:r>
            <a:r>
              <a:rPr lang="en-US" b="1" dirty="0"/>
              <a:t>IDEs include tools for refactoring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Mostly, </a:t>
            </a:r>
            <a:r>
              <a:rPr lang="en-US" b="1" dirty="0"/>
              <a:t>refactoring is part of development</a:t>
            </a:r>
            <a:r>
              <a:rPr lang="en-US" dirty="0"/>
              <a:t> but when deadlines are hard and implementation is critical, then refactoring is</a:t>
            </a:r>
            <a:r>
              <a:rPr lang="en-US" b="1" dirty="0"/>
              <a:t> delayed</a:t>
            </a:r>
            <a:r>
              <a:rPr lang="en-US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EAB5BBF0-B782-3644-AFE1-10103AC253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>
                <a:defRPr/>
              </a:pPr>
              <a:t>23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F1D956EB-470E-4042-AE07-1A3159145FCD}" type="datetime8">
              <a:rPr lang="en-PK" smtClean="0">
                <a:solidFill>
                  <a:prstClr val="black">
                    <a:tint val="75000"/>
                  </a:prstClr>
                </a:solidFill>
                <a:latin typeface="Calibri"/>
              </a:rPr>
              <a:t>02/03/2026 10:59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Test-first development (XP’s innovation)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C89CE0-C996-47EB-B591-C67E1CDCE2E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C38301-0A5B-43FA-8C13-C696206CDB5B}"/>
              </a:ext>
            </a:extLst>
          </p:cNvPr>
          <p:cNvCxnSpPr>
            <a:stCxn id="3" idx="3"/>
            <a:endCxn id="8" idx="1"/>
          </p:cNvCxnSpPr>
          <p:nvPr/>
        </p:nvCxnSpPr>
        <p:spPr>
          <a:xfrm>
            <a:off x="4559872" y="2574284"/>
            <a:ext cx="3254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CB06E34-F139-4092-8038-AE1ABE495227}"/>
              </a:ext>
            </a:extLst>
          </p:cNvPr>
          <p:cNvGrpSpPr/>
          <p:nvPr/>
        </p:nvGrpSpPr>
        <p:grpSpPr>
          <a:xfrm>
            <a:off x="2972610" y="2341371"/>
            <a:ext cx="5851327" cy="940832"/>
            <a:chOff x="1397478" y="1630572"/>
            <a:chExt cx="5851327" cy="9408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BBDC272-2361-47F1-9FFA-5B17CB4CF950}"/>
                </a:ext>
              </a:extLst>
            </p:cNvPr>
            <p:cNvSpPr/>
            <p:nvPr/>
          </p:nvSpPr>
          <p:spPr>
            <a:xfrm>
              <a:off x="1397478" y="1630572"/>
              <a:ext cx="1587262" cy="465826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Specifications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ADAE483-6445-4DC1-B9AA-3F472C1FE9AE}"/>
                </a:ext>
              </a:extLst>
            </p:cNvPr>
            <p:cNvSpPr/>
            <p:nvPr/>
          </p:nvSpPr>
          <p:spPr>
            <a:xfrm>
              <a:off x="3310185" y="1630572"/>
              <a:ext cx="1788026" cy="465826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Implementation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EEA0D01-59B2-4317-A9E7-71C3DF6AA6E5}"/>
                </a:ext>
              </a:extLst>
            </p:cNvPr>
            <p:cNvSpPr/>
            <p:nvPr/>
          </p:nvSpPr>
          <p:spPr>
            <a:xfrm>
              <a:off x="5460779" y="1630572"/>
              <a:ext cx="1788026" cy="465826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Testing</a:t>
              </a:r>
            </a:p>
          </p:txBody>
        </p:sp>
        <p:cxnSp>
          <p:nvCxnSpPr>
            <p:cNvPr id="7" name="Connector: Curved 6">
              <a:extLst>
                <a:ext uri="{FF2B5EF4-FFF2-40B4-BE49-F238E27FC236}">
                  <a16:creationId xmlns:a16="http://schemas.microsoft.com/office/drawing/2014/main" id="{04D23F7E-1665-4D09-B821-46BC69DAA805}"/>
                </a:ext>
              </a:extLst>
            </p:cNvPr>
            <p:cNvCxnSpPr>
              <a:stCxn id="9" idx="2"/>
              <a:endCxn id="8" idx="2"/>
            </p:cNvCxnSpPr>
            <p:nvPr/>
          </p:nvCxnSpPr>
          <p:spPr>
            <a:xfrm rot="5400000">
              <a:off x="5279495" y="1021101"/>
              <a:ext cx="12700" cy="2150594"/>
            </a:xfrm>
            <a:prstGeom prst="curved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DB92B1C-57F1-4AF7-85FF-EF262D903AAA}"/>
                </a:ext>
              </a:extLst>
            </p:cNvPr>
            <p:cNvSpPr txBox="1"/>
            <p:nvPr/>
          </p:nvSpPr>
          <p:spPr>
            <a:xfrm>
              <a:off x="4675776" y="2294405"/>
              <a:ext cx="1570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-128"/>
                  <a:cs typeface="+mn-cs"/>
                </a:rPr>
                <a:t>Any issue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E73C919-868E-432A-B608-4D20ABD7118D}"/>
                </a:ext>
              </a:extLst>
            </p:cNvPr>
            <p:cNvCxnSpPr/>
            <p:nvPr/>
          </p:nvCxnSpPr>
          <p:spPr>
            <a:xfrm>
              <a:off x="5123122" y="1860789"/>
              <a:ext cx="3254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DF0E40E-6DFF-4BAC-A495-9C5B3EFFD7F9}"/>
              </a:ext>
            </a:extLst>
          </p:cNvPr>
          <p:cNvGrpSpPr/>
          <p:nvPr/>
        </p:nvGrpSpPr>
        <p:grpSpPr>
          <a:xfrm>
            <a:off x="2671202" y="4208563"/>
            <a:ext cx="7952002" cy="1008113"/>
            <a:chOff x="527764" y="3721035"/>
            <a:chExt cx="7952002" cy="100811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C072070-A438-448D-AC40-98BA90E9A485}"/>
                </a:ext>
              </a:extLst>
            </p:cNvPr>
            <p:cNvSpPr/>
            <p:nvPr/>
          </p:nvSpPr>
          <p:spPr>
            <a:xfrm>
              <a:off x="4429261" y="3722560"/>
              <a:ext cx="1788026" cy="465826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Implementation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16ED42C-ACCA-45CA-8738-9A6DE4F302C1}"/>
                </a:ext>
              </a:extLst>
            </p:cNvPr>
            <p:cNvSpPr/>
            <p:nvPr/>
          </p:nvSpPr>
          <p:spPr>
            <a:xfrm>
              <a:off x="2315790" y="3721035"/>
              <a:ext cx="1788026" cy="465826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Test cases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9402D08-D5E2-401F-B769-5D2E1259EE1F}"/>
                </a:ext>
              </a:extLst>
            </p:cNvPr>
            <p:cNvSpPr txBox="1"/>
            <p:nvPr/>
          </p:nvSpPr>
          <p:spPr>
            <a:xfrm>
              <a:off x="4881230" y="4467538"/>
              <a:ext cx="359853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-128"/>
                  <a:cs typeface="+mn-cs"/>
                </a:rPr>
                <a:t>Any issue encountered during implementation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E5848D9-D676-4BFF-BC76-CB21F6C08D4D}"/>
                </a:ext>
              </a:extLst>
            </p:cNvPr>
            <p:cNvCxnSpPr/>
            <p:nvPr/>
          </p:nvCxnSpPr>
          <p:spPr>
            <a:xfrm>
              <a:off x="1990345" y="3953948"/>
              <a:ext cx="3254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4B8E0AB-88CC-4440-977B-53BD047362A9}"/>
                </a:ext>
              </a:extLst>
            </p:cNvPr>
            <p:cNvCxnSpPr/>
            <p:nvPr/>
          </p:nvCxnSpPr>
          <p:spPr>
            <a:xfrm>
              <a:off x="4103816" y="3952423"/>
              <a:ext cx="3254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Curved 32">
              <a:extLst>
                <a:ext uri="{FF2B5EF4-FFF2-40B4-BE49-F238E27FC236}">
                  <a16:creationId xmlns:a16="http://schemas.microsoft.com/office/drawing/2014/main" id="{EBE1C262-4E67-4236-8E90-66ABF5FF97DC}"/>
                </a:ext>
              </a:extLst>
            </p:cNvPr>
            <p:cNvCxnSpPr>
              <a:cxnSpLocks/>
              <a:stCxn id="20" idx="2"/>
              <a:endCxn id="20" idx="0"/>
            </p:cNvCxnSpPr>
            <p:nvPr/>
          </p:nvCxnSpPr>
          <p:spPr>
            <a:xfrm rot="5400000" flipH="1">
              <a:off x="5090361" y="3955473"/>
              <a:ext cx="465826" cy="12700"/>
            </a:xfrm>
            <a:prstGeom prst="curvedConnector5">
              <a:avLst>
                <a:gd name="adj1" fmla="val -49074"/>
                <a:gd name="adj2" fmla="val -9975622"/>
                <a:gd name="adj3" fmla="val 149074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DC7AD00-9E1B-4A39-B4A4-2C7BC9B6BFF6}"/>
                </a:ext>
              </a:extLst>
            </p:cNvPr>
            <p:cNvSpPr txBox="1"/>
            <p:nvPr/>
          </p:nvSpPr>
          <p:spPr>
            <a:xfrm>
              <a:off x="527764" y="3813923"/>
              <a:ext cx="1587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-128"/>
                  <a:cs typeface="+mn-cs"/>
                </a:rPr>
                <a:t>Client requirements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A76FA06-25D2-4DCD-92BB-E31EE0F8F046}"/>
              </a:ext>
            </a:extLst>
          </p:cNvPr>
          <p:cNvSpPr txBox="1"/>
          <p:nvPr/>
        </p:nvSpPr>
        <p:spPr>
          <a:xfrm>
            <a:off x="1972242" y="1661475"/>
            <a:ext cx="2969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BBB59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Plan driven approach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91BE73-F53C-4DA4-AFEA-EB6AB4B963DE}"/>
              </a:ext>
            </a:extLst>
          </p:cNvPr>
          <p:cNvSpPr txBox="1"/>
          <p:nvPr/>
        </p:nvSpPr>
        <p:spPr>
          <a:xfrm>
            <a:off x="2048150" y="3388641"/>
            <a:ext cx="4367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BBB59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XP’s approach (test first development)</a:t>
            </a: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Test-first development</a:t>
            </a:r>
          </a:p>
        </p:txBody>
      </p:sp>
      <p:sp>
        <p:nvSpPr>
          <p:cNvPr id="117248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526875"/>
            <a:ext cx="11039856" cy="4599288"/>
          </a:xfrm>
        </p:spPr>
        <p:txBody>
          <a:bodyPr/>
          <a:lstStyle/>
          <a:p>
            <a:r>
              <a:rPr lang="en-US" dirty="0"/>
              <a:t>XP testing advantages:</a:t>
            </a:r>
          </a:p>
          <a:p>
            <a:pPr lvl="1" algn="just"/>
            <a:r>
              <a:rPr lang="en-US" dirty="0"/>
              <a:t>Problems of </a:t>
            </a:r>
            <a:r>
              <a:rPr lang="en-US" b="1" dirty="0"/>
              <a:t>requirements misunderstanding are reduced </a:t>
            </a:r>
            <a:r>
              <a:rPr lang="en-US" dirty="0"/>
              <a:t>as you have developed test cases as per your program’s behaviors.</a:t>
            </a:r>
          </a:p>
          <a:p>
            <a:pPr lvl="1" algn="just"/>
            <a:r>
              <a:rPr lang="en-US" dirty="0"/>
              <a:t>Avoids test-lag (when developer is faster than tester so pace mismatch)</a:t>
            </a:r>
          </a:p>
          <a:p>
            <a:pPr lvl="1" algn="just"/>
            <a:r>
              <a:rPr lang="en-US" b="1" dirty="0"/>
              <a:t>User involvement in test development and validation</a:t>
            </a:r>
            <a:r>
              <a:rPr lang="en-US" dirty="0"/>
              <a:t>.</a:t>
            </a:r>
          </a:p>
          <a:p>
            <a:pPr lvl="1" algn="just"/>
            <a:r>
              <a:rPr lang="en-US" b="1" dirty="0"/>
              <a:t>Tests are written as programs</a:t>
            </a:r>
            <a:r>
              <a:rPr lang="en-US" dirty="0"/>
              <a:t> rather than data so that they can be </a:t>
            </a:r>
            <a:r>
              <a:rPr lang="en-US" b="1" dirty="0"/>
              <a:t>executed automatically whenever a  new functionality is added to a module</a:t>
            </a:r>
            <a:r>
              <a:rPr lang="en-US" dirty="0"/>
              <a:t>.</a:t>
            </a:r>
          </a:p>
          <a:p>
            <a:pPr marL="457200" lvl="1" indent="0" algn="just"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7EE6C-0BEA-4B77-8762-CD2EA164A6AB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5453061"/>
      </p:ext>
    </p:extLst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involvement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ROLE:</a:t>
            </a:r>
          </a:p>
          <a:p>
            <a:pPr lvl="1" algn="just"/>
            <a:r>
              <a:rPr lang="en-GB" dirty="0"/>
              <a:t>to help </a:t>
            </a:r>
            <a:r>
              <a:rPr lang="en-GB" b="1" dirty="0"/>
              <a:t>develop acceptance tests for the stories </a:t>
            </a:r>
            <a:r>
              <a:rPr lang="en-GB" dirty="0"/>
              <a:t>that are </a:t>
            </a:r>
            <a:r>
              <a:rPr lang="en-GB" b="1" dirty="0"/>
              <a:t>to be implemented in the next release </a:t>
            </a:r>
            <a:r>
              <a:rPr lang="en-GB" dirty="0"/>
              <a:t>of the system. </a:t>
            </a:r>
          </a:p>
          <a:p>
            <a:pPr lvl="1" algn="just"/>
            <a:r>
              <a:rPr lang="en-GB" dirty="0"/>
              <a:t>If customer is a full-time member of development team, then he/she may </a:t>
            </a:r>
            <a:r>
              <a:rPr lang="en-GB" b="1" dirty="0"/>
              <a:t>write testcases</a:t>
            </a:r>
            <a:r>
              <a:rPr lang="en-GB" dirty="0"/>
              <a:t> as well. </a:t>
            </a:r>
          </a:p>
          <a:p>
            <a:pPr algn="just"/>
            <a:r>
              <a:rPr lang="en-GB" dirty="0"/>
              <a:t>ISSUE:</a:t>
            </a:r>
          </a:p>
          <a:p>
            <a:pPr lvl="1" algn="just"/>
            <a:r>
              <a:rPr lang="en-GB" b="1" dirty="0"/>
              <a:t>Customer have limited time</a:t>
            </a:r>
            <a:r>
              <a:rPr lang="en-GB" dirty="0"/>
              <a:t>. So, he might be </a:t>
            </a:r>
            <a:r>
              <a:rPr lang="en-GB" b="1" dirty="0"/>
              <a:t>reluctant to offer his services full time </a:t>
            </a:r>
            <a:r>
              <a:rPr lang="en-GB" dirty="0"/>
              <a:t>with development team.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3ED0C0-C410-4DD3-B5AC-3D2F84D40F6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cases examples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98F5A-DB27-41F4-B376-897DCFE6D25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8" name="Picture 4" descr="Test Case: The New Avatar! | Ruma Dak's Blog">
            <a:extLst>
              <a:ext uri="{FF2B5EF4-FFF2-40B4-BE49-F238E27FC236}">
                <a16:creationId xmlns:a16="http://schemas.microsoft.com/office/drawing/2014/main" id="{AFF7E8BF-9AE7-0941-53F0-424936555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114306"/>
            <a:ext cx="9724309" cy="554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b="1" dirty="0"/>
              <a:t>Tests are conducted using automated test tools</a:t>
            </a:r>
            <a:r>
              <a:rPr lang="en-GB" dirty="0"/>
              <a:t>, they </a:t>
            </a:r>
            <a:r>
              <a:rPr lang="en-GB" b="1" dirty="0"/>
              <a:t>simulate the program</a:t>
            </a:r>
            <a:r>
              <a:rPr lang="en-GB" dirty="0"/>
              <a:t> depending upon the input and </a:t>
            </a:r>
            <a:r>
              <a:rPr lang="en-GB" b="1" dirty="0"/>
              <a:t>check if the results meets the specifications</a:t>
            </a:r>
            <a:r>
              <a:rPr lang="en-GB" dirty="0"/>
              <a:t>. </a:t>
            </a:r>
          </a:p>
          <a:p>
            <a:pPr algn="just"/>
            <a:r>
              <a:rPr lang="en-GB" dirty="0"/>
              <a:t>A specific set of tests is quickly and easily executed whenever </a:t>
            </a:r>
            <a:r>
              <a:rPr lang="en-GB" b="1" dirty="0"/>
              <a:t>any functionality is added to the system</a:t>
            </a:r>
            <a:r>
              <a:rPr lang="en-GB" dirty="0"/>
              <a:t>, these automated test cases can be run, and problems in the new code can be identified immediately.  </a:t>
            </a:r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BDA24F-F157-42CB-8113-355AE44143F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test-first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39204"/>
            <a:ext cx="10972800" cy="4917146"/>
          </a:xfrm>
        </p:spPr>
        <p:txBody>
          <a:bodyPr/>
          <a:lstStyle/>
          <a:p>
            <a:pPr algn="just"/>
            <a:r>
              <a:rPr lang="en-GB" b="1" dirty="0"/>
              <a:t>Programmers prefer programming to testing </a:t>
            </a:r>
            <a:r>
              <a:rPr lang="en-GB" dirty="0"/>
              <a:t>and sometimes they take shortcuts when writing tests. For example, they may write </a:t>
            </a:r>
            <a:r>
              <a:rPr lang="en-GB" b="1" dirty="0"/>
              <a:t>incomplete tests </a:t>
            </a:r>
            <a:r>
              <a:rPr lang="en-GB" dirty="0"/>
              <a:t>that do not check for all possible exceptions that may occur. </a:t>
            </a:r>
          </a:p>
          <a:p>
            <a:pPr algn="just"/>
            <a:r>
              <a:rPr lang="en-GB" dirty="0"/>
              <a:t>Some tests can be very difficult to write incrementally. </a:t>
            </a:r>
            <a:r>
              <a:rPr lang="en-GB" b="1" dirty="0"/>
              <a:t>For example, in a complex user interface, it is often difficult to write unit tests for the code that implements the ‘display logic’ and workflow between screens</a:t>
            </a:r>
            <a:r>
              <a:rPr lang="en-GB" dirty="0"/>
              <a:t>. As the design is changing continuously. </a:t>
            </a:r>
          </a:p>
          <a:p>
            <a:pPr algn="just"/>
            <a:r>
              <a:rPr lang="en-GB" dirty="0"/>
              <a:t>It is difficult to judge the </a:t>
            </a:r>
            <a:r>
              <a:rPr lang="en-GB" b="1" dirty="0"/>
              <a:t>completeness of a set of tests</a:t>
            </a:r>
            <a:r>
              <a:rPr lang="en-GB" dirty="0"/>
              <a:t>. Although you may have a lot of system tests, </a:t>
            </a:r>
            <a:r>
              <a:rPr lang="en-GB" b="1" dirty="0"/>
              <a:t>your test set may not provide complete coverage. 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98AE2B-D911-456B-85AA-846D0CB2AD8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 programming (XP’s innovation)</a:t>
            </a:r>
          </a:p>
        </p:txBody>
      </p:sp>
      <p:sp>
        <p:nvSpPr>
          <p:cNvPr id="1174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dirty="0"/>
              <a:t>Pair programming involves </a:t>
            </a:r>
            <a:r>
              <a:rPr lang="en-US" b="1" dirty="0"/>
              <a:t>programmers working in pairs</a:t>
            </a:r>
            <a:r>
              <a:rPr lang="en-US" dirty="0"/>
              <a:t>, and developing code together.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This helps </a:t>
            </a:r>
            <a:r>
              <a:rPr lang="en-US" b="1" dirty="0"/>
              <a:t>develop collective ownership of code</a:t>
            </a:r>
            <a:r>
              <a:rPr lang="en-US" dirty="0"/>
              <a:t> and spreads knowledge across the team.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It serves as an informal review process as </a:t>
            </a:r>
            <a:r>
              <a:rPr lang="en-US" b="1" dirty="0"/>
              <a:t>each line of code is looked at by more than 1 person</a:t>
            </a:r>
            <a:r>
              <a:rPr lang="en-US" dirty="0"/>
              <a:t>. Code implementation and inspection @ the same time.</a:t>
            </a:r>
          </a:p>
          <a:p>
            <a:pPr algn="just">
              <a:lnSpc>
                <a:spcPct val="90000"/>
              </a:lnSpc>
            </a:pPr>
            <a:r>
              <a:rPr lang="en-US" b="1" dirty="0"/>
              <a:t>A person doing refactoring is considered less efficient than the one doing coding</a:t>
            </a:r>
            <a:r>
              <a:rPr lang="en-US" dirty="0"/>
              <a:t>. So, this process </a:t>
            </a:r>
            <a:r>
              <a:rPr lang="en-US" b="1" dirty="0"/>
              <a:t>encourages refactoring</a:t>
            </a:r>
            <a:r>
              <a:rPr lang="en-US" dirty="0"/>
              <a:t> as </a:t>
            </a:r>
            <a:r>
              <a:rPr lang="en-US" b="1" dirty="0"/>
              <a:t>due to common ownership</a:t>
            </a:r>
            <a:r>
              <a:rPr lang="en-US" dirty="0"/>
              <a:t>, the whole team can benefit from the improved system code.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273200-858A-4FE0-A1D4-1B9D74D473C8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In pair programming, </a:t>
            </a:r>
            <a:r>
              <a:rPr lang="en-GB" b="1" dirty="0"/>
              <a:t>programmers sit together at the same computer to develop the software</a:t>
            </a:r>
            <a:r>
              <a:rPr lang="en-GB" dirty="0"/>
              <a:t>.</a:t>
            </a:r>
          </a:p>
          <a:p>
            <a:pPr algn="just"/>
            <a:r>
              <a:rPr lang="en-GB" b="1" dirty="0"/>
              <a:t>Pairs are created dynamically </a:t>
            </a:r>
            <a:r>
              <a:rPr lang="en-GB" dirty="0"/>
              <a:t>so that all team members work with each other during the development process.</a:t>
            </a:r>
          </a:p>
          <a:p>
            <a:pPr algn="just"/>
            <a:r>
              <a:rPr lang="en-GB" dirty="0"/>
              <a:t>The </a:t>
            </a:r>
            <a:r>
              <a:rPr lang="en-GB" b="1" dirty="0"/>
              <a:t>sharing of knowledge </a:t>
            </a:r>
            <a:r>
              <a:rPr lang="en-GB" dirty="0"/>
              <a:t>that happens during pair programming is very important as it </a:t>
            </a:r>
            <a:r>
              <a:rPr lang="en-GB" b="1" dirty="0"/>
              <a:t>reduces the overall risks to a project when team members leave</a:t>
            </a:r>
            <a:r>
              <a:rPr lang="en-GB" dirty="0"/>
              <a:t>.</a:t>
            </a:r>
          </a:p>
          <a:p>
            <a:pPr algn="just"/>
            <a:r>
              <a:rPr lang="en-GB" dirty="0"/>
              <a:t>Pair programming is </a:t>
            </a:r>
            <a:r>
              <a:rPr lang="en-GB" b="1" dirty="0"/>
              <a:t>not necessarily inefficient </a:t>
            </a:r>
            <a:r>
              <a:rPr lang="en-GB" dirty="0"/>
              <a:t>and there is some evidence that suggests that a pair working together is more efficient than 2 programmers working separately. </a:t>
            </a:r>
            <a:endParaRPr lang="en-US" dirty="0"/>
          </a:p>
          <a:p>
            <a:pPr algn="just"/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29B401-2377-4702-9D50-6EC7946B8D9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Pair programming is not practiced mostly because mostly organizations think that two people working separately can do better than two doing in group.</a:t>
            </a:r>
          </a:p>
          <a:p>
            <a:pPr algn="just"/>
            <a:r>
              <a:rPr lang="en-GB" dirty="0"/>
              <a:t>Solution? </a:t>
            </a:r>
          </a:p>
          <a:p>
            <a:pPr lvl="1" algn="just"/>
            <a:r>
              <a:rPr lang="en-GB" dirty="0"/>
              <a:t>Still, some of them believe it and practice it with slight modification in a way that in a pair of two, one is a senior developer, and the other one is a junior developer to support the </a:t>
            </a:r>
            <a:r>
              <a:rPr lang="en-GB" b="1" dirty="0"/>
              <a:t>collaborative learning.</a:t>
            </a:r>
          </a:p>
          <a:p>
            <a:pPr lvl="1" algn="just"/>
            <a:r>
              <a:rPr lang="en-GB" b="1" dirty="0"/>
              <a:t>This shared learning reduces overall risks to project (in case a senior employee left).</a:t>
            </a:r>
          </a:p>
          <a:p>
            <a:pPr marL="457200" lvl="1" indent="0" algn="just">
              <a:buNone/>
            </a:pPr>
            <a:r>
              <a:rPr lang="en-GB" b="1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5259BD-DA71-4EBF-80B5-0C7D2E8EA13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67622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192338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Agile project management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557B7A-73B7-4125-B094-4C34F8329BB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2006760"/>
      </p:ext>
    </p:extLst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project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Software </a:t>
            </a:r>
            <a:r>
              <a:rPr lang="en-GB" b="1" dirty="0"/>
              <a:t>project managers focus </a:t>
            </a:r>
            <a:r>
              <a:rPr lang="en-GB" dirty="0"/>
              <a:t>on:</a:t>
            </a:r>
          </a:p>
          <a:p>
            <a:pPr lvl="1"/>
            <a:r>
              <a:rPr lang="en-GB" b="1" dirty="0"/>
              <a:t>In-time</a:t>
            </a:r>
            <a:r>
              <a:rPr lang="en-GB" dirty="0"/>
              <a:t> software delivery</a:t>
            </a:r>
          </a:p>
          <a:p>
            <a:pPr lvl="1"/>
            <a:r>
              <a:rPr lang="en-GB" dirty="0"/>
              <a:t>and </a:t>
            </a:r>
            <a:r>
              <a:rPr lang="en-GB" b="1" dirty="0"/>
              <a:t>within</a:t>
            </a:r>
            <a:r>
              <a:rPr lang="en-GB" dirty="0"/>
              <a:t> the </a:t>
            </a:r>
            <a:r>
              <a:rPr lang="en-GB" b="1" dirty="0"/>
              <a:t>planned budget</a:t>
            </a:r>
            <a:r>
              <a:rPr lang="en-GB" dirty="0"/>
              <a:t>. </a:t>
            </a:r>
          </a:p>
          <a:p>
            <a:endParaRPr lang="en-GB" dirty="0"/>
          </a:p>
          <a:p>
            <a:pPr algn="just"/>
            <a:r>
              <a:rPr lang="en-GB" b="1" dirty="0"/>
              <a:t>Agile project management </a:t>
            </a:r>
            <a:r>
              <a:rPr lang="en-GB" dirty="0"/>
              <a:t>used an approach which is </a:t>
            </a:r>
            <a:r>
              <a:rPr lang="en-GB" b="1" dirty="0"/>
              <a:t>adapted to incremental development </a:t>
            </a:r>
            <a:r>
              <a:rPr lang="en-GB" dirty="0"/>
              <a:t>and the practices used in </a:t>
            </a:r>
            <a:r>
              <a:rPr lang="en-GB" b="1" dirty="0"/>
              <a:t>agile methods</a:t>
            </a:r>
            <a:r>
              <a:rPr lang="en-GB" dirty="0"/>
              <a:t>.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E3E960-AA8D-4EFC-A907-0838F0722F4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756150"/>
          </a:xfrm>
        </p:spPr>
        <p:txBody>
          <a:bodyPr/>
          <a:lstStyle/>
          <a:p>
            <a:pPr algn="just"/>
            <a:r>
              <a:rPr lang="en-GB" dirty="0"/>
              <a:t>Scrum is an agile method that provides a project management framework</a:t>
            </a:r>
          </a:p>
          <a:p>
            <a:pPr algn="just"/>
            <a:r>
              <a:rPr lang="en-GB" dirty="0"/>
              <a:t>There are three phases in Scrum. </a:t>
            </a:r>
          </a:p>
          <a:p>
            <a:pPr lvl="1" algn="just"/>
            <a:r>
              <a:rPr lang="en-GB" b="1" dirty="0"/>
              <a:t>The initial phase </a:t>
            </a:r>
            <a:r>
              <a:rPr lang="en-GB" dirty="0"/>
              <a:t>is an outline planning phase where you establish the </a:t>
            </a:r>
            <a:r>
              <a:rPr lang="en-GB" b="1" dirty="0"/>
              <a:t>general objectives for the project</a:t>
            </a:r>
            <a:r>
              <a:rPr lang="en-GB" dirty="0"/>
              <a:t> and </a:t>
            </a:r>
            <a:r>
              <a:rPr lang="en-GB" b="1" dirty="0"/>
              <a:t>design the software architecture</a:t>
            </a:r>
            <a:r>
              <a:rPr lang="en-GB" dirty="0"/>
              <a:t>. </a:t>
            </a:r>
          </a:p>
          <a:p>
            <a:pPr lvl="1" algn="just"/>
            <a:r>
              <a:rPr lang="en-GB" dirty="0"/>
              <a:t>This is followed by a </a:t>
            </a:r>
            <a:r>
              <a:rPr lang="en-GB" b="1" dirty="0"/>
              <a:t>series of sprint cycles,</a:t>
            </a:r>
            <a:r>
              <a:rPr lang="en-GB" dirty="0"/>
              <a:t> where each cycle develops an increment of the system. </a:t>
            </a:r>
          </a:p>
          <a:p>
            <a:pPr lvl="1" algn="just"/>
            <a:r>
              <a:rPr lang="en-GB" dirty="0"/>
              <a:t>The </a:t>
            </a:r>
            <a:r>
              <a:rPr lang="en-GB" b="1" dirty="0"/>
              <a:t>project closure phase wraps up the project</a:t>
            </a:r>
            <a:r>
              <a:rPr lang="en-GB" dirty="0"/>
              <a:t>, completes required documentation such as system help frames and user manuals and assesses the lessons learned from the project.</a:t>
            </a:r>
          </a:p>
          <a:p>
            <a:pPr marL="0" indent="0" algn="just">
              <a:buNone/>
            </a:pPr>
            <a:endParaRPr lang="en-GB" dirty="0"/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A70A86-65BA-4E3F-AE75-CC14976CCCF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terminology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3651" y="1562452"/>
          <a:ext cx="10958749" cy="4436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2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278">
                <a:tc>
                  <a:txBody>
                    <a:bodyPr/>
                    <a:lstStyle/>
                    <a:p>
                      <a:r>
                        <a:rPr lang="en-US" dirty="0"/>
                        <a:t>Scrum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121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Development team</a:t>
                      </a:r>
                    </a:p>
                    <a:p>
                      <a:pPr indent="0" algn="l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self-organizing group of software developers</a:t>
                      </a:r>
                    </a:p>
                    <a:p>
                      <a:pPr indent="0" algn="just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no more than 7 people. </a:t>
                      </a:r>
                    </a:p>
                    <a:p>
                      <a:pPr indent="0" algn="just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responsible for developing the software and essential project documents.</a:t>
                      </a:r>
                    </a:p>
                    <a:p>
                      <a:pPr indent="0" algn="just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endParaRPr lang="en-GB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859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Sprint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b="1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A development iteration. </a:t>
                      </a:r>
                    </a:p>
                    <a:p>
                      <a:pPr indent="0" algn="l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usually, 2-4 weeks long.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4362554"/>
                  </a:ext>
                </a:extLst>
              </a:tr>
              <a:tr h="79457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Potentially shippable product increment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The software increment that is delivered from a sprint.</a:t>
                      </a:r>
                    </a:p>
                    <a:p>
                      <a:pPr indent="0" algn="just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‘</a:t>
                      </a: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potentially shippable’ means it is in a finished state and no testing or any other work left to add it into the final product.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086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Product backlog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To-do list for Scrum Team.</a:t>
                      </a:r>
                    </a:p>
                    <a:p>
                      <a:pPr indent="0" algn="just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It might be user stories or descriptions of supplementary tasks that are needed, such as architecture definition or user documentation.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9098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170305" algn="l"/>
                        </a:tabLs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Product owner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Identify requirements</a:t>
                      </a:r>
                    </a:p>
                    <a:p>
                      <a:pPr indent="0" algn="just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prioritize these for development </a:t>
                      </a:r>
                    </a:p>
                    <a:p>
                      <a:pPr indent="0" algn="just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continuously review the product backlog to ensure that the project continues to meet critical business needs. He/she could be a customer/product manager/a stakeholder representative.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EB6AE3-B798-4C53-BAC6-438074494C6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9845486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terminology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1778000"/>
          <a:ext cx="10972800" cy="3562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503">
                <a:tc>
                  <a:txBody>
                    <a:bodyPr/>
                    <a:lstStyle/>
                    <a:p>
                      <a:r>
                        <a:rPr lang="en-US" dirty="0"/>
                        <a:t>Scrum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8906">
                <a:tc>
                  <a:txBody>
                    <a:bodyPr/>
                    <a:lstStyle/>
                    <a:p>
                      <a:pPr indent="347345" algn="l">
                        <a:spcAft>
                          <a:spcPts val="60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Scrum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60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b="1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A daily meeting of the Scrum team </a:t>
                      </a:r>
                      <a:r>
                        <a:rPr lang="en-GB" sz="1400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that reviews progress and prioritizes work to be done that day. Ideally, this should be a short face-to-face meeting that includes the whole team.</a:t>
                      </a:r>
                    </a:p>
                    <a:p>
                      <a:pPr indent="0" algn="l">
                        <a:spcAft>
                          <a:spcPts val="60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endParaRPr lang="en-GB" sz="1400" baseline="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4829">
                <a:tc>
                  <a:txBody>
                    <a:bodyPr/>
                    <a:lstStyle/>
                    <a:p>
                      <a:pPr indent="347345" algn="l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Scrum Master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Take follow up of work</a:t>
                      </a:r>
                    </a:p>
                    <a:p>
                      <a:pPr indent="0" algn="l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Guides team</a:t>
                      </a:r>
                    </a:p>
                    <a:p>
                      <a:pPr indent="0" algn="l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Deals with the organization and report team work.</a:t>
                      </a:r>
                    </a:p>
                    <a:p>
                      <a:pPr indent="0" algn="l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Similar to project manager.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1858">
                <a:tc>
                  <a:txBody>
                    <a:bodyPr/>
                    <a:lstStyle/>
                    <a:p>
                      <a:pPr indent="347345" algn="l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baseline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Sprint Velocity</a:t>
                      </a:r>
                      <a:endParaRPr lang="en-GB" sz="1400" baseline="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An estimate of </a:t>
                      </a:r>
                      <a:r>
                        <a:rPr lang="en-GB" sz="1400" b="1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how much product backlog effort that a team can cover in a single sprint.</a:t>
                      </a:r>
                    </a:p>
                    <a:p>
                      <a:pPr indent="0" algn="l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r>
                        <a:rPr lang="en-GB" sz="1400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Understanding a team’s velocity helps them estimate what can be covered in a sprint and provides a basis for performance improvement.</a:t>
                      </a:r>
                    </a:p>
                    <a:p>
                      <a:pPr indent="0" algn="l"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</a:tabLst>
                      </a:pPr>
                      <a:endParaRPr lang="en-GB" sz="1400" baseline="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CF3CF7-2A5A-4D80-B631-71072FFB2F5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5401261"/>
      </p:ext>
    </p:extLst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sprint cycle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3.9 Scrum sprint cycle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235200"/>
            <a:ext cx="8159750" cy="32639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E276F7-B428-4CFD-BB6E-4A7ED9D47E1D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0574033"/>
      </p:ext>
    </p:extLst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Scrum sprint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b="1" dirty="0"/>
              <a:t>Sprints</a:t>
            </a:r>
            <a:r>
              <a:rPr lang="en-GB" dirty="0"/>
              <a:t> are </a:t>
            </a:r>
            <a:r>
              <a:rPr lang="en-GB" b="1" dirty="0"/>
              <a:t>fixed length</a:t>
            </a:r>
            <a:r>
              <a:rPr lang="en-GB" dirty="0"/>
              <a:t>, normally </a:t>
            </a:r>
            <a:r>
              <a:rPr lang="en-GB" b="1" dirty="0"/>
              <a:t>2–4 weeks</a:t>
            </a:r>
            <a:r>
              <a:rPr lang="en-GB" dirty="0"/>
              <a:t>.  </a:t>
            </a:r>
          </a:p>
          <a:p>
            <a:pPr algn="just"/>
            <a:r>
              <a:rPr lang="en-GB" dirty="0"/>
              <a:t>The starting point for planning is the product backlog, which is the list of work to be done on the project.</a:t>
            </a:r>
          </a:p>
          <a:p>
            <a:pPr algn="just"/>
            <a:r>
              <a:rPr lang="en-GB" dirty="0"/>
              <a:t>The </a:t>
            </a:r>
            <a:r>
              <a:rPr lang="en-GB" b="1" dirty="0"/>
              <a:t>selection phase </a:t>
            </a:r>
            <a:r>
              <a:rPr lang="en-GB" dirty="0"/>
              <a:t>involves the whole project team selecting the features and functionality from the product backlog to be developed during the sprint.</a:t>
            </a:r>
          </a:p>
          <a:p>
            <a:pPr marL="0" indent="0" algn="just">
              <a:buNone/>
            </a:pPr>
            <a:r>
              <a:rPr lang="en-GB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5ED7D9-864B-49BB-9242-D8470F48DC2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Sprint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Once these are agreed, the team organize themselves to develop the software. </a:t>
            </a:r>
          </a:p>
          <a:p>
            <a:pPr algn="just"/>
            <a:r>
              <a:rPr lang="en-GB" dirty="0"/>
              <a:t>During this stage, the </a:t>
            </a:r>
            <a:r>
              <a:rPr lang="en-GB" b="1" dirty="0"/>
              <a:t>team is isolated from the customer</a:t>
            </a:r>
            <a:r>
              <a:rPr lang="en-GB" dirty="0"/>
              <a:t> and the organization, with all </a:t>
            </a:r>
            <a:r>
              <a:rPr lang="en-GB" b="1" dirty="0"/>
              <a:t>communications channelled through</a:t>
            </a:r>
            <a:r>
              <a:rPr lang="en-GB" dirty="0"/>
              <a:t> the so-called </a:t>
            </a:r>
            <a:r>
              <a:rPr lang="en-GB" b="1" dirty="0"/>
              <a:t>‘Scrum master’. </a:t>
            </a:r>
          </a:p>
          <a:p>
            <a:pPr algn="just"/>
            <a:r>
              <a:rPr lang="en-GB" dirty="0"/>
              <a:t>The role of the </a:t>
            </a:r>
            <a:r>
              <a:rPr lang="en-GB" b="1" dirty="0"/>
              <a:t>Scrum master is to protect the development team from external distractions</a:t>
            </a:r>
            <a:r>
              <a:rPr lang="en-GB" dirty="0"/>
              <a:t>. </a:t>
            </a:r>
          </a:p>
          <a:p>
            <a:pPr algn="just"/>
            <a:r>
              <a:rPr lang="en-GB" dirty="0"/>
              <a:t> At the </a:t>
            </a:r>
            <a:r>
              <a:rPr lang="en-GB" b="1" dirty="0"/>
              <a:t>end of the sprint</a:t>
            </a:r>
            <a:r>
              <a:rPr lang="en-GB" dirty="0"/>
              <a:t>, the </a:t>
            </a:r>
            <a:r>
              <a:rPr lang="en-GB" b="1" dirty="0"/>
              <a:t>work done is reviewed </a:t>
            </a:r>
            <a:r>
              <a:rPr lang="en-GB" dirty="0"/>
              <a:t>and </a:t>
            </a:r>
            <a:r>
              <a:rPr lang="en-GB" b="1" dirty="0"/>
              <a:t>presented to stakeholders</a:t>
            </a:r>
            <a:r>
              <a:rPr lang="en-GB" dirty="0"/>
              <a:t>. The next sprint cycle then begins.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C37B85-56FF-467C-BF43-A62DFACE617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Teamwork in 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‘Scrum master’:</a:t>
            </a:r>
          </a:p>
          <a:p>
            <a:pPr lvl="1" algn="just"/>
            <a:r>
              <a:rPr lang="en-GB" dirty="0"/>
              <a:t>arranges daily meetings, </a:t>
            </a:r>
          </a:p>
          <a:p>
            <a:pPr lvl="1" algn="just"/>
            <a:r>
              <a:rPr lang="en-GB" dirty="0"/>
              <a:t>tracks the backlog of work to be done,</a:t>
            </a:r>
          </a:p>
          <a:p>
            <a:pPr lvl="1" algn="just"/>
            <a:r>
              <a:rPr lang="en-GB" dirty="0"/>
              <a:t>records decisions, </a:t>
            </a:r>
          </a:p>
          <a:p>
            <a:pPr lvl="1" algn="just"/>
            <a:r>
              <a:rPr lang="en-GB" dirty="0"/>
              <a:t>measures progress against the backlog</a:t>
            </a:r>
          </a:p>
          <a:p>
            <a:pPr lvl="1" algn="just"/>
            <a:r>
              <a:rPr lang="en-GB" dirty="0"/>
              <a:t>Communicates with customers and management outside of the team.</a:t>
            </a:r>
          </a:p>
          <a:p>
            <a:pPr algn="just"/>
            <a:r>
              <a:rPr lang="en-GB" dirty="0"/>
              <a:t>The team:</a:t>
            </a:r>
          </a:p>
          <a:p>
            <a:pPr lvl="1" algn="just"/>
            <a:r>
              <a:rPr lang="en-GB" dirty="0"/>
              <a:t>attends short daily meetings (Scrums)</a:t>
            </a:r>
          </a:p>
          <a:p>
            <a:pPr lvl="1" algn="just"/>
            <a:r>
              <a:rPr lang="en-GB" dirty="0"/>
              <a:t>all team members share their progress, problems that have arisen and what is planned for the following day. </a:t>
            </a:r>
          </a:p>
          <a:p>
            <a:pPr lvl="2" algn="just"/>
            <a:r>
              <a:rPr lang="en-GB" dirty="0"/>
              <a:t>This means that everyone on the team knows what is going on and, if problems arise, can re-plan short-term work to cope with them. </a:t>
            </a:r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FA5B90-1790-431A-B1A9-D7F4ACC742E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The </a:t>
            </a:r>
            <a:r>
              <a:rPr lang="en-GB" b="1" dirty="0"/>
              <a:t>product is broken down into a set of manageable </a:t>
            </a:r>
            <a:r>
              <a:rPr lang="en-GB" dirty="0"/>
              <a:t>and understandable </a:t>
            </a:r>
            <a:r>
              <a:rPr lang="en-GB" b="1" dirty="0"/>
              <a:t>chunks</a:t>
            </a:r>
            <a:r>
              <a:rPr lang="en-GB" dirty="0"/>
              <a:t>.</a:t>
            </a:r>
          </a:p>
          <a:p>
            <a:pPr algn="just"/>
            <a:r>
              <a:rPr lang="en-GB" dirty="0"/>
              <a:t>The </a:t>
            </a:r>
            <a:r>
              <a:rPr lang="en-GB" b="1" dirty="0"/>
              <a:t>whole team have visibility of everything</a:t>
            </a:r>
            <a:r>
              <a:rPr lang="en-GB" dirty="0"/>
              <a:t> and consequently team communication is improved.</a:t>
            </a:r>
          </a:p>
          <a:p>
            <a:pPr algn="just"/>
            <a:r>
              <a:rPr lang="en-GB" b="1" dirty="0"/>
              <a:t>Customers see on-time delivery of increments</a:t>
            </a:r>
            <a:r>
              <a:rPr lang="en-GB" dirty="0"/>
              <a:t> and gain feedback on how the product works.</a:t>
            </a:r>
          </a:p>
          <a:p>
            <a:pPr algn="just"/>
            <a:r>
              <a:rPr lang="en-GB" b="1" dirty="0"/>
              <a:t>Trust between customers and developers is established </a:t>
            </a:r>
            <a:r>
              <a:rPr lang="en-GB" dirty="0"/>
              <a:t>and a positive culture is created in which everyone expects the project to succeed.</a:t>
            </a:r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03F8BB-A2E3-40E0-A692-79C35F08C5D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43138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Scaling agile methods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0C8C9B-48F6-4667-8F55-71BD4567B068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3793272"/>
      </p:ext>
    </p:extLst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agile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33087"/>
            <a:ext cx="11103864" cy="5150275"/>
          </a:xfrm>
        </p:spPr>
        <p:txBody>
          <a:bodyPr/>
          <a:lstStyle/>
          <a:p>
            <a:pPr algn="just"/>
            <a:r>
              <a:rPr lang="en-US" b="1" dirty="0"/>
              <a:t>Agile methods are successful for small and medium sized projects that can be developed by a small co-located team.</a:t>
            </a:r>
            <a:endParaRPr lang="en-US" dirty="0"/>
          </a:p>
          <a:p>
            <a:pPr algn="just"/>
            <a:r>
              <a:rPr lang="en-GB" dirty="0"/>
              <a:t>Scaling Agile methods: </a:t>
            </a:r>
          </a:p>
          <a:p>
            <a:pPr lvl="1" algn="just"/>
            <a:r>
              <a:rPr lang="en-GB" b="1" dirty="0"/>
              <a:t>the process of translating established Agile methods</a:t>
            </a:r>
            <a:r>
              <a:rPr lang="en-GB" dirty="0"/>
              <a:t>, </a:t>
            </a:r>
            <a:r>
              <a:rPr lang="en-GB" b="1" dirty="0"/>
              <a:t>like Scrum to larger groups of people.</a:t>
            </a:r>
          </a:p>
          <a:p>
            <a:pPr lvl="1"/>
            <a:r>
              <a:rPr lang="en-GB" dirty="0"/>
              <a:t>When scaling agile methods, it is important to maintain agile fundamentals:</a:t>
            </a:r>
          </a:p>
          <a:p>
            <a:pPr lvl="2"/>
            <a:r>
              <a:rPr lang="en-GB" dirty="0"/>
              <a:t>Flexible planning, </a:t>
            </a:r>
          </a:p>
          <a:p>
            <a:pPr lvl="2"/>
            <a:r>
              <a:rPr lang="en-GB" dirty="0"/>
              <a:t>frequent system releases, </a:t>
            </a:r>
          </a:p>
          <a:p>
            <a:pPr lvl="2"/>
            <a:r>
              <a:rPr lang="en-GB" dirty="0"/>
              <a:t>continuous integration, </a:t>
            </a:r>
          </a:p>
          <a:p>
            <a:pPr lvl="2"/>
            <a:r>
              <a:rPr lang="en-GB" dirty="0"/>
              <a:t>test-driven development </a:t>
            </a:r>
          </a:p>
          <a:p>
            <a:pPr lvl="2"/>
            <a:r>
              <a:rPr lang="en-GB" dirty="0"/>
              <a:t>and good team communications. </a:t>
            </a:r>
          </a:p>
          <a:p>
            <a:pPr algn="just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33900" y="6489701"/>
            <a:ext cx="28956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07632" y="6492876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981200" y="6492876"/>
            <a:ext cx="21336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A42800-0FEE-4C49-8871-E3DA940E827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9622338"/>
      </p:ext>
    </p:extLst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out and scaling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‘Scaling up’ </a:t>
            </a:r>
          </a:p>
          <a:p>
            <a:pPr lvl="1" algn="just"/>
            <a:r>
              <a:rPr lang="en-GB" b="1" dirty="0"/>
              <a:t>using agile methods for developing large software systems </a:t>
            </a:r>
            <a:r>
              <a:rPr lang="en-GB" dirty="0"/>
              <a:t>that cannot be developed by a small team.</a:t>
            </a:r>
          </a:p>
          <a:p>
            <a:pPr algn="just"/>
            <a:r>
              <a:rPr lang="en-GB" dirty="0"/>
              <a:t>‘Scaling out’</a:t>
            </a:r>
          </a:p>
          <a:p>
            <a:pPr lvl="1" algn="just"/>
            <a:r>
              <a:rPr lang="en-GB" b="1" dirty="0"/>
              <a:t>how agile methods can be introduced across a large organization </a:t>
            </a:r>
            <a:r>
              <a:rPr lang="en-GB" dirty="0"/>
              <a:t>with many years of software development experience.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1C3B5E-12B6-456B-B378-24F1893DFB1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2834361"/>
      </p:ext>
    </p:extLst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problems with agile methods</a:t>
            </a:r>
          </a:p>
        </p:txBody>
      </p:sp>
      <p:sp>
        <p:nvSpPr>
          <p:cNvPr id="1167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b="1" dirty="0"/>
              <a:t>Problems:</a:t>
            </a:r>
          </a:p>
          <a:p>
            <a:pPr lvl="1" algn="just"/>
            <a:r>
              <a:rPr lang="en-GB" dirty="0"/>
              <a:t>contract specifications in large organization.</a:t>
            </a:r>
            <a:endParaRPr lang="en-GB" b="1" dirty="0"/>
          </a:p>
          <a:p>
            <a:pPr lvl="1" algn="just"/>
            <a:r>
              <a:rPr lang="en-GB" b="1" dirty="0"/>
              <a:t>No documentations done so mostly appropriate for new software development rather than software maintenance</a:t>
            </a:r>
            <a:r>
              <a:rPr lang="en-GB" dirty="0"/>
              <a:t>.</a:t>
            </a:r>
          </a:p>
          <a:p>
            <a:pPr lvl="1" algn="just"/>
            <a:r>
              <a:rPr lang="en-GB" b="1" dirty="0"/>
              <a:t>designed for small software with generally co-located teams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65F9FF-7671-45DE-B11D-B183D90CF75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7362883"/>
      </p:ext>
    </p:extLst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Contractual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Most software </a:t>
            </a:r>
            <a:r>
              <a:rPr lang="en-US" b="1" dirty="0"/>
              <a:t>contracts for custom systems </a:t>
            </a:r>
            <a:r>
              <a:rPr lang="en-US" dirty="0"/>
              <a:t>are based around a specification, which sets out </a:t>
            </a:r>
            <a:r>
              <a:rPr lang="en-US" b="1" dirty="0"/>
              <a:t>what has to be implemented by the system developer for the system customer.</a:t>
            </a:r>
          </a:p>
          <a:p>
            <a:pPr algn="just"/>
            <a:r>
              <a:rPr lang="en-US" dirty="0"/>
              <a:t>However</a:t>
            </a:r>
            <a:r>
              <a:rPr lang="en-US" b="1" dirty="0"/>
              <a:t>, this precludes interleaving specification and development </a:t>
            </a:r>
            <a:r>
              <a:rPr lang="en-US" dirty="0"/>
              <a:t>as is the norm in agile development.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Solution: </a:t>
            </a:r>
            <a:r>
              <a:rPr lang="en-US" dirty="0"/>
              <a:t>A contract that pays for developer time rather than functionality is required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57172-8E34-4EA3-BC69-CA7989AC8A5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0789141"/>
      </p:ext>
    </p:extLst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methods and software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7271"/>
            <a:ext cx="10972799" cy="4525963"/>
          </a:xfrm>
        </p:spPr>
        <p:txBody>
          <a:bodyPr/>
          <a:lstStyle/>
          <a:p>
            <a:pPr algn="just"/>
            <a:r>
              <a:rPr lang="en-US" sz="2000" b="1" dirty="0"/>
              <a:t>Most organizations spend more on maintaining existing software than they do on new software development</a:t>
            </a:r>
            <a:r>
              <a:rPr lang="en-US" sz="2000" dirty="0"/>
              <a:t>.</a:t>
            </a:r>
          </a:p>
          <a:p>
            <a:pPr algn="just"/>
            <a:r>
              <a:rPr lang="en-US" sz="2000" dirty="0"/>
              <a:t>So, for </a:t>
            </a:r>
            <a:r>
              <a:rPr lang="en-US" sz="2000" b="1" dirty="0"/>
              <a:t>agile methods </a:t>
            </a:r>
            <a:r>
              <a:rPr lang="en-US" sz="2000" dirty="0"/>
              <a:t>to be successful, they must </a:t>
            </a:r>
            <a:r>
              <a:rPr lang="en-US" sz="2000" b="1" dirty="0"/>
              <a:t>support maintenance as well as original development</a:t>
            </a:r>
            <a:r>
              <a:rPr lang="en-US" sz="2000" dirty="0"/>
              <a:t>.</a:t>
            </a:r>
          </a:p>
          <a:p>
            <a:pPr algn="just"/>
            <a:r>
              <a:rPr lang="en-US" sz="2000" dirty="0"/>
              <a:t>Key problems are:</a:t>
            </a:r>
          </a:p>
          <a:p>
            <a:pPr lvl="1" algn="just"/>
            <a:r>
              <a:rPr lang="en-US" sz="1800" b="1" dirty="0"/>
              <a:t>Lack of product documentation</a:t>
            </a:r>
          </a:p>
          <a:p>
            <a:pPr lvl="1" algn="just"/>
            <a:r>
              <a:rPr lang="en-US" sz="1800" dirty="0"/>
              <a:t>Keeping </a:t>
            </a:r>
            <a:r>
              <a:rPr lang="en-US" sz="1800" b="1" dirty="0"/>
              <a:t>customers involved </a:t>
            </a:r>
            <a:r>
              <a:rPr lang="en-US" sz="1800" dirty="0"/>
              <a:t>in the development process</a:t>
            </a:r>
          </a:p>
          <a:p>
            <a:pPr lvl="1" algn="just"/>
            <a:r>
              <a:rPr lang="en-US" sz="1800" dirty="0"/>
              <a:t>Maintaining </a:t>
            </a:r>
            <a:r>
              <a:rPr lang="en-US" sz="1800" b="1" dirty="0"/>
              <a:t>the continuity of the development team</a:t>
            </a:r>
          </a:p>
          <a:p>
            <a:pPr algn="just"/>
            <a:r>
              <a:rPr lang="en-US" sz="2000" dirty="0"/>
              <a:t>Agile development </a:t>
            </a:r>
            <a:r>
              <a:rPr lang="en-US" sz="2000" b="1" dirty="0"/>
              <a:t>relies on the development team knowing and understanding what must be done. </a:t>
            </a:r>
          </a:p>
          <a:p>
            <a:pPr algn="just"/>
            <a:r>
              <a:rPr lang="en-US" sz="2000" dirty="0"/>
              <a:t>For </a:t>
            </a:r>
            <a:r>
              <a:rPr lang="en-US" sz="2000" b="1" dirty="0"/>
              <a:t>long-lifetime systems, this is a real problem as the original developers will not always work on the same system</a:t>
            </a:r>
            <a:r>
              <a:rPr lang="en-US" sz="2000" dirty="0"/>
              <a:t>.</a:t>
            </a:r>
          </a:p>
          <a:p>
            <a:pPr algn="just"/>
            <a:endParaRPr lang="en-GB" sz="2000" b="1" dirty="0"/>
          </a:p>
          <a:p>
            <a:pPr marL="457200" lvl="1" indent="0" algn="just">
              <a:buNone/>
            </a:pP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84E0C-F771-40DF-BBD4-16296DEDB5E8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8773931"/>
      </p:ext>
    </p:extLst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important factors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3.12 Agile-plan-based-factors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196" y="2145891"/>
            <a:ext cx="8469607" cy="27305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C9EDE2-6C49-48E7-A875-693F46CAF4E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7981354"/>
      </p:ext>
    </p:extLst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9842500" cy="4525963"/>
          </a:xfrm>
        </p:spPr>
        <p:txBody>
          <a:bodyPr/>
          <a:lstStyle/>
          <a:p>
            <a:r>
              <a:rPr lang="en-GB" b="1" dirty="0"/>
              <a:t>How large is the system </a:t>
            </a:r>
            <a:r>
              <a:rPr lang="en-GB" dirty="0"/>
              <a:t>being developed?</a:t>
            </a:r>
          </a:p>
          <a:p>
            <a:pPr lvl="1"/>
            <a:r>
              <a:rPr lang="en-GB" dirty="0"/>
              <a:t>Agile methods are most effective for a relatively small co-located team who can communicate informally. </a:t>
            </a:r>
          </a:p>
          <a:p>
            <a:r>
              <a:rPr lang="en-GB" b="1" dirty="0"/>
              <a:t>What type of system </a:t>
            </a:r>
            <a:r>
              <a:rPr lang="en-GB" dirty="0"/>
              <a:t>is being developed?</a:t>
            </a:r>
          </a:p>
          <a:p>
            <a:pPr lvl="1"/>
            <a:r>
              <a:rPr lang="en-GB" dirty="0"/>
              <a:t>Systems that require a lot of analysis before implementation need a fairly detailed design to carry out this analysis. </a:t>
            </a:r>
          </a:p>
          <a:p>
            <a:r>
              <a:rPr lang="en-GB" dirty="0"/>
              <a:t>What is the </a:t>
            </a:r>
            <a:r>
              <a:rPr lang="en-GB" b="1" dirty="0"/>
              <a:t>expected system lifetime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Long-lifetime systems require documentation to communicate the intentions of the system developers to the support team. </a:t>
            </a:r>
          </a:p>
          <a:p>
            <a:r>
              <a:rPr lang="en-GB" dirty="0"/>
              <a:t>Is the </a:t>
            </a:r>
            <a:r>
              <a:rPr lang="en-GB" b="1" dirty="0"/>
              <a:t>system subject to external regulation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If a system is regulated you will probably be required to produce detailed documentation as part of the system safety case. </a:t>
            </a:r>
          </a:p>
          <a:p>
            <a:pPr lvl="1">
              <a:buNone/>
            </a:pPr>
            <a:r>
              <a:rPr lang="en-GB" dirty="0"/>
              <a:t> </a:t>
            </a:r>
          </a:p>
          <a:p>
            <a:pPr lvl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8C439D-BA06-43AF-B7B2-48C31AAAB7BD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3.12 Agile-plan-based-factors.eps">
            <a:extLst>
              <a:ext uri="{FF2B5EF4-FFF2-40B4-BE49-F238E27FC236}">
                <a16:creationId xmlns:a16="http://schemas.microsoft.com/office/drawing/2014/main" id="{96E8060A-DBB6-7DB2-9915-E254C87983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395"/>
          <a:stretch/>
        </p:blipFill>
        <p:spPr>
          <a:xfrm>
            <a:off x="9499959" y="1556782"/>
            <a:ext cx="2846234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030013"/>
      </p:ext>
    </p:extLst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974" y="142885"/>
            <a:ext cx="9724309" cy="1143000"/>
          </a:xfrm>
        </p:spPr>
        <p:txBody>
          <a:bodyPr/>
          <a:lstStyle/>
          <a:p>
            <a:r>
              <a:rPr lang="en-US" dirty="0"/>
              <a:t>People and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490" y="1624013"/>
            <a:ext cx="10972800" cy="4525963"/>
          </a:xfrm>
        </p:spPr>
        <p:txBody>
          <a:bodyPr/>
          <a:lstStyle/>
          <a:p>
            <a:r>
              <a:rPr lang="en-GB" dirty="0"/>
              <a:t>How </a:t>
            </a:r>
            <a:r>
              <a:rPr lang="en-GB" b="1" dirty="0"/>
              <a:t>good are the designers and programmers in the development team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 It is sometimes argued that agile methods require higher skill levels than plan-based approaches in which programmers simply translate a detailed design into code.</a:t>
            </a:r>
          </a:p>
          <a:p>
            <a:r>
              <a:rPr lang="en-GB" dirty="0"/>
              <a:t>How is the </a:t>
            </a:r>
            <a:r>
              <a:rPr lang="en-GB" b="1" dirty="0"/>
              <a:t>development team organized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Co-located/distributed</a:t>
            </a:r>
          </a:p>
          <a:p>
            <a:pPr lvl="1"/>
            <a:r>
              <a:rPr lang="en-GB" dirty="0"/>
              <a:t>Design documents may be required if the team is distributed.</a:t>
            </a:r>
          </a:p>
          <a:p>
            <a:r>
              <a:rPr lang="en-GB" dirty="0"/>
              <a:t>What </a:t>
            </a:r>
            <a:r>
              <a:rPr lang="en-GB" b="1" dirty="0"/>
              <a:t>support technologies are available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IDE support for visualisation and program analysis is essential if design documentation is not available.</a:t>
            </a:r>
          </a:p>
          <a:p>
            <a:pPr lvl="1"/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400799"/>
            <a:ext cx="284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28B78-B0C5-4EF5-8991-13BC5468EA4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3.12 Agile-plan-based-factors.eps">
            <a:extLst>
              <a:ext uri="{FF2B5EF4-FFF2-40B4-BE49-F238E27FC236}">
                <a16:creationId xmlns:a16="http://schemas.microsoft.com/office/drawing/2014/main" id="{46A73B30-85D0-9C18-5648-152929AD42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92" r="32845"/>
          <a:stretch/>
        </p:blipFill>
        <p:spPr>
          <a:xfrm>
            <a:off x="9455973" y="2595717"/>
            <a:ext cx="2736027" cy="235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26957"/>
      </p:ext>
    </p:extLst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What is the work culture either plan-based or agile</a:t>
            </a:r>
          </a:p>
          <a:p>
            <a:pPr algn="just"/>
            <a:r>
              <a:rPr lang="en-GB" dirty="0"/>
              <a:t>How the contracts have been designed for the maintenance phase</a:t>
            </a:r>
          </a:p>
          <a:p>
            <a:pPr algn="just"/>
            <a:r>
              <a:rPr lang="en-GB" dirty="0"/>
              <a:t>Will customer representatives be available to provide feedback of system increments?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2A9B77-9DD5-4D84-8075-4D88910E543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3.12 Agile-plan-based-factors.eps">
            <a:extLst>
              <a:ext uri="{FF2B5EF4-FFF2-40B4-BE49-F238E27FC236}">
                <a16:creationId xmlns:a16="http://schemas.microsoft.com/office/drawing/2014/main" id="{910436E8-A47E-9388-29D5-0B5DCFFF94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83"/>
          <a:stretch/>
        </p:blipFill>
        <p:spPr>
          <a:xfrm>
            <a:off x="8808404" y="3510758"/>
            <a:ext cx="2703192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590799"/>
      </p:ext>
    </p:extLst>
  </p:cSld>
  <p:clrMapOvr>
    <a:masterClrMapping/>
  </p:clrMapOvr>
  <p:transition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methods for large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sz="2200" dirty="0"/>
              <a:t>Large systems-&gt; larger teams in different zones may be</a:t>
            </a:r>
          </a:p>
          <a:p>
            <a:pPr algn="just"/>
            <a:r>
              <a:rPr lang="en-GB" sz="2200" b="1" dirty="0"/>
              <a:t>Large systems are ‘brownfield systems’,(the systems derived from an existing system)</a:t>
            </a:r>
            <a:r>
              <a:rPr lang="en-GB" sz="2200" dirty="0"/>
              <a:t>. Many of the system requirements are concerned with this interaction and so don’t really lend themselves to </a:t>
            </a:r>
            <a:r>
              <a:rPr lang="en-GB" sz="2200" b="1" dirty="0"/>
              <a:t>flexibility and incremental development. </a:t>
            </a:r>
          </a:p>
          <a:p>
            <a:pPr algn="just"/>
            <a:r>
              <a:rPr lang="en-GB" sz="2200" dirty="0"/>
              <a:t>When existing systems are integrated -&gt; a lot of time is wasted on integration rather than coding.</a:t>
            </a:r>
            <a:endParaRPr lang="en-US" sz="2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FB311C-625D-426E-8510-D2196584201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5323146"/>
      </p:ext>
    </p:extLst>
  </p:cSld>
  <p:clrMapOvr>
    <a:masterClrMapping/>
  </p:clrMapOvr>
  <p:transition spd="med"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system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b="1" dirty="0"/>
              <a:t>Large systems and their development processes are often constrained by external rules and regulations </a:t>
            </a:r>
            <a:r>
              <a:rPr lang="en-GB" dirty="0"/>
              <a:t>limiting the way that they can be developed.</a:t>
            </a:r>
          </a:p>
          <a:p>
            <a:pPr algn="just"/>
            <a:r>
              <a:rPr lang="en-GB" dirty="0"/>
              <a:t>Large systems </a:t>
            </a:r>
            <a:r>
              <a:rPr lang="en-GB" b="1" dirty="0"/>
              <a:t>have a long procurement and development time</a:t>
            </a:r>
            <a:r>
              <a:rPr lang="en-GB" dirty="0"/>
              <a:t>. Its really difficult to hold people for a project.</a:t>
            </a:r>
          </a:p>
          <a:p>
            <a:pPr algn="just"/>
            <a:r>
              <a:rPr lang="en-GB" dirty="0"/>
              <a:t>Large systems have diverse stakeholders-&gt; so its impossible to involve all of them in the development process.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6AF854-9A62-4888-822F-08E20669485B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814459"/>
      </p:ext>
    </p:extLst>
  </p:cSld>
  <p:clrMapOvr>
    <a:masterClrMapping/>
  </p:clrMapOvr>
  <p:transition spd="med"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in large systems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3.13 Factors in large systems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900" y="1943100"/>
            <a:ext cx="7150100" cy="4120397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18292D-8D2E-4369-9BCC-2A76B94F83B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996820"/>
      </p:ext>
    </p:extLst>
  </p:cSld>
  <p:clrMapOvr>
    <a:masterClrMapping/>
  </p:clrMapOvr>
  <p:transition spd="med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up to large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sz="2200" dirty="0"/>
              <a:t>A </a:t>
            </a:r>
            <a:r>
              <a:rPr lang="en-GB" sz="2200" b="1" dirty="0"/>
              <a:t>completely incremental </a:t>
            </a:r>
            <a:r>
              <a:rPr lang="en-GB" sz="2200" dirty="0"/>
              <a:t>approach to requirements engineering </a:t>
            </a:r>
            <a:r>
              <a:rPr lang="en-GB" sz="2200" b="1" dirty="0"/>
              <a:t>is impossible.</a:t>
            </a:r>
          </a:p>
          <a:p>
            <a:pPr algn="just"/>
            <a:r>
              <a:rPr lang="en-GB" sz="2200" dirty="0"/>
              <a:t>Diverse and multiple product owners or customer representatives.</a:t>
            </a:r>
          </a:p>
          <a:p>
            <a:pPr algn="just"/>
            <a:r>
              <a:rPr lang="en-GB" sz="2200" dirty="0"/>
              <a:t>For large systems development, it is not possible to focus only on the code of the system.  As procurement and integration procedure is also involved</a:t>
            </a:r>
          </a:p>
          <a:p>
            <a:pPr algn="just"/>
            <a:r>
              <a:rPr lang="en-GB" sz="2200" dirty="0"/>
              <a:t>Cross-team communication mechanisms have to be designed and used. </a:t>
            </a:r>
          </a:p>
          <a:p>
            <a:pPr algn="just"/>
            <a:r>
              <a:rPr lang="en-GB" sz="2200" dirty="0"/>
              <a:t>Continuous integration is practically impossible. However, it is essential to maintain frequent system builds and regular releases of the system. </a:t>
            </a:r>
            <a:endParaRPr lang="en-US" sz="2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0514E-DC64-469D-B93D-E2E7FB067C3D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0038788"/>
      </p:ext>
    </p:extLst>
  </p:cSld>
  <p:clrMapOvr>
    <a:masterClrMapping/>
  </p:clrMapOvr>
  <p:transition spd="med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Multi-team 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Role replication</a:t>
            </a:r>
            <a:r>
              <a:rPr lang="en-GB" dirty="0"/>
              <a:t> </a:t>
            </a:r>
          </a:p>
          <a:p>
            <a:pPr lvl="1"/>
            <a:r>
              <a:rPr lang="en-GB" b="1" dirty="0"/>
              <a:t>Each team has a Product Owner for their work component and ScrumMaster</a:t>
            </a:r>
            <a:r>
              <a:rPr lang="en-GB" dirty="0"/>
              <a:t>. </a:t>
            </a:r>
          </a:p>
          <a:p>
            <a:r>
              <a:rPr lang="en-GB" i="1" dirty="0"/>
              <a:t>Product architects</a:t>
            </a:r>
            <a:r>
              <a:rPr lang="en-GB" dirty="0"/>
              <a:t> </a:t>
            </a:r>
          </a:p>
          <a:p>
            <a:pPr lvl="1"/>
            <a:r>
              <a:rPr lang="en-GB" b="1" dirty="0"/>
              <a:t>Each team chooses a product architect and these architects collaborate to design and evolve the overall system architecture.</a:t>
            </a:r>
          </a:p>
          <a:p>
            <a:r>
              <a:rPr lang="en-GB" i="1" dirty="0"/>
              <a:t>Release alignment</a:t>
            </a:r>
            <a:r>
              <a:rPr lang="en-GB" dirty="0"/>
              <a:t> </a:t>
            </a:r>
          </a:p>
          <a:p>
            <a:pPr lvl="1"/>
            <a:r>
              <a:rPr lang="en-GB" b="1" dirty="0"/>
              <a:t>The dates of product releases from each team are aligned </a:t>
            </a:r>
            <a:r>
              <a:rPr lang="en-GB" dirty="0"/>
              <a:t>so that a demonstrable and complete system is produced.</a:t>
            </a:r>
          </a:p>
          <a:p>
            <a:r>
              <a:rPr lang="en-GB" i="1" dirty="0"/>
              <a:t>Scrum of Scrums</a:t>
            </a:r>
            <a:r>
              <a:rPr lang="en-GB" dirty="0"/>
              <a:t> </a:t>
            </a:r>
          </a:p>
          <a:p>
            <a:pPr lvl="1"/>
            <a:r>
              <a:rPr lang="en-GB" b="1" dirty="0"/>
              <a:t>There is a daily Scrum of Scrums where representatives from each team meet to </a:t>
            </a:r>
            <a:r>
              <a:rPr lang="en-GB" b="1"/>
              <a:t>discuss progress and </a:t>
            </a:r>
            <a:r>
              <a:rPr lang="en-GB" b="1" dirty="0"/>
              <a:t>plan work to be done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5BBF0-B782-3644-AFE1-10103AC25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E853D8-DB2D-4C72-81DA-24177F8891C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5401099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3962</Words>
  <Application>Microsoft Office PowerPoint</Application>
  <PresentationFormat>Widescreen</PresentationFormat>
  <Paragraphs>525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</vt:lpstr>
      <vt:lpstr>Calibri</vt:lpstr>
      <vt:lpstr>Times New Roman</vt:lpstr>
      <vt:lpstr>Wingdings</vt:lpstr>
      <vt:lpstr>SE10 slides</vt:lpstr>
      <vt:lpstr>Chapter 3 – Agile Software Development</vt:lpstr>
      <vt:lpstr>Rapid software development</vt:lpstr>
      <vt:lpstr>Rapid software development</vt:lpstr>
      <vt:lpstr>Agile development</vt:lpstr>
      <vt:lpstr>Plan-driven and agile development comparison</vt:lpstr>
      <vt:lpstr>Agile development</vt:lpstr>
      <vt:lpstr>Agile methods</vt:lpstr>
      <vt:lpstr>Agile methods</vt:lpstr>
      <vt:lpstr>The principles of agile methods </vt:lpstr>
      <vt:lpstr>Agile development techniques</vt:lpstr>
      <vt:lpstr>Extreme programming</vt:lpstr>
      <vt:lpstr>Principles of Extreme programming</vt:lpstr>
      <vt:lpstr>Extreme programming</vt:lpstr>
      <vt:lpstr>Extreme programming practices (a) </vt:lpstr>
      <vt:lpstr>Extreme programming practices (b)</vt:lpstr>
      <vt:lpstr>The extreme programming release cycle </vt:lpstr>
      <vt:lpstr>User stories for requirements</vt:lpstr>
      <vt:lpstr>User stories for requirements</vt:lpstr>
      <vt:lpstr>user stories for a travel website </vt:lpstr>
      <vt:lpstr>task cards for the travel website?</vt:lpstr>
      <vt:lpstr>Refactoring</vt:lpstr>
      <vt:lpstr>Refactoring</vt:lpstr>
      <vt:lpstr>Examples of refactoring</vt:lpstr>
      <vt:lpstr>Test-first development (XP’s innovation)</vt:lpstr>
      <vt:lpstr>Test-first development</vt:lpstr>
      <vt:lpstr>Customer involvement</vt:lpstr>
      <vt:lpstr>Test cases examples</vt:lpstr>
      <vt:lpstr>Test automation</vt:lpstr>
      <vt:lpstr>Problems with test-first development</vt:lpstr>
      <vt:lpstr>Pair programming (XP’s innovation)</vt:lpstr>
      <vt:lpstr>Pair programming</vt:lpstr>
      <vt:lpstr>Pair programming</vt:lpstr>
      <vt:lpstr>Agile project management</vt:lpstr>
      <vt:lpstr>Agile project management</vt:lpstr>
      <vt:lpstr>Scrum</vt:lpstr>
      <vt:lpstr>Scrum terminology </vt:lpstr>
      <vt:lpstr>Scrum terminology </vt:lpstr>
      <vt:lpstr>Scrum sprint cycle</vt:lpstr>
      <vt:lpstr>The Scrum sprint cycle</vt:lpstr>
      <vt:lpstr>The Sprint cycle</vt:lpstr>
      <vt:lpstr>Teamwork in Scrum</vt:lpstr>
      <vt:lpstr>Scrum benefits</vt:lpstr>
      <vt:lpstr>Scaling agile methods</vt:lpstr>
      <vt:lpstr>Scaling agile methods</vt:lpstr>
      <vt:lpstr>Scaling out and scaling up</vt:lpstr>
      <vt:lpstr>Practical problems with agile methods</vt:lpstr>
      <vt:lpstr>Contractual issues</vt:lpstr>
      <vt:lpstr>Agile methods and software maintenance</vt:lpstr>
      <vt:lpstr>Agile important factors</vt:lpstr>
      <vt:lpstr>System issues</vt:lpstr>
      <vt:lpstr>People and teams</vt:lpstr>
      <vt:lpstr>Organizational issues</vt:lpstr>
      <vt:lpstr>Agile methods for large systems</vt:lpstr>
      <vt:lpstr>Large system development</vt:lpstr>
      <vt:lpstr>Factors in large systems</vt:lpstr>
      <vt:lpstr>Scaling up to large systems</vt:lpstr>
      <vt:lpstr>Multi-team Scrum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Process improvement</dc:title>
  <dc:creator>hajra ahmed</dc:creator>
  <cp:lastModifiedBy>Hajra  Ahmed</cp:lastModifiedBy>
  <cp:revision>12</cp:revision>
  <dcterms:created xsi:type="dcterms:W3CDTF">2025-01-29T08:13:16Z</dcterms:created>
  <dcterms:modified xsi:type="dcterms:W3CDTF">2026-02-03T06:11:46Z</dcterms:modified>
</cp:coreProperties>
</file>