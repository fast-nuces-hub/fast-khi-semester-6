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Lst>
  <p:notesMasterIdLst>
    <p:notesMasterId r:id="rId48"/>
  </p:notesMasterIdLst>
  <p:sldIdLst>
    <p:sldId id="258" r:id="rId3"/>
    <p:sldId id="299" r:id="rId4"/>
    <p:sldId id="303" r:id="rId5"/>
    <p:sldId id="304" r:id="rId6"/>
    <p:sldId id="305" r:id="rId7"/>
    <p:sldId id="331" r:id="rId8"/>
    <p:sldId id="300" r:id="rId9"/>
    <p:sldId id="332" r:id="rId10"/>
    <p:sldId id="333" r:id="rId11"/>
    <p:sldId id="334" r:id="rId12"/>
    <p:sldId id="335" r:id="rId13"/>
    <p:sldId id="336" r:id="rId14"/>
    <p:sldId id="337" r:id="rId15"/>
    <p:sldId id="338" r:id="rId16"/>
    <p:sldId id="339" r:id="rId17"/>
    <p:sldId id="340" r:id="rId18"/>
    <p:sldId id="350" r:id="rId19"/>
    <p:sldId id="351" r:id="rId20"/>
    <p:sldId id="352" r:id="rId21"/>
    <p:sldId id="353" r:id="rId22"/>
    <p:sldId id="354" r:id="rId23"/>
    <p:sldId id="355" r:id="rId24"/>
    <p:sldId id="302" r:id="rId25"/>
    <p:sldId id="356" r:id="rId26"/>
    <p:sldId id="317" r:id="rId27"/>
    <p:sldId id="260" r:id="rId28"/>
    <p:sldId id="261" r:id="rId29"/>
    <p:sldId id="318" r:id="rId30"/>
    <p:sldId id="357" r:id="rId31"/>
    <p:sldId id="319" r:id="rId32"/>
    <p:sldId id="320" r:id="rId33"/>
    <p:sldId id="321" r:id="rId34"/>
    <p:sldId id="262" r:id="rId35"/>
    <p:sldId id="323" r:id="rId36"/>
    <p:sldId id="324" r:id="rId37"/>
    <p:sldId id="358" r:id="rId38"/>
    <p:sldId id="322" r:id="rId39"/>
    <p:sldId id="263" r:id="rId40"/>
    <p:sldId id="325" r:id="rId41"/>
    <p:sldId id="326" r:id="rId42"/>
    <p:sldId id="359" r:id="rId43"/>
    <p:sldId id="327" r:id="rId44"/>
    <p:sldId id="360" r:id="rId45"/>
    <p:sldId id="361" r:id="rId46"/>
    <p:sldId id="362" r:id="rId47"/>
  </p:sldIdLst>
  <p:sldSz cx="12192000" cy="6858000"/>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108" d="100"/>
          <a:sy n="108" d="100"/>
        </p:scale>
        <p:origin x="576"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1"/>
            <a:ext cx="3037840" cy="466434"/>
          </a:xfrm>
          <a:prstGeom prst="rect">
            <a:avLst/>
          </a:prstGeom>
        </p:spPr>
        <p:txBody>
          <a:bodyPr vert="horz" lIns="93158" tIns="46580" rIns="93158" bIns="46580" rtlCol="0"/>
          <a:lstStyle>
            <a:lvl1pPr algn="l">
              <a:defRPr sz="1300"/>
            </a:lvl1pPr>
          </a:lstStyle>
          <a:p>
            <a:endParaRPr lang="en-US"/>
          </a:p>
        </p:txBody>
      </p:sp>
      <p:sp>
        <p:nvSpPr>
          <p:cNvPr id="3" name="Date Placeholder 2"/>
          <p:cNvSpPr>
            <a:spLocks noGrp="1"/>
          </p:cNvSpPr>
          <p:nvPr>
            <p:ph type="dt" idx="1"/>
          </p:nvPr>
        </p:nvSpPr>
        <p:spPr>
          <a:xfrm>
            <a:off x="3970938" y="1"/>
            <a:ext cx="3037840" cy="466434"/>
          </a:xfrm>
          <a:prstGeom prst="rect">
            <a:avLst/>
          </a:prstGeom>
        </p:spPr>
        <p:txBody>
          <a:bodyPr vert="horz" lIns="93158" tIns="46580" rIns="93158" bIns="46580" rtlCol="0"/>
          <a:lstStyle>
            <a:lvl1pPr algn="r">
              <a:defRPr sz="1300"/>
            </a:lvl1pPr>
          </a:lstStyle>
          <a:p>
            <a:fld id="{22B14FE0-13CC-435C-9B83-8B7D30045521}" type="datetimeFigureOut">
              <a:rPr lang="en-US" smtClean="0"/>
              <a:t>1/20/2026</a:t>
            </a:fld>
            <a:endParaRPr lang="en-US"/>
          </a:p>
        </p:txBody>
      </p:sp>
      <p:sp>
        <p:nvSpPr>
          <p:cNvPr id="4" name="Slide Image Placeholder 3"/>
          <p:cNvSpPr>
            <a:spLocks noGrp="1" noRot="1" noChangeAspect="1"/>
          </p:cNvSpPr>
          <p:nvPr>
            <p:ph type="sldImg" idx="2"/>
          </p:nvPr>
        </p:nvSpPr>
        <p:spPr>
          <a:xfrm>
            <a:off x="717550" y="1162050"/>
            <a:ext cx="5575300" cy="3136900"/>
          </a:xfrm>
          <a:prstGeom prst="rect">
            <a:avLst/>
          </a:prstGeom>
          <a:noFill/>
          <a:ln w="12700">
            <a:solidFill>
              <a:prstClr val="black"/>
            </a:solidFill>
          </a:ln>
        </p:spPr>
        <p:txBody>
          <a:bodyPr vert="horz" lIns="93158" tIns="46580" rIns="93158" bIns="46580" rtlCol="0" anchor="ctr"/>
          <a:lstStyle/>
          <a:p>
            <a:endParaRPr lang="en-US"/>
          </a:p>
        </p:txBody>
      </p:sp>
      <p:sp>
        <p:nvSpPr>
          <p:cNvPr id="5" name="Notes Placeholder 4"/>
          <p:cNvSpPr>
            <a:spLocks noGrp="1"/>
          </p:cNvSpPr>
          <p:nvPr>
            <p:ph type="body" sz="quarter" idx="3"/>
          </p:nvPr>
        </p:nvSpPr>
        <p:spPr>
          <a:xfrm>
            <a:off x="701040" y="4473892"/>
            <a:ext cx="5608320" cy="3660458"/>
          </a:xfrm>
          <a:prstGeom prst="rect">
            <a:avLst/>
          </a:prstGeom>
        </p:spPr>
        <p:txBody>
          <a:bodyPr vert="horz" lIns="93158" tIns="46580" rIns="93158" bIns="4658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8"/>
            <a:ext cx="3037840" cy="466433"/>
          </a:xfrm>
          <a:prstGeom prst="rect">
            <a:avLst/>
          </a:prstGeom>
        </p:spPr>
        <p:txBody>
          <a:bodyPr vert="horz" lIns="93158" tIns="46580" rIns="93158" bIns="46580" rtlCol="0" anchor="b"/>
          <a:lstStyle>
            <a:lvl1pPr algn="l">
              <a:defRPr sz="1300"/>
            </a:lvl1pPr>
          </a:lstStyle>
          <a:p>
            <a:endParaRPr lang="en-US"/>
          </a:p>
        </p:txBody>
      </p:sp>
      <p:sp>
        <p:nvSpPr>
          <p:cNvPr id="7" name="Slide Number Placeholder 6"/>
          <p:cNvSpPr>
            <a:spLocks noGrp="1"/>
          </p:cNvSpPr>
          <p:nvPr>
            <p:ph type="sldNum" sz="quarter" idx="5"/>
          </p:nvPr>
        </p:nvSpPr>
        <p:spPr>
          <a:xfrm>
            <a:off x="3970938" y="8829968"/>
            <a:ext cx="3037840" cy="466433"/>
          </a:xfrm>
          <a:prstGeom prst="rect">
            <a:avLst/>
          </a:prstGeom>
        </p:spPr>
        <p:txBody>
          <a:bodyPr vert="horz" lIns="93158" tIns="46580" rIns="93158" bIns="46580" rtlCol="0" anchor="b"/>
          <a:lstStyle>
            <a:lvl1pPr algn="r">
              <a:defRPr sz="1300"/>
            </a:lvl1pPr>
          </a:lstStyle>
          <a:p>
            <a:fld id="{ADB396D6-2622-44BB-B6C1-DB109AB3264F}" type="slidenum">
              <a:rPr lang="en-US" smtClean="0"/>
              <a:t>‹#›</a:t>
            </a:fld>
            <a:endParaRPr lang="en-US"/>
          </a:p>
        </p:txBody>
      </p:sp>
    </p:spTree>
    <p:extLst>
      <p:ext uri="{BB962C8B-B14F-4D97-AF65-F5344CB8AC3E}">
        <p14:creationId xmlns:p14="http://schemas.microsoft.com/office/powerpoint/2010/main" val="21980499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US"/>
              <a:t>30/10/2014</a:t>
            </a:r>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extLst>
      <p:ext uri="{BB962C8B-B14F-4D97-AF65-F5344CB8AC3E}">
        <p14:creationId xmlns:p14="http://schemas.microsoft.com/office/powerpoint/2010/main" val="3820667436"/>
      </p:ext>
    </p:extLst>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US"/>
              <a:t>30/10/2014</a:t>
            </a:r>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extLst>
      <p:ext uri="{BB962C8B-B14F-4D97-AF65-F5344CB8AC3E}">
        <p14:creationId xmlns:p14="http://schemas.microsoft.com/office/powerpoint/2010/main" val="1337417979"/>
      </p:ext>
    </p:extLst>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extLst>
      <p:ext uri="{BB962C8B-B14F-4D97-AF65-F5344CB8AC3E}">
        <p14:creationId xmlns:p14="http://schemas.microsoft.com/office/powerpoint/2010/main" val="261461499"/>
      </p:ext>
    </p:extLst>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extLst>
      <p:ext uri="{BB962C8B-B14F-4D97-AF65-F5344CB8AC3E}">
        <p14:creationId xmlns:p14="http://schemas.microsoft.com/office/powerpoint/2010/main" val="871321549"/>
      </p:ext>
    </p:extLst>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8"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extLst>
      <p:ext uri="{BB962C8B-B14F-4D97-AF65-F5344CB8AC3E}">
        <p14:creationId xmlns:p14="http://schemas.microsoft.com/office/powerpoint/2010/main" val="177926984"/>
      </p:ext>
    </p:extLst>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extLst>
      <p:ext uri="{BB962C8B-B14F-4D97-AF65-F5344CB8AC3E}">
        <p14:creationId xmlns:p14="http://schemas.microsoft.com/office/powerpoint/2010/main" val="286092382"/>
      </p:ext>
    </p:extLst>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3"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extLst>
      <p:ext uri="{BB962C8B-B14F-4D97-AF65-F5344CB8AC3E}">
        <p14:creationId xmlns:p14="http://schemas.microsoft.com/office/powerpoint/2010/main" val="3903894382"/>
      </p:ext>
    </p:extLst>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extLst>
      <p:ext uri="{BB962C8B-B14F-4D97-AF65-F5344CB8AC3E}">
        <p14:creationId xmlns:p14="http://schemas.microsoft.com/office/powerpoint/2010/main" val="2075485516"/>
      </p:ext>
    </p:extLst>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extLst>
      <p:ext uri="{BB962C8B-B14F-4D97-AF65-F5344CB8AC3E}">
        <p14:creationId xmlns:p14="http://schemas.microsoft.com/office/powerpoint/2010/main" val="2700785658"/>
      </p:ext>
    </p:extLst>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extLst>
      <p:ext uri="{BB962C8B-B14F-4D97-AF65-F5344CB8AC3E}">
        <p14:creationId xmlns:p14="http://schemas.microsoft.com/office/powerpoint/2010/main" val="1804910802"/>
      </p:ext>
    </p:extLst>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a:defRPr/>
            </a:pPr>
            <a:r>
              <a:rPr lang="en-US"/>
              <a:t>30/10/2014</a:t>
            </a: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extLst>
      <p:ext uri="{BB962C8B-B14F-4D97-AF65-F5344CB8AC3E}">
        <p14:creationId xmlns:p14="http://schemas.microsoft.com/office/powerpoint/2010/main" val="23405992"/>
      </p:ext>
    </p:extLst>
  </p:cSld>
  <p:clrMapOvr>
    <a:masterClrMapping/>
  </p:clrMapOvr>
  <p:transition spd="med">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Date Placeholder 7"/>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DA38495D-52E8-449D-B0CB-7613FA9DD5C1}"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5CD492-2BC6-F348-9965-EC1D86DF57A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27548908"/>
      </p:ext>
    </p:extLst>
  </p:cSld>
  <p:clrMapOvr>
    <a:masterClrMapping/>
  </p:clrMapOvr>
  <p:transition spd="med">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609600" y="1600201"/>
            <a:ext cx="109728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8" name="Date Placeholder 7"/>
          <p:cNvSpPr>
            <a:spLocks noGrp="1"/>
          </p:cNvSpPr>
          <p:nvPr>
            <p:ph type="dt" sz="half"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EF992078-AA15-41CC-BBFA-C92CC6D23B12}"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9" name="Slide Number Placeholder 8"/>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D5CD492-2BC6-F348-9965-EC1D86DF57A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11178024"/>
      </p:ext>
    </p:extLst>
  </p:cSld>
  <p:clrMapOvr>
    <a:masterClrMapping/>
  </p:clrMapOvr>
  <p:transition spd="med">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4B802DFA-E779-4185-91B6-24222B2F42AB}"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AF2747F-ECC4-BB44-B379-DEBCDE6D0557}"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349133369"/>
      </p:ext>
    </p:extLst>
  </p:cSld>
  <p:clrMapOvr>
    <a:masterClrMapping/>
  </p:clrMapOvr>
  <p:transition spd="med">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18BAAD34-CC2F-4190-97C4-C8950723EDF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E6C1ACB-37F4-2E4E-A02F-3AD2C3500E5B}"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231115866"/>
      </p:ext>
    </p:extLst>
  </p:cSld>
  <p:clrMapOvr>
    <a:masterClrMapping/>
  </p:clrMapOvr>
  <p:transition spd="med">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C75EFA1-DAE9-4F7B-80E0-0F07F81E95D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8"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9"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DABC9741-E27D-6644-A29C-7357B3CA2856}"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092548051"/>
      </p:ext>
    </p:extLst>
  </p:cSld>
  <p:clrMapOvr>
    <a:masterClrMapping/>
  </p:clrMapOvr>
  <p:transition spd="med">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02C59544-2776-4CAB-BD19-D79595237D9D}"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4"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5"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1A6FC00-01EB-8C4B-8EBA-327D665853CA}"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427295265"/>
      </p:ext>
    </p:extLst>
  </p:cSld>
  <p:clrMapOvr>
    <a:masterClrMapping/>
  </p:clrMapOvr>
  <p:transition spd="med">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1089189-327C-4E20-891D-F0BB155D91F7}"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3"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4"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72C4B30A-E151-554F-9F57-FEC60EAD6DEE}"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716706455"/>
      </p:ext>
    </p:extLst>
  </p:cSld>
  <p:clrMapOvr>
    <a:masterClrMapping/>
  </p:clrMapOvr>
  <p:transition spd="med">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C1CB4D2-B891-4C34-9228-306AC92723CF}"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9FF5AC9E-F104-7046-909E-B47A8243FECD}"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444159959"/>
      </p:ext>
    </p:extLst>
  </p:cSld>
  <p:clrMapOvr>
    <a:masterClrMapping/>
  </p:clrMapOvr>
  <p:transition spd="med">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A02F6B5-83AA-442F-B753-96CA0914C159}"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6"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7"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449DDB79-4A56-9B43-9E32-8AACDB1BCC49}"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3962884473"/>
      </p:ext>
    </p:extLst>
  </p:cSld>
  <p:clrMapOvr>
    <a:masterClrMapping/>
  </p:clrMapOvr>
  <p:transition spd="med">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609600" y="1600201"/>
            <a:ext cx="109728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D5689D01-E04C-4783-A685-3A3B3D8859C5}"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2970207B-D522-9843-9370-2EDD2ED326F5}"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714903906"/>
      </p:ext>
    </p:extLst>
  </p:cSld>
  <p:clrMapOvr>
    <a:masterClrMapping/>
  </p:clrMapOvr>
  <p:transition spd="med">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609600" y="6356351"/>
            <a:ext cx="2844800" cy="365125"/>
          </a:xfrm>
          <a:prstGeom prst="rect">
            <a:avLst/>
          </a:prstGeom>
        </p:spPr>
        <p:txBody>
          <a:bodyP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66E6F576-2A84-49EA-BDFB-FC197978C53C}"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5" name="Footer Placeholder 4"/>
          <p:cNvSpPr>
            <a:spLocks noGrp="1"/>
          </p:cNvSpPr>
          <p:nvPr>
            <p:ph type="ftr" sz="quarter" idx="11"/>
          </p:nvPr>
        </p:nvSpPr>
        <p:spPr>
          <a:xfrm>
            <a:off x="4165600" y="6356351"/>
            <a:ext cx="3860800" cy="365125"/>
          </a:xfrm>
          <a:prstGeom prst="rect">
            <a:avLst/>
          </a:prstGeom>
        </p:spPr>
        <p:txBody>
          <a:bodyP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p>
        </p:txBody>
      </p:sp>
      <p:sp>
        <p:nvSpPr>
          <p:cNvPr id="6" name="Slide Number Placeholder 5"/>
          <p:cNvSpPr>
            <a:spLocks noGrp="1"/>
          </p:cNvSpPr>
          <p:nvPr>
            <p:ph type="sldNum" sz="quarter" idx="12"/>
          </p:nvPr>
        </p:nvSpPr>
        <p:spPr>
          <a:xfrm>
            <a:off x="8720835" y="6356351"/>
            <a:ext cx="2844800" cy="365125"/>
          </a:xfrm>
          <a:prstGeom prst="rect">
            <a:avLst/>
          </a:prstGeom>
        </p:spPr>
        <p:txBody>
          <a:bodyP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1200" b="0" i="0" u="none" strike="noStrike" kern="1200" cap="none" spc="0" normalizeH="0" baseline="0" noProof="0">
                <a:ln>
                  <a:noFill/>
                </a:ln>
                <a:solidFill>
                  <a:prstClr val="black">
                    <a:tint val="75000"/>
                  </a:prstClr>
                </a:solidFill>
                <a:effectLst/>
                <a:uLnTx/>
                <a:uFillTx/>
                <a:latin typeface="Calibri"/>
                <a:ea typeface="+mn-ea"/>
                <a:cs typeface="+mn-cs"/>
              </a:rPr>
              <a:t>Presentation title - </a:t>
            </a:r>
            <a:fld id="{DA4E4A1D-F72B-1945-8E69-DB5636470060}" type="slidenum">
              <a:rPr kumimoji="0" lang="en-GB"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GB"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245832083"/>
      </p:ext>
    </p:extLst>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30/10/2014</a:t>
            </a:r>
          </a:p>
        </p:txBody>
      </p:sp>
      <p:sp>
        <p:nvSpPr>
          <p:cNvPr id="14" name="Slide Number Placeholder 13"/>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spTree>
    <p:extLst>
      <p:ext uri="{BB962C8B-B14F-4D97-AF65-F5344CB8AC3E}">
        <p14:creationId xmlns:p14="http://schemas.microsoft.com/office/powerpoint/2010/main" val="54961119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spd="med">
    <p:wipe dir="r"/>
  </p:transition>
  <p:hf hdr="0" ftr="0" dt="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274638"/>
            <a:ext cx="9724309"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609601" y="1419226"/>
            <a:ext cx="9741073"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pic>
        <p:nvPicPr>
          <p:cNvPr id="10" name="Picture 9" descr="Sommerville Cover.jpg"/>
          <p:cNvPicPr>
            <a:picLocks noChangeAspect="1"/>
          </p:cNvPicPr>
          <p:nvPr/>
        </p:nvPicPr>
        <p:blipFill>
          <a:blip r:embed="rId13" cstate="hqprint">
            <a:extLst>
              <a:ext uri="{28A0092B-C50C-407E-A947-70E740481C1C}">
                <a14:useLocalDpi xmlns:a14="http://schemas.microsoft.com/office/drawing/2010/main" val="0"/>
              </a:ext>
            </a:extLst>
          </a:blip>
          <a:stretch>
            <a:fillRect/>
          </a:stretch>
        </p:blipFill>
        <p:spPr>
          <a:xfrm>
            <a:off x="10333910" y="213186"/>
            <a:ext cx="1231725" cy="1219356"/>
          </a:xfrm>
          <a:prstGeom prst="rect">
            <a:avLst/>
          </a:prstGeom>
        </p:spPr>
      </p:pic>
      <p:cxnSp>
        <p:nvCxnSpPr>
          <p:cNvPr id="11" name="Straight Connector 10"/>
          <p:cNvCxnSpPr/>
          <p:nvPr/>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Connector 12"/>
          <p:cNvCxnSpPr/>
          <p:nvPr userDrawn="1"/>
        </p:nvCxnSpPr>
        <p:spPr>
          <a:xfrm flipV="1">
            <a:off x="609600" y="1417638"/>
            <a:ext cx="1095603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Calibri"/>
                <a:ea typeface="+mn-ea"/>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Calibri"/>
              <a:ea typeface="+mn-ea"/>
              <a:cs typeface="+mn-cs"/>
            </a:endParaRPr>
          </a:p>
        </p:txBody>
      </p:sp>
      <p:sp>
        <p:nvSpPr>
          <p:cNvPr id="12" name="Date Placeholder 11"/>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5DE21B93-A295-4EA6-A706-455C2815321E}" type="datetime1">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
        <p:nvSpPr>
          <p:cNvPr id="14" name="Slide Number Placeholder 13"/>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1D5CD492-2BC6-F348-9965-EC1D86DF57A8}" type="slidenum">
              <a:rPr kumimoji="0" lang="en-US" sz="1200" b="0" i="0" u="none" strike="noStrike" kern="1200" cap="none" spc="0" normalizeH="0" baseline="0" noProof="0" smtClean="0">
                <a:ln>
                  <a:noFill/>
                </a:ln>
                <a:solidFill>
                  <a:prstClr val="black">
                    <a:tint val="75000"/>
                  </a:prstClr>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200" b="0" i="0" u="none" strike="noStrike" kern="1200" cap="none" spc="0" normalizeH="0" baseline="0" noProof="0">
              <a:ln>
                <a:noFill/>
              </a:ln>
              <a:solidFill>
                <a:prstClr val="black">
                  <a:tint val="75000"/>
                </a:prstClr>
              </a:solidFill>
              <a:effectLst/>
              <a:uLnTx/>
              <a:uFillTx/>
              <a:latin typeface="Calibri"/>
              <a:ea typeface="+mn-ea"/>
              <a:cs typeface="+mn-cs"/>
            </a:endParaRPr>
          </a:p>
        </p:txBody>
      </p:sp>
    </p:spTree>
    <p:extLst>
      <p:ext uri="{BB962C8B-B14F-4D97-AF65-F5344CB8AC3E}">
        <p14:creationId xmlns:p14="http://schemas.microsoft.com/office/powerpoint/2010/main" val="182883484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4263059169"/>
              </p:ext>
            </p:extLst>
          </p:nvPr>
        </p:nvGraphicFramePr>
        <p:xfrm>
          <a:off x="606829" y="1782764"/>
          <a:ext cx="10975571" cy="3944705"/>
        </p:xfrm>
        <a:graphic>
          <a:graphicData uri="http://schemas.openxmlformats.org/drawingml/2006/table">
            <a:tbl>
              <a:tblPr firstRow="1" bandRow="1">
                <a:tableStyleId>{B301B821-A1FF-4177-AEE7-76D212191A09}</a:tableStyleId>
              </a:tblPr>
              <a:tblGrid>
                <a:gridCol w="2393823">
                  <a:extLst>
                    <a:ext uri="{9D8B030D-6E8A-4147-A177-3AD203B41FA5}">
                      <a16:colId xmlns:a16="http://schemas.microsoft.com/office/drawing/2014/main" val="20000"/>
                    </a:ext>
                  </a:extLst>
                </a:gridCol>
                <a:gridCol w="8581748">
                  <a:extLst>
                    <a:ext uri="{9D8B030D-6E8A-4147-A177-3AD203B41FA5}">
                      <a16:colId xmlns:a16="http://schemas.microsoft.com/office/drawing/2014/main" val="20001"/>
                    </a:ext>
                  </a:extLst>
                </a:gridCol>
              </a:tblGrid>
              <a:tr h="499070">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61409">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be </a:t>
                      </a:r>
                      <a:r>
                        <a:rPr lang="en-GB" sz="1400" b="1" dirty="0">
                          <a:latin typeface="Arial"/>
                          <a:cs typeface="Arial"/>
                        </a:rPr>
                        <a:t>written in such a way so that it can evolve to meet the changing needs of customers</a:t>
                      </a:r>
                      <a:r>
                        <a:rPr lang="en-GB" sz="1400" dirty="0">
                          <a:latin typeface="Arial"/>
                          <a:cs typeface="Arial"/>
                        </a:rPr>
                        <a:t>. This is a critical attribute because software change is an inevitable requirement of a changing business environment.</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5996">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a:t>
                      </a:r>
                      <a:r>
                        <a:rPr lang="en-GB" sz="1400" b="1" dirty="0">
                          <a:latin typeface="Arial"/>
                          <a:cs typeface="Arial"/>
                        </a:rPr>
                        <a:t>dependability includes a range of characteristics including reliability, security and safety</a:t>
                      </a:r>
                      <a:r>
                        <a:rPr lang="en-GB" sz="1400" dirty="0">
                          <a:latin typeface="Arial"/>
                          <a:cs typeface="Arial"/>
                        </a:rPr>
                        <a:t>. Dependable software should not cause physical or economic damage in the event of system failure. Malicious users should not be  able to access or damage the system.</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61409">
                <a:tc>
                  <a:txBody>
                    <a:bodyPr/>
                    <a:lstStyle/>
                    <a:p>
                      <a:pPr algn="just">
                        <a:spcAft>
                          <a:spcPts val="0"/>
                        </a:spcAft>
                      </a:pPr>
                      <a:r>
                        <a:rPr lang="en-GB" sz="1400" dirty="0">
                          <a:latin typeface="Arial"/>
                          <a:cs typeface="Arial"/>
                        </a:rPr>
                        <a:t>Efficiency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a:t>
                      </a:r>
                      <a:r>
                        <a:rPr lang="en-GB" sz="1400" b="1" dirty="0">
                          <a:latin typeface="Arial"/>
                          <a:cs typeface="Arial"/>
                        </a:rPr>
                        <a:t>use of system resources such as memory and processor cycles.</a:t>
                      </a:r>
                      <a:r>
                        <a:rPr lang="en-GB" sz="1400" dirty="0">
                          <a:latin typeface="Arial"/>
                          <a:cs typeface="Arial"/>
                        </a:rPr>
                        <a:t>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6821">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a:t>
                      </a:r>
                      <a:r>
                        <a:rPr lang="en-GB" sz="1400" b="1" dirty="0">
                          <a:latin typeface="Arial"/>
                          <a:cs typeface="Arial"/>
                        </a:rPr>
                        <a:t>understandable, usable and compatible with other systems that they use. </a:t>
                      </a:r>
                      <a:endParaRPr lang="en-GB" sz="1400" b="1"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1</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a:xfrm>
            <a:off x="609600" y="1600200"/>
            <a:ext cx="10972800" cy="4756150"/>
          </a:xfrm>
        </p:spPr>
        <p:txBody>
          <a:bodyPr/>
          <a:lstStyle/>
          <a:p>
            <a:r>
              <a:rPr lang="en-US" dirty="0"/>
              <a:t>Software engineering is an engineering discipline that is </a:t>
            </a:r>
            <a:r>
              <a:rPr lang="en-US" b="1" dirty="0"/>
              <a:t>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pPr algn="just"/>
            <a:r>
              <a:rPr lang="en-GB" b="1" dirty="0"/>
              <a:t>It is usually cheaper, in the long run, to use software engineering methods and techniques for software systems rather than just write the programs as if it was a personal programming project. </a:t>
            </a:r>
          </a:p>
          <a:p>
            <a:pPr lvl="1" algn="just"/>
            <a:r>
              <a:rPr lang="en-GB" b="1" dirty="0"/>
              <a:t>For most types of system, the majority of costs are the costs of changing the software after it has gone into use.</a:t>
            </a:r>
          </a:p>
          <a:p>
            <a:endParaRPr lang="en-US" dirty="0"/>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b="1" dirty="0"/>
              <a:t>Software specification</a:t>
            </a:r>
            <a:r>
              <a:rPr lang="en-GB" dirty="0"/>
              <a:t>, where customers and engineers define the software that is to be produced and the constraints on its operation.</a:t>
            </a:r>
          </a:p>
          <a:p>
            <a:r>
              <a:rPr lang="en-GB" b="1" dirty="0"/>
              <a:t>Software development</a:t>
            </a:r>
            <a:r>
              <a:rPr lang="en-GB" dirty="0"/>
              <a:t>, where the software is designed and programmed.</a:t>
            </a:r>
          </a:p>
          <a:p>
            <a:r>
              <a:rPr lang="en-GB" b="1" dirty="0"/>
              <a:t>Software validation</a:t>
            </a:r>
            <a:r>
              <a:rPr lang="en-GB" dirty="0"/>
              <a:t>, where the software is checked to ensure that it is what the customer requires.</a:t>
            </a:r>
          </a:p>
          <a:p>
            <a:r>
              <a:rPr lang="en-GB" b="1" dirty="0"/>
              <a:t>Software evolution</a:t>
            </a:r>
            <a:r>
              <a:rPr lang="en-GB" dirty="0"/>
              <a:t>, where the software is modified to reflect changing customer and market requirements.</a:t>
            </a:r>
          </a:p>
          <a:p>
            <a:endParaRPr lang="en-US" dirty="0"/>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pPr algn="just"/>
            <a:r>
              <a:rPr lang="en-GB" dirty="0"/>
              <a:t>Heterogeneity </a:t>
            </a:r>
          </a:p>
          <a:p>
            <a:pPr lvl="1" algn="just"/>
            <a:r>
              <a:rPr lang="en-GB" dirty="0"/>
              <a:t>Increasingly, </a:t>
            </a:r>
            <a:r>
              <a:rPr lang="en-GB" b="1" dirty="0"/>
              <a:t>systems are required to operate as distributed systems </a:t>
            </a:r>
            <a:r>
              <a:rPr lang="en-GB" dirty="0"/>
              <a:t>across networks that include different types of computer and mobile devices. </a:t>
            </a:r>
          </a:p>
          <a:p>
            <a:pPr algn="just"/>
            <a:r>
              <a:rPr lang="en-GB" dirty="0"/>
              <a:t>Business and social change </a:t>
            </a:r>
          </a:p>
          <a:p>
            <a:pPr lvl="1" algn="just"/>
            <a:r>
              <a:rPr lang="en-GB" dirty="0"/>
              <a:t>Business and society are changing incredibly quickly as emerging economies develop and new technologies become available. </a:t>
            </a:r>
            <a:r>
              <a:rPr lang="en-GB" b="1" dirty="0"/>
              <a:t>They need to be able to change their existing software and to rapidly develop new software</a:t>
            </a:r>
            <a:r>
              <a:rPr lang="en-GB" dirty="0"/>
              <a:t>. </a:t>
            </a:r>
          </a:p>
          <a:p>
            <a:pPr marL="0" indent="0" algn="just">
              <a:buNone/>
            </a:pPr>
            <a:endParaRPr lang="en-US" dirty="0"/>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5</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a:t>
            </a:r>
            <a:r>
              <a:rPr lang="en-GB" b="1" dirty="0"/>
              <a:t>wide range of scales</a:t>
            </a:r>
            <a:r>
              <a:rPr lang="en-GB" dirty="0"/>
              <a:t>, from very small </a:t>
            </a:r>
            <a:r>
              <a:rPr lang="en-GB" b="1" dirty="0"/>
              <a:t>embedded systems in portable </a:t>
            </a:r>
            <a:r>
              <a:rPr lang="en-GB" dirty="0"/>
              <a:t>or wearable devices through to Internet-scale, </a:t>
            </a:r>
            <a:r>
              <a:rPr lang="en-GB" b="1" dirty="0"/>
              <a:t>cloud-based systems that serve a global community. </a:t>
            </a:r>
            <a:endParaRPr lang="en-US" b="1" dirty="0"/>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6</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pPr algn="just"/>
            <a:r>
              <a:rPr lang="en-US" dirty="0"/>
              <a:t>There are </a:t>
            </a:r>
            <a:r>
              <a:rPr lang="en-US" b="1" dirty="0"/>
              <a:t>many different types of software system </a:t>
            </a:r>
            <a:r>
              <a:rPr lang="en-US" dirty="0"/>
              <a:t>and there is </a:t>
            </a:r>
            <a:r>
              <a:rPr lang="en-US" b="1" dirty="0"/>
              <a:t>no universal set of software techniques that is applicable to all of these.</a:t>
            </a:r>
          </a:p>
          <a:p>
            <a:pPr algn="just"/>
            <a:r>
              <a:rPr lang="en-US" dirty="0"/>
              <a:t>The software engineering methods and tools used depend on the type of application being developed, the requirements of the customer and the background of the development team.</a:t>
            </a: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7</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pPr algn="just"/>
            <a:r>
              <a:rPr lang="en-GB" dirty="0"/>
              <a:t>Stand-alone applications </a:t>
            </a:r>
          </a:p>
          <a:p>
            <a:pPr algn="just"/>
            <a:r>
              <a:rPr lang="en-GB" dirty="0"/>
              <a:t>Interactive transaction-based applications</a:t>
            </a:r>
            <a:r>
              <a:rPr lang="en-GB" i="1" dirty="0"/>
              <a:t> </a:t>
            </a:r>
          </a:p>
          <a:p>
            <a:pPr algn="just"/>
            <a:r>
              <a:rPr lang="en-GB" dirty="0"/>
              <a:t>Embedded control systems </a:t>
            </a:r>
          </a:p>
          <a:p>
            <a:pPr algn="just"/>
            <a:r>
              <a:rPr lang="en-GB" dirty="0"/>
              <a:t>Batch processing systems </a:t>
            </a:r>
          </a:p>
          <a:p>
            <a:pPr algn="just"/>
            <a:r>
              <a:rPr lang="en-GB" dirty="0"/>
              <a:t>Entertainment systems </a:t>
            </a:r>
          </a:p>
          <a:p>
            <a:pPr algn="just"/>
            <a:r>
              <a:rPr lang="en-GB" dirty="0"/>
              <a:t>Systems for modelling &amp; simulation</a:t>
            </a:r>
          </a:p>
          <a:p>
            <a:pPr algn="just"/>
            <a:r>
              <a:rPr lang="en-GB" dirty="0"/>
              <a:t>Data collection systems</a:t>
            </a:r>
          </a:p>
          <a:p>
            <a:pPr algn="just"/>
            <a:endParaRPr lang="en-GB"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259F559C-0365-44F6-B934-FDB0E0C11FCC}"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8</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097765808"/>
      </p:ext>
    </p:extLst>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pPr algn="just"/>
            <a:r>
              <a:rPr lang="en-GB" dirty="0"/>
              <a:t>Stand-alone applications </a:t>
            </a:r>
          </a:p>
          <a:p>
            <a:pPr lvl="1" algn="just"/>
            <a:r>
              <a:rPr lang="en-GB" dirty="0"/>
              <a:t>These are application systems that </a:t>
            </a:r>
            <a:r>
              <a:rPr lang="en-GB" b="1" dirty="0"/>
              <a:t>run on a local computer</a:t>
            </a:r>
            <a:r>
              <a:rPr lang="en-GB" dirty="0"/>
              <a:t>, such as a PC. They include all necessary functionality and do not need to be connected to a network. </a:t>
            </a:r>
          </a:p>
          <a:p>
            <a:pPr algn="just"/>
            <a:r>
              <a:rPr lang="en-GB" dirty="0"/>
              <a:t>Interactive transaction-based applications</a:t>
            </a:r>
            <a:r>
              <a:rPr lang="en-GB" i="1" dirty="0"/>
              <a:t> </a:t>
            </a:r>
          </a:p>
          <a:p>
            <a:pPr lvl="1" algn="just"/>
            <a:r>
              <a:rPr lang="en-GB" dirty="0"/>
              <a:t>Applications that execute on a remote computer and are accessed by users from their own PCs or terminals. These </a:t>
            </a:r>
            <a:r>
              <a:rPr lang="en-GB" b="1" dirty="0"/>
              <a:t>include web applications such as </a:t>
            </a:r>
            <a:r>
              <a:rPr lang="en-GB" b="1" dirty="0" err="1"/>
              <a:t>e</a:t>
            </a:r>
            <a:r>
              <a:rPr lang="en-GB" b="1" dirty="0"/>
              <a:t>-commerce applications</a:t>
            </a:r>
            <a:r>
              <a:rPr lang="en-GB" dirty="0"/>
              <a:t>. </a:t>
            </a:r>
          </a:p>
          <a:p>
            <a:pPr algn="just"/>
            <a:r>
              <a:rPr lang="en-GB" dirty="0"/>
              <a:t>Embedded control systems </a:t>
            </a:r>
          </a:p>
          <a:p>
            <a:pPr lvl="1" algn="just"/>
            <a:r>
              <a:rPr lang="en-GB" dirty="0"/>
              <a:t>These are </a:t>
            </a:r>
            <a:r>
              <a:rPr lang="en-GB" b="1" dirty="0"/>
              <a:t>software control systems that control and manage hardware devices</a:t>
            </a:r>
            <a:r>
              <a:rPr lang="en-GB" dirty="0"/>
              <a:t>.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259F559C-0365-44F6-B934-FDB0E0C11FCC}"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9</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2191319051"/>
      </p:ext>
    </p:extLst>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pPr algn="just"/>
            <a:r>
              <a:rPr lang="en-GB" dirty="0"/>
              <a:t>Batch processing systems </a:t>
            </a:r>
          </a:p>
          <a:p>
            <a:pPr lvl="1" algn="just"/>
            <a:r>
              <a:rPr lang="en-GB" dirty="0"/>
              <a:t>These are business systems that are </a:t>
            </a:r>
            <a:r>
              <a:rPr lang="en-GB" b="1" dirty="0"/>
              <a:t>designed to process data in large batches</a:t>
            </a:r>
            <a:r>
              <a:rPr lang="en-GB" dirty="0"/>
              <a:t>. They process large numbers of individual inputs to create corresponding outputs. </a:t>
            </a:r>
          </a:p>
          <a:p>
            <a:pPr algn="just"/>
            <a:r>
              <a:rPr lang="en-GB" dirty="0"/>
              <a:t>Entertainment systems </a:t>
            </a:r>
          </a:p>
          <a:p>
            <a:pPr lvl="1" algn="just"/>
            <a:r>
              <a:rPr lang="en-GB" dirty="0"/>
              <a:t>These are systems that are primarily for personal use and which are </a:t>
            </a:r>
            <a:r>
              <a:rPr lang="en-GB" b="1" dirty="0"/>
              <a:t>intended to entertain the user. </a:t>
            </a:r>
          </a:p>
          <a:p>
            <a:pPr algn="just"/>
            <a:r>
              <a:rPr lang="en-GB" dirty="0"/>
              <a:t>Systems for modelling and simulation </a:t>
            </a:r>
          </a:p>
          <a:p>
            <a:pPr lvl="1" algn="just"/>
            <a:r>
              <a:rPr lang="en-GB" dirty="0"/>
              <a:t>These are systems that are developed by scientists and engineers to </a:t>
            </a:r>
            <a:r>
              <a:rPr lang="en-GB" b="1" dirty="0"/>
              <a:t>model physical processes or situations, which include many, separate, interacting objects. </a:t>
            </a:r>
            <a:endParaRPr lang="en-US" b="1"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925ACD37-4060-44F8-86D1-6FFDD552A5BC}"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10</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362888089"/>
      </p:ext>
    </p:extLst>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a:t>
            </a:r>
            <a:r>
              <a:rPr lang="en-GB" b="1" dirty="0"/>
              <a:t>collect data from their environment using a set of sensor</a:t>
            </a:r>
            <a:r>
              <a:rPr lang="en-GB" dirty="0"/>
              <a:t>s and send that data to other systems for processing. </a:t>
            </a:r>
          </a:p>
          <a:p>
            <a:pPr marL="0" indent="0">
              <a:buNone/>
            </a:pPr>
            <a:endParaRPr lang="en-US"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D66CD03B-AD6E-485A-A56D-F334CC7DD3B9}"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11</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3300739886"/>
      </p:ext>
    </p:extLst>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pPr algn="just"/>
            <a:r>
              <a:rPr lang="en-US" dirty="0"/>
              <a:t>Some fundamental principles apply to all types of software system, irrespective of the development techniques used:</a:t>
            </a:r>
          </a:p>
          <a:p>
            <a:pPr lvl="1" algn="just"/>
            <a:r>
              <a:rPr lang="en-GB" b="1" dirty="0"/>
              <a:t>Systems</a:t>
            </a:r>
            <a:r>
              <a:rPr lang="en-GB" dirty="0"/>
              <a:t> should be </a:t>
            </a:r>
            <a:r>
              <a:rPr lang="en-GB" b="1" dirty="0"/>
              <a:t>developed using software engineering methodologies.</a:t>
            </a:r>
          </a:p>
          <a:p>
            <a:pPr lvl="1" algn="just"/>
            <a:r>
              <a:rPr lang="en-GB" dirty="0"/>
              <a:t>The system should </a:t>
            </a:r>
            <a:r>
              <a:rPr lang="en-GB" b="1" dirty="0"/>
              <a:t>perform efficiently.</a:t>
            </a:r>
            <a:endParaRPr lang="en-GB" dirty="0"/>
          </a:p>
          <a:p>
            <a:pPr lvl="1" algn="just"/>
            <a:r>
              <a:rPr lang="en-GB" b="1" dirty="0"/>
              <a:t>Understand &amp; implement requirements clearly. </a:t>
            </a:r>
          </a:p>
          <a:p>
            <a:pPr lvl="1" algn="just"/>
            <a:r>
              <a:rPr lang="en-GB" b="1" dirty="0"/>
              <a:t>Reuse software</a:t>
            </a:r>
            <a:r>
              <a:rPr lang="en-GB" dirty="0"/>
              <a:t> rather than creating from scratch.</a:t>
            </a:r>
          </a:p>
          <a:p>
            <a:pPr marL="457200" lvl="1" indent="0" algn="just">
              <a:buNone/>
            </a:pPr>
            <a:endParaRPr lang="en-US"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724537BC-1440-4F3F-82C1-CF82A4E15761}"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12</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3805759297"/>
      </p:ext>
    </p:extLst>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pPr algn="just"/>
            <a:r>
              <a:rPr lang="en-US" b="1" dirty="0"/>
              <a:t>The Web is now a platform for running applications</a:t>
            </a:r>
            <a:r>
              <a:rPr lang="en-US" dirty="0"/>
              <a:t> and organizations are increasingly developing web-based systems rather than local systems.</a:t>
            </a:r>
          </a:p>
          <a:p>
            <a:pPr algn="just"/>
            <a:r>
              <a:rPr lang="en-US" dirty="0"/>
              <a:t>Web services allow application functionality to be accessed over the web.</a:t>
            </a:r>
          </a:p>
          <a:p>
            <a:pPr algn="just"/>
            <a:r>
              <a:rPr lang="en-US" b="1" dirty="0"/>
              <a:t>Cloud computing </a:t>
            </a:r>
            <a:r>
              <a:rPr lang="en-US" dirty="0"/>
              <a:t>is an approach to the provision of computer services where applications run remotely on the ‘cloud’. </a:t>
            </a:r>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E9D8F159-20AB-455A-A8A7-6EE9D64D1BE6}"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13</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2350681724"/>
      </p:ext>
    </p:extLst>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pPr algn="just"/>
            <a:r>
              <a:rPr lang="en-US" dirty="0"/>
              <a:t>Web-based systems are </a:t>
            </a:r>
            <a:r>
              <a:rPr lang="en-US" u="sng" dirty="0"/>
              <a:t>complex distributed systems</a:t>
            </a:r>
            <a:r>
              <a:rPr lang="en-US" dirty="0"/>
              <a:t>.</a:t>
            </a:r>
          </a:p>
          <a:p>
            <a:pPr algn="just"/>
            <a:r>
              <a:rPr lang="en-US" u="sng" dirty="0"/>
              <a:t>All fundamental principles</a:t>
            </a:r>
            <a:r>
              <a:rPr lang="en-US" dirty="0"/>
              <a:t> discussed earlier are </a:t>
            </a:r>
            <a:r>
              <a:rPr lang="en-US" u="sng" dirty="0"/>
              <a:t>followed by web based systems as well.</a:t>
            </a:r>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094F47EB-7233-4345-B7B8-93876D0FB852}"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14</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689392414"/>
      </p:ext>
    </p:extLst>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609600" y="1417638"/>
            <a:ext cx="10877909" cy="4525963"/>
          </a:xfrm>
        </p:spPr>
        <p:txBody>
          <a:bodyPr/>
          <a:lstStyle/>
          <a:p>
            <a:r>
              <a:rPr lang="en-GB" dirty="0"/>
              <a:t>Software reuse</a:t>
            </a:r>
          </a:p>
          <a:p>
            <a:pPr lvl="1" algn="just"/>
            <a:r>
              <a:rPr lang="en-GB" dirty="0"/>
              <a:t>Mostly preferred approach for constructing web-based systems.</a:t>
            </a:r>
          </a:p>
          <a:p>
            <a:pPr lvl="1" algn="just"/>
            <a:r>
              <a:rPr lang="en-GB" b="1" dirty="0"/>
              <a:t>When building these systems, </a:t>
            </a:r>
          </a:p>
          <a:p>
            <a:pPr lvl="2" algn="just"/>
            <a:r>
              <a:rPr lang="en-GB" b="1" dirty="0"/>
              <a:t>Think of assembling from pre-existing software components and systems.</a:t>
            </a:r>
          </a:p>
          <a:p>
            <a:pPr algn="just"/>
            <a:endParaRPr lang="en-GB" dirty="0"/>
          </a:p>
          <a:p>
            <a:pPr algn="just"/>
            <a:r>
              <a:rPr lang="en-GB" dirty="0"/>
              <a:t>Incremental and agile development</a:t>
            </a:r>
          </a:p>
          <a:p>
            <a:pPr lvl="1" algn="just"/>
            <a:r>
              <a:rPr lang="en-GB" dirty="0"/>
              <a:t>Web-based systems should be </a:t>
            </a:r>
            <a:r>
              <a:rPr lang="en-GB" b="1" dirty="0"/>
              <a:t>developed and delivered incrementally.</a:t>
            </a:r>
            <a:r>
              <a:rPr lang="en-GB" dirty="0"/>
              <a:t> </a:t>
            </a:r>
          </a:p>
          <a:p>
            <a:pPr lvl="1" algn="just"/>
            <a:r>
              <a:rPr lang="en-GB" dirty="0"/>
              <a:t>Because its impractical to specify all the requirements for such systems in advance. </a:t>
            </a:r>
          </a:p>
          <a:p>
            <a:endParaRPr lang="en-US" dirty="0"/>
          </a:p>
        </p:txBody>
      </p:sp>
      <p:sp>
        <p:nvSpPr>
          <p:cNvPr id="7" name="Footer Placeholder 6"/>
          <p:cNvSpPr>
            <a:spLocks noGrp="1"/>
          </p:cNvSpPr>
          <p:nvPr>
            <p:ph type="ftr" sz="quarter" idx="10"/>
          </p:nvPr>
        </p:nvSpPr>
        <p:spPr>
          <a:xfrm>
            <a:off x="1379268" y="6356351"/>
            <a:ext cx="3860800" cy="365125"/>
          </a:xfrm>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rPr>
              <a:t>Chapter 1 Introduction</a:t>
            </a: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A5358B21-65DC-4E94-832D-1713AEC5E37D}"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15</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pic>
        <p:nvPicPr>
          <p:cNvPr id="1026" name="Picture 2" descr="Incremental Model, advantages, examples, Case study | T4Tutorials.com">
            <a:extLst>
              <a:ext uri="{FF2B5EF4-FFF2-40B4-BE49-F238E27FC236}">
                <a16:creationId xmlns:a16="http://schemas.microsoft.com/office/drawing/2014/main" id="{3C7046FF-A785-C389-5CD7-D84B230535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96025" y="4911726"/>
            <a:ext cx="5286375" cy="1809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1845531"/>
      </p:ext>
    </p:extLst>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pPr algn="just"/>
            <a:r>
              <a:rPr lang="en-GB" dirty="0"/>
              <a:t>Service-oriented systems</a:t>
            </a:r>
          </a:p>
          <a:p>
            <a:pPr lvl="1" algn="just"/>
            <a:r>
              <a:rPr lang="en-GB" dirty="0"/>
              <a:t>Build software components using web services rather than building it from scratch.  </a:t>
            </a:r>
          </a:p>
          <a:p>
            <a:pPr lvl="1" algn="just"/>
            <a:r>
              <a:rPr lang="en-GB" dirty="0"/>
              <a:t>For example,</a:t>
            </a:r>
          </a:p>
          <a:p>
            <a:pPr lvl="2" algn="just"/>
            <a:r>
              <a:rPr lang="en-GB" dirty="0"/>
              <a:t>Design a real-world parking application with all components from the scratch like one for login or signup another containing the map, and many more.</a:t>
            </a:r>
          </a:p>
          <a:p>
            <a:pPr lvl="2" algn="just"/>
            <a:r>
              <a:rPr lang="en-GB" dirty="0"/>
              <a:t>Or I can use google maps for parking availability, pay using </a:t>
            </a:r>
            <a:r>
              <a:rPr lang="en-GB" dirty="0" err="1"/>
              <a:t>payPal</a:t>
            </a:r>
            <a:r>
              <a:rPr lang="en-GB" dirty="0"/>
              <a:t> or login using Facebook etc. These all are independent web services.</a:t>
            </a:r>
          </a:p>
          <a:p>
            <a:pPr algn="just"/>
            <a:r>
              <a:rPr lang="en-GB" dirty="0"/>
              <a:t>Rich interfaces</a:t>
            </a:r>
          </a:p>
          <a:p>
            <a:pPr lvl="1" algn="just"/>
            <a:r>
              <a:rPr lang="en-GB" dirty="0"/>
              <a:t>Interface development technologies such as AJAX and HTML5 have emerged that support the creation of rich interfaces within a web browser.   </a:t>
            </a:r>
          </a:p>
          <a:p>
            <a:pPr marL="0" indent="0" algn="just">
              <a:buNone/>
            </a:pPr>
            <a:endParaRPr lang="en-US" dirty="0"/>
          </a:p>
        </p:txBody>
      </p:sp>
      <p:sp>
        <p:nvSpPr>
          <p:cNvPr id="7" name="Footer Placeholder 6"/>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8" name="Date Placeholder 7"/>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E4EF03FB-E6F8-4ED3-9F3C-890FBAA648A2}"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9" name="Slide Number Placeholder 8"/>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4545659"/>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7" name="Date Placeholder 6"/>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45B3BF71-1868-422F-B9DC-FECD63F28B75}"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8" name="Slide Number Placeholder 7"/>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17</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1660481492"/>
      </p:ext>
    </p:extLst>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609600" y="2383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pPr algn="just"/>
            <a:r>
              <a:rPr lang="en-GB" dirty="0"/>
              <a:t>Software engineering involves wider responsibilities than simply the application of technical skills.</a:t>
            </a:r>
          </a:p>
          <a:p>
            <a:pPr algn="just"/>
            <a:r>
              <a:rPr lang="en-GB" b="1" dirty="0"/>
              <a:t>Software engineers must behave in an honest and ethically responsible way</a:t>
            </a:r>
            <a:r>
              <a:rPr lang="en-GB" dirty="0"/>
              <a:t> if they are to be respected as professionals.</a:t>
            </a:r>
          </a:p>
          <a:p>
            <a:pPr algn="just"/>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6" name="Date Placeholder 5"/>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48D3D28C-A416-4395-911B-A64D96284F98}"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18</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813165680"/>
      </p:ext>
    </p:extLst>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dirty="0"/>
              <a:t>Confidentiality </a:t>
            </a:r>
          </a:p>
          <a:p>
            <a:pPr lvl="1" algn="just">
              <a:lnSpc>
                <a:spcPct val="90000"/>
              </a:lnSpc>
            </a:pPr>
            <a:r>
              <a:rPr lang="en-GB" dirty="0"/>
              <a:t>Engineers should normally </a:t>
            </a:r>
            <a:r>
              <a:rPr lang="en-GB" b="1" dirty="0"/>
              <a:t>respect the confidentiality of their employers or clients </a:t>
            </a:r>
            <a:r>
              <a:rPr lang="en-GB" dirty="0"/>
              <a:t>irrespective of whether or not a formal confidentiality agreement has been signed.</a:t>
            </a:r>
          </a:p>
          <a:p>
            <a:pPr algn="just">
              <a:lnSpc>
                <a:spcPct val="90000"/>
              </a:lnSpc>
            </a:pPr>
            <a:r>
              <a:rPr lang="en-GB" dirty="0"/>
              <a:t>Competence </a:t>
            </a:r>
          </a:p>
          <a:p>
            <a:pPr lvl="1" algn="just">
              <a:lnSpc>
                <a:spcPct val="90000"/>
              </a:lnSpc>
            </a:pPr>
            <a:r>
              <a:rPr lang="en-GB" dirty="0"/>
              <a:t>Honestly quote your level of competence. </a:t>
            </a:r>
          </a:p>
          <a:p>
            <a:pPr lvl="1" algn="just">
              <a:lnSpc>
                <a:spcPct val="90000"/>
              </a:lnSpc>
            </a:pPr>
            <a:r>
              <a:rPr lang="en-GB" dirty="0"/>
              <a:t>&amp; Never accept the work that is out of your competence</a:t>
            </a:r>
            <a:endParaRPr lang="en-GB" b="1" dirty="0"/>
          </a:p>
          <a:p>
            <a:pPr marL="0" indent="0">
              <a:lnSpc>
                <a:spcPct val="90000"/>
              </a:lnSpc>
              <a:buNone/>
            </a:pPr>
            <a:endParaRPr lang="en-GB" dirty="0"/>
          </a:p>
        </p:txBody>
      </p:sp>
      <p:sp>
        <p:nvSpPr>
          <p:cNvPr id="5" name="Footer Placeholder 4"/>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6" name="Date Placeholder 5"/>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B643BDA6-8EC6-4DA4-BA5E-D82AFC838135}"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19</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4227152895"/>
      </p:ext>
    </p:extLst>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dirty="0"/>
              <a:t>Intellectual property rights </a:t>
            </a:r>
          </a:p>
          <a:p>
            <a:pPr lvl="1" algn="just"/>
            <a:r>
              <a:rPr lang="en-GB" b="1" dirty="0"/>
              <a:t>Engineers should be aware of local laws governing the use of intellectual property such as patents, copyright</a:t>
            </a:r>
            <a:r>
              <a:rPr lang="en-GB" dirty="0"/>
              <a:t>, etc.</a:t>
            </a:r>
          </a:p>
          <a:p>
            <a:pPr lvl="1" algn="just"/>
            <a:r>
              <a:rPr lang="en-GB" dirty="0"/>
              <a:t>They should be careful to ensure that the intellectual property of employers and clients is protected.</a:t>
            </a:r>
          </a:p>
          <a:p>
            <a:pPr algn="just"/>
            <a:r>
              <a:rPr lang="en-GB" dirty="0"/>
              <a:t>Computer misuse </a:t>
            </a:r>
          </a:p>
          <a:p>
            <a:pPr lvl="1" algn="just"/>
            <a:r>
              <a:rPr lang="en-GB" dirty="0"/>
              <a:t>Software engineers should </a:t>
            </a:r>
            <a:r>
              <a:rPr lang="en-GB" b="1" dirty="0"/>
              <a:t>not use their technical skills to misuse other people’s computers.</a:t>
            </a:r>
            <a:r>
              <a:rPr lang="en-GB" dirty="0"/>
              <a:t>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6" name="Date Placeholder 5"/>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5A12B944-00F5-4FEA-A7CB-EA04E71DEE7E}"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20</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741028858"/>
      </p:ext>
    </p:extLst>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2" name="Rectangle 4"/>
          <p:cNvSpPr>
            <a:spLocks noGrp="1" noChangeArrowheads="1"/>
          </p:cNvSpPr>
          <p:nvPr>
            <p:ph type="title"/>
          </p:nvPr>
        </p:nvSpPr>
        <p:spPr/>
        <p:txBody>
          <a:bodyPr/>
          <a:lstStyle/>
          <a:p>
            <a:r>
              <a:rPr lang="en-GB"/>
              <a:t>Ethical dilemmas</a:t>
            </a:r>
          </a:p>
        </p:txBody>
      </p:sp>
      <p:sp>
        <p:nvSpPr>
          <p:cNvPr id="89093" name="Rectangle 5"/>
          <p:cNvSpPr>
            <a:spLocks noGrp="1" noChangeArrowheads="1"/>
          </p:cNvSpPr>
          <p:nvPr>
            <p:ph idx="1"/>
          </p:nvPr>
        </p:nvSpPr>
        <p:spPr/>
        <p:txBody>
          <a:bodyPr/>
          <a:lstStyle/>
          <a:p>
            <a:r>
              <a:rPr lang="en-GB" dirty="0"/>
              <a:t>Disagreement in principle with the policies of senior management.</a:t>
            </a:r>
          </a:p>
          <a:p>
            <a:r>
              <a:rPr lang="en-GB" dirty="0"/>
              <a:t>Your employer acts in an unethical way and releases a safety-critical system without finishing the testing of the system.</a:t>
            </a:r>
          </a:p>
          <a:p>
            <a:r>
              <a:rPr lang="en-GB" dirty="0"/>
              <a:t>Participation in the development of military weapons systems or nuclear systems. (ethically wrong to develop weapons but strategically correct)</a:t>
            </a:r>
          </a:p>
          <a:p>
            <a:endParaRPr lang="en-GB" dirty="0"/>
          </a:p>
        </p:txBody>
      </p:sp>
      <p:sp>
        <p:nvSpPr>
          <p:cNvPr id="5" name="Footer Placeholder 4"/>
          <p:cNvSpPr>
            <a:spLocks noGrp="1"/>
          </p:cNvSpPr>
          <p:nvPr>
            <p:ph type="ftr" sz="quarter" idx="10"/>
          </p:nvPr>
        </p:nvSpPr>
        <p:spPr/>
        <p:txBody>
          <a:bodyPr/>
          <a:lstStyle/>
          <a:p>
            <a:pPr marL="0" marR="0" lvl="0" indent="0" algn="ctr" defTabSz="457200" rtl="0" eaLnBrk="1" fontAlgn="base" latinLnBrk="0" hangingPunct="1">
              <a:lnSpc>
                <a:spcPct val="100000"/>
              </a:lnSpc>
              <a:spcBef>
                <a:spcPct val="0"/>
              </a:spcBef>
              <a:spcAft>
                <a:spcPct val="0"/>
              </a:spcAft>
              <a:buClrTx/>
              <a:buSzTx/>
              <a:buFontTx/>
              <a:buNone/>
              <a:tabLst/>
              <a:defRPr/>
            </a:pPr>
            <a:r>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t>Chapter 1 Introduction</a:t>
            </a:r>
            <a:endParaRPr kumimoji="0" lang="en-US" sz="1200" b="0" i="0" u="none" strike="noStrike" kern="1200" cap="none" spc="0" normalizeH="0" baseline="0" noProof="0" dirty="0">
              <a:ln>
                <a:noFill/>
              </a:ln>
              <a:solidFill>
                <a:prstClr val="black">
                  <a:tint val="75000"/>
                </a:prstClr>
              </a:solidFill>
              <a:effectLst/>
              <a:uLnTx/>
              <a:uFillTx/>
              <a:latin typeface="Arial" charset="0"/>
              <a:ea typeface="ＭＳ Ｐゴシック" charset="-128"/>
              <a:cs typeface="+mn-cs"/>
            </a:endParaRPr>
          </a:p>
        </p:txBody>
      </p:sp>
      <p:sp>
        <p:nvSpPr>
          <p:cNvPr id="6" name="Date Placeholder 5"/>
          <p:cNvSpPr>
            <a:spLocks noGrp="1"/>
          </p:cNvSpPr>
          <p:nvPr>
            <p:ph type="dt" sz="half" idx="11"/>
          </p:nvPr>
        </p:nvSpPr>
        <p:spPr/>
        <p:txBody>
          <a:bodyPr/>
          <a:lstStyle/>
          <a:p>
            <a:pPr marL="0" marR="0" lvl="0" indent="0" algn="l" defTabSz="457200" rtl="0" eaLnBrk="1" fontAlgn="base" latinLnBrk="0" hangingPunct="1">
              <a:lnSpc>
                <a:spcPct val="100000"/>
              </a:lnSpc>
              <a:spcBef>
                <a:spcPct val="0"/>
              </a:spcBef>
              <a:spcAft>
                <a:spcPct val="0"/>
              </a:spcAft>
              <a:buClrTx/>
              <a:buSzTx/>
              <a:buFontTx/>
              <a:buNone/>
              <a:tabLst/>
              <a:defRPr/>
            </a:pPr>
            <a:fld id="{23422EFD-DF0F-434A-9710-A92912A1DA99}" type="datetime1">
              <a:rPr kumimoji="0" lang="en-US" sz="1200" b="0" i="0" u="none" strike="noStrike" kern="1200" cap="none" spc="0" normalizeH="0" baseline="0" noProof="0" smtClean="0">
                <a:ln>
                  <a:noFill/>
                </a:ln>
                <a:solidFill>
                  <a:prstClr val="black">
                    <a:tint val="75000"/>
                  </a:prstClr>
                </a:solidFill>
                <a:effectLst/>
                <a:uLnTx/>
                <a:uFillTx/>
                <a:latin typeface="Arial" charset="0"/>
                <a:ea typeface="ＭＳ Ｐゴシック" charset="-128"/>
                <a:cs typeface="+mn-cs"/>
              </a:rPr>
              <a:pPr marL="0" marR="0" lvl="0" indent="0" algn="l" defTabSz="457200" rtl="0" eaLnBrk="1" fontAlgn="base" latinLnBrk="0" hangingPunct="1">
                <a:lnSpc>
                  <a:spcPct val="100000"/>
                </a:lnSpc>
                <a:spcBef>
                  <a:spcPct val="0"/>
                </a:spcBef>
                <a:spcAft>
                  <a:spcPct val="0"/>
                </a:spcAft>
                <a:buClrTx/>
                <a:buSzTx/>
                <a:buFontTx/>
                <a:buNone/>
                <a:tabLst/>
                <a:defRPr/>
              </a:pPr>
              <a:t>1/20/2026</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
        <p:nvSpPr>
          <p:cNvPr id="7" name="Slide Number Placeholder 6"/>
          <p:cNvSpPr>
            <a:spLocks noGrp="1"/>
          </p:cNvSpPr>
          <p:nvPr>
            <p:ph type="sldNum" sz="quarter" idx="12"/>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1D5CD492-2BC6-F348-9965-EC1D86DF57A8}" type="slidenum">
              <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21</a:t>
            </a:fld>
            <a:endParaRPr kumimoji="0" lang="en-US" sz="1200" b="0" i="0" u="none" strike="noStrike" kern="1200" cap="none" spc="0" normalizeH="0" baseline="0" noProof="0">
              <a:ln>
                <a:noFill/>
              </a:ln>
              <a:solidFill>
                <a:prstClr val="black">
                  <a:tint val="75000"/>
                </a:prstClr>
              </a:solidFill>
              <a:effectLst/>
              <a:uLnTx/>
              <a:uFillTx/>
              <a:latin typeface="Arial" charset="0"/>
              <a:ea typeface="ＭＳ Ｐゴシック" charset="-128"/>
              <a:cs typeface="+mn-cs"/>
            </a:endParaRPr>
          </a:p>
        </p:txBody>
      </p:sp>
    </p:spTree>
    <p:extLst>
      <p:ext uri="{BB962C8B-B14F-4D97-AF65-F5344CB8AC3E}">
        <p14:creationId xmlns:p14="http://schemas.microsoft.com/office/powerpoint/2010/main" val="2796308079"/>
      </p:ext>
    </p:extLst>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80722"/>
            <a:ext cx="8229600" cy="1143000"/>
          </a:xfrm>
        </p:spPr>
        <p:txBody>
          <a:bodyPr/>
          <a:lstStyle/>
          <a:p>
            <a:pPr algn="ctr"/>
            <a:r>
              <a:rPr lang="en-US" dirty="0"/>
              <a:t>Case studies</a:t>
            </a:r>
          </a:p>
        </p:txBody>
      </p:sp>
      <p:sp>
        <p:nvSpPr>
          <p:cNvPr id="6" name="Footer Placeholder 5"/>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C6C05A3F-90D5-4A92-9F97-308C9A70CD7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22</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3981197308"/>
      </p:ext>
    </p:extLst>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Case studies</a:t>
            </a:r>
          </a:p>
        </p:txBody>
      </p:sp>
      <p:sp>
        <p:nvSpPr>
          <p:cNvPr id="3" name="Content Placeholder 2"/>
          <p:cNvSpPr>
            <a:spLocks noGrp="1"/>
          </p:cNvSpPr>
          <p:nvPr>
            <p:ph idx="1"/>
          </p:nvPr>
        </p:nvSpPr>
        <p:spPr/>
        <p:txBody>
          <a:bodyPr/>
          <a:lstStyle/>
          <a:p>
            <a:r>
              <a:rPr lang="en-US" dirty="0"/>
              <a:t>A personal insulin pump</a:t>
            </a:r>
          </a:p>
          <a:p>
            <a:pPr lvl="1"/>
            <a:r>
              <a:rPr lang="en-US" b="1" dirty="0"/>
              <a:t>An embedded system </a:t>
            </a:r>
            <a:r>
              <a:rPr lang="en-US" dirty="0"/>
              <a:t>in an insulin pump used by diabetics to maintain blood glucose control.</a:t>
            </a:r>
          </a:p>
          <a:p>
            <a:r>
              <a:rPr lang="en-US" dirty="0"/>
              <a:t>A mental health case patient management system </a:t>
            </a:r>
          </a:p>
          <a:p>
            <a:pPr lvl="1"/>
            <a:r>
              <a:rPr lang="en-US" dirty="0"/>
              <a:t>Mentcare. </a:t>
            </a:r>
            <a:r>
              <a:rPr lang="en-US" b="1" dirty="0"/>
              <a:t>A system used to maintain records </a:t>
            </a:r>
            <a:r>
              <a:rPr lang="en-US" dirty="0"/>
              <a:t>of people receiving care for mental health problems.</a:t>
            </a:r>
          </a:p>
          <a:p>
            <a:r>
              <a:rPr lang="en-US" dirty="0"/>
              <a:t>A wilderness weather station</a:t>
            </a:r>
          </a:p>
          <a:p>
            <a:pPr lvl="1"/>
            <a:r>
              <a:rPr lang="en-US" b="1" dirty="0"/>
              <a:t>A data collection system </a:t>
            </a:r>
            <a:r>
              <a:rPr lang="en-US" dirty="0"/>
              <a:t>that collects data about weather conditions in remote areas.</a:t>
            </a:r>
          </a:p>
          <a:p>
            <a:r>
              <a:rPr lang="en-US" dirty="0" err="1"/>
              <a:t>iLearn</a:t>
            </a:r>
            <a:r>
              <a:rPr lang="en-US" dirty="0"/>
              <a:t>: a digital learning environment</a:t>
            </a:r>
          </a:p>
          <a:p>
            <a:pPr lvl="1"/>
            <a:r>
              <a:rPr lang="en-US" dirty="0"/>
              <a:t>A system to support learning in schools.</a:t>
            </a:r>
          </a:p>
          <a:p>
            <a:pPr lvl="1"/>
            <a:r>
              <a:rPr lang="en-US" dirty="0"/>
              <a:t>A LMS</a:t>
            </a:r>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59EAD467-F776-4C7A-9F76-136D76FF070B}"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23</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80722"/>
            <a:ext cx="8229600" cy="1143000"/>
          </a:xfrm>
        </p:spPr>
        <p:txBody>
          <a:bodyPr/>
          <a:lstStyle/>
          <a:p>
            <a:pPr algn="ctr"/>
            <a:r>
              <a:rPr lang="en-US" dirty="0"/>
              <a:t>Personal Insulin Pump</a:t>
            </a:r>
          </a:p>
        </p:txBody>
      </p:sp>
      <p:sp>
        <p:nvSpPr>
          <p:cNvPr id="6" name="Footer Placeholder 5"/>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C6C05A3F-90D5-4A92-9F97-308C9A70CD7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24</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2167108328"/>
      </p:ext>
    </p:extLst>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Insulin pump control system</a:t>
            </a:r>
          </a:p>
        </p:txBody>
      </p:sp>
      <p:sp>
        <p:nvSpPr>
          <p:cNvPr id="3" name="Content Placeholder 2"/>
          <p:cNvSpPr>
            <a:spLocks noGrp="1"/>
          </p:cNvSpPr>
          <p:nvPr>
            <p:ph idx="1"/>
          </p:nvPr>
        </p:nvSpPr>
        <p:spPr/>
        <p:txBody>
          <a:bodyPr/>
          <a:lstStyle/>
          <a:p>
            <a:r>
              <a:rPr lang="en-US" b="1" dirty="0"/>
              <a:t>Working Steps:</a:t>
            </a:r>
          </a:p>
          <a:p>
            <a:pPr lvl="1"/>
            <a:r>
              <a:rPr lang="en-US" dirty="0"/>
              <a:t>Collects data from a blood sugar sensor </a:t>
            </a:r>
          </a:p>
          <a:p>
            <a:pPr lvl="1"/>
            <a:r>
              <a:rPr lang="en-US" dirty="0"/>
              <a:t>calculates the amount of insulin required to be injected.</a:t>
            </a:r>
          </a:p>
          <a:p>
            <a:pPr lvl="2"/>
            <a:r>
              <a:rPr lang="en-US" dirty="0"/>
              <a:t>Calculation on the basis of rate of change of blood sugar levels.</a:t>
            </a:r>
          </a:p>
          <a:p>
            <a:pPr lvl="1"/>
            <a:r>
              <a:rPr lang="en-US" dirty="0"/>
              <a:t>Sends signals to a micro-pump to deliver the correct dose of insulin.</a:t>
            </a:r>
          </a:p>
          <a:p>
            <a:r>
              <a:rPr lang="en-US" b="1" dirty="0"/>
              <a:t>Safety-critical system </a:t>
            </a:r>
          </a:p>
          <a:p>
            <a:pPr lvl="1"/>
            <a:r>
              <a:rPr lang="en-US" u="sng" dirty="0"/>
              <a:t>as low blood sugars</a:t>
            </a:r>
          </a:p>
          <a:p>
            <a:pPr lvl="2"/>
            <a:r>
              <a:rPr lang="en-US" dirty="0"/>
              <a:t> can lead to brain malfunctioning, coma and death; </a:t>
            </a:r>
          </a:p>
          <a:p>
            <a:pPr lvl="1"/>
            <a:r>
              <a:rPr lang="en-US" u="sng" dirty="0"/>
              <a:t>high-blood sugar levels </a:t>
            </a:r>
          </a:p>
          <a:p>
            <a:pPr lvl="2"/>
            <a:r>
              <a:rPr lang="en-US" dirty="0"/>
              <a:t>have long-term consequences such as eye and kidney damage.</a:t>
            </a:r>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BCE5E994-FFAF-4265-B6F4-8388C297F7DE}"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25</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pPr eaLnBrk="1" hangingPunct="1"/>
            <a:r>
              <a:rPr lang="en-GB" dirty="0"/>
              <a:t>Insulin pump hardware architecture</a:t>
            </a:r>
            <a:endParaRPr lang="en-US" dirty="0"/>
          </a:p>
        </p:txBody>
      </p:sp>
      <p:pic>
        <p:nvPicPr>
          <p:cNvPr id="4" name="Picture 3" descr="1.4 InsulinPumpHW.eps"/>
          <p:cNvPicPr>
            <a:picLocks noChangeAspect="1"/>
          </p:cNvPicPr>
          <p:nvPr/>
        </p:nvPicPr>
        <p:blipFill>
          <a:blip r:embed="rId2"/>
          <a:stretch>
            <a:fillRect/>
          </a:stretch>
        </p:blipFill>
        <p:spPr>
          <a:xfrm>
            <a:off x="3435697" y="2068286"/>
            <a:ext cx="5345447" cy="3401648"/>
          </a:xfrm>
          <a:prstGeom prst="rect">
            <a:avLst/>
          </a:prstGeom>
        </p:spPr>
      </p:pic>
      <p:sp>
        <p:nvSpPr>
          <p:cNvPr id="3" name="Footer Placeholder 2"/>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0AF683B6-9612-477A-91AD-DEF7AED2BE92}"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26</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pPr eaLnBrk="1" hangingPunct="1"/>
            <a:r>
              <a:rPr lang="en-GB" dirty="0"/>
              <a:t>Activity model of the insulin pump</a:t>
            </a:r>
            <a:endParaRPr lang="en-US" dirty="0"/>
          </a:p>
        </p:txBody>
      </p:sp>
      <p:pic>
        <p:nvPicPr>
          <p:cNvPr id="4" name="Picture 3" descr="1.5 InsulinPumpActDiag.eps"/>
          <p:cNvPicPr>
            <a:picLocks noChangeAspect="1"/>
          </p:cNvPicPr>
          <p:nvPr/>
        </p:nvPicPr>
        <p:blipFill>
          <a:blip r:embed="rId2"/>
          <a:stretch>
            <a:fillRect/>
          </a:stretch>
        </p:blipFill>
        <p:spPr>
          <a:xfrm>
            <a:off x="3046043" y="2497947"/>
            <a:ext cx="6537900" cy="2239007"/>
          </a:xfrm>
          <a:prstGeom prst="rect">
            <a:avLst/>
          </a:prstGeom>
        </p:spPr>
      </p:pic>
      <p:sp>
        <p:nvSpPr>
          <p:cNvPr id="3" name="Footer Placeholder 2"/>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371D5BE8-294E-4A2B-95B2-080DAB15D079}"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27</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Essential Non-Functional requirements</a:t>
            </a:r>
          </a:p>
        </p:txBody>
      </p:sp>
      <p:sp>
        <p:nvSpPr>
          <p:cNvPr id="3" name="Content Placeholder 2"/>
          <p:cNvSpPr>
            <a:spLocks noGrp="1"/>
          </p:cNvSpPr>
          <p:nvPr>
            <p:ph idx="1"/>
          </p:nvPr>
        </p:nvSpPr>
        <p:spPr/>
        <p:txBody>
          <a:bodyPr/>
          <a:lstStyle/>
          <a:p>
            <a:r>
              <a:rPr lang="en-GB" b="1" dirty="0"/>
              <a:t>Availability:</a:t>
            </a:r>
          </a:p>
          <a:p>
            <a:pPr lvl="1"/>
            <a:r>
              <a:rPr lang="en-GB" dirty="0"/>
              <a:t>The system shall be available to deliver insulin when required. </a:t>
            </a:r>
          </a:p>
          <a:p>
            <a:r>
              <a:rPr lang="en-GB" b="1" dirty="0"/>
              <a:t>Reliability:</a:t>
            </a:r>
          </a:p>
          <a:p>
            <a:pPr lvl="1"/>
            <a:r>
              <a:rPr lang="en-GB" dirty="0"/>
              <a:t>The system shall perform reliably and deliver the correct amount of insulin to counteract the current level of blood sugar.</a:t>
            </a:r>
          </a:p>
          <a:p>
            <a:r>
              <a:rPr lang="en-GB" b="1" dirty="0"/>
              <a:t>Correctness:</a:t>
            </a:r>
          </a:p>
          <a:p>
            <a:pPr lvl="1"/>
            <a:r>
              <a:rPr lang="en-GB" dirty="0"/>
              <a:t>The system must therefore be designed and implemented to ensure that the system always meets these requirements.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FAE6B8FA-9E6E-4C39-822D-9DCC6D818F4D}"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28</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30284" y="2671667"/>
            <a:ext cx="9346276" cy="1143000"/>
          </a:xfrm>
        </p:spPr>
        <p:txBody>
          <a:bodyPr/>
          <a:lstStyle/>
          <a:p>
            <a:pPr algn="ctr"/>
            <a:r>
              <a:rPr lang="en-US" dirty="0" err="1"/>
              <a:t>Mentcare</a:t>
            </a:r>
            <a:r>
              <a:rPr lang="en-US" dirty="0"/>
              <a:t>: A patient information system for mental health care</a:t>
            </a:r>
          </a:p>
        </p:txBody>
      </p:sp>
      <p:sp>
        <p:nvSpPr>
          <p:cNvPr id="6" name="Footer Placeholder 5"/>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C6C05A3F-90D5-4A92-9F97-308C9A70CD7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29</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171724135"/>
      </p:ext>
    </p:extLst>
  </p:cSld>
  <p:clrMapOvr>
    <a:masterClrMapping/>
  </p:clrMapOvr>
  <p:transition spd="med">
    <p:wipe dir="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A patient information system for mental health care</a:t>
            </a:r>
          </a:p>
        </p:txBody>
      </p:sp>
      <p:sp>
        <p:nvSpPr>
          <p:cNvPr id="3" name="Content Placeholder 2"/>
          <p:cNvSpPr>
            <a:spLocks noGrp="1"/>
          </p:cNvSpPr>
          <p:nvPr>
            <p:ph idx="1"/>
          </p:nvPr>
        </p:nvSpPr>
        <p:spPr/>
        <p:txBody>
          <a:bodyPr/>
          <a:lstStyle/>
          <a:p>
            <a:pPr algn="just"/>
            <a:r>
              <a:rPr lang="en-GB" dirty="0"/>
              <a:t>A system that is designed for storing the mental health of patients is a medical </a:t>
            </a:r>
            <a:r>
              <a:rPr lang="en-GB" b="1" dirty="0"/>
              <a:t>information system </a:t>
            </a:r>
          </a:p>
          <a:p>
            <a:pPr lvl="1" algn="just"/>
            <a:r>
              <a:rPr lang="en-GB" dirty="0"/>
              <a:t>that maintains information about patients</a:t>
            </a:r>
          </a:p>
          <a:p>
            <a:pPr lvl="1" algn="just"/>
            <a:r>
              <a:rPr lang="en-GB" dirty="0"/>
              <a:t>and the treatments that they have received.</a:t>
            </a:r>
          </a:p>
          <a:p>
            <a:pPr algn="just"/>
            <a:r>
              <a:rPr lang="en-GB" b="1" dirty="0"/>
              <a:t>Reason for development:</a:t>
            </a:r>
          </a:p>
          <a:p>
            <a:pPr lvl="1" algn="just"/>
            <a:r>
              <a:rPr lang="en-GB" dirty="0"/>
              <a:t>Most </a:t>
            </a:r>
            <a:r>
              <a:rPr lang="en-GB" u="sng" dirty="0"/>
              <a:t>mental health patients need to attend specialist clinics </a:t>
            </a:r>
            <a:r>
              <a:rPr lang="en-GB" dirty="0"/>
              <a:t>regularly where they can meet a doctor who has detailed knowledge of their problems. </a:t>
            </a:r>
          </a:p>
          <a:p>
            <a:pPr lvl="1" algn="just"/>
            <a:r>
              <a:rPr lang="en-GB" b="1" dirty="0" err="1"/>
              <a:t>Mentcare</a:t>
            </a:r>
            <a:r>
              <a:rPr lang="en-GB" dirty="0"/>
              <a:t> is an information system that is </a:t>
            </a:r>
            <a:r>
              <a:rPr lang="en-GB" b="1" dirty="0"/>
              <a:t>intended for use in clinics</a:t>
            </a:r>
            <a:r>
              <a:rPr lang="en-GB" dirty="0"/>
              <a:t>.</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ED6B3117-05C0-4F5D-972A-03F2F4B68C1B}"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30</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a:t>
            </a:r>
          </a:p>
        </p:txBody>
      </p:sp>
      <p:sp>
        <p:nvSpPr>
          <p:cNvPr id="3" name="Content Placeholder 2"/>
          <p:cNvSpPr>
            <a:spLocks noGrp="1"/>
          </p:cNvSpPr>
          <p:nvPr>
            <p:ph idx="1"/>
          </p:nvPr>
        </p:nvSpPr>
        <p:spPr/>
        <p:txBody>
          <a:bodyPr/>
          <a:lstStyle/>
          <a:p>
            <a:pPr algn="just"/>
            <a:r>
              <a:rPr lang="en-GB" b="1" dirty="0"/>
              <a:t>KEY components:</a:t>
            </a:r>
          </a:p>
          <a:p>
            <a:pPr lvl="1" algn="just"/>
            <a:r>
              <a:rPr lang="en-GB" b="1" dirty="0"/>
              <a:t>A centralized database </a:t>
            </a:r>
            <a:r>
              <a:rPr lang="en-GB" dirty="0"/>
              <a:t>of patient information but has also been designed to run on a PC. </a:t>
            </a:r>
          </a:p>
          <a:p>
            <a:pPr lvl="1" algn="just"/>
            <a:r>
              <a:rPr lang="en-GB" dirty="0"/>
              <a:t>The patient information in the database can be downloaded so that it can be accessed offline.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8F87421E-DB23-42D1-89D6-F7E1E0F9CC1C}"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31</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goals</a:t>
            </a:r>
          </a:p>
        </p:txBody>
      </p:sp>
      <p:sp>
        <p:nvSpPr>
          <p:cNvPr id="3" name="Content Placeholder 2"/>
          <p:cNvSpPr>
            <a:spLocks noGrp="1"/>
          </p:cNvSpPr>
          <p:nvPr>
            <p:ph idx="1"/>
          </p:nvPr>
        </p:nvSpPr>
        <p:spPr/>
        <p:txBody>
          <a:bodyPr/>
          <a:lstStyle/>
          <a:p>
            <a:endParaRPr lang="en-GB" dirty="0"/>
          </a:p>
          <a:p>
            <a:r>
              <a:rPr lang="en-GB" dirty="0"/>
              <a:t>allows health service managers to assess performance against local and government targets.</a:t>
            </a:r>
          </a:p>
          <a:p>
            <a:r>
              <a:rPr lang="en-GB" dirty="0"/>
              <a:t>provide timely information to medical staff for ease in treating of patients.</a:t>
            </a:r>
          </a:p>
          <a:p>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F0BEF723-E70E-4541-82E3-D794BF2B373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32</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p:txBody>
          <a:bodyPr/>
          <a:lstStyle/>
          <a:p>
            <a:pPr eaLnBrk="1" hangingPunct="1"/>
            <a:r>
              <a:rPr lang="en-GB" dirty="0"/>
              <a:t>The organization of the Mentcare system</a:t>
            </a:r>
            <a:endParaRPr lang="en-US" dirty="0"/>
          </a:p>
        </p:txBody>
      </p:sp>
      <p:pic>
        <p:nvPicPr>
          <p:cNvPr id="2" name="Picture 1" descr="1.6 MHC-PMS.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733800" y="1784350"/>
            <a:ext cx="5071533" cy="4259210"/>
          </a:xfrm>
          <a:prstGeom prst="rect">
            <a:avLst/>
          </a:prstGeom>
        </p:spPr>
      </p:pic>
      <p:sp>
        <p:nvSpPr>
          <p:cNvPr id="4" name="Footer Placeholder 3"/>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ABDC4FF9-40D3-47B6-9C57-8063DD329380}"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33</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 features of the Mentcare system</a:t>
            </a:r>
          </a:p>
        </p:txBody>
      </p:sp>
      <p:sp>
        <p:nvSpPr>
          <p:cNvPr id="3" name="Content Placeholder 2"/>
          <p:cNvSpPr>
            <a:spLocks noGrp="1"/>
          </p:cNvSpPr>
          <p:nvPr>
            <p:ph idx="1"/>
          </p:nvPr>
        </p:nvSpPr>
        <p:spPr>
          <a:xfrm>
            <a:off x="522513" y="1600201"/>
            <a:ext cx="10562253" cy="4525963"/>
          </a:xfrm>
        </p:spPr>
        <p:txBody>
          <a:bodyPr/>
          <a:lstStyle/>
          <a:p>
            <a:pPr algn="just"/>
            <a:r>
              <a:rPr lang="en-GB" b="1" dirty="0"/>
              <a:t>Individual care management </a:t>
            </a:r>
          </a:p>
          <a:p>
            <a:pPr lvl="1" algn="just"/>
            <a:r>
              <a:rPr lang="en-GB" dirty="0"/>
              <a:t>Clinicians can create records for patients, </a:t>
            </a:r>
          </a:p>
          <a:p>
            <a:pPr lvl="1" algn="just"/>
            <a:r>
              <a:rPr lang="en-GB" dirty="0"/>
              <a:t>edit the information in the system, </a:t>
            </a:r>
          </a:p>
          <a:p>
            <a:pPr lvl="1" algn="just"/>
            <a:r>
              <a:rPr lang="en-GB" dirty="0"/>
              <a:t>view patient history,</a:t>
            </a:r>
          </a:p>
          <a:p>
            <a:pPr lvl="1" algn="just"/>
            <a:r>
              <a:rPr lang="en-GB" dirty="0"/>
              <a:t>show data summaries for doctors.</a:t>
            </a:r>
          </a:p>
          <a:p>
            <a:pPr algn="just"/>
            <a:r>
              <a:rPr lang="en-GB" b="1" dirty="0"/>
              <a:t>Patient monitoring </a:t>
            </a:r>
          </a:p>
          <a:p>
            <a:pPr lvl="1" algn="just"/>
            <a:r>
              <a:rPr lang="en-GB" dirty="0"/>
              <a:t>The system monitors the records of patients that are involved in treatment and issues warnings, if possible, problems are detected. </a:t>
            </a:r>
          </a:p>
          <a:p>
            <a:pPr algn="just"/>
            <a:r>
              <a:rPr lang="en-GB" b="1" dirty="0"/>
              <a:t>Administrative reporting </a:t>
            </a:r>
          </a:p>
          <a:p>
            <a:pPr lvl="1" algn="just"/>
            <a:r>
              <a:rPr lang="en-GB" dirty="0"/>
              <a:t>The system generates monthly management reports showing the number of patients treated at each clinic, the number of patients who have entered and left the care system, number of patients sectioned, the drugs prescribed and their costs, etc.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DAE6C772-24DC-47FE-938F-F34A98945C3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34</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Mentcare system concerns</a:t>
            </a:r>
          </a:p>
        </p:txBody>
      </p:sp>
      <p:sp>
        <p:nvSpPr>
          <p:cNvPr id="3" name="Content Placeholder 2"/>
          <p:cNvSpPr>
            <a:spLocks noGrp="1"/>
          </p:cNvSpPr>
          <p:nvPr>
            <p:ph idx="1"/>
          </p:nvPr>
        </p:nvSpPr>
        <p:spPr>
          <a:xfrm>
            <a:off x="609600" y="1417638"/>
            <a:ext cx="10972800" cy="4525963"/>
          </a:xfrm>
        </p:spPr>
        <p:txBody>
          <a:bodyPr/>
          <a:lstStyle/>
          <a:p>
            <a:pPr algn="just"/>
            <a:r>
              <a:rPr lang="en-US" b="1" dirty="0"/>
              <a:t>Privacy</a:t>
            </a:r>
          </a:p>
          <a:p>
            <a:pPr lvl="1" algn="just"/>
            <a:r>
              <a:rPr lang="en-GB" dirty="0"/>
              <a:t>It is essential that patient information is confidential and is never disclosed to anyone apart from authorised medical staff and the patient themselves. </a:t>
            </a:r>
            <a:endParaRPr lang="en-US" dirty="0"/>
          </a:p>
          <a:p>
            <a:pPr algn="just"/>
            <a:r>
              <a:rPr lang="en-US" b="1" dirty="0"/>
              <a:t>Safety</a:t>
            </a:r>
          </a:p>
          <a:p>
            <a:pPr lvl="1" algn="just"/>
            <a:r>
              <a:rPr lang="en-GB" dirty="0"/>
              <a:t>Some </a:t>
            </a:r>
            <a:r>
              <a:rPr lang="en-GB" b="1" dirty="0"/>
              <a:t>mental illnesses cause patients to become suicidal or a danger to other people. Wherever possible, the system should warn medical staff about potentially suicidal or dangerous patients. </a:t>
            </a:r>
          </a:p>
          <a:p>
            <a:pPr lvl="1" algn="just"/>
            <a:r>
              <a:rPr lang="en-GB" dirty="0"/>
              <a:t>The </a:t>
            </a:r>
            <a:r>
              <a:rPr lang="en-GB" u="sng" dirty="0"/>
              <a:t>system must be available when needed otherwise safety may be compromised </a:t>
            </a:r>
            <a:r>
              <a:rPr lang="en-GB" dirty="0"/>
              <a:t>and it may be impossible to prescribe the correct medication to patients (depending upon history log). </a:t>
            </a:r>
          </a:p>
          <a:p>
            <a:pPr algn="just"/>
            <a:r>
              <a:rPr lang="en-GB" dirty="0"/>
              <a:t>Req. conflict</a:t>
            </a:r>
          </a:p>
          <a:p>
            <a:pPr lvl="1" algn="just"/>
            <a:r>
              <a:rPr lang="en-GB" dirty="0"/>
              <a:t>As privacy can be maintained by keeping 1 copy of record but availability can be achieved by data redundancy.</a:t>
            </a:r>
          </a:p>
          <a:p>
            <a:pPr lvl="1" algn="just"/>
            <a:r>
              <a:rPr lang="en-GB" dirty="0"/>
              <a:t>A trade-off between two NFRs. </a:t>
            </a:r>
          </a:p>
          <a:p>
            <a:pPr lvl="1" algn="just"/>
            <a:endParaRPr lang="en-US" dirty="0"/>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35</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80722"/>
            <a:ext cx="8229600" cy="1143000"/>
          </a:xfrm>
        </p:spPr>
        <p:txBody>
          <a:bodyPr/>
          <a:lstStyle/>
          <a:p>
            <a:pPr algn="ctr"/>
            <a:r>
              <a:rPr lang="en-US" dirty="0"/>
              <a:t>Wilderness weather Station</a:t>
            </a:r>
          </a:p>
        </p:txBody>
      </p:sp>
      <p:sp>
        <p:nvSpPr>
          <p:cNvPr id="6" name="Footer Placeholder 5"/>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C6C05A3F-90D5-4A92-9F97-308C9A70CD7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36</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2856686316"/>
      </p:ext>
    </p:extLst>
  </p:cSld>
  <p:clrMapOvr>
    <a:masterClrMapping/>
  </p:clrMapOvr>
  <p:transition spd="med">
    <p:wipe dir="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r>
              <a:rPr lang="en-US" dirty="0"/>
              <a:t>Wilderness weather station</a:t>
            </a:r>
          </a:p>
        </p:txBody>
      </p:sp>
      <p:sp>
        <p:nvSpPr>
          <p:cNvPr id="3" name="Content Placeholder 2"/>
          <p:cNvSpPr>
            <a:spLocks noGrp="1"/>
          </p:cNvSpPr>
          <p:nvPr>
            <p:ph idx="1"/>
          </p:nvPr>
        </p:nvSpPr>
        <p:spPr/>
        <p:txBody>
          <a:bodyPr/>
          <a:lstStyle/>
          <a:p>
            <a:pPr algn="just"/>
            <a:r>
              <a:rPr lang="en-GB" dirty="0"/>
              <a:t>A data collection system </a:t>
            </a:r>
          </a:p>
          <a:p>
            <a:pPr algn="just"/>
            <a:r>
              <a:rPr lang="en-GB" dirty="0"/>
              <a:t>The government of a country with large areas of wilderness decides to deploy several hundred weather stations in remote areas. </a:t>
            </a:r>
          </a:p>
          <a:p>
            <a:pPr algn="just"/>
            <a:r>
              <a:rPr lang="en-GB" dirty="0"/>
              <a:t>Weather stations collect data from a set of instruments that measure temperature and pressure, sunshine, rainfall, wind speed and wind direction.</a:t>
            </a:r>
          </a:p>
          <a:p>
            <a:pPr lvl="1" algn="just"/>
            <a:r>
              <a:rPr lang="en-GB" dirty="0"/>
              <a:t>The weather station includes a </a:t>
            </a:r>
            <a:r>
              <a:rPr lang="en-GB" b="1" dirty="0"/>
              <a:t>number of instruments</a:t>
            </a:r>
            <a:r>
              <a:rPr lang="en-GB" dirty="0"/>
              <a:t> that </a:t>
            </a:r>
            <a:r>
              <a:rPr lang="en-GB" b="1" dirty="0"/>
              <a:t>measure </a:t>
            </a:r>
            <a:r>
              <a:rPr lang="en-GB" dirty="0"/>
              <a:t>weather parameters such as the </a:t>
            </a:r>
            <a:r>
              <a:rPr lang="en-GB" b="1" dirty="0"/>
              <a:t>wind speed and direction, the ground and air temperatures, the barometric pressure and the rainfall over a 24-hour period</a:t>
            </a:r>
            <a:r>
              <a:rPr lang="en-GB" dirty="0"/>
              <a:t>. Each of these instruments is controlled by a software system that takes parameter readings periodically and manages the data collected from the instruments.  </a:t>
            </a:r>
          </a:p>
          <a:p>
            <a:pPr marL="0" indent="0" algn="just">
              <a:buNone/>
            </a:pPr>
            <a:endParaRPr lang="en-GB" dirty="0"/>
          </a:p>
          <a:p>
            <a:pPr algn="just"/>
            <a:endParaRPr lang="en-US" dirty="0"/>
          </a:p>
        </p:txBody>
      </p:sp>
      <p:sp>
        <p:nvSpPr>
          <p:cNvPr id="7" name="Footer Placeholder 6"/>
          <p:cNvSpPr>
            <a:spLocks noGrp="1"/>
          </p:cNvSpPr>
          <p:nvPr>
            <p:ph type="ftr" sz="quarter" idx="10"/>
          </p:nvPr>
        </p:nvSpPr>
        <p:spPr/>
        <p:txBody>
          <a:bodyPr/>
          <a:lstStyle/>
          <a:p>
            <a:pPr algn="just"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algn="just" defTabSz="457200" fontAlgn="base">
              <a:spcBef>
                <a:spcPct val="0"/>
              </a:spcBef>
              <a:spcAft>
                <a:spcPct val="0"/>
              </a:spcAft>
            </a:pPr>
            <a:fld id="{240F67E9-8141-471B-B2ED-99CEEA95B2ED}"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algn="just"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algn="just" defTabSz="457200" fontAlgn="base">
                <a:spcBef>
                  <a:spcPct val="0"/>
                </a:spcBef>
                <a:spcAft>
                  <a:spcPct val="0"/>
                </a:spcAft>
              </a:pPr>
              <a:t>37</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p:cNvSpPr>
            <a:spLocks noGrp="1"/>
          </p:cNvSpPr>
          <p:nvPr>
            <p:ph type="title"/>
          </p:nvPr>
        </p:nvSpPr>
        <p:spPr/>
        <p:txBody>
          <a:bodyPr/>
          <a:lstStyle/>
          <a:p>
            <a:pPr eaLnBrk="1" hangingPunct="1"/>
            <a:r>
              <a:rPr lang="en-GB" dirty="0"/>
              <a:t>The weather station’s environment </a:t>
            </a:r>
            <a:endParaRPr lang="en-US" dirty="0"/>
          </a:p>
        </p:txBody>
      </p:sp>
      <p:pic>
        <p:nvPicPr>
          <p:cNvPr id="4" name="Picture 3" descr="1.7 WeatherStationEnv.eps"/>
          <p:cNvPicPr>
            <a:picLocks noChangeAspect="1"/>
          </p:cNvPicPr>
          <p:nvPr/>
        </p:nvPicPr>
        <p:blipFill>
          <a:blip r:embed="rId2"/>
          <a:stretch>
            <a:fillRect/>
          </a:stretch>
        </p:blipFill>
        <p:spPr>
          <a:xfrm>
            <a:off x="3456944" y="2314698"/>
            <a:ext cx="5159738" cy="2490908"/>
          </a:xfrm>
          <a:prstGeom prst="rect">
            <a:avLst/>
          </a:prstGeom>
        </p:spPr>
      </p:pic>
      <p:sp>
        <p:nvSpPr>
          <p:cNvPr id="3" name="Footer Placeholder 2"/>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DECF687B-59AA-4126-BCD2-A059EE810623}"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38</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Weather information system</a:t>
            </a:r>
          </a:p>
        </p:txBody>
      </p:sp>
      <p:sp>
        <p:nvSpPr>
          <p:cNvPr id="3" name="Content Placeholder 2"/>
          <p:cNvSpPr>
            <a:spLocks noGrp="1"/>
          </p:cNvSpPr>
          <p:nvPr>
            <p:ph idx="1"/>
          </p:nvPr>
        </p:nvSpPr>
        <p:spPr>
          <a:xfrm>
            <a:off x="609600" y="1600201"/>
            <a:ext cx="11156302" cy="4525963"/>
          </a:xfrm>
        </p:spPr>
        <p:txBody>
          <a:bodyPr/>
          <a:lstStyle/>
          <a:p>
            <a:pPr algn="just"/>
            <a:r>
              <a:rPr lang="en-GB" dirty="0"/>
              <a:t>	The weather station system </a:t>
            </a:r>
          </a:p>
          <a:p>
            <a:pPr lvl="1" algn="just"/>
            <a:r>
              <a:rPr lang="en-GB" dirty="0"/>
              <a:t>This is responsible for </a:t>
            </a:r>
            <a:r>
              <a:rPr lang="en-GB" b="1" dirty="0"/>
              <a:t>collecting weather data</a:t>
            </a:r>
            <a:r>
              <a:rPr lang="en-GB" dirty="0"/>
              <a:t>, carrying out some </a:t>
            </a:r>
            <a:r>
              <a:rPr lang="en-GB" b="1" dirty="0"/>
              <a:t>initial data processing,</a:t>
            </a:r>
            <a:r>
              <a:rPr lang="en-GB" dirty="0"/>
              <a:t> and </a:t>
            </a:r>
            <a:r>
              <a:rPr lang="en-GB" b="1" dirty="0"/>
              <a:t>transmitting it to the data management system.</a:t>
            </a:r>
          </a:p>
          <a:p>
            <a:pPr algn="just"/>
            <a:r>
              <a:rPr lang="en-GB" dirty="0"/>
              <a:t>The data management and archiving system </a:t>
            </a:r>
          </a:p>
          <a:p>
            <a:pPr lvl="1" algn="just"/>
            <a:r>
              <a:rPr lang="en-GB" dirty="0"/>
              <a:t>This system </a:t>
            </a:r>
            <a:r>
              <a:rPr lang="en-GB" b="1" dirty="0"/>
              <a:t>collects the data from all of the wilderness weather stations,</a:t>
            </a:r>
            <a:r>
              <a:rPr lang="en-GB" dirty="0"/>
              <a:t> carries out data processing and analysis and archives the data.</a:t>
            </a:r>
          </a:p>
          <a:p>
            <a:pPr algn="just"/>
            <a:r>
              <a:rPr lang="en-GB" dirty="0"/>
              <a:t>The station maintenance system </a:t>
            </a:r>
          </a:p>
          <a:p>
            <a:pPr lvl="1" algn="just"/>
            <a:r>
              <a:rPr lang="en-GB" dirty="0"/>
              <a:t>This system can </a:t>
            </a:r>
            <a:r>
              <a:rPr lang="en-GB" b="1" dirty="0"/>
              <a:t>communicate by satellite with all wilderness weather stations to monitor the health of these systems </a:t>
            </a:r>
            <a:r>
              <a:rPr lang="en-GB" dirty="0"/>
              <a:t>and provide reports of problems.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dirty="0">
                <a:solidFill>
                  <a:prstClr val="black">
                    <a:tint val="75000"/>
                  </a:prstClr>
                </a:solidFill>
                <a:latin typeface="Arial" charset="0"/>
                <a:ea typeface="ＭＳ Ｐゴシック" charset="-128"/>
              </a:rPr>
              <a:t>Chapter 1 Introduction</a:t>
            </a:r>
          </a:p>
        </p:txBody>
      </p:sp>
      <p:sp>
        <p:nvSpPr>
          <p:cNvPr id="8" name="Date Placeholder 7"/>
          <p:cNvSpPr>
            <a:spLocks noGrp="1"/>
          </p:cNvSpPr>
          <p:nvPr>
            <p:ph type="dt" sz="half" idx="11"/>
          </p:nvPr>
        </p:nvSpPr>
        <p:spPr/>
        <p:txBody>
          <a:bodyPr/>
          <a:lstStyle/>
          <a:p>
            <a:pPr defTabSz="457200" fontAlgn="base">
              <a:spcBef>
                <a:spcPct val="0"/>
              </a:spcBef>
              <a:spcAft>
                <a:spcPct val="0"/>
              </a:spcAft>
            </a:pPr>
            <a:fld id="{7E67F2F8-6DC4-4BC5-A6AA-DCA1E3128308}"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39</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Additional software functionality</a:t>
            </a:r>
          </a:p>
        </p:txBody>
      </p:sp>
      <p:sp>
        <p:nvSpPr>
          <p:cNvPr id="3" name="Content Placeholder 2"/>
          <p:cNvSpPr>
            <a:spLocks noGrp="1"/>
          </p:cNvSpPr>
          <p:nvPr>
            <p:ph idx="1"/>
          </p:nvPr>
        </p:nvSpPr>
        <p:spPr/>
        <p:txBody>
          <a:bodyPr/>
          <a:lstStyle/>
          <a:p>
            <a:pPr algn="just"/>
            <a:r>
              <a:rPr lang="en-GB" b="1" dirty="0"/>
              <a:t>Monitor the instruments, </a:t>
            </a:r>
            <a:r>
              <a:rPr lang="en-GB" dirty="0"/>
              <a:t>power and communication hardware and report faults to the management system.</a:t>
            </a:r>
          </a:p>
          <a:p>
            <a:pPr algn="just"/>
            <a:r>
              <a:rPr lang="en-GB" b="1" dirty="0"/>
              <a:t>Manage the system power</a:t>
            </a:r>
            <a:r>
              <a:rPr lang="en-GB" dirty="0"/>
              <a:t>, ensuring that batteries are charged whenever the environmental conditions permit but also that generators are shut down in potentially damaging weather conditions, such as high wind.</a:t>
            </a:r>
          </a:p>
          <a:p>
            <a:pPr algn="just"/>
            <a:r>
              <a:rPr lang="en-GB" b="1" dirty="0"/>
              <a:t>Support dynamic reconfiguration </a:t>
            </a:r>
            <a:r>
              <a:rPr lang="en-GB" dirty="0"/>
              <a:t>where parts of the software are replaced with new versions and where backup instruments are switched into the system in the event of system failure.</a:t>
            </a:r>
          </a:p>
          <a:p>
            <a:pPr algn="just"/>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D2BF83A2-7D92-4D8E-A2AE-D8889F91C277}"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40</a:t>
            </a:fld>
            <a:endParaRPr lang="en-US">
              <a:solidFill>
                <a:prstClr val="black">
                  <a:tint val="75000"/>
                </a:prstClr>
              </a:solidFill>
              <a:latin typeface="Arial" charset="0"/>
              <a:ea typeface="ＭＳ Ｐゴシック" charset="-128"/>
            </a:endParaRPr>
          </a:p>
        </p:txBody>
      </p:sp>
    </p:spTree>
  </p:cSld>
  <p:clrMapOvr>
    <a:masterClrMapping/>
  </p:clrMapOvr>
  <p:transition spd="med">
    <p:wipe dir="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380722"/>
            <a:ext cx="8229600" cy="1143000"/>
          </a:xfrm>
        </p:spPr>
        <p:txBody>
          <a:bodyPr/>
          <a:lstStyle/>
          <a:p>
            <a:pPr algn="ctr"/>
            <a:r>
              <a:rPr lang="en-US" dirty="0" err="1"/>
              <a:t>iLearn</a:t>
            </a:r>
            <a:r>
              <a:rPr lang="en-US" dirty="0"/>
              <a:t>: a Digital learning Environment</a:t>
            </a:r>
          </a:p>
        </p:txBody>
      </p:sp>
      <p:sp>
        <p:nvSpPr>
          <p:cNvPr id="6" name="Footer Placeholder 5"/>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7" name="Date Placeholder 6"/>
          <p:cNvSpPr>
            <a:spLocks noGrp="1"/>
          </p:cNvSpPr>
          <p:nvPr>
            <p:ph type="dt" sz="half" idx="11"/>
          </p:nvPr>
        </p:nvSpPr>
        <p:spPr/>
        <p:txBody>
          <a:bodyPr/>
          <a:lstStyle/>
          <a:p>
            <a:pPr defTabSz="457200" fontAlgn="base">
              <a:spcBef>
                <a:spcPct val="0"/>
              </a:spcBef>
              <a:spcAft>
                <a:spcPct val="0"/>
              </a:spcAft>
            </a:pPr>
            <a:fld id="{C6C05A3F-90D5-4A92-9F97-308C9A70CD7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8" name="Slide Number Placeholder 7"/>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41</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2646648386"/>
      </p:ext>
    </p:extLst>
  </p:cSld>
  <p:clrMapOvr>
    <a:masterClrMapping/>
  </p:clrMapOvr>
  <p:transition spd="med">
    <p:wipe dir="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 digital learning environment</a:t>
            </a:r>
          </a:p>
        </p:txBody>
      </p:sp>
      <p:sp>
        <p:nvSpPr>
          <p:cNvPr id="3" name="Content Placeholder 2"/>
          <p:cNvSpPr>
            <a:spLocks noGrp="1"/>
          </p:cNvSpPr>
          <p:nvPr>
            <p:ph idx="1"/>
          </p:nvPr>
        </p:nvSpPr>
        <p:spPr/>
        <p:txBody>
          <a:bodyPr/>
          <a:lstStyle/>
          <a:p>
            <a:pPr algn="just"/>
            <a:r>
              <a:rPr lang="en-GB" dirty="0"/>
              <a:t>A digital learning environment is a framework in which a set of general-purpose and specially designed tools for learning may be embedded plus a set of applications that are geared to the needs of the learners using the system. </a:t>
            </a:r>
          </a:p>
          <a:p>
            <a:pPr algn="just"/>
            <a:r>
              <a:rPr lang="en-GB" dirty="0"/>
              <a:t>The tools included in each version of the environment are chosen by teachers and learners to suit their specific needs. </a:t>
            </a:r>
          </a:p>
          <a:p>
            <a:pPr lvl="1" algn="just"/>
            <a:r>
              <a:rPr lang="en-GB" dirty="0"/>
              <a:t>These can be general applications such as spreadsheets, learning management applications such as a Virtual Learning Environment (VLE) to manage homework submission and assessment, games and simulations.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A981D681-55A3-4E33-8913-526920C4C032}"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42</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3735641553"/>
      </p:ext>
    </p:extLst>
  </p:cSld>
  <p:clrMapOvr>
    <a:masterClrMapping/>
  </p:clrMapOvr>
  <p:transition spd="med">
    <p:wipe dir="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Service-oriented systems</a:t>
            </a:r>
          </a:p>
        </p:txBody>
      </p:sp>
      <p:sp>
        <p:nvSpPr>
          <p:cNvPr id="3" name="Content Placeholder 2"/>
          <p:cNvSpPr>
            <a:spLocks noGrp="1"/>
          </p:cNvSpPr>
          <p:nvPr>
            <p:ph idx="1"/>
          </p:nvPr>
        </p:nvSpPr>
        <p:spPr/>
        <p:txBody>
          <a:bodyPr/>
          <a:lstStyle/>
          <a:p>
            <a:pPr algn="just"/>
            <a:r>
              <a:rPr lang="en-GB" dirty="0"/>
              <a:t>The system is </a:t>
            </a:r>
            <a:r>
              <a:rPr lang="en-GB"/>
              <a:t>a </a:t>
            </a:r>
            <a:r>
              <a:rPr lang="en-GB" b="1"/>
              <a:t>service-oriented system </a:t>
            </a:r>
            <a:r>
              <a:rPr lang="en-GB" dirty="0"/>
              <a:t>with all system components considered to be a replaceable service.</a:t>
            </a:r>
          </a:p>
          <a:p>
            <a:pPr algn="just"/>
            <a:r>
              <a:rPr lang="en-GB" dirty="0"/>
              <a:t>This </a:t>
            </a:r>
            <a:r>
              <a:rPr lang="en-GB" b="1" dirty="0"/>
              <a:t>allows the system to be updated incrementally</a:t>
            </a:r>
            <a:r>
              <a:rPr lang="en-GB" dirty="0"/>
              <a:t> as new services become available.</a:t>
            </a:r>
          </a:p>
          <a:p>
            <a:pPr algn="just"/>
            <a:r>
              <a:rPr lang="en-GB" dirty="0"/>
              <a:t>It also makes it possible to rapidly configure the system to create versions of the environment for different groups such as very young children who cannot read, senior students, etc.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CE55D2C2-40FF-4D2D-82F8-E1E7B5DC9EF9}"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43</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910177017"/>
      </p:ext>
    </p:extLst>
  </p:cSld>
  <p:clrMapOvr>
    <a:masterClrMapping/>
  </p:clrMapOvr>
  <p:transition spd="med">
    <p:wipe dir="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services</a:t>
            </a:r>
          </a:p>
        </p:txBody>
      </p:sp>
      <p:sp>
        <p:nvSpPr>
          <p:cNvPr id="3" name="Content Placeholder 2"/>
          <p:cNvSpPr>
            <a:spLocks noGrp="1"/>
          </p:cNvSpPr>
          <p:nvPr>
            <p:ph idx="1"/>
          </p:nvPr>
        </p:nvSpPr>
        <p:spPr>
          <a:xfrm>
            <a:off x="609600" y="1600201"/>
            <a:ext cx="10972800" cy="4525963"/>
          </a:xfrm>
        </p:spPr>
        <p:txBody>
          <a:bodyPr/>
          <a:lstStyle/>
          <a:p>
            <a:r>
              <a:rPr lang="en-GB" b="1" dirty="0"/>
              <a:t>Utility services </a:t>
            </a:r>
          </a:p>
          <a:p>
            <a:pPr lvl="1"/>
            <a:r>
              <a:rPr lang="en-GB" dirty="0"/>
              <a:t>that provide basic application-independent functionality, and which may be used by other services in the system. </a:t>
            </a:r>
          </a:p>
          <a:p>
            <a:r>
              <a:rPr lang="en-GB" b="1" dirty="0"/>
              <a:t>Application services </a:t>
            </a:r>
          </a:p>
          <a:p>
            <a:pPr lvl="1"/>
            <a:r>
              <a:rPr lang="en-GB" dirty="0"/>
              <a:t>that provide specific applications such as email, conferencing, photo sharing etc. and access to specific educational content such as scientific films or historical resources. </a:t>
            </a:r>
          </a:p>
          <a:p>
            <a:r>
              <a:rPr lang="en-GB" b="1" dirty="0"/>
              <a:t>Configuration services </a:t>
            </a:r>
          </a:p>
          <a:p>
            <a:pPr lvl="1"/>
            <a:r>
              <a:rPr lang="en-GB" dirty="0"/>
              <a:t>that are used to adapt the environment with a specific set of application services and do define how services are shared between students, teachers and their parents. </a:t>
            </a:r>
            <a:endParaRPr lang="en-US" dirty="0"/>
          </a:p>
        </p:txBody>
      </p:sp>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AD8AF515-CC35-4893-907D-D2849C8FE331}"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44</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2155081538"/>
      </p:ext>
    </p:extLst>
  </p:cSld>
  <p:clrMapOvr>
    <a:masterClrMapping/>
  </p:clrMapOvr>
  <p:transition spd="med">
    <p:wipe dir="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iLearn</a:t>
            </a:r>
            <a:r>
              <a:rPr lang="en-US" dirty="0"/>
              <a:t> architecture</a:t>
            </a:r>
          </a:p>
        </p:txBody>
      </p:sp>
      <p:pic>
        <p:nvPicPr>
          <p:cNvPr id="6" name="Picture 5" descr="1.8 iLearn architecture.eps"/>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76701" y="1538798"/>
            <a:ext cx="5866216" cy="4881050"/>
          </a:xfrm>
          <a:prstGeom prst="rect">
            <a:avLst/>
          </a:prstGeom>
        </p:spPr>
      </p:pic>
      <p:sp>
        <p:nvSpPr>
          <p:cNvPr id="7" name="Footer Placeholder 6"/>
          <p:cNvSpPr>
            <a:spLocks noGrp="1"/>
          </p:cNvSpPr>
          <p:nvPr>
            <p:ph type="ftr" sz="quarter" idx="10"/>
          </p:nvPr>
        </p:nvSpPr>
        <p:spPr/>
        <p:txBody>
          <a:bodyPr/>
          <a:lstStyle/>
          <a:p>
            <a:pPr defTabSz="457200" fontAlgn="base">
              <a:spcBef>
                <a:spcPct val="0"/>
              </a:spcBef>
              <a:spcAft>
                <a:spcPct val="0"/>
              </a:spcAft>
            </a:pPr>
            <a:r>
              <a:rPr lang="en-US">
                <a:solidFill>
                  <a:prstClr val="black">
                    <a:tint val="75000"/>
                  </a:prstClr>
                </a:solidFill>
                <a:latin typeface="Arial" charset="0"/>
                <a:ea typeface="ＭＳ Ｐゴシック" charset="-128"/>
              </a:rPr>
              <a:t>Chapter 1 Introduction</a:t>
            </a:r>
            <a:endParaRPr lang="en-US" dirty="0">
              <a:solidFill>
                <a:prstClr val="black">
                  <a:tint val="75000"/>
                </a:prstClr>
              </a:solidFill>
              <a:latin typeface="Arial" charset="0"/>
              <a:ea typeface="ＭＳ Ｐゴシック" charset="-128"/>
            </a:endParaRPr>
          </a:p>
        </p:txBody>
      </p:sp>
      <p:sp>
        <p:nvSpPr>
          <p:cNvPr id="8" name="Date Placeholder 7"/>
          <p:cNvSpPr>
            <a:spLocks noGrp="1"/>
          </p:cNvSpPr>
          <p:nvPr>
            <p:ph type="dt" sz="half" idx="11"/>
          </p:nvPr>
        </p:nvSpPr>
        <p:spPr/>
        <p:txBody>
          <a:bodyPr/>
          <a:lstStyle/>
          <a:p>
            <a:pPr defTabSz="457200" fontAlgn="base">
              <a:spcBef>
                <a:spcPct val="0"/>
              </a:spcBef>
              <a:spcAft>
                <a:spcPct val="0"/>
              </a:spcAft>
            </a:pPr>
            <a:fld id="{36339B45-96E6-47B1-A06D-06942683B4AA}" type="datetime1">
              <a:rPr lang="en-US" smtClean="0">
                <a:solidFill>
                  <a:prstClr val="black">
                    <a:tint val="75000"/>
                  </a:prstClr>
                </a:solidFill>
                <a:latin typeface="Arial" charset="0"/>
                <a:ea typeface="ＭＳ Ｐゴシック" charset="-128"/>
              </a:rPr>
              <a:t>1/20/2026</a:t>
            </a:fld>
            <a:endParaRPr lang="en-US">
              <a:solidFill>
                <a:prstClr val="black">
                  <a:tint val="75000"/>
                </a:prstClr>
              </a:solidFill>
              <a:latin typeface="Arial" charset="0"/>
              <a:ea typeface="ＭＳ Ｐゴシック" charset="-128"/>
            </a:endParaRPr>
          </a:p>
        </p:txBody>
      </p:sp>
      <p:sp>
        <p:nvSpPr>
          <p:cNvPr id="9" name="Slide Number Placeholder 8"/>
          <p:cNvSpPr>
            <a:spLocks noGrp="1"/>
          </p:cNvSpPr>
          <p:nvPr>
            <p:ph type="sldNum" sz="quarter" idx="12"/>
          </p:nvPr>
        </p:nvSpPr>
        <p:spPr/>
        <p:txBody>
          <a:bodyPr/>
          <a:lstStyle/>
          <a:p>
            <a:pPr defTabSz="457200" fontAlgn="base">
              <a:spcBef>
                <a:spcPct val="0"/>
              </a:spcBef>
              <a:spcAft>
                <a:spcPct val="0"/>
              </a:spcAft>
            </a:pPr>
            <a:fld id="{1D5CD492-2BC6-F348-9965-EC1D86DF57A8}" type="slidenum">
              <a:rPr lang="en-US">
                <a:solidFill>
                  <a:prstClr val="black">
                    <a:tint val="75000"/>
                  </a:prstClr>
                </a:solidFill>
                <a:latin typeface="Arial" charset="0"/>
                <a:ea typeface="ＭＳ Ｐゴシック" charset="-128"/>
              </a:rPr>
              <a:pPr defTabSz="457200" fontAlgn="base">
                <a:spcBef>
                  <a:spcPct val="0"/>
                </a:spcBef>
                <a:spcAft>
                  <a:spcPct val="0"/>
                </a:spcAft>
              </a:pPr>
              <a:t>45</a:t>
            </a:fld>
            <a:endParaRPr lang="en-US">
              <a:solidFill>
                <a:prstClr val="black">
                  <a:tint val="75000"/>
                </a:prstClr>
              </a:solidFill>
              <a:latin typeface="Arial" charset="0"/>
              <a:ea typeface="ＭＳ Ｐゴシック" charset="-128"/>
            </a:endParaRPr>
          </a:p>
        </p:txBody>
      </p:sp>
    </p:spTree>
    <p:extLst>
      <p:ext uri="{BB962C8B-B14F-4D97-AF65-F5344CB8AC3E}">
        <p14:creationId xmlns:p14="http://schemas.microsoft.com/office/powerpoint/2010/main" val="2004859144"/>
      </p:ext>
    </p:extLst>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1_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405</TotalTime>
  <Words>2711</Words>
  <Application>Microsoft Office PowerPoint</Application>
  <PresentationFormat>Widescreen</PresentationFormat>
  <Paragraphs>337</Paragraphs>
  <Slides>45</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45</vt:i4>
      </vt:variant>
    </vt:vector>
  </HeadingPairs>
  <TitlesOfParts>
    <vt:vector size="50" baseType="lpstr">
      <vt:lpstr>Arial</vt:lpstr>
      <vt:lpstr>Calibri</vt:lpstr>
      <vt:lpstr>Wingdings</vt:lpstr>
      <vt:lpstr>SE10 slides</vt:lpstr>
      <vt:lpstr>1_SE10 slides</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lpstr>Ethical dilemmas</vt:lpstr>
      <vt:lpstr>Case studies</vt:lpstr>
      <vt:lpstr>Case studies</vt:lpstr>
      <vt:lpstr>Personal Insulin Pump</vt:lpstr>
      <vt:lpstr>Insulin pump control system</vt:lpstr>
      <vt:lpstr>Insulin pump hardware architecture</vt:lpstr>
      <vt:lpstr>Activity model of the insulin pump</vt:lpstr>
      <vt:lpstr>Essential Non-Functional requirements</vt:lpstr>
      <vt:lpstr>Mentcare: A patient information system for mental health care</vt:lpstr>
      <vt:lpstr>Mentcare: A patient information system for mental health care</vt:lpstr>
      <vt:lpstr>Mentcare</vt:lpstr>
      <vt:lpstr>Mentcare goals</vt:lpstr>
      <vt:lpstr>The organization of the Mentcare system</vt:lpstr>
      <vt:lpstr>Key features of the Mentcare system</vt:lpstr>
      <vt:lpstr>Mentcare system concerns</vt:lpstr>
      <vt:lpstr>Wilderness weather Station</vt:lpstr>
      <vt:lpstr>Wilderness weather station</vt:lpstr>
      <vt:lpstr>The weather station’s environment </vt:lpstr>
      <vt:lpstr>Weather information system</vt:lpstr>
      <vt:lpstr>Additional software functionality</vt:lpstr>
      <vt:lpstr>iLearn: a Digital learning Environment</vt:lpstr>
      <vt:lpstr>iLearn: A digital learning environment</vt:lpstr>
      <vt:lpstr>Service-oriented systems</vt:lpstr>
      <vt:lpstr>iLearn services</vt:lpstr>
      <vt:lpstr>iLearn architecture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1- Introduction</dc:title>
  <dc:creator>Fast</dc:creator>
  <cp:lastModifiedBy>Hajra  Ahmed</cp:lastModifiedBy>
  <cp:revision>18</cp:revision>
  <cp:lastPrinted>2022-02-03T08:53:41Z</cp:lastPrinted>
  <dcterms:created xsi:type="dcterms:W3CDTF">2022-02-03T06:36:08Z</dcterms:created>
  <dcterms:modified xsi:type="dcterms:W3CDTF">2026-01-20T04:39:31Z</dcterms:modified>
</cp:coreProperties>
</file>