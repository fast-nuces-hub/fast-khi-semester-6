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6" r:id="rId2"/>
    <p:sldId id="261" r:id="rId3"/>
    <p:sldId id="380" r:id="rId4"/>
    <p:sldId id="381" r:id="rId5"/>
    <p:sldId id="382" r:id="rId6"/>
    <p:sldId id="383" r:id="rId7"/>
    <p:sldId id="384" r:id="rId8"/>
    <p:sldId id="385" r:id="rId9"/>
    <p:sldId id="386" r:id="rId10"/>
    <p:sldId id="387" r:id="rId11"/>
    <p:sldId id="388" r:id="rId12"/>
    <p:sldId id="389" r:id="rId13"/>
    <p:sldId id="395" r:id="rId14"/>
    <p:sldId id="393" r:id="rId15"/>
    <p:sldId id="396" r:id="rId16"/>
    <p:sldId id="398" r:id="rId17"/>
    <p:sldId id="363" r:id="rId18"/>
    <p:sldId id="364" r:id="rId19"/>
    <p:sldId id="365" r:id="rId20"/>
    <p:sldId id="366" r:id="rId21"/>
    <p:sldId id="367" r:id="rId22"/>
    <p:sldId id="368" r:id="rId23"/>
    <p:sldId id="371" r:id="rId24"/>
    <p:sldId id="369" r:id="rId25"/>
    <p:sldId id="370" r:id="rId26"/>
    <p:sldId id="390" r:id="rId27"/>
    <p:sldId id="391" r:id="rId28"/>
    <p:sldId id="373" r:id="rId29"/>
    <p:sldId id="374" r:id="rId30"/>
    <p:sldId id="375" r:id="rId31"/>
    <p:sldId id="376" r:id="rId32"/>
    <p:sldId id="377" r:id="rId33"/>
    <p:sldId id="378" r:id="rId34"/>
    <p:sldId id="397" r:id="rId35"/>
    <p:sldId id="392" r:id="rId36"/>
    <p:sldId id="394" r:id="rId37"/>
    <p:sldId id="400" r:id="rId38"/>
    <p:sldId id="399" r:id="rId39"/>
    <p:sldId id="401" r:id="rId40"/>
    <p:sldId id="272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9E53E1-CEB2-494C-8775-D8A99ED827E9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7A4238-B7B9-460B-BE74-ADFB88CFFB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9046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EA38-8D09-4040-A9B0-3F77DCDCC836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A373-3783-415D-A360-F08463BF1C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7168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EA38-8D09-4040-A9B0-3F77DCDCC836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A373-3783-415D-A360-F08463BF1C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5581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EA38-8D09-4040-A9B0-3F77DCDCC836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A373-3783-415D-A360-F08463BF1C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5803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EA38-8D09-4040-A9B0-3F77DCDCC836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A373-3783-415D-A360-F08463BF1C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0601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EA38-8D09-4040-A9B0-3F77DCDCC836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A373-3783-415D-A360-F08463BF1C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2025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EA38-8D09-4040-A9B0-3F77DCDCC836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A373-3783-415D-A360-F08463BF1C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1554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EA38-8D09-4040-A9B0-3F77DCDCC836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A373-3783-415D-A360-F08463BF1C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3544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EA38-8D09-4040-A9B0-3F77DCDCC836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A373-3783-415D-A360-F08463BF1C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6162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EA38-8D09-4040-A9B0-3F77DCDCC836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A373-3783-415D-A360-F08463BF1C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4039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EA38-8D09-4040-A9B0-3F77DCDCC836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A373-3783-415D-A360-F08463BF1C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1607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EA38-8D09-4040-A9B0-3F77DCDCC836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A373-3783-415D-A360-F08463BF1C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3692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F1EA38-8D09-4040-A9B0-3F77DCDCC836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EDA373-3783-415D-A360-F08463BF1C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4215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Zulfiqar.rafique@nu.edu.p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Compiler Construction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Teacher : Zulfiqar Ali</a:t>
            </a:r>
          </a:p>
          <a:p>
            <a:r>
              <a:rPr lang="en-GB" dirty="0"/>
              <a:t>Email: </a:t>
            </a:r>
            <a:r>
              <a:rPr lang="en-GB" dirty="0">
                <a:hlinkClick r:id="rId2"/>
              </a:rPr>
              <a:t>Zulfiqar.rafique@nu.edu.pk</a:t>
            </a:r>
            <a:endParaRPr lang="en-GB" dirty="0"/>
          </a:p>
          <a:p>
            <a:r>
              <a:rPr lang="en-GB" dirty="0"/>
              <a:t>Office: No.6,Basement -1 (CS Block 1)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88578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Week 6: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  <a:p>
            <a:r>
              <a:rPr lang="en-GB" dirty="0"/>
              <a:t>Recursive Decent Parsing</a:t>
            </a:r>
          </a:p>
          <a:p>
            <a:r>
              <a:rPr lang="en-GB" dirty="0"/>
              <a:t>Non-Recursive Descent Parser - LL(1) Parser</a:t>
            </a:r>
          </a:p>
        </p:txBody>
      </p:sp>
    </p:spTree>
    <p:extLst>
      <p:ext uri="{BB962C8B-B14F-4D97-AF65-F5344CB8AC3E}">
        <p14:creationId xmlns:p14="http://schemas.microsoft.com/office/powerpoint/2010/main" val="3566267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E3445-8182-7965-C83E-53D7E9EF4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Descent Parser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CB52F-F461-7270-7A9F-72F90BDE3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recursive descent parser is a top-down parser </a:t>
            </a:r>
          </a:p>
          <a:p>
            <a:r>
              <a:rPr lang="en-US" dirty="0"/>
              <a:t>It processes input based on a set of recursive functions.</a:t>
            </a:r>
          </a:p>
          <a:p>
            <a:r>
              <a:rPr lang="en-US" dirty="0"/>
              <a:t>Where each function corresponds to a grammar rule. </a:t>
            </a:r>
          </a:p>
          <a:p>
            <a:r>
              <a:rPr lang="en-US" dirty="0"/>
              <a:t>It parses the input from left to right, constructing a parse tree by matching the grammar's production rules.  </a:t>
            </a:r>
          </a:p>
          <a:p>
            <a:r>
              <a:rPr lang="en-US" dirty="0"/>
              <a:t>This parser is simple to implement and is suitable for LL(1) grammars.</a:t>
            </a:r>
          </a:p>
          <a:p>
            <a:r>
              <a:rPr lang="en-US" dirty="0"/>
              <a:t> where decisions can be made based on a single lookahead token.</a:t>
            </a:r>
          </a:p>
        </p:txBody>
      </p:sp>
    </p:spTree>
    <p:extLst>
      <p:ext uri="{BB962C8B-B14F-4D97-AF65-F5344CB8AC3E}">
        <p14:creationId xmlns:p14="http://schemas.microsoft.com/office/powerpoint/2010/main" val="386830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6CE54-B639-D069-C2FE-2D7CB1FD9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for Recursive Descent Parser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6DF53-62E9-9FAF-3960-513989303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P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3E3BEE-2997-719E-66CD-7437A35D6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5369" y="1415323"/>
            <a:ext cx="9551218" cy="5087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88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67270-5CFF-2D9A-FEB2-A543F4CD4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Descent Parser Pseudocode 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6BE74-3F35-6DF7-B4CD-FEC7DC052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0CA018-0593-27DC-1CC1-5F099E2624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073651" y="1027906"/>
            <a:ext cx="8260081" cy="517796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4DFE048-02DE-C0EE-373B-FBE418CDBF6C}"/>
              </a:ext>
            </a:extLst>
          </p:cNvPr>
          <p:cNvSpPr/>
          <p:nvPr/>
        </p:nvSpPr>
        <p:spPr>
          <a:xfrm>
            <a:off x="6671967" y="1690688"/>
            <a:ext cx="2426314" cy="34083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/>
              <a:t>E → TE’</a:t>
            </a:r>
          </a:p>
          <a:p>
            <a:r>
              <a:rPr lang="en-US" sz="2400" dirty="0"/>
              <a:t>E’ → + TE’ / ∈</a:t>
            </a:r>
          </a:p>
          <a:p>
            <a:r>
              <a:rPr lang="en-US" sz="2400" dirty="0"/>
              <a:t>T → FT’</a:t>
            </a:r>
          </a:p>
          <a:p>
            <a:r>
              <a:rPr lang="en-US" sz="2400" dirty="0"/>
              <a:t>T’ → x FT’ / ∈</a:t>
            </a:r>
          </a:p>
          <a:p>
            <a:r>
              <a:rPr lang="en-US" sz="2400" dirty="0"/>
              <a:t>F → (E) / </a:t>
            </a:r>
            <a:r>
              <a:rPr lang="en-US" sz="2400" dirty="0" err="1"/>
              <a:t>id|num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4</a:t>
            </a:r>
            <a:r>
              <a:rPr lang="en-US" sz="2400" b="1" dirty="0"/>
              <a:t>+</a:t>
            </a:r>
            <a:r>
              <a:rPr lang="en-US" sz="2400" dirty="0"/>
              <a:t> 9</a:t>
            </a:r>
          </a:p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30779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980C3-CB29-98E4-B163-935F9953F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Descent Parser Pseudocode 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5B688-8FF2-E489-B5BF-AC527E4BDC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02D45B-CEF2-B830-851A-3FC6A14C0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589088"/>
            <a:ext cx="8728869" cy="446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493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F81DF-1E59-C925-3FEC-4FEC5683A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Descent Parser Pseudocode 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A774C-E976-C23F-FAA0-53F27AD21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62EB83-1F1E-72D3-2A9D-AA38A6431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81807" y="1521783"/>
            <a:ext cx="10509293" cy="458097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34AE3C8-B790-2177-44A1-0BC5B47F7DB0}"/>
              </a:ext>
            </a:extLst>
          </p:cNvPr>
          <p:cNvSpPr/>
          <p:nvPr/>
        </p:nvSpPr>
        <p:spPr>
          <a:xfrm>
            <a:off x="6707526" y="2108087"/>
            <a:ext cx="2426314" cy="34083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/>
              <a:t>E → TE’</a:t>
            </a:r>
          </a:p>
          <a:p>
            <a:r>
              <a:rPr lang="en-US" sz="2400" dirty="0"/>
              <a:t>E’ → + TE’ / ∈</a:t>
            </a:r>
          </a:p>
          <a:p>
            <a:r>
              <a:rPr lang="en-US" sz="2400" dirty="0"/>
              <a:t>T → FT’</a:t>
            </a:r>
          </a:p>
          <a:p>
            <a:r>
              <a:rPr lang="en-US" sz="2400" dirty="0"/>
              <a:t>T’ → x FT’ / ∈</a:t>
            </a:r>
          </a:p>
          <a:p>
            <a:r>
              <a:rPr lang="en-US" sz="2400" dirty="0"/>
              <a:t>F → (E) / </a:t>
            </a:r>
            <a:r>
              <a:rPr lang="en-US" sz="2400" dirty="0" err="1"/>
              <a:t>id|num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4</a:t>
            </a:r>
            <a:r>
              <a:rPr lang="en-US" sz="2400" b="1" dirty="0"/>
              <a:t>+</a:t>
            </a:r>
            <a:r>
              <a:rPr lang="en-US" sz="2400" dirty="0"/>
              <a:t> 9</a:t>
            </a:r>
          </a:p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01251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D2BEB4B-F8F6-641B-003B-B305EE4554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49461" y="2227592"/>
            <a:ext cx="9674360" cy="39167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86C071-A74D-D9DF-497B-1947A2ED4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(Recursive Descent Grammar)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BED30-31D3-DA6F-21FE-BE9E268AA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899" y="-2318955"/>
            <a:ext cx="10515600" cy="4351338"/>
          </a:xfrm>
        </p:spPr>
        <p:txBody>
          <a:bodyPr/>
          <a:lstStyle/>
          <a:p>
            <a:r>
              <a:rPr lang="en-US" dirty="0" err="1"/>
              <a:t>i+i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726143-0088-9001-A7AF-CBA6C3289D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6941" y="1392731"/>
            <a:ext cx="4033940" cy="1279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397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F7109-8CF3-8CF7-9431-A101ED323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AAD5F-0FF4-95DD-055F-B2ABD19945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5C64A5-B80F-D96E-FD3F-054CBC62C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223" y="188330"/>
            <a:ext cx="9456818" cy="630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120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AD61B-3CD8-FC4A-7696-9D20FF991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6631FD-F414-3FE3-F556-37891BF552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6703" y="730102"/>
            <a:ext cx="11449697" cy="5007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611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66172-92C9-1AE6-831D-B6DB07D17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05B7E-5BBD-43E0-EEC7-5B1082C4B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F05AA5-A7D8-1A1E-F4DA-C78C497D8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683" y="903288"/>
            <a:ext cx="11258633" cy="5283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0463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6BD54-D310-ACEC-DD21-815AEA442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Non-Recursive Descent Parser (Table Driven)/Predictive Parser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CF64E-D6BA-F93E-8932-96A247499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This type of parser is more often generated by a parser generator (like </a:t>
            </a:r>
            <a:r>
              <a:rPr lang="en-US" dirty="0" err="1"/>
              <a:t>yacc</a:t>
            </a:r>
            <a:r>
              <a:rPr lang="en-US" dirty="0"/>
              <a:t> or bison).</a:t>
            </a:r>
          </a:p>
          <a:p>
            <a:r>
              <a:rPr lang="en-US" dirty="0"/>
              <a:t>It uses two main data structures:</a:t>
            </a:r>
          </a:p>
          <a:p>
            <a:r>
              <a:rPr lang="en-US" dirty="0"/>
              <a:t>An </a:t>
            </a:r>
            <a:r>
              <a:rPr lang="en-US" b="1" dirty="0"/>
              <a:t>input buffer</a:t>
            </a:r>
            <a:r>
              <a:rPr lang="en-US" dirty="0"/>
              <a:t> containing the tokens to be parsed.</a:t>
            </a:r>
          </a:p>
          <a:p>
            <a:r>
              <a:rPr lang="en-US" dirty="0"/>
              <a:t>A </a:t>
            </a:r>
            <a:r>
              <a:rPr lang="en-US" b="1" dirty="0"/>
              <a:t>stack</a:t>
            </a:r>
            <a:r>
              <a:rPr lang="en-US" dirty="0"/>
              <a:t> (which you manage in your code) that holds grammar symbols (both terminals and non-terminals).</a:t>
            </a:r>
          </a:p>
          <a:p>
            <a:r>
              <a:rPr lang="en-US" dirty="0"/>
              <a:t>A </a:t>
            </a:r>
            <a:r>
              <a:rPr lang="en-US" b="1" dirty="0"/>
              <a:t>parsing table</a:t>
            </a:r>
            <a:r>
              <a:rPr lang="en-US" dirty="0"/>
              <a:t> (a 2D array) that tells the parser what grammar rule to apply based on the current symbol on the stack and the next input token.</a:t>
            </a:r>
          </a:p>
          <a:p>
            <a:endParaRPr lang="en-US" dirty="0"/>
          </a:p>
          <a:p>
            <a:r>
              <a:rPr lang="en-US" dirty="0"/>
              <a:t>The grammar should be passed by LL(1) grammar</a:t>
            </a:r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2232453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45E7C-E46B-4955-80E3-1344EE838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531CB-68D2-836C-9E29-AE97F515C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3BF9A8-2161-3343-490B-D6F518475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18434"/>
            <a:ext cx="9762145" cy="2021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3597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F7D9A-B718-C57C-5496-942B29799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CDA93-2D86-1E8C-381F-0568DEACA2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28AD30-513E-141D-F638-A67835F3F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145" y="681036"/>
            <a:ext cx="8121349" cy="51046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978C2A-2768-5991-F406-5293B4FB0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425" y="876689"/>
            <a:ext cx="8121349" cy="5104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2654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0DF0-9AB1-0E9C-36CE-484290C28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Non-Recursive Descent – Method(function)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D57AE-8717-BDE5-02B8-A7597E777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C7E7EE-D657-3F0A-E94E-7995A6C1E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9639"/>
            <a:ext cx="10785849" cy="5304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9095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4899B-6ACC-4640-88F7-D3DDA3E40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F64C2-999C-4B9F-BD37-8545BF74F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0978E8-7792-D70E-7639-6FE4C6752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432" y="1166617"/>
            <a:ext cx="11580568" cy="2577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2512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LL(1) Parsing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58" y="1445689"/>
            <a:ext cx="9241211" cy="4529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1708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Essential conditions for LL(1)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grammar is free from left recursion.</a:t>
            </a:r>
          </a:p>
          <a:p>
            <a:r>
              <a:rPr lang="en-GB" dirty="0"/>
              <a:t>The grammar should not be ambiguous.</a:t>
            </a:r>
          </a:p>
          <a:p>
            <a:r>
              <a:rPr lang="en-GB" dirty="0"/>
              <a:t>The grammar has to be left factored in so that the grammar is deterministic grammar.</a:t>
            </a:r>
          </a:p>
          <a:p>
            <a:r>
              <a:rPr lang="en-GB" dirty="0"/>
              <a:t>Find First() and Follow() of the Grammar</a:t>
            </a:r>
          </a:p>
          <a:p>
            <a:r>
              <a:rPr lang="en-GB" dirty="0"/>
              <a:t>Creating LL(1) Parsing Table </a:t>
            </a: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494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Algorithm to construct LL(1) Parsing Table</a:t>
            </a:r>
            <a:r>
              <a:rPr lang="en-GB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Step 1: </a:t>
            </a:r>
            <a:r>
              <a:rPr lang="en-GB" dirty="0"/>
              <a:t>First check all the essential conditions</a:t>
            </a:r>
          </a:p>
          <a:p>
            <a:r>
              <a:rPr lang="en-GB" dirty="0"/>
              <a:t>mentioned above and go to step 2.</a:t>
            </a:r>
          </a:p>
          <a:p>
            <a:r>
              <a:rPr lang="en-GB" dirty="0"/>
              <a:t>• </a:t>
            </a:r>
            <a:r>
              <a:rPr lang="en-GB" b="1" dirty="0"/>
              <a:t>Step 2: </a:t>
            </a:r>
            <a:r>
              <a:rPr lang="en-GB" dirty="0"/>
              <a:t>Calculate First() and Follow() for all</a:t>
            </a:r>
          </a:p>
          <a:p>
            <a:r>
              <a:rPr lang="en-GB" dirty="0"/>
              <a:t>non-terminals.</a:t>
            </a:r>
          </a:p>
          <a:p>
            <a:r>
              <a:rPr lang="en-GB" dirty="0"/>
              <a:t>• </a:t>
            </a:r>
            <a:r>
              <a:rPr lang="en-GB" b="1" dirty="0"/>
              <a:t>Step 3: </a:t>
            </a:r>
            <a:r>
              <a:rPr lang="en-GB" dirty="0"/>
              <a:t>Make a parser table.</a:t>
            </a:r>
          </a:p>
          <a:p>
            <a:r>
              <a:rPr lang="en-GB" dirty="0"/>
              <a:t>• </a:t>
            </a:r>
            <a:r>
              <a:rPr lang="en-GB" b="1" dirty="0"/>
              <a:t>Step 4: </a:t>
            </a:r>
            <a:r>
              <a:rPr lang="en-GB" dirty="0"/>
              <a:t>Illustrate LL(1) Parse Tree </a:t>
            </a: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82183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LL(1) Example 1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Let the grammar</a:t>
            </a:r>
          </a:p>
          <a:p>
            <a:r>
              <a:rPr lang="en-GB" dirty="0"/>
              <a:t>– S' → S</a:t>
            </a:r>
          </a:p>
          <a:p>
            <a:r>
              <a:rPr lang="en-GB" dirty="0"/>
              <a:t>S → </a:t>
            </a:r>
            <a:r>
              <a:rPr lang="en-GB" dirty="0" err="1"/>
              <a:t>xYzS</a:t>
            </a:r>
            <a:r>
              <a:rPr lang="en-GB" dirty="0"/>
              <a:t> | a</a:t>
            </a:r>
          </a:p>
          <a:p>
            <a:r>
              <a:rPr lang="en-GB" dirty="0"/>
              <a:t>Y → </a:t>
            </a:r>
            <a:r>
              <a:rPr lang="en-GB" dirty="0" err="1"/>
              <a:t>xYz</a:t>
            </a:r>
            <a:r>
              <a:rPr lang="en-GB" dirty="0"/>
              <a:t> | y</a:t>
            </a:r>
          </a:p>
          <a:p>
            <a:r>
              <a:rPr lang="en-GB" dirty="0"/>
              <a:t>• This grammar is satisfying conditions, Not-Left Recursive, Left Factored,</a:t>
            </a:r>
          </a:p>
          <a:p>
            <a:r>
              <a:rPr lang="en-GB" dirty="0"/>
              <a:t>we will need to find First() and Follow() and then Parse Table </a:t>
            </a: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33988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557F942-A7CC-CB4D-9B33-750093AADE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9323993"/>
              </p:ext>
            </p:extLst>
          </p:nvPr>
        </p:nvGraphicFramePr>
        <p:xfrm>
          <a:off x="-1471837" y="747334"/>
          <a:ext cx="10515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357351506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75635935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32002939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66219904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90220375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0508663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z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7438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S’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S’-&gt;S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S’-&gt;S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5514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S-&gt;</a:t>
                      </a:r>
                      <a:r>
                        <a:rPr lang="en-US" dirty="0" err="1"/>
                        <a:t>xYzS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S-&gt;a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362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Y-&gt;</a:t>
                      </a:r>
                      <a:r>
                        <a:rPr lang="en-US" dirty="0" err="1"/>
                        <a:t>xYz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Y-&gt;y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2860744"/>
                  </a:ext>
                </a:extLst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 b="48933"/>
          <a:stretch>
            <a:fillRect/>
          </a:stretch>
        </p:blipFill>
        <p:spPr>
          <a:xfrm>
            <a:off x="-1471837" y="-1604328"/>
            <a:ext cx="8859427" cy="235166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8852" y="-950754"/>
            <a:ext cx="2533650" cy="1476375"/>
          </a:xfrm>
          <a:prstGeom prst="rect">
            <a:avLst/>
          </a:prstGeom>
        </p:spPr>
      </p:pic>
      <p:graphicFrame>
        <p:nvGraphicFramePr>
          <p:cNvPr id="7" name="Content Placeholder 5">
            <a:extLst>
              <a:ext uri="{FF2B5EF4-FFF2-40B4-BE49-F238E27FC236}">
                <a16:creationId xmlns:a16="http://schemas.microsoft.com/office/drawing/2014/main" id="{CE2C9433-82C2-4734-3B9D-39D4FE1C941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35930305"/>
              </p:ext>
            </p:extLst>
          </p:nvPr>
        </p:nvGraphicFramePr>
        <p:xfrm>
          <a:off x="-1259840" y="2271334"/>
          <a:ext cx="8430246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7712">
                  <a:extLst>
                    <a:ext uri="{9D8B030D-6E8A-4147-A177-3AD203B41FA5}">
                      <a16:colId xmlns:a16="http://schemas.microsoft.com/office/drawing/2014/main" val="3573515065"/>
                    </a:ext>
                  </a:extLst>
                </a:gridCol>
                <a:gridCol w="1747253">
                  <a:extLst>
                    <a:ext uri="{9D8B030D-6E8A-4147-A177-3AD203B41FA5}">
                      <a16:colId xmlns:a16="http://schemas.microsoft.com/office/drawing/2014/main" val="1756359350"/>
                    </a:ext>
                  </a:extLst>
                </a:gridCol>
                <a:gridCol w="4145281">
                  <a:extLst>
                    <a:ext uri="{9D8B030D-6E8A-4147-A177-3AD203B41FA5}">
                      <a16:colId xmlns:a16="http://schemas.microsoft.com/office/drawing/2014/main" val="3320029392"/>
                    </a:ext>
                  </a:extLst>
                </a:gridCol>
              </a:tblGrid>
              <a:tr h="363600">
                <a:tc>
                  <a:txBody>
                    <a:bodyPr/>
                    <a:lstStyle/>
                    <a:p>
                      <a:r>
                        <a:rPr lang="en-US" dirty="0"/>
                        <a:t>Stack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Action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7438415"/>
                  </a:ext>
                </a:extLst>
              </a:tr>
              <a:tr h="363600">
                <a:tc>
                  <a:txBody>
                    <a:bodyPr/>
                    <a:lstStyle/>
                    <a:p>
                      <a:r>
                        <a:rPr lang="en-US" dirty="0"/>
                        <a:t>$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xxyzza</a:t>
                      </a:r>
                      <a:r>
                        <a:rPr lang="en-US" dirty="0"/>
                        <a:t>$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Push S’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5514454"/>
                  </a:ext>
                </a:extLst>
              </a:tr>
              <a:tr h="363600">
                <a:tc>
                  <a:txBody>
                    <a:bodyPr/>
                    <a:lstStyle/>
                    <a:p>
                      <a:r>
                        <a:rPr lang="en-US" dirty="0"/>
                        <a:t>$S’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xxyzza</a:t>
                      </a:r>
                      <a:r>
                        <a:rPr lang="en-US" dirty="0"/>
                        <a:t>$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Pop S’ and Push its rule in revere order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362109"/>
                  </a:ext>
                </a:extLst>
              </a:tr>
              <a:tr h="246186">
                <a:tc>
                  <a:txBody>
                    <a:bodyPr/>
                    <a:lstStyle/>
                    <a:p>
                      <a:r>
                        <a:rPr lang="en-US" dirty="0"/>
                        <a:t>$S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xxyzza</a:t>
                      </a:r>
                      <a:r>
                        <a:rPr lang="en-US" dirty="0"/>
                        <a:t>$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Pop S and Push its rule in reverse order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2860744"/>
                  </a:ext>
                </a:extLst>
              </a:tr>
              <a:tr h="363600">
                <a:tc>
                  <a:txBody>
                    <a:bodyPr/>
                    <a:lstStyle/>
                    <a:p>
                      <a:r>
                        <a:rPr lang="en-US" dirty="0"/>
                        <a:t>$</a:t>
                      </a:r>
                      <a:r>
                        <a:rPr lang="en-US" dirty="0" err="1"/>
                        <a:t>SzYx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xxyzza</a:t>
                      </a:r>
                      <a:r>
                        <a:rPr lang="en-US" dirty="0"/>
                        <a:t>$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Pop x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7529141"/>
                  </a:ext>
                </a:extLst>
              </a:tr>
              <a:tr h="363600">
                <a:tc>
                  <a:txBody>
                    <a:bodyPr/>
                    <a:lstStyle/>
                    <a:p>
                      <a:r>
                        <a:rPr lang="en-US" dirty="0"/>
                        <a:t>$</a:t>
                      </a:r>
                      <a:r>
                        <a:rPr lang="en-US" dirty="0" err="1"/>
                        <a:t>SzY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xyzza</a:t>
                      </a:r>
                      <a:r>
                        <a:rPr lang="en-US" dirty="0"/>
                        <a:t>$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POP Y and its push its rule reverse order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666849"/>
                  </a:ext>
                </a:extLst>
              </a:tr>
              <a:tr h="363600">
                <a:tc>
                  <a:txBody>
                    <a:bodyPr/>
                    <a:lstStyle/>
                    <a:p>
                      <a:r>
                        <a:rPr lang="en-US" dirty="0"/>
                        <a:t>$</a:t>
                      </a:r>
                      <a:r>
                        <a:rPr lang="en-US" dirty="0" err="1"/>
                        <a:t>SzzYx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xyzza</a:t>
                      </a:r>
                      <a:r>
                        <a:rPr lang="en-US" dirty="0"/>
                        <a:t>$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Pop x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178151"/>
                  </a:ext>
                </a:extLst>
              </a:tr>
              <a:tr h="363600">
                <a:tc>
                  <a:txBody>
                    <a:bodyPr/>
                    <a:lstStyle/>
                    <a:p>
                      <a:r>
                        <a:rPr lang="en-US" dirty="0"/>
                        <a:t>$</a:t>
                      </a:r>
                      <a:r>
                        <a:rPr lang="en-US" dirty="0" err="1"/>
                        <a:t>SzzY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yzza</a:t>
                      </a:r>
                      <a:r>
                        <a:rPr lang="en-US" dirty="0"/>
                        <a:t>$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Pop Y and push its rule Y-&gt;y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598293"/>
                  </a:ext>
                </a:extLst>
              </a:tr>
              <a:tr h="363600">
                <a:tc>
                  <a:txBody>
                    <a:bodyPr/>
                    <a:lstStyle/>
                    <a:p>
                      <a:r>
                        <a:rPr lang="en-US" dirty="0"/>
                        <a:t>$</a:t>
                      </a:r>
                      <a:r>
                        <a:rPr lang="en-US" dirty="0" err="1"/>
                        <a:t>Szzy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yzza</a:t>
                      </a:r>
                      <a:r>
                        <a:rPr lang="en-US" dirty="0"/>
                        <a:t>$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Pop y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2093874"/>
                  </a:ext>
                </a:extLst>
              </a:tr>
              <a:tr h="363600">
                <a:tc>
                  <a:txBody>
                    <a:bodyPr/>
                    <a:lstStyle/>
                    <a:p>
                      <a:r>
                        <a:rPr lang="en-US" dirty="0"/>
                        <a:t>$</a:t>
                      </a:r>
                      <a:r>
                        <a:rPr lang="en-US" dirty="0" err="1"/>
                        <a:t>Szz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zza</a:t>
                      </a:r>
                      <a:r>
                        <a:rPr lang="en-US" dirty="0"/>
                        <a:t>$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Pop z  , Pop z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8134153"/>
                  </a:ext>
                </a:extLst>
              </a:tr>
              <a:tr h="363600">
                <a:tc>
                  <a:txBody>
                    <a:bodyPr/>
                    <a:lstStyle/>
                    <a:p>
                      <a:r>
                        <a:rPr lang="en-US" dirty="0"/>
                        <a:t>$S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a$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Pop s and push a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521167"/>
                  </a:ext>
                </a:extLst>
              </a:tr>
              <a:tr h="363600">
                <a:tc>
                  <a:txBody>
                    <a:bodyPr/>
                    <a:lstStyle/>
                    <a:p>
                      <a:r>
                        <a:rPr lang="en-US" dirty="0"/>
                        <a:t>$a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A$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Pop a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9291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21190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766" y="499109"/>
            <a:ext cx="6777262" cy="5270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1376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87" y="538628"/>
            <a:ext cx="10846313" cy="5961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1757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BD268B7-B32E-0C2F-A5CD-67E82764F5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3501206"/>
              </p:ext>
            </p:extLst>
          </p:nvPr>
        </p:nvGraphicFramePr>
        <p:xfrm>
          <a:off x="0" y="3664585"/>
          <a:ext cx="10515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402750537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82268072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82351896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60414425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73844713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9007509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518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S-&gt;</a:t>
                      </a:r>
                      <a:r>
                        <a:rPr lang="en-US" dirty="0" err="1"/>
                        <a:t>aABb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0026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A-&gt;E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A-&gt;c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A-&gt;E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7995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B-&gt;E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B-&gt;d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9999927"/>
                  </a:ext>
                </a:extLst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 b="41308"/>
          <a:stretch>
            <a:fillRect/>
          </a:stretch>
        </p:blipFill>
        <p:spPr>
          <a:xfrm>
            <a:off x="300716" y="0"/>
            <a:ext cx="6354084" cy="188354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2796" y="448924"/>
            <a:ext cx="1981200" cy="146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9316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12" y="365125"/>
            <a:ext cx="10834375" cy="6056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5533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3C749-E845-242A-964B-512736EA7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620EF-58CB-5E40-9878-7775B67CB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149DC4-A13C-096A-5AC5-C737CE4FD9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391" y="365125"/>
            <a:ext cx="11157169" cy="6112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3812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B4C74-8406-9A23-A404-6B52DD4FF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A0A41-063A-207E-4653-AA94866D4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D6B8E6-826D-3E54-CFDA-219D04330E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364" y="514229"/>
            <a:ext cx="10025596" cy="5618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1929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63179" y="3429000"/>
            <a:ext cx="6769158" cy="36312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A28B88-49D2-09A9-C606-5B72051807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99140" y="217183"/>
            <a:ext cx="5740099" cy="32168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6E06322-12F6-74A4-090F-7F2873C3CC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5979" y="0"/>
            <a:ext cx="6853381" cy="3754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2136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203" y="666339"/>
            <a:ext cx="10079868" cy="5637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582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14" y="365125"/>
            <a:ext cx="10767306" cy="5950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2716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099" y="245968"/>
            <a:ext cx="10756583" cy="5957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3467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5119"/>
            <a:ext cx="10527084" cy="586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1316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10510122" cy="581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9355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D1C97-A6AD-27D3-4DE9-6DFC92842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90BCF-D8DF-382E-D098-0D2E09895D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23CF20-17F0-DA03-60EB-D8DE3B363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491" y="0"/>
            <a:ext cx="9009017" cy="668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4964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42ECF-6724-A4CB-8C35-2C5E9BF90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 Between Recursive &amp; Non-Recursive.  (Top Down Parsers)</a:t>
            </a:r>
            <a:endParaRPr lang="en-PK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45118BA-EF5C-B36C-086D-E08BAD3832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7361173"/>
              </p:ext>
            </p:extLst>
          </p:nvPr>
        </p:nvGraphicFramePr>
        <p:xfrm>
          <a:off x="838200" y="1567411"/>
          <a:ext cx="10515600" cy="499768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23377207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76111546"/>
                    </a:ext>
                  </a:extLst>
                </a:gridCol>
              </a:tblGrid>
              <a:tr h="554443"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1">
                          <a:effectLst/>
                        </a:rPr>
                        <a:t>Recursive Predictive Descent Parser</a:t>
                      </a:r>
                    </a:p>
                  </a:txBody>
                  <a:tcPr marL="38100" marR="38100" marT="63500" marB="63500" anchor="ctr"/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1" dirty="0">
                          <a:effectLst/>
                        </a:rPr>
                        <a:t>Non-Recursive Predictive Descent Parser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3951533724"/>
                  </a:ext>
                </a:extLst>
              </a:tr>
              <a:tr h="599957"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US" sz="2000" b="0" dirty="0">
                          <a:effectLst/>
                        </a:rPr>
                        <a:t>It is a technique which may or may not require backtracking process.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US" sz="2000" b="0">
                          <a:effectLst/>
                        </a:rPr>
                        <a:t>It is a technique that does not require any kind of backtracking.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441614257"/>
                  </a:ext>
                </a:extLst>
              </a:tr>
              <a:tr h="599957"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US" sz="2000" b="0">
                          <a:effectLst/>
                        </a:rPr>
                        <a:t>It uses procedures for every non-terminal entity to parse strings.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US" sz="2000" b="0">
                          <a:effectLst/>
                        </a:rPr>
                        <a:t>It finds out productions to use by replacing input string.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513540378"/>
                  </a:ext>
                </a:extLst>
              </a:tr>
              <a:tr h="1220602"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US" sz="2000" b="0" dirty="0">
                          <a:effectLst/>
                        </a:rPr>
                        <a:t>It is built from a set of mutually recursive procedures where each procedure implements one of non-terminal s of grammar.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US" sz="2000" b="0">
                          <a:effectLst/>
                        </a:rPr>
                        <a:t>It is a type of top-down approach, which is also a type of recursive parsing that does not uses technique of backtracking.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879069862"/>
                  </a:ext>
                </a:extLst>
              </a:tr>
              <a:tr h="1220602"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US" sz="2000" b="0" dirty="0">
                          <a:effectLst/>
                        </a:rPr>
                        <a:t>It contains several small functions one for each non- terminals in grammar.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US" sz="2000" b="0" dirty="0">
                          <a:effectLst/>
                        </a:rPr>
                        <a:t>It uses a look ahead pointer which points to next input symbols to make it parser back tracking free, it puts some constraints on grammar.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690044499"/>
                  </a:ext>
                </a:extLst>
              </a:tr>
              <a:tr h="599957"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US" sz="2000" b="0">
                          <a:effectLst/>
                        </a:rPr>
                        <a:t>It accepts all kinds of grammars.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0" dirty="0">
                          <a:effectLst/>
                        </a:rPr>
                        <a:t>It accepts LL(k) grammar type of grammar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7446664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2255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F8CF4-18D2-1400-5D33-01343424F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532AE-8CA8-C243-B1B7-69900F7CA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C36378-D4BD-A11B-7FD2-38C5C42DF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429" y="1201160"/>
            <a:ext cx="11565592" cy="3852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0602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DDF09-89C7-B72F-291E-B0943166E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Types of Errors Handling in Predictive Parsing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E8187-407C-4D5E-63AE-156937F36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Panic Mode</a:t>
            </a:r>
          </a:p>
          <a:p>
            <a:r>
              <a:rPr lang="en-US" dirty="0"/>
              <a:t>Phrase Mode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8200067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17872-7C52-253B-0B55-16B7944B1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Panic Mode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067A7-D83E-AA63-7350-D2A99922F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Panic mode is the skipping over symbols on the input until a token in a selected set of synchronizing tokens appears. </a:t>
            </a:r>
          </a:p>
          <a:p>
            <a:r>
              <a:rPr lang="en-US" dirty="0" err="1"/>
              <a:t>efectiveness</a:t>
            </a:r>
            <a:r>
              <a:rPr lang="en-US" dirty="0"/>
              <a:t> depends on the choice of synchronizing set.</a:t>
            </a:r>
          </a:p>
          <a:p>
            <a:r>
              <a:rPr lang="en-US" dirty="0"/>
              <a:t> The sets should be chosen so that the parser recovers quickly from errors that are likely to </a:t>
            </a:r>
            <a:r>
              <a:rPr lang="en-US" dirty="0" err="1"/>
              <a:t>occurin</a:t>
            </a:r>
            <a:r>
              <a:rPr lang="en-US" dirty="0"/>
              <a:t> practice. Some heuristics are as follows: </a:t>
            </a:r>
          </a:p>
          <a:p>
            <a:pPr lvl="1"/>
            <a:r>
              <a:rPr lang="en-US" dirty="0"/>
              <a:t>Pop Non-terminal from the Stack</a:t>
            </a:r>
          </a:p>
          <a:p>
            <a:pPr lvl="1"/>
            <a:r>
              <a:rPr lang="en-US" dirty="0"/>
              <a:t>Discard/remove terminal from the string</a:t>
            </a:r>
          </a:p>
          <a:p>
            <a:pPr lvl="1"/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5370139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87A17-0588-A6FE-B044-B8EF55E31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70F6A-E5D6-3DD8-7B82-26A033016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734AC2-1CC3-8B3B-38B0-420488846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95" y="681037"/>
            <a:ext cx="11858009" cy="5240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3523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r>
              <a:rPr lang="en-GB" dirty="0"/>
              <a:t>Compilers: Principles, Techniques, and Tools 2nd Edition</a:t>
            </a:r>
            <a:br>
              <a:rPr lang="en-GB" dirty="0"/>
            </a:br>
            <a:r>
              <a:rPr lang="en-GB" dirty="0"/>
              <a:t> by Alfred </a:t>
            </a:r>
            <a:r>
              <a:rPr lang="en-GB" dirty="0" err="1"/>
              <a:t>Aho</a:t>
            </a:r>
            <a:r>
              <a:rPr lang="en-GB" dirty="0"/>
              <a:t> , Jeffrey Ullman, Ravi </a:t>
            </a:r>
            <a:r>
              <a:rPr lang="en-GB" dirty="0" err="1"/>
              <a:t>Sethi</a:t>
            </a:r>
            <a:r>
              <a:rPr lang="en-GB" dirty="0"/>
              <a:t>, Monica Lam</a:t>
            </a:r>
          </a:p>
          <a:p>
            <a:endParaRPr lang="en-GB" dirty="0"/>
          </a:p>
          <a:p>
            <a:r>
              <a:rPr lang="en-GB" dirty="0"/>
              <a:t>Introduction to Compilers and Language Design | Second Edition | </a:t>
            </a:r>
            <a:r>
              <a:rPr lang="en-GB" dirty="0" err="1"/>
              <a:t>Prof.</a:t>
            </a:r>
            <a:r>
              <a:rPr lang="en-GB" dirty="0"/>
              <a:t> Douglas </a:t>
            </a:r>
            <a:r>
              <a:rPr lang="en-GB" dirty="0" err="1"/>
              <a:t>Thain</a:t>
            </a:r>
            <a:r>
              <a:rPr lang="en-GB" dirty="0"/>
              <a:t> - University of Notre Dame </a:t>
            </a: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04787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42003</TotalTime>
  <Words>971</Words>
  <Application>Microsoft Office PowerPoint</Application>
  <PresentationFormat>Widescreen</PresentationFormat>
  <Paragraphs>158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Arial</vt:lpstr>
      <vt:lpstr>Calibri</vt:lpstr>
      <vt:lpstr>Calibri Light</vt:lpstr>
      <vt:lpstr>Office Theme</vt:lpstr>
      <vt:lpstr>Compiler Construction</vt:lpstr>
      <vt:lpstr>Week 6:</vt:lpstr>
      <vt:lpstr>Recursive Descent Parser</vt:lpstr>
      <vt:lpstr>Algorithm for Recursive Descent Parser</vt:lpstr>
      <vt:lpstr>Recursive Descent Parser Pseudocode </vt:lpstr>
      <vt:lpstr>Recursive Descent Parser Pseudocode </vt:lpstr>
      <vt:lpstr>Recursive Descent Parser Pseudocode </vt:lpstr>
      <vt:lpstr>Example (Recursive Descent Grammar)</vt:lpstr>
      <vt:lpstr>PowerPoint Presentation</vt:lpstr>
      <vt:lpstr>PowerPoint Presentation</vt:lpstr>
      <vt:lpstr>PowerPoint Presentation</vt:lpstr>
      <vt:lpstr>Non-Recursive Descent Parser (Table Driven)/Predictive Parser</vt:lpstr>
      <vt:lpstr>PowerPoint Presentation</vt:lpstr>
      <vt:lpstr>PowerPoint Presentation</vt:lpstr>
      <vt:lpstr>Non-Recursive Descent – Method(function)</vt:lpstr>
      <vt:lpstr>PowerPoint Presentation</vt:lpstr>
      <vt:lpstr>LL(1) Parsing</vt:lpstr>
      <vt:lpstr>Essential conditions for LL(1) </vt:lpstr>
      <vt:lpstr>Algorithm to construct LL(1) Parsing Table </vt:lpstr>
      <vt:lpstr>LL(1) Example 1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Difference Between Recursive &amp; Non-Recursive.  (Top Down Parsers)</vt:lpstr>
      <vt:lpstr>PowerPoint Presentation</vt:lpstr>
      <vt:lpstr>Two Types of Errors Handling in Predictive Parsing</vt:lpstr>
      <vt:lpstr>Panic Mode</vt:lpstr>
      <vt:lpstr>PowerPoint Presentation</vt:lpstr>
      <vt:lpstr>Reference: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Compiler Construction</dc:title>
  <dc:creator>Zufiqar Ali</dc:creator>
  <cp:lastModifiedBy>Tesla Laptops</cp:lastModifiedBy>
  <cp:revision>783</cp:revision>
  <dcterms:created xsi:type="dcterms:W3CDTF">2025-08-08T09:42:33Z</dcterms:created>
  <dcterms:modified xsi:type="dcterms:W3CDTF">2026-04-06T09:15:04Z</dcterms:modified>
</cp:coreProperties>
</file>