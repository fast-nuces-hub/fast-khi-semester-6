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61" r:id="rId3"/>
    <p:sldId id="273" r:id="rId4"/>
    <p:sldId id="274" r:id="rId5"/>
    <p:sldId id="275" r:id="rId6"/>
    <p:sldId id="276" r:id="rId7"/>
    <p:sldId id="277" r:id="rId8"/>
    <p:sldId id="278" r:id="rId9"/>
    <p:sldId id="360" r:id="rId10"/>
    <p:sldId id="279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4" r:id="rId24"/>
    <p:sldId id="375" r:id="rId25"/>
    <p:sldId id="377" r:id="rId26"/>
    <p:sldId id="378" r:id="rId27"/>
    <p:sldId id="379" r:id="rId28"/>
    <p:sldId id="380" r:id="rId29"/>
    <p:sldId id="381" r:id="rId30"/>
    <p:sldId id="382" r:id="rId31"/>
    <p:sldId id="399" r:id="rId32"/>
    <p:sldId id="400" r:id="rId33"/>
    <p:sldId id="401" r:id="rId34"/>
    <p:sldId id="402" r:id="rId35"/>
    <p:sldId id="403" r:id="rId36"/>
    <p:sldId id="404" r:id="rId37"/>
    <p:sldId id="405" r:id="rId38"/>
    <p:sldId id="406" r:id="rId39"/>
    <p:sldId id="407" r:id="rId40"/>
    <p:sldId id="383" r:id="rId41"/>
    <p:sldId id="417" r:id="rId42"/>
    <p:sldId id="408" r:id="rId43"/>
    <p:sldId id="373" r:id="rId44"/>
    <p:sldId id="409" r:id="rId45"/>
    <p:sldId id="410" r:id="rId46"/>
    <p:sldId id="376" r:id="rId47"/>
    <p:sldId id="411" r:id="rId48"/>
    <p:sldId id="412" r:id="rId49"/>
    <p:sldId id="413" r:id="rId50"/>
    <p:sldId id="386" r:id="rId51"/>
    <p:sldId id="414" r:id="rId52"/>
    <p:sldId id="415" r:id="rId53"/>
    <p:sldId id="416" r:id="rId54"/>
    <p:sldId id="384" r:id="rId55"/>
    <p:sldId id="387" r:id="rId56"/>
    <p:sldId id="396" r:id="rId57"/>
    <p:sldId id="397" r:id="rId58"/>
    <p:sldId id="398" r:id="rId59"/>
    <p:sldId id="27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>
      <p:cViewPr>
        <p:scale>
          <a:sx n="64" d="100"/>
          <a:sy n="64" d="100"/>
        </p:scale>
        <p:origin x="624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E53E1-CEB2-494C-8775-D8A99ED827E9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A4238-B7B9-460B-BE74-ADFB88CFFB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04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16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58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80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60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025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5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4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6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03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60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69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1EA38-8D09-4040-A9B0-3F77DCDCC836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21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ulfiqar.rafique@nu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Compiler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Teacher : Zulfiqar Ali</a:t>
            </a:r>
          </a:p>
          <a:p>
            <a:r>
              <a:rPr lang="en-GB" dirty="0"/>
              <a:t>Email: </a:t>
            </a:r>
            <a:r>
              <a:rPr lang="en-GB" dirty="0">
                <a:hlinkClick r:id="rId2"/>
              </a:rPr>
              <a:t>Zulfiqar.rafique@nu.edu.pk</a:t>
            </a:r>
            <a:endParaRPr lang="en-GB" dirty="0"/>
          </a:p>
          <a:p>
            <a:r>
              <a:rPr lang="en-GB" dirty="0"/>
              <a:t>Office: No.6,Basement -1 (CS Block 1)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857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Week 7: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Bottom-up Parsing </a:t>
            </a:r>
          </a:p>
          <a:p>
            <a:pPr marL="0" indent="0">
              <a:buNone/>
            </a:pPr>
            <a:r>
              <a:rPr lang="en-GB" dirty="0"/>
              <a:t>Reduction</a:t>
            </a:r>
          </a:p>
          <a:p>
            <a:pPr marL="0" indent="0">
              <a:buNone/>
            </a:pPr>
            <a:r>
              <a:rPr lang="en-GB" dirty="0"/>
              <a:t>Handle Pruning </a:t>
            </a:r>
          </a:p>
          <a:p>
            <a:pPr marL="0" indent="0">
              <a:buNone/>
            </a:pPr>
            <a:r>
              <a:rPr lang="en-GB" dirty="0"/>
              <a:t>Shift Reduce Parsing </a:t>
            </a:r>
          </a:p>
        </p:txBody>
      </p:sp>
    </p:spTree>
    <p:extLst>
      <p:ext uri="{BB962C8B-B14F-4D97-AF65-F5344CB8AC3E}">
        <p14:creationId xmlns:p14="http://schemas.microsoft.com/office/powerpoint/2010/main" val="356626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0F7B3-552C-9EE6-AF04-E23A4895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548"/>
            <a:ext cx="10515600" cy="1325563"/>
          </a:xfrm>
        </p:spPr>
        <p:txBody>
          <a:bodyPr/>
          <a:lstStyle/>
          <a:p>
            <a:r>
              <a:rPr lang="en-US" dirty="0"/>
              <a:t>Bottom Up Parsing 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2004E8-5A76-3290-2CBD-E177DD21F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0180" y="3063752"/>
            <a:ext cx="8385490" cy="37544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48F79A-4C59-791D-F901-293ACB151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20147"/>
            <a:ext cx="9203575" cy="184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9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C1DD-8633-A66A-4D23-718EF3DA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06A30-B32A-B4B9-B9B3-AE8F8F6C6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C8B71-68AB-04C2-92A6-B64616B3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81" y="1825625"/>
            <a:ext cx="10820017" cy="250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7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00990-6A71-3C8E-8FED-63CF755A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 Pruning 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AB9596-E7E5-3EA9-7761-31170DBFF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3681"/>
            <a:ext cx="10919643" cy="419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63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46B3-FE20-7E41-776F-B4EC0C42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 Pruning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5B6EF-2644-0FE1-220F-6491082AC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6EC0F-F07D-4156-AC0C-DE65CAEC2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39" y="2623020"/>
            <a:ext cx="10163774" cy="345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8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8B9B-4E62-DDE7-F998-9507A3DB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Reducing Parsing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EFEB4-A68B-3F1D-B0E5-F686FE85C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9FA96E-4A48-2A25-5C41-219158E31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49" y="1825625"/>
            <a:ext cx="11155123" cy="417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55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1C21-33D7-EB88-A4B2-EB7EFB72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54BBF-B136-0413-0CD0-91373F47F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BA1E3-DEAA-FE0E-50DC-4214E8D69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894" y="462905"/>
            <a:ext cx="9843655" cy="60299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B051E7-9746-E447-5F69-8D5AA5A417B5}"/>
              </a:ext>
            </a:extLst>
          </p:cNvPr>
          <p:cNvSpPr/>
          <p:nvPr/>
        </p:nvSpPr>
        <p:spPr>
          <a:xfrm>
            <a:off x="871451" y="2559334"/>
            <a:ext cx="2493818" cy="24605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Grammar</a:t>
            </a:r>
          </a:p>
          <a:p>
            <a:pPr algn="ctr"/>
            <a:r>
              <a:rPr lang="en-US" dirty="0"/>
              <a:t>E</a:t>
            </a:r>
            <a:r>
              <a:rPr lang="en-US" dirty="0">
                <a:sym typeface="Wingdings" panose="05000000000000000000" pitchFamily="2" charset="2"/>
              </a:rPr>
              <a:t>E+T|T</a:t>
            </a:r>
          </a:p>
          <a:p>
            <a:pPr algn="ctr"/>
            <a:r>
              <a:rPr lang="en-US" dirty="0">
                <a:sym typeface="Wingdings" panose="05000000000000000000" pitchFamily="2" charset="2"/>
              </a:rPr>
              <a:t>TT*F|F</a:t>
            </a:r>
          </a:p>
          <a:p>
            <a:pPr algn="ctr"/>
            <a:r>
              <a:rPr lang="en-US" dirty="0">
                <a:sym typeface="Wingdings" panose="05000000000000000000" pitchFamily="2" charset="2"/>
              </a:rPr>
              <a:t>FID</a:t>
            </a:r>
          </a:p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27512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6" y="-111045"/>
            <a:ext cx="10972800" cy="1143000"/>
          </a:xfrm>
        </p:spPr>
        <p:txBody>
          <a:bodyPr/>
          <a:lstStyle/>
          <a:p>
            <a:r>
              <a:rPr lang="en-US" dirty="0"/>
              <a:t>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61" y="323677"/>
            <a:ext cx="10972800" cy="5237164"/>
          </a:xfrm>
        </p:spPr>
        <p:txBody>
          <a:bodyPr/>
          <a:lstStyle/>
          <a:p>
            <a:r>
              <a:rPr lang="en-US" dirty="0"/>
              <a:t>Consider the following grammar-</a:t>
            </a:r>
          </a:p>
          <a:p>
            <a:r>
              <a:rPr lang="en-US" sz="2400" b="1" dirty="0"/>
              <a:t>E → E – E</a:t>
            </a:r>
            <a:br>
              <a:rPr lang="en-US" sz="2400" b="1" dirty="0"/>
            </a:br>
            <a:r>
              <a:rPr lang="en-US" sz="2400" b="1" dirty="0" err="1"/>
              <a:t>E</a:t>
            </a:r>
            <a:r>
              <a:rPr lang="en-US" sz="2400" b="1" dirty="0"/>
              <a:t> → E x E</a:t>
            </a:r>
            <a:br>
              <a:rPr lang="en-US" sz="2400" b="1" dirty="0"/>
            </a:br>
            <a:r>
              <a:rPr lang="en-US" sz="2400" b="1" dirty="0" err="1"/>
              <a:t>E</a:t>
            </a:r>
            <a:r>
              <a:rPr lang="en-US" sz="2400" b="1" dirty="0"/>
              <a:t> → id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06841"/>
              </p:ext>
            </p:extLst>
          </p:nvPr>
        </p:nvGraphicFramePr>
        <p:xfrm>
          <a:off x="636105" y="2314999"/>
          <a:ext cx="8534403" cy="39907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5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4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Stack 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Input Buffer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Parsing Action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$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id – id x id $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5715" marR="0" indent="-5715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Shift id into stack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$id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 Id x id 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5715" marR="0" indent="-5715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Reduce E-&gt;Id 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 Id x id 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5715" marR="0" indent="-5715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Shift 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$E 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Id x id 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5715" marR="0" indent="-5715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Shift id into stack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$E- id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X id 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5715" marR="0" indent="-5715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Reduce E-&gt;id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$E- 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X id 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5715" marR="0" indent="-5715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Shift x into stack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$E-E x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Id 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5715" marR="0" indent="-5715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Shift id into stack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$E-E x id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5715" marR="0" indent="-5715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Reduce E-&gt;id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$E-Ex 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Reduce </a:t>
                      </a:r>
                      <a:r>
                        <a:rPr lang="en-US" sz="15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ExE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$E-E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Reduce E-&gt;E-E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139700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$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5715" marR="0" indent="-5715" algn="l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851266" y="1249403"/>
            <a:ext cx="7315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Parse the input string id – id x id using a shift-reduce parser.</a:t>
            </a:r>
            <a:endParaRPr lang="en-US" sz="2667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783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3A2B3A-C3AE-9EA6-4612-B34DAA0C3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53" y="3470939"/>
            <a:ext cx="7902267" cy="5268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58DC05-0FF5-9BC8-4533-560D4347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Conflicts in Shift Reduce Parsing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35EE-139F-E3E9-4C62-64D9B09C2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Types of Conflicts</a:t>
            </a:r>
          </a:p>
          <a:p>
            <a:pPr lvl="1"/>
            <a:r>
              <a:rPr lang="en-US" dirty="0"/>
              <a:t>Shift/Reduce conflicts</a:t>
            </a:r>
          </a:p>
          <a:p>
            <a:pPr lvl="1"/>
            <a:r>
              <a:rPr lang="en-US" dirty="0"/>
              <a:t>Reduce/Reduce Conflicts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4CAF6-7FA3-D131-7B2F-BBF29902A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10842832" cy="177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3DE8-66C9-96A3-4502-60F2F901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Reduce Conflicts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3A28C-D4E4-E53E-C9E2-0DF21E385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Grammar</a:t>
            </a:r>
          </a:p>
          <a:p>
            <a:pPr lvl="1"/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aABe</a:t>
            </a:r>
            <a:r>
              <a:rPr lang="en-US" dirty="0">
                <a:sym typeface="Wingdings" panose="05000000000000000000" pitchFamily="2" charset="2"/>
              </a:rPr>
              <a:t>			</a:t>
            </a:r>
            <a:r>
              <a:rPr lang="en-US" dirty="0" err="1">
                <a:sym typeface="Wingdings" panose="05000000000000000000" pitchFamily="2" charset="2"/>
              </a:rPr>
              <a:t>AAbc|b</a:t>
            </a: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Bd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 we are not sure, whether shift or reduce will lead to parse successful </a:t>
            </a:r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0EB92B-7FA0-8210-0C58-1BCDB0336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74380"/>
              </p:ext>
            </p:extLst>
          </p:nvPr>
        </p:nvGraphicFramePr>
        <p:xfrm>
          <a:off x="1332344" y="2766854"/>
          <a:ext cx="10021456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412">
                  <a:extLst>
                    <a:ext uri="{9D8B030D-6E8A-4147-A177-3AD203B41FA5}">
                      <a16:colId xmlns:a16="http://schemas.microsoft.com/office/drawing/2014/main" val="1071691478"/>
                    </a:ext>
                  </a:extLst>
                </a:gridCol>
                <a:gridCol w="1687484">
                  <a:extLst>
                    <a:ext uri="{9D8B030D-6E8A-4147-A177-3AD203B41FA5}">
                      <a16:colId xmlns:a16="http://schemas.microsoft.com/office/drawing/2014/main" val="491633824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044525088"/>
                    </a:ext>
                  </a:extLst>
                </a:gridCol>
                <a:gridCol w="5519651">
                  <a:extLst>
                    <a:ext uri="{9D8B030D-6E8A-4147-A177-3AD203B41FA5}">
                      <a16:colId xmlns:a16="http://schemas.microsoft.com/office/drawing/2014/main" val="912380353"/>
                    </a:ext>
                  </a:extLst>
                </a:gridCol>
              </a:tblGrid>
              <a:tr h="353881">
                <a:tc>
                  <a:txBody>
                    <a:bodyPr/>
                    <a:lstStyle/>
                    <a:p>
                      <a:r>
                        <a:rPr lang="en-US" dirty="0" err="1"/>
                        <a:t>Stact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String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Actoin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Issue/</a:t>
                      </a:r>
                      <a:r>
                        <a:rPr lang="en-US" dirty="0" err="1"/>
                        <a:t>Conflix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241162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abbcde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629105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r>
                        <a:rPr lang="en-US" dirty="0"/>
                        <a:t>$a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bbcde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254925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r>
                        <a:rPr lang="en-US" dirty="0"/>
                        <a:t>$ab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bcde</a:t>
                      </a:r>
                      <a:r>
                        <a:rPr lang="en-US" dirty="0"/>
                        <a:t>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</a:t>
                      </a:r>
                      <a:r>
                        <a:rPr lang="en-US" dirty="0" err="1"/>
                        <a:t>b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A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Here there is a conflict, whether we do shift next string or reduce </a:t>
                      </a:r>
                      <a:r>
                        <a:rPr lang="en-US" dirty="0" err="1"/>
                        <a:t>b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A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736689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r>
                        <a:rPr lang="en-US" dirty="0" err="1"/>
                        <a:t>aA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bcde</a:t>
                      </a:r>
                      <a:r>
                        <a:rPr lang="en-US" dirty="0"/>
                        <a:t>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673962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</a:t>
                      </a:r>
                      <a:r>
                        <a:rPr lang="en-US" dirty="0" err="1"/>
                        <a:t>aA</a:t>
                      </a:r>
                      <a:r>
                        <a:rPr lang="en-US" b="0" dirty="0" err="1"/>
                        <a:t>b</a:t>
                      </a:r>
                      <a:endParaRPr lang="en-PK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cde</a:t>
                      </a:r>
                      <a:r>
                        <a:rPr lang="en-US" dirty="0"/>
                        <a:t>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Again we have shift/reduce conflict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209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259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9DA13-6AD0-20CD-5094-C6F7CA51B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C5D2-B92C-577E-DE31-826D4017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Reduce/Reduce Conflicts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576D2-4656-5F9F-22EB-4A8706017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Grammar</a:t>
            </a:r>
          </a:p>
          <a:p>
            <a:pPr lvl="1"/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aABe|b</a:t>
            </a:r>
            <a:r>
              <a:rPr lang="en-US" dirty="0">
                <a:sym typeface="Wingdings" panose="05000000000000000000" pitchFamily="2" charset="2"/>
              </a:rPr>
              <a:t>			</a:t>
            </a:r>
            <a:r>
              <a:rPr lang="en-US" dirty="0" err="1">
                <a:sym typeface="Wingdings" panose="05000000000000000000" pitchFamily="2" charset="2"/>
              </a:rPr>
              <a:t>AAbc|b</a:t>
            </a: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Bd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 we are not sure, whether shift will be successful parsing </a:t>
            </a:r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26E96-55F2-E0A1-5FBE-4D667129B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204540"/>
              </p:ext>
            </p:extLst>
          </p:nvPr>
        </p:nvGraphicFramePr>
        <p:xfrm>
          <a:off x="1207653" y="3132614"/>
          <a:ext cx="1002145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412">
                  <a:extLst>
                    <a:ext uri="{9D8B030D-6E8A-4147-A177-3AD203B41FA5}">
                      <a16:colId xmlns:a16="http://schemas.microsoft.com/office/drawing/2014/main" val="1071691478"/>
                    </a:ext>
                  </a:extLst>
                </a:gridCol>
                <a:gridCol w="1687484">
                  <a:extLst>
                    <a:ext uri="{9D8B030D-6E8A-4147-A177-3AD203B41FA5}">
                      <a16:colId xmlns:a16="http://schemas.microsoft.com/office/drawing/2014/main" val="491633824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044525088"/>
                    </a:ext>
                  </a:extLst>
                </a:gridCol>
                <a:gridCol w="5519651">
                  <a:extLst>
                    <a:ext uri="{9D8B030D-6E8A-4147-A177-3AD203B41FA5}">
                      <a16:colId xmlns:a16="http://schemas.microsoft.com/office/drawing/2014/main" val="912380353"/>
                    </a:ext>
                  </a:extLst>
                </a:gridCol>
              </a:tblGrid>
              <a:tr h="353881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String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Issue/Conflict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241162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abbcde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629105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r>
                        <a:rPr lang="en-US" dirty="0"/>
                        <a:t>$a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bbcde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254925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r>
                        <a:rPr lang="en-US" dirty="0"/>
                        <a:t>$ab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bbcde</a:t>
                      </a:r>
                      <a:r>
                        <a:rPr lang="en-US" dirty="0"/>
                        <a:t>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</a:t>
                      </a:r>
                      <a:r>
                        <a:rPr lang="en-US" dirty="0" err="1"/>
                        <a:t>b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B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Here there is a conflict, we have 2 reduce options, we can reduce </a:t>
                      </a:r>
                      <a:r>
                        <a:rPr lang="en-US" dirty="0" err="1"/>
                        <a:t>b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S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also can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bA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736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10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B9B76-11F9-611A-459A-D8D435D33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for Conflicts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06F53-54D9-7D7F-5819-D82DF90E8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65" y="1994590"/>
            <a:ext cx="10515600" cy="4351338"/>
          </a:xfrm>
        </p:spPr>
        <p:txBody>
          <a:bodyPr/>
          <a:lstStyle/>
          <a:p>
            <a:r>
              <a:rPr lang="en-US" dirty="0"/>
              <a:t>To avoid the conflicts do Right Most Derivation RMD first, for the given input string, as per grammar. 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E491D-255D-820C-4985-A5FB78889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8954" y="2970603"/>
            <a:ext cx="5736982" cy="29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02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4F916-A70E-7624-8FA1-8DDAC5269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20D8-40B6-2084-040C-8B2F1200A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434"/>
            <a:ext cx="10515600" cy="1325563"/>
          </a:xfrm>
        </p:spPr>
        <p:txBody>
          <a:bodyPr/>
          <a:lstStyle/>
          <a:p>
            <a:r>
              <a:rPr lang="en-US" dirty="0"/>
              <a:t>Shift Reduce Conflicts (solved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65E8A-6249-BD3C-D130-A602D7B05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46" y="119385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Grammar</a:t>
            </a:r>
          </a:p>
          <a:p>
            <a:pPr lvl="1"/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aABe</a:t>
            </a:r>
            <a:r>
              <a:rPr lang="en-US" dirty="0">
                <a:sym typeface="Wingdings" panose="05000000000000000000" pitchFamily="2" charset="2"/>
              </a:rPr>
              <a:t>			</a:t>
            </a:r>
            <a:r>
              <a:rPr lang="en-US" dirty="0" err="1">
                <a:sym typeface="Wingdings" panose="05000000000000000000" pitchFamily="2" charset="2"/>
              </a:rPr>
              <a:t>AAbc|b</a:t>
            </a: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Bd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2B6ACE-6CED-D780-6AB3-C4751ED80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798238"/>
              </p:ext>
            </p:extLst>
          </p:nvPr>
        </p:nvGraphicFramePr>
        <p:xfrm>
          <a:off x="963846" y="2124107"/>
          <a:ext cx="6601547" cy="4601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488">
                  <a:extLst>
                    <a:ext uri="{9D8B030D-6E8A-4147-A177-3AD203B41FA5}">
                      <a16:colId xmlns:a16="http://schemas.microsoft.com/office/drawing/2014/main" val="1071691478"/>
                    </a:ext>
                  </a:extLst>
                </a:gridCol>
                <a:gridCol w="2474564">
                  <a:extLst>
                    <a:ext uri="{9D8B030D-6E8A-4147-A177-3AD203B41FA5}">
                      <a16:colId xmlns:a16="http://schemas.microsoft.com/office/drawing/2014/main" val="491633824"/>
                    </a:ext>
                  </a:extLst>
                </a:gridCol>
                <a:gridCol w="1828495">
                  <a:extLst>
                    <a:ext uri="{9D8B030D-6E8A-4147-A177-3AD203B41FA5}">
                      <a16:colId xmlns:a16="http://schemas.microsoft.com/office/drawing/2014/main" val="1044525088"/>
                    </a:ext>
                  </a:extLst>
                </a:gridCol>
              </a:tblGrid>
              <a:tr h="369711">
                <a:tc>
                  <a:txBody>
                    <a:bodyPr/>
                    <a:lstStyle/>
                    <a:p>
                      <a:r>
                        <a:rPr lang="en-US" dirty="0" err="1"/>
                        <a:t>Stact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String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Actoin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241162"/>
                  </a:ext>
                </a:extLst>
              </a:tr>
              <a:tr h="374780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abbcde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629105"/>
                  </a:ext>
                </a:extLst>
              </a:tr>
              <a:tr h="476362">
                <a:tc>
                  <a:txBody>
                    <a:bodyPr/>
                    <a:lstStyle/>
                    <a:p>
                      <a:r>
                        <a:rPr lang="en-US" dirty="0"/>
                        <a:t>$a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bbcde</a:t>
                      </a:r>
                      <a:r>
                        <a:rPr lang="en-US" dirty="0"/>
                        <a:t>$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b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254925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lang="en-US" dirty="0"/>
                        <a:t>$ab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bcde</a:t>
                      </a:r>
                      <a:r>
                        <a:rPr lang="en-US" dirty="0"/>
                        <a:t>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</a:t>
                      </a:r>
                      <a:r>
                        <a:rPr lang="en-US" dirty="0" err="1"/>
                        <a:t>b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A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736689"/>
                  </a:ext>
                </a:extLst>
              </a:tr>
              <a:tr h="374780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  <a:r>
                        <a:rPr lang="en-US" dirty="0" err="1"/>
                        <a:t>aA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bcde</a:t>
                      </a:r>
                      <a:r>
                        <a:rPr lang="en-US" dirty="0"/>
                        <a:t>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b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673962"/>
                  </a:ext>
                </a:extLst>
              </a:tr>
              <a:tr h="374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</a:t>
                      </a:r>
                      <a:r>
                        <a:rPr lang="en-US" dirty="0" err="1"/>
                        <a:t>aA</a:t>
                      </a:r>
                      <a:r>
                        <a:rPr lang="en-US" b="0" dirty="0" err="1"/>
                        <a:t>b</a:t>
                      </a:r>
                      <a:endParaRPr lang="en-PK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cde</a:t>
                      </a:r>
                      <a:r>
                        <a:rPr lang="en-US" dirty="0"/>
                        <a:t>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c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209501"/>
                  </a:ext>
                </a:extLst>
              </a:tr>
              <a:tr h="374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</a:t>
                      </a:r>
                      <a:r>
                        <a:rPr lang="en-US" dirty="0" err="1"/>
                        <a:t>aA</a:t>
                      </a:r>
                      <a:r>
                        <a:rPr lang="en-US" b="0" dirty="0" err="1"/>
                        <a:t>bc</a:t>
                      </a:r>
                      <a:endParaRPr lang="en-PK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</a:t>
                      </a:r>
                      <a:r>
                        <a:rPr lang="en-US" dirty="0" err="1"/>
                        <a:t>A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Abc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4670"/>
                  </a:ext>
                </a:extLst>
              </a:tr>
              <a:tr h="374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</a:t>
                      </a:r>
                      <a:r>
                        <a:rPr lang="en-US" dirty="0" err="1"/>
                        <a:t>aA</a:t>
                      </a:r>
                      <a:endParaRPr lang="en-PK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620932"/>
                  </a:ext>
                </a:extLst>
              </a:tr>
              <a:tr h="374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</a:t>
                      </a:r>
                      <a:r>
                        <a:rPr lang="en-US" dirty="0" err="1"/>
                        <a:t>aA</a:t>
                      </a:r>
                      <a:r>
                        <a:rPr lang="en-US" b="0" dirty="0" err="1"/>
                        <a:t>d</a:t>
                      </a:r>
                      <a:endParaRPr lang="en-PK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551213"/>
                  </a:ext>
                </a:extLst>
              </a:tr>
              <a:tr h="374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</a:t>
                      </a:r>
                      <a:r>
                        <a:rPr lang="en-US" dirty="0" err="1"/>
                        <a:t>aA</a:t>
                      </a:r>
                      <a:r>
                        <a:rPr lang="en-US" b="0" dirty="0" err="1"/>
                        <a:t>B</a:t>
                      </a:r>
                      <a:endParaRPr lang="en-PK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94455"/>
                  </a:ext>
                </a:extLst>
              </a:tr>
              <a:tr h="374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</a:t>
                      </a:r>
                      <a:r>
                        <a:rPr lang="en-US" dirty="0" err="1"/>
                        <a:t>aA</a:t>
                      </a:r>
                      <a:r>
                        <a:rPr lang="en-US" b="0" dirty="0" err="1"/>
                        <a:t>Be</a:t>
                      </a:r>
                      <a:endParaRPr lang="en-PK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</a:t>
                      </a:r>
                      <a:r>
                        <a:rPr lang="en-US" dirty="0" err="1"/>
                        <a:t>S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aABe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2484"/>
                  </a:ext>
                </a:extLst>
              </a:tr>
              <a:tr h="374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$S</a:t>
                      </a:r>
                      <a:endParaRPr lang="en-PK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 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Accept</a:t>
                      </a:r>
                      <a:endParaRPr lang="en-PK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55506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A387FE6-2107-2170-ABCB-5149AEAC8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71505" y="405475"/>
            <a:ext cx="4701830" cy="242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86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LR(0) Introduction to LR Parsing: Simple LR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27" y="1909349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The most prevalent type of bottom-up parser today is based on a concept called LR(k) parsing; </a:t>
            </a:r>
            <a:endParaRPr lang="en-US" dirty="0"/>
          </a:p>
          <a:p>
            <a:r>
              <a:rPr lang="en-US" dirty="0"/>
              <a:t>The LR parser is an efficient bottom-up syntax analysis technique that can be used for a large class of context-free grammar. </a:t>
            </a:r>
          </a:p>
          <a:p>
            <a:r>
              <a:rPr lang="en-US" dirty="0"/>
              <a:t>L stands for the left to right scanning</a:t>
            </a:r>
          </a:p>
          <a:p>
            <a:r>
              <a:rPr lang="en-US" dirty="0"/>
              <a:t>R stands for rightmost  derivation in reverse</a:t>
            </a:r>
          </a:p>
          <a:p>
            <a:r>
              <a:rPr lang="en-US" dirty="0"/>
              <a:t>k stands for no. of input symbols of </a:t>
            </a:r>
            <a:r>
              <a:rPr lang="en-US" dirty="0" err="1"/>
              <a:t>lookahead</a:t>
            </a:r>
            <a:r>
              <a:rPr lang="en-US" dirty="0"/>
              <a:t>.</a:t>
            </a:r>
          </a:p>
          <a:p>
            <a:r>
              <a:rPr lang="en-GB" dirty="0"/>
              <a:t>The cases k = 0 or k = 1 are of practical interest, and we shall only consider LR parsers with k &lt;= 1 here. When (k) is omitted, k is assumed to be 1 </a:t>
            </a:r>
            <a:br>
              <a:rPr lang="en-GB" dirty="0"/>
            </a:b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849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LR Parsers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LR parsers are table-driven, much like the non-recursive LL parsers.</a:t>
            </a:r>
          </a:p>
          <a:p>
            <a:r>
              <a:rPr lang="en-GB" dirty="0"/>
              <a:t>A grammar for which we can construct a parsing table using one of the methods in this section and the next is said to be an LR grammar.</a:t>
            </a:r>
          </a:p>
          <a:p>
            <a:r>
              <a:rPr lang="en-GB" dirty="0"/>
              <a:t>Intuitively, for a grammar to be LR it is sufficient that a left-to-right shift-reduce parser be able to recognize handles of right-sentential forms when they appear on top of the stack. </a:t>
            </a:r>
          </a:p>
          <a:p>
            <a:br>
              <a:rPr lang="en-GB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113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LR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LR parsers can be constructed to recognize virtually all programming language constructs for which context-free grammars can be written.</a:t>
            </a:r>
          </a:p>
          <a:p>
            <a:r>
              <a:rPr lang="en-GB" dirty="0"/>
              <a:t>Non LR context-free grammars exist, but these can generally be avoided for typical programming-language constructs.</a:t>
            </a:r>
          </a:p>
          <a:p>
            <a:r>
              <a:rPr lang="en-GB" dirty="0"/>
              <a:t>The LR-parsing method is the most general non-backtracking shift-reduce parsing method known, yet it can be implemented as efficiently.</a:t>
            </a:r>
          </a:p>
          <a:p>
            <a:r>
              <a:rPr lang="en-GB" dirty="0"/>
              <a:t>An LR parser can detect a syntactic error as soon as it is possible to do so on a left-to-right scan of the input. </a:t>
            </a:r>
          </a:p>
          <a:p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9950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LR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Most powerful deterministic context-free grammar parser practical for implementation.</a:t>
            </a:r>
          </a:p>
          <a:p>
            <a:r>
              <a:rPr lang="en-GB" dirty="0"/>
              <a:t>Can handle a wider class of grammars than LL parsers (e.g., left-recursion).</a:t>
            </a:r>
          </a:p>
          <a:p>
            <a:r>
              <a:rPr lang="en-GB" dirty="0"/>
              <a:t>Grammar writing is easier and more natural due to less restrictions.</a:t>
            </a:r>
          </a:p>
          <a:p>
            <a:r>
              <a:rPr lang="en-GB" dirty="0"/>
              <a:t>Better error detection as parsing is deferred until a reduction happens.</a:t>
            </a:r>
          </a:p>
          <a:p>
            <a:r>
              <a:rPr lang="en-GB" dirty="0"/>
              <a:t>Well-suited for automatic parser generation from grammar specifications.</a:t>
            </a:r>
          </a:p>
          <a:p>
            <a:r>
              <a:rPr lang="en-GB" dirty="0"/>
              <a:t>High parsing efficiency with O(n) time complexity for most inputs.</a:t>
            </a:r>
          </a:p>
          <a:p>
            <a:r>
              <a:rPr lang="en-GB" dirty="0"/>
              <a:t>Left-to-right scanning with Rightmost derivation provides optimal </a:t>
            </a:r>
            <a:r>
              <a:rPr lang="en-GB" dirty="0" err="1"/>
              <a:t>lookahead</a:t>
            </a:r>
            <a:r>
              <a:rPr lang="en-GB" dirty="0"/>
              <a:t>.</a:t>
            </a:r>
          </a:p>
          <a:p>
            <a:r>
              <a:rPr lang="en-GB" dirty="0"/>
              <a:t>Excellent for programming languages where grammar complexity is high.</a:t>
            </a:r>
          </a:p>
        </p:txBody>
      </p:sp>
    </p:spTree>
    <p:extLst>
      <p:ext uri="{BB962C8B-B14F-4D97-AF65-F5344CB8AC3E}">
        <p14:creationId xmlns:p14="http://schemas.microsoft.com/office/powerpoint/2010/main" val="3412448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Items and LR(0)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148" y="1875320"/>
            <a:ext cx="10515600" cy="4351338"/>
          </a:xfrm>
        </p:spPr>
        <p:txBody>
          <a:bodyPr/>
          <a:lstStyle/>
          <a:p>
            <a:r>
              <a:rPr lang="en-GB" dirty="0"/>
              <a:t>How does a shift-reduce parser know when to shift and when to reduce? </a:t>
            </a:r>
          </a:p>
          <a:p>
            <a:pPr lvl="1"/>
            <a:r>
              <a:rPr lang="en-GB" dirty="0"/>
              <a:t>An LR parser makes shift-reduce decisions by maintaining states to keep track of where we are in a parse. </a:t>
            </a:r>
          </a:p>
          <a:p>
            <a:pPr lvl="1"/>
            <a:r>
              <a:rPr lang="en-GB" dirty="0"/>
              <a:t>States represent sets of items." An LR(0) item (item for short) of a grammar G is a production of G with a dot at some position of the body. </a:t>
            </a:r>
            <a:br>
              <a:rPr lang="en-GB" dirty="0"/>
            </a:br>
            <a:r>
              <a:rPr lang="en-GB" dirty="0"/>
              <a:t>Thus, production A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XYZ yields the four items.</a:t>
            </a:r>
          </a:p>
          <a:p>
            <a:pPr lvl="1"/>
            <a:r>
              <a:rPr lang="en-GB" dirty="0"/>
              <a:t>The production </a:t>
            </a:r>
            <a:r>
              <a:rPr lang="en-GB" b="1" dirty="0"/>
              <a:t>A </a:t>
            </a:r>
            <a:r>
              <a:rPr lang="en-GB" b="1" dirty="0">
                <a:sym typeface="Wingdings" panose="05000000000000000000" pitchFamily="2" charset="2"/>
              </a:rPr>
              <a:t> Epsilon </a:t>
            </a:r>
            <a:r>
              <a:rPr lang="en-GB" dirty="0"/>
              <a:t>generates only one item, A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. </a:t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438" y="4295775"/>
            <a:ext cx="2505075" cy="16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84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Items and LR(0)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43" y="2004529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Intuitively, an item indicates how much of a production we have seen at a given point in the parsing process. For example, the item </a:t>
            </a:r>
            <a:br>
              <a:rPr lang="en-GB" dirty="0"/>
            </a:br>
            <a:r>
              <a:rPr lang="en-GB" dirty="0"/>
              <a:t>A -&gt;.X Y Z indicates that we hope to see a string derivable from X Y Z next on the input. </a:t>
            </a:r>
          </a:p>
          <a:p>
            <a:r>
              <a:rPr lang="en-GB" dirty="0"/>
              <a:t>A -&gt; X.Y Z indicates that we have just seen on the input a string derivable from X and that we hope next to see a string derivable from Y Z. </a:t>
            </a:r>
          </a:p>
          <a:p>
            <a:r>
              <a:rPr lang="en-GB" dirty="0"/>
              <a:t>Item A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XYZ indicates that we have seen the body XY Z and that it may be time to reduce XY Z to A.</a:t>
            </a:r>
          </a:p>
        </p:txBody>
      </p:sp>
    </p:spTree>
    <p:extLst>
      <p:ext uri="{BB962C8B-B14F-4D97-AF65-F5344CB8AC3E}">
        <p14:creationId xmlns:p14="http://schemas.microsoft.com/office/powerpoint/2010/main" val="641368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One collection of sets of LR(0) items, called the </a:t>
            </a:r>
            <a:r>
              <a:rPr lang="en-GB" b="1" dirty="0"/>
              <a:t>canonical LR(0) collection</a:t>
            </a:r>
            <a:r>
              <a:rPr lang="en-GB" dirty="0"/>
              <a:t>, provides the basis for constructing a </a:t>
            </a:r>
            <a:r>
              <a:rPr lang="en-GB" b="1" dirty="0"/>
              <a:t>deterministic finite automaton </a:t>
            </a:r>
            <a:r>
              <a:rPr lang="en-GB" dirty="0"/>
              <a:t>that is used to make parsing decisions. </a:t>
            </a:r>
          </a:p>
          <a:p>
            <a:r>
              <a:rPr lang="en-GB" dirty="0"/>
              <a:t>Such an automaton is called an LR(0) automaton.</a:t>
            </a:r>
          </a:p>
          <a:p>
            <a:r>
              <a:rPr lang="en-GB" dirty="0"/>
              <a:t>In particular, each state of the LR(0) automaton represents a set of items in the canonical LR(0) collection..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3226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Augmented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To construct the canonical LR(0) collection for a grammar, we define an augmented grammar and two functions, </a:t>
            </a:r>
            <a:r>
              <a:rPr lang="en-GB" b="1" dirty="0"/>
              <a:t>CLOSURE </a:t>
            </a:r>
            <a:r>
              <a:rPr lang="en-GB" dirty="0"/>
              <a:t>and </a:t>
            </a:r>
            <a:r>
              <a:rPr lang="en-GB" b="1" dirty="0"/>
              <a:t>GOTO</a:t>
            </a:r>
            <a:r>
              <a:rPr lang="en-GB" dirty="0"/>
              <a:t>. </a:t>
            </a:r>
          </a:p>
          <a:p>
            <a:r>
              <a:rPr lang="en-GB" dirty="0"/>
              <a:t>If G is a grammar with start symbol S, then G’, the augmented grammar for G, is G’ with a new start symbol S’ and production S’-&gt; S.</a:t>
            </a:r>
          </a:p>
          <a:p>
            <a:r>
              <a:rPr lang="en-GB" dirty="0"/>
              <a:t>The purpose of this new starting production is to indicate to the parser when it should stop parsing and announce acceptance of the input.</a:t>
            </a:r>
          </a:p>
          <a:p>
            <a:r>
              <a:rPr lang="en-GB" dirty="0"/>
              <a:t> That is, acceptance occurs when and only when the parser is about to reduce by S’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S.</a:t>
            </a:r>
          </a:p>
        </p:txBody>
      </p:sp>
    </p:spTree>
    <p:extLst>
      <p:ext uri="{BB962C8B-B14F-4D97-AF65-F5344CB8AC3E}">
        <p14:creationId xmlns:p14="http://schemas.microsoft.com/office/powerpoint/2010/main" val="2483368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Closure()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CLOSURE() operation takes a set of LR(0) items as input and expands it by adding all possible items implied by the current set. An LR(0) item is a production rule with a dot • indicating the parsing progress, such as A → α•Xβ.</a:t>
            </a:r>
          </a:p>
          <a:p>
            <a:r>
              <a:rPr lang="en-GB" dirty="0"/>
              <a:t> </a:t>
            </a:r>
            <a:r>
              <a:rPr lang="en-GB" b="1" dirty="0"/>
              <a:t>Rule: </a:t>
            </a:r>
            <a:r>
              <a:rPr lang="en-GB" dirty="0"/>
              <a:t>If an item A → α•Bβ is in the set, and B is a non-terminal, then for every production B → γ in the grammar, the item B → •γ must be added to the set. This process is repeated until no new items can be added.</a:t>
            </a:r>
          </a:p>
          <a:p>
            <a:r>
              <a:rPr lang="en-GB" b="1" dirty="0"/>
              <a:t>Example: </a:t>
            </a:r>
            <a:r>
              <a:rPr lang="en-GB" dirty="0"/>
              <a:t>If I contains E → •T and T → id is a production, then CLOSURE(I) would also include T → •id.</a:t>
            </a:r>
          </a:p>
        </p:txBody>
      </p:sp>
    </p:spTree>
    <p:extLst>
      <p:ext uri="{BB962C8B-B14F-4D97-AF65-F5344CB8AC3E}">
        <p14:creationId xmlns:p14="http://schemas.microsoft.com/office/powerpoint/2010/main" val="3222337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GOTO()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757" y="184550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GOTO() operation determines the next state the LR parser will transition to after recognizing a specific grammar symbol (terminal or non-terminal).</a:t>
            </a:r>
          </a:p>
          <a:p>
            <a:r>
              <a:rPr lang="en-GB" dirty="0"/>
              <a:t>Rule: GOTO(I, X) takes a set of items I (a state) and a grammar symbol X. It identifies all items in I where the dot • is immediately followed by X (e.g., A → α•Xβ). For each such item, it moves the dot past X (e.g., A → αX•β), collects these new items into a set, and then computes the CLOSURE() of this new set. The resulting set is the target state.</a:t>
            </a:r>
          </a:p>
          <a:p>
            <a:r>
              <a:rPr lang="en-GB" dirty="0"/>
              <a:t>Example: If I contains E → •T and T is a non-terminal, then GOTO(I, T) would result in a new state containing E → T• and its closure.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9770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23" y="2245860"/>
            <a:ext cx="6660740" cy="321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89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Constructing Canonical Items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9060" y="1690688"/>
            <a:ext cx="9233366" cy="447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36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LR Parsing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03" y="2057400"/>
            <a:ext cx="10392641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23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084" y="1690688"/>
            <a:ext cx="7567688" cy="3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69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0" y="183694"/>
            <a:ext cx="9181746" cy="650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01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547688"/>
            <a:ext cx="9329057" cy="15505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6" y="460603"/>
            <a:ext cx="7249887" cy="12049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55" y="1637281"/>
            <a:ext cx="69627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14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6662-EF81-3ACE-7720-31AD9AB30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5C1A-7730-F636-76EF-6F673418C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6418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LR(0)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Consider a Grammar.</a:t>
            </a:r>
          </a:p>
          <a:p>
            <a:pPr lvl="1"/>
            <a:r>
              <a:rPr lang="pt-BR" dirty="0"/>
              <a:t>S–&gt;AA </a:t>
            </a:r>
            <a:br>
              <a:rPr lang="pt-BR" dirty="0"/>
            </a:br>
            <a:r>
              <a:rPr lang="pt-BR" dirty="0"/>
              <a:t>A–&gt;aA|b</a:t>
            </a:r>
          </a:p>
          <a:p>
            <a:r>
              <a:rPr lang="en-US" b="1" dirty="0"/>
              <a:t>STEP 1- </a:t>
            </a:r>
            <a:r>
              <a:rPr lang="en-US" dirty="0"/>
              <a:t>Find augmented grammar –</a:t>
            </a:r>
          </a:p>
          <a:p>
            <a:pPr marL="609585" lvl="1" indent="0">
              <a:buNone/>
            </a:pPr>
            <a:r>
              <a:rPr lang="en-US" dirty="0"/>
              <a:t>The augmented grammar of the given grammar is:-</a:t>
            </a:r>
          </a:p>
          <a:p>
            <a:pPr marL="609585" lvl="1" indent="0">
              <a:buNone/>
            </a:pPr>
            <a:r>
              <a:rPr lang="en-US" dirty="0"/>
              <a:t>      S’–&gt;.S      [0th production]</a:t>
            </a:r>
          </a:p>
          <a:p>
            <a:pPr marL="609585" lvl="1" indent="0">
              <a:buNone/>
            </a:pPr>
            <a:r>
              <a:rPr lang="en-US" dirty="0"/>
              <a:t>      S–&gt;.AA    [1st production]</a:t>
            </a:r>
          </a:p>
          <a:p>
            <a:pPr marL="609585" lvl="1" indent="0">
              <a:buNone/>
            </a:pPr>
            <a:r>
              <a:rPr lang="en-US" dirty="0"/>
              <a:t>      A–&gt;.</a:t>
            </a:r>
            <a:r>
              <a:rPr lang="en-US" dirty="0" err="1"/>
              <a:t>aA</a:t>
            </a:r>
            <a:r>
              <a:rPr lang="en-US" dirty="0"/>
              <a:t>    [2nd production]</a:t>
            </a:r>
          </a:p>
          <a:p>
            <a:pPr marL="609585" lvl="1" indent="0">
              <a:buNone/>
            </a:pPr>
            <a:r>
              <a:rPr lang="en-US" dirty="0"/>
              <a:t>      A–&gt;.b      [3rd production]</a:t>
            </a:r>
          </a:p>
          <a:p>
            <a:pPr marL="609585" lvl="1" indent="0">
              <a:buNone/>
            </a:pPr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1217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Explanation of Graph (Data Flow Graph)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the figure, I0 consists of augmented grammar.</a:t>
            </a:r>
          </a:p>
          <a:p>
            <a:r>
              <a:rPr lang="en-US" dirty="0"/>
              <a:t>Io goes to I1 when  ‘ . ‘ of 0th production is shifted towards the right of S(S’-&gt;S.). This state is the accepted state. </a:t>
            </a:r>
          </a:p>
          <a:p>
            <a:r>
              <a:rPr lang="en-US" dirty="0"/>
              <a:t>S is seen by the compiler</a:t>
            </a:r>
          </a:p>
          <a:p>
            <a:r>
              <a:rPr lang="en-US" dirty="0"/>
              <a:t>Io goes to I2 when  ‘ . ‘ of 1st production is shifted towards the right (S-&gt;A.A) . A is seen by the compiler</a:t>
            </a:r>
          </a:p>
          <a:p>
            <a:r>
              <a:rPr lang="en-US" dirty="0"/>
              <a:t>I0 goes to I3 when  ‘ . ‘ of the 2nd production is shifted towards the right (A-&gt;</a:t>
            </a:r>
            <a:r>
              <a:rPr lang="en-US" dirty="0" err="1"/>
              <a:t>a.A</a:t>
            </a:r>
            <a:r>
              <a:rPr lang="en-US" dirty="0"/>
              <a:t>) . a is seen by the compiler.</a:t>
            </a:r>
          </a:p>
          <a:p>
            <a:r>
              <a:rPr lang="en-US" dirty="0"/>
              <a:t>I0 goes to I4 when  ‘ . ‘ of the 3rd production is shifted towards the right (A-&gt;b.) . b is seen by the compiler.</a:t>
            </a:r>
          </a:p>
          <a:p>
            <a:r>
              <a:rPr lang="en-US" dirty="0"/>
              <a:t>I2 goes to I5 when  ‘ . ‘ of 1st production is shifted towards the right (S-&gt;AA.) . A is seen by the compiler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010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Explanation of Graph (Data Flow Graph)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I2 goes to I4 when  ‘ . ‘ of 3rd production is shifted towards the right (A-&gt;b.) . b is seen by the compiler.</a:t>
            </a:r>
          </a:p>
          <a:p>
            <a:r>
              <a:rPr lang="en-US" dirty="0"/>
              <a:t>I2 goes to I3 when  ‘ . ‘ of the 2nd production is shifted towards the right (A-&gt;</a:t>
            </a:r>
            <a:r>
              <a:rPr lang="en-US" dirty="0" err="1"/>
              <a:t>a.A</a:t>
            </a:r>
            <a:r>
              <a:rPr lang="en-US" dirty="0"/>
              <a:t>) . a is seen by the compiler.</a:t>
            </a:r>
          </a:p>
          <a:p>
            <a:r>
              <a:rPr lang="en-US" dirty="0"/>
              <a:t>I3 goes to I4 when  ‘ . ‘ of the 3rd production is shifted towards the right (A-&gt;b.) . b is seen by the compiler.</a:t>
            </a:r>
          </a:p>
          <a:p>
            <a:r>
              <a:rPr lang="en-US" dirty="0"/>
              <a:t>I3 goes to I6 when  ‘ . ‘ of 2nd production is shifted towards the right (A-&gt;</a:t>
            </a:r>
            <a:r>
              <a:rPr lang="en-US" dirty="0" err="1"/>
              <a:t>aA</a:t>
            </a:r>
            <a:r>
              <a:rPr lang="en-US" dirty="0"/>
              <a:t>.) . A is seen by the compiler</a:t>
            </a:r>
          </a:p>
          <a:p>
            <a:r>
              <a:rPr lang="en-US" dirty="0"/>
              <a:t>I3 goes to I3 when  ‘ . ‘ of the 2nd production is shifted towards the right (A-&gt;</a:t>
            </a:r>
            <a:r>
              <a:rPr lang="en-US" dirty="0" err="1"/>
              <a:t>a.A</a:t>
            </a:r>
            <a:r>
              <a:rPr lang="en-US" dirty="0"/>
              <a:t>) . a is seen by the compiler.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093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STEP3 – defining 2 functions: </a:t>
            </a:r>
            <a:r>
              <a:rPr lang="en-US" b="1" dirty="0" err="1"/>
              <a:t>goto</a:t>
            </a:r>
            <a:r>
              <a:rPr lang="en-US" b="1" dirty="0"/>
              <a:t>[list of non-terminals] and action[list of terminals] in the parsing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386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/>
              <a:t>Explanation of creating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$ is by default a nonterminal that takes the accepting state.</a:t>
            </a:r>
          </a:p>
          <a:p>
            <a:r>
              <a:rPr lang="en-US" dirty="0"/>
              <a:t>0,1,2,3,4,5,6 denotes I0,I1,I2,I3,I4,I5,I6</a:t>
            </a:r>
          </a:p>
          <a:p>
            <a:r>
              <a:rPr lang="en-US" dirty="0"/>
              <a:t>I0 gives A in I2, so 2 is added to the A column and 0 rows.</a:t>
            </a:r>
          </a:p>
          <a:p>
            <a:r>
              <a:rPr lang="en-US" dirty="0"/>
              <a:t>I0 gives S in I1, so 1 is added to the S column and 1 row.</a:t>
            </a:r>
          </a:p>
          <a:p>
            <a:pPr lvl="0"/>
            <a:r>
              <a:rPr lang="en-US" dirty="0"/>
              <a:t>similarly, 5 is written in  A column and 2nd row, 6 is written in A column and 3 rows.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33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Explanation of creating table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I0 gives an in I3 to .so S3(shift 3) is added to a column and 0 rows.</a:t>
            </a:r>
          </a:p>
          <a:p>
            <a:pPr lvl="0"/>
            <a:r>
              <a:rPr lang="en-US" dirty="0"/>
              <a:t>I0 gives b in I4, so S4(shift 4) is added to the b column and 0 rows.</a:t>
            </a:r>
          </a:p>
          <a:p>
            <a:pPr lvl="0"/>
            <a:r>
              <a:rPr lang="en-US" dirty="0"/>
              <a:t>Similarly, S3(shift 3) is added on a column and 2,3 rows, S4(shift 4) is added on b column and 2,3 rows.</a:t>
            </a:r>
          </a:p>
          <a:p>
            <a:pPr lvl="0"/>
            <a:r>
              <a:rPr lang="en-US" dirty="0"/>
              <a:t>I4 is reduced state as ‘ . ‘ is at the end. I4 is the 3rd production of grammar. So write r3(reduce 3) in terminals.</a:t>
            </a:r>
          </a:p>
          <a:p>
            <a:pPr lvl="0"/>
            <a:r>
              <a:rPr lang="en-US" dirty="0"/>
              <a:t>I5 is reduced state as ‘ . ‘ is at the end. I5 is the 1st production of grammar. So write r1(reduce 1) in terminals.</a:t>
            </a:r>
          </a:p>
          <a:p>
            <a:pPr lvl="0"/>
            <a:r>
              <a:rPr lang="en-US" dirty="0"/>
              <a:t>I6 is reduced state as ‘ . ‘ is at the end. I6 is the 2nd production of grammar. So write r2(reduce 2) in terminals.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STEP 2 –  Find LR(0) collection of items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49784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Below is the figure showing the LR(0) collection of items. We will understand everything one by one.</a:t>
            </a:r>
          </a:p>
          <a:p>
            <a:r>
              <a:rPr lang="en-US" sz="3200" dirty="0"/>
              <a:t>The terminals of this grammar are {</a:t>
            </a:r>
            <a:r>
              <a:rPr lang="en-US" sz="3200" dirty="0" err="1"/>
              <a:t>a,b</a:t>
            </a:r>
            <a:r>
              <a:rPr lang="en-US" sz="3200" dirty="0"/>
              <a:t>}</a:t>
            </a:r>
          </a:p>
          <a:p>
            <a:r>
              <a:rPr lang="en-US" sz="3200" dirty="0"/>
              <a:t>The non-terminals of this grammar are {S,A}</a:t>
            </a:r>
          </a:p>
          <a:p>
            <a:r>
              <a:rPr lang="en-US" sz="3200" b="1" dirty="0"/>
              <a:t>RULE </a:t>
            </a:r>
            <a:r>
              <a:rPr lang="en-US" sz="3200" dirty="0"/>
              <a:t>– if any nonterminal has ‘ . ‘ preceding it, we have to write all its production and add ‘ . ‘ preceding each of its-production.</a:t>
            </a:r>
          </a:p>
          <a:p>
            <a:r>
              <a:rPr lang="en-US" sz="3200" b="1" dirty="0"/>
              <a:t>RULE –</a:t>
            </a:r>
            <a:r>
              <a:rPr lang="en-US" sz="3200" dirty="0"/>
              <a:t>  from each state to the next state, the ‘ . ‘ shifts to one place to the right.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9" r="7649" b="4824"/>
          <a:stretch/>
        </p:blipFill>
        <p:spPr bwMode="auto">
          <a:xfrm>
            <a:off x="5404678" y="677863"/>
            <a:ext cx="5765801" cy="5448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28482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99" y="2108200"/>
            <a:ext cx="11168631" cy="325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8668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4F14-97FD-45B8-8BDB-0BFB2DED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B7AD6E-FA5F-4B0E-A15C-71461D474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1920" y="177800"/>
            <a:ext cx="5892800" cy="6571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A664ED-CFE8-4773-9B9C-DB6D32542B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0660" y="1600200"/>
            <a:ext cx="31242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033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E663-B434-6228-3561-6418318BC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This 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07BCA0-1535-EB00-EC4E-3382C470F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804" y="2440474"/>
            <a:ext cx="7133263" cy="230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727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SLR(1)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SLR (1) refers to simple LR Parsing. It is same as LR(0) parsing. </a:t>
            </a:r>
          </a:p>
          <a:p>
            <a:r>
              <a:rPr lang="en-US" dirty="0"/>
              <a:t>The only difference is in the parsing table.</a:t>
            </a:r>
          </a:p>
          <a:p>
            <a:r>
              <a:rPr lang="en-US" dirty="0"/>
              <a:t>To construct SLR (1) parsing table, we use canonical collection of LR (0) item.</a:t>
            </a:r>
          </a:p>
          <a:p>
            <a:r>
              <a:rPr lang="en-US" dirty="0"/>
              <a:t>In the SLR (1) parsing, we place the reduce move only in the follow of left hand side.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288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67" b="1" dirty="0"/>
              <a:t>Various steps involved in the SLR (1) Parsing: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the given input string write a context free grammar</a:t>
            </a:r>
          </a:p>
          <a:p>
            <a:r>
              <a:rPr lang="en-US" dirty="0"/>
              <a:t>Check the ambiguity of the grammar</a:t>
            </a:r>
          </a:p>
          <a:p>
            <a:r>
              <a:rPr lang="en-US" dirty="0"/>
              <a:t>Add Augment production in the given grammar</a:t>
            </a:r>
          </a:p>
          <a:p>
            <a:r>
              <a:rPr lang="en-US" dirty="0"/>
              <a:t>Create Canonical collection of LR (0) items</a:t>
            </a:r>
          </a:p>
          <a:p>
            <a:r>
              <a:rPr lang="en-US" dirty="0"/>
              <a:t>Draw a data flow diagram (DFA)</a:t>
            </a:r>
          </a:p>
          <a:p>
            <a:r>
              <a:rPr lang="en-US" dirty="0"/>
              <a:t>Construct a SLR (1) parsing table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2885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333" dirty="0"/>
              <a:t>SLR (1) Table Construction</a:t>
            </a:r>
          </a:p>
        </p:txBody>
      </p:sp>
    </p:spTree>
    <p:extLst>
      <p:ext uri="{BB962C8B-B14F-4D97-AF65-F5344CB8AC3E}">
        <p14:creationId xmlns:p14="http://schemas.microsoft.com/office/powerpoint/2010/main" val="3738822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The steps which use to construct SLR (1) Table is given below: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800"/>
          </a:xfrm>
        </p:spPr>
        <p:txBody>
          <a:bodyPr>
            <a:normAutofit/>
          </a:bodyPr>
          <a:lstStyle/>
          <a:p>
            <a:r>
              <a:rPr lang="en-US" dirty="0"/>
              <a:t>If a state (Ii) is going to some other state (</a:t>
            </a:r>
            <a:r>
              <a:rPr lang="en-US" dirty="0" err="1"/>
              <a:t>Ij</a:t>
            </a:r>
            <a:r>
              <a:rPr lang="en-US" dirty="0"/>
              <a:t>) on a terminal then it corresponds to a shift move in the action part.</a:t>
            </a:r>
          </a:p>
          <a:p>
            <a:r>
              <a:rPr lang="en-US" dirty="0"/>
              <a:t>If a state (I</a:t>
            </a:r>
            <a:r>
              <a:rPr lang="en-US" baseline="-25000" dirty="0"/>
              <a:t>i</a:t>
            </a:r>
            <a:r>
              <a:rPr lang="en-US" dirty="0"/>
              <a:t>) is going to some other state (</a:t>
            </a:r>
            <a:r>
              <a:rPr lang="en-US" dirty="0" err="1"/>
              <a:t>I</a:t>
            </a:r>
            <a:r>
              <a:rPr lang="en-US" baseline="-25000" dirty="0" err="1"/>
              <a:t>j</a:t>
            </a:r>
            <a:r>
              <a:rPr lang="en-US" dirty="0"/>
              <a:t>) on a variable then it correspond to go to move in the Go to part.</a:t>
            </a:r>
          </a:p>
          <a:p>
            <a:r>
              <a:rPr lang="en-US" dirty="0"/>
              <a:t>If a state (I</a:t>
            </a:r>
            <a:r>
              <a:rPr lang="en-US" baseline="-25000" dirty="0"/>
              <a:t>i</a:t>
            </a:r>
            <a:r>
              <a:rPr lang="en-US" dirty="0"/>
              <a:t>) contains the final item like A → </a:t>
            </a:r>
            <a:r>
              <a:rPr lang="en-US" dirty="0" err="1"/>
              <a:t>ab</a:t>
            </a:r>
            <a:r>
              <a:rPr lang="en-US" dirty="0"/>
              <a:t>• which has no transitions to the next state then the production is known as reduce production. For all terminals X in FOLLOW (A), write the reduce entry along with their production numbers.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0393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498601"/>
            <a:ext cx="7080017" cy="223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3937001"/>
            <a:ext cx="7112000" cy="2245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14965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SLR(1)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79999"/>
          </a:xfrm>
        </p:spPr>
        <p:txBody>
          <a:bodyPr>
            <a:normAutofit/>
          </a:bodyPr>
          <a:lstStyle/>
          <a:p>
            <a:r>
              <a:rPr lang="en-US" dirty="0"/>
              <a:t>SLR ( 1 ) Grammar</a:t>
            </a:r>
          </a:p>
          <a:p>
            <a:pPr lvl="1"/>
            <a:r>
              <a:rPr lang="de-DE" dirty="0"/>
              <a:t>S → E</a:t>
            </a:r>
            <a:br>
              <a:rPr lang="de-DE" dirty="0"/>
            </a:br>
            <a:r>
              <a:rPr lang="de-DE" dirty="0"/>
              <a:t>E → E + T | T</a:t>
            </a:r>
            <a:br>
              <a:rPr lang="de-DE" dirty="0"/>
            </a:br>
            <a:r>
              <a:rPr lang="de-DE" dirty="0"/>
              <a:t>T → T * F | F</a:t>
            </a:r>
            <a:br>
              <a:rPr lang="de-DE" dirty="0"/>
            </a:br>
            <a:r>
              <a:rPr lang="de-DE" dirty="0"/>
              <a:t>F → id</a:t>
            </a:r>
          </a:p>
          <a:p>
            <a:r>
              <a:rPr lang="en-US" dirty="0"/>
              <a:t>Add Augment Production and insert '•' symbol at the first position for every production in G</a:t>
            </a:r>
          </a:p>
          <a:p>
            <a:pPr lvl="1"/>
            <a:r>
              <a:rPr lang="de-DE" dirty="0"/>
              <a:t>S` → •E</a:t>
            </a:r>
            <a:br>
              <a:rPr lang="de-DE" dirty="0"/>
            </a:br>
            <a:r>
              <a:rPr lang="de-DE" dirty="0"/>
              <a:t>E → •E + T</a:t>
            </a:r>
            <a:br>
              <a:rPr lang="de-DE" dirty="0"/>
            </a:br>
            <a:r>
              <a:rPr lang="de-DE" dirty="0"/>
              <a:t>E → •T</a:t>
            </a:r>
            <a:br>
              <a:rPr lang="de-DE" dirty="0"/>
            </a:br>
            <a:r>
              <a:rPr lang="de-DE" dirty="0"/>
              <a:t>T → •T * F</a:t>
            </a:r>
            <a:br>
              <a:rPr lang="de-DE" dirty="0"/>
            </a:br>
            <a:r>
              <a:rPr lang="de-DE" dirty="0"/>
              <a:t>T → •F</a:t>
            </a:r>
            <a:br>
              <a:rPr lang="de-DE" dirty="0"/>
            </a:br>
            <a:r>
              <a:rPr lang="de-DE" dirty="0"/>
              <a:t>F → •id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3912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685801"/>
            <a:ext cx="8940800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0634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397000"/>
            <a:ext cx="10098125" cy="436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9329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34A8-3570-432D-BBBB-D7241936F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9391E7-C625-4A27-8FD0-A81A289A5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381001"/>
            <a:ext cx="5588000" cy="6348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BED87E-A9EE-4156-B1FF-A4E0ED416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584200"/>
            <a:ext cx="55880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390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Table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 (E) = First (E + T) ∪ First (T)</a:t>
            </a:r>
          </a:p>
          <a:p>
            <a:r>
              <a:rPr lang="en-US" dirty="0"/>
              <a:t>First (T) = First (T * F) ∪ First (F)</a:t>
            </a:r>
          </a:p>
          <a:p>
            <a:r>
              <a:rPr lang="en-US" dirty="0"/>
              <a:t>First (F) = {id}</a:t>
            </a:r>
          </a:p>
          <a:p>
            <a:r>
              <a:rPr lang="en-US" dirty="0"/>
              <a:t>First (T) = {id}</a:t>
            </a:r>
          </a:p>
          <a:p>
            <a:r>
              <a:rPr lang="en-US" dirty="0"/>
              <a:t>First (E) = {id}</a:t>
            </a:r>
          </a:p>
          <a:p>
            <a:r>
              <a:rPr lang="en-US" dirty="0"/>
              <a:t>Follow (E) = First (+T) ∪ {$} = {+, $}</a:t>
            </a:r>
          </a:p>
          <a:p>
            <a:r>
              <a:rPr lang="en-US" dirty="0"/>
              <a:t>Follow (T) = First (*F) ∪ First (F)</a:t>
            </a:r>
          </a:p>
          <a:p>
            <a:r>
              <a:rPr lang="en-US" dirty="0"/>
              <a:t>               = {*, +, $}</a:t>
            </a:r>
          </a:p>
          <a:p>
            <a:r>
              <a:rPr lang="en-US" dirty="0"/>
              <a:t>Follow (F) = {*, +, $}</a:t>
            </a:r>
          </a:p>
        </p:txBody>
      </p:sp>
    </p:spTree>
    <p:extLst>
      <p:ext uri="{BB962C8B-B14F-4D97-AF65-F5344CB8AC3E}">
        <p14:creationId xmlns:p14="http://schemas.microsoft.com/office/powerpoint/2010/main" val="36302486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I1 contains the final item which drives S → E• and follow (S) = {$}, so action {I1, $} = Accept </a:t>
            </a:r>
          </a:p>
          <a:p>
            <a:r>
              <a:rPr lang="en-US" dirty="0"/>
              <a:t>I2 contains the final item which drives E → T• and follow (E) = {+, $}, so action {I2, +} = R2, action {I2, $} = R2</a:t>
            </a:r>
          </a:p>
          <a:p>
            <a:r>
              <a:rPr lang="en-US" dirty="0"/>
              <a:t>I3 contains the final item which drives T → F• and follow (T) = {+, *, $}, so action {I3, +} = R4, action {I3, *} = R4, action {I3, $} = R4</a:t>
            </a:r>
          </a:p>
        </p:txBody>
      </p:sp>
    </p:spTree>
    <p:extLst>
      <p:ext uri="{BB962C8B-B14F-4D97-AF65-F5344CB8AC3E}">
        <p14:creationId xmlns:p14="http://schemas.microsoft.com/office/powerpoint/2010/main" val="40913434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I4 contains the final item which drives F → id• and follow (F) = {+, *, $}, so action {I4, +} = R5, action {I4, *} = R5, action {I4, $} = R5</a:t>
            </a:r>
          </a:p>
          <a:p>
            <a:r>
              <a:rPr lang="en-US" dirty="0"/>
              <a:t>I7 contains the final item which drives E → E + T• and follow (E) = {+, $}, so action {I7, +} = R1, action {I7, $} = R1</a:t>
            </a:r>
          </a:p>
          <a:p>
            <a:r>
              <a:rPr lang="en-US" dirty="0"/>
              <a:t>I8 contains the final item which drives T → T * F• and follow (T) = {+, *, $}, so action {I8, +} = R3, action {I8, *} = R3, action {I8, $} = R3</a:t>
            </a:r>
          </a:p>
        </p:txBody>
      </p:sp>
    </p:spTree>
    <p:extLst>
      <p:ext uri="{BB962C8B-B14F-4D97-AF65-F5344CB8AC3E}">
        <p14:creationId xmlns:p14="http://schemas.microsoft.com/office/powerpoint/2010/main" val="27928622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F75AE-2C4B-4AF1-AEFE-832274C0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4AF6F-F950-4610-B5F0-DE0E8FC7F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RR- Reduce </a:t>
            </a:r>
            <a:r>
              <a:rPr lang="en-US" dirty="0" err="1"/>
              <a:t>Reduce</a:t>
            </a:r>
            <a:r>
              <a:rPr lang="en-US" dirty="0"/>
              <a:t> Conflicts</a:t>
            </a:r>
          </a:p>
          <a:p>
            <a:r>
              <a:rPr lang="en-US" dirty="0"/>
              <a:t>A grammar</a:t>
            </a:r>
          </a:p>
          <a:p>
            <a:pPr lvl="1"/>
            <a:r>
              <a:rPr lang="en-US" dirty="0"/>
              <a:t>A-&gt;a</a:t>
            </a:r>
            <a:br>
              <a:rPr lang="en-US" dirty="0"/>
            </a:br>
            <a:r>
              <a:rPr lang="en-US" dirty="0"/>
              <a:t>B-&gt;b</a:t>
            </a:r>
            <a:br>
              <a:rPr lang="en-US" dirty="0"/>
            </a:br>
            <a:r>
              <a:rPr lang="en-US" dirty="0"/>
              <a:t>C-&gt;</a:t>
            </a:r>
            <a:r>
              <a:rPr lang="en-US" dirty="0" err="1"/>
              <a:t>aB</a:t>
            </a:r>
            <a:endParaRPr lang="en-US" dirty="0"/>
          </a:p>
          <a:p>
            <a:r>
              <a:rPr lang="en-US" dirty="0"/>
              <a:t>Augmented Grammar</a:t>
            </a:r>
          </a:p>
          <a:p>
            <a:pPr lvl="1"/>
            <a:r>
              <a:rPr lang="en-US" dirty="0"/>
              <a:t>S-&gt;.A</a:t>
            </a:r>
            <a:br>
              <a:rPr lang="en-US" dirty="0"/>
            </a:br>
            <a:r>
              <a:rPr lang="en-US" dirty="0"/>
              <a:t>A-&gt;.a</a:t>
            </a:r>
            <a:br>
              <a:rPr lang="en-US" dirty="0"/>
            </a:br>
            <a:r>
              <a:rPr lang="en-US" dirty="0"/>
              <a:t>B-&gt;.b</a:t>
            </a:r>
            <a:br>
              <a:rPr lang="en-US" dirty="0"/>
            </a:br>
            <a:r>
              <a:rPr lang="en-US" dirty="0"/>
              <a:t>C-&gt;.</a:t>
            </a:r>
            <a:r>
              <a:rPr lang="en-US" dirty="0" err="1"/>
              <a:t>aB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3403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C559-A22C-51F4-ABFF-14442BDF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this examples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61DE0-C6AB-D10D-B461-34458EDFC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GB" dirty="0">
                <a:sym typeface="Wingdings" panose="05000000000000000000" pitchFamily="2" charset="2"/>
              </a:rPr>
              <a:t>E</a:t>
            </a:r>
          </a:p>
          <a:p>
            <a:r>
              <a:rPr lang="en-GB" dirty="0" err="1">
                <a:sym typeface="Wingdings" panose="05000000000000000000" pitchFamily="2" charset="2"/>
              </a:rPr>
              <a:t>Eif</a:t>
            </a:r>
            <a:r>
              <a:rPr lang="en-GB" dirty="0">
                <a:sym typeface="Wingdings" panose="05000000000000000000" pitchFamily="2" charset="2"/>
              </a:rPr>
              <a:t> E then E</a:t>
            </a:r>
          </a:p>
          <a:p>
            <a:r>
              <a:rPr lang="en-GB" dirty="0" err="1">
                <a:sym typeface="Wingdings" panose="05000000000000000000" pitchFamily="2" charset="2"/>
              </a:rPr>
              <a:t>Eif</a:t>
            </a:r>
            <a:r>
              <a:rPr lang="en-GB" dirty="0">
                <a:sym typeface="Wingdings" panose="05000000000000000000" pitchFamily="2" charset="2"/>
              </a:rPr>
              <a:t> E then E else E</a:t>
            </a:r>
          </a:p>
          <a:p>
            <a:r>
              <a:rPr lang="en-GB" dirty="0" err="1">
                <a:sym typeface="Wingdings" panose="05000000000000000000" pitchFamily="2" charset="2"/>
              </a:rPr>
              <a:t>Eid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453154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This Example on LR Parser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1496" y="2160927"/>
            <a:ext cx="4914361" cy="221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600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99" y="2822801"/>
            <a:ext cx="5583328" cy="161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85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Ff</a:t>
            </a:r>
            <a:r>
              <a:rPr lang="en-GB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204" y="2843212"/>
            <a:ext cx="2888796" cy="1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4342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r>
              <a:rPr lang="en-GB" dirty="0"/>
              <a:t>Compilers: Principles, Techniques, and Tools 2nd Edition</a:t>
            </a:r>
            <a:br>
              <a:rPr lang="en-GB" dirty="0"/>
            </a:br>
            <a:r>
              <a:rPr lang="en-GB" dirty="0"/>
              <a:t> by Alfred </a:t>
            </a:r>
            <a:r>
              <a:rPr lang="en-GB" dirty="0" err="1"/>
              <a:t>Aho</a:t>
            </a:r>
            <a:r>
              <a:rPr lang="en-GB" dirty="0"/>
              <a:t> , Jeffrey Ullman, Ravi </a:t>
            </a:r>
            <a:r>
              <a:rPr lang="en-GB" dirty="0" err="1"/>
              <a:t>Sethi</a:t>
            </a:r>
            <a:r>
              <a:rPr lang="en-GB" dirty="0"/>
              <a:t>, Monica Lam</a:t>
            </a:r>
          </a:p>
          <a:p>
            <a:endParaRPr lang="en-GB" dirty="0"/>
          </a:p>
          <a:p>
            <a:r>
              <a:rPr lang="en-GB" dirty="0"/>
              <a:t>Introduction to Compilers and Language Design | Second Edition | </a:t>
            </a:r>
            <a:r>
              <a:rPr lang="en-GB" dirty="0" err="1"/>
              <a:t>Prof.</a:t>
            </a:r>
            <a:r>
              <a:rPr lang="en-GB" dirty="0"/>
              <a:t> Douglas </a:t>
            </a:r>
            <a:r>
              <a:rPr lang="en-GB" dirty="0" err="1"/>
              <a:t>Thain</a:t>
            </a:r>
            <a:r>
              <a:rPr lang="en-GB" dirty="0"/>
              <a:t> - University of Notre Dame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78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20533</TotalTime>
  <Words>3212</Words>
  <Application>Microsoft Office PowerPoint</Application>
  <PresentationFormat>Widescreen</PresentationFormat>
  <Paragraphs>327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Calibri Light</vt:lpstr>
      <vt:lpstr>Times New Roman</vt:lpstr>
      <vt:lpstr>Wingdings</vt:lpstr>
      <vt:lpstr>Office Theme</vt:lpstr>
      <vt:lpstr>Compiler Construction</vt:lpstr>
      <vt:lpstr>Week 7:</vt:lpstr>
      <vt:lpstr>Bottom Up Parsing </vt:lpstr>
      <vt:lpstr>Reduction</vt:lpstr>
      <vt:lpstr>Handle Pruning </vt:lpstr>
      <vt:lpstr>Handle Pruning </vt:lpstr>
      <vt:lpstr>Shift Reducing Parsing</vt:lpstr>
      <vt:lpstr>PowerPoint Presentation</vt:lpstr>
      <vt:lpstr> Examples</vt:lpstr>
      <vt:lpstr>Conflicts in Shift Reduce Parsing</vt:lpstr>
      <vt:lpstr>Shift Reduce Conflicts</vt:lpstr>
      <vt:lpstr>Reduce/Reduce Conflicts</vt:lpstr>
      <vt:lpstr>Solution for Conflicts</vt:lpstr>
      <vt:lpstr>Shift Reduce Conflicts (solved</vt:lpstr>
      <vt:lpstr>LR(0) Introduction to LR Parsing: Simple LR </vt:lpstr>
      <vt:lpstr>LR Parsers</vt:lpstr>
      <vt:lpstr>Why LR Parser</vt:lpstr>
      <vt:lpstr>Why LR Parser</vt:lpstr>
      <vt:lpstr>Items and LR(0) Automation</vt:lpstr>
      <vt:lpstr>Items and LR(0) Automation</vt:lpstr>
      <vt:lpstr>PowerPoint Presentation</vt:lpstr>
      <vt:lpstr>Augmented Grammar</vt:lpstr>
      <vt:lpstr>Closure()</vt:lpstr>
      <vt:lpstr>GOTO()</vt:lpstr>
      <vt:lpstr>PowerPoint Presentation</vt:lpstr>
      <vt:lpstr>Constructing Canonical Items</vt:lpstr>
      <vt:lpstr>LR Parsing Algorithm</vt:lpstr>
      <vt:lpstr>PowerPoint Presentation</vt:lpstr>
      <vt:lpstr>PowerPoint Presentation</vt:lpstr>
      <vt:lpstr>PowerPoint Presentation</vt:lpstr>
      <vt:lpstr>PowerPoint Presentation</vt:lpstr>
      <vt:lpstr>Example of LR(0) Parser</vt:lpstr>
      <vt:lpstr>Explanation of Graph (Data Flow Graph)</vt:lpstr>
      <vt:lpstr>Explanation of Graph (Data Flow Graph)</vt:lpstr>
      <vt:lpstr>PowerPoint Presentation</vt:lpstr>
      <vt:lpstr>Explanation of creating table</vt:lpstr>
      <vt:lpstr>Explanation of creating table</vt:lpstr>
      <vt:lpstr>STEP 2 –  Find LR(0) collection of items</vt:lpstr>
      <vt:lpstr>PowerPoint Presentation</vt:lpstr>
      <vt:lpstr>PowerPoint Presentation</vt:lpstr>
      <vt:lpstr>Try This Example</vt:lpstr>
      <vt:lpstr>SLR(1) Parser</vt:lpstr>
      <vt:lpstr>Various steps involved in the SLR (1) Parsing:</vt:lpstr>
      <vt:lpstr>PowerPoint Presentation</vt:lpstr>
      <vt:lpstr>The steps which use to construct SLR (1) Table is given below:</vt:lpstr>
      <vt:lpstr>Steps Diagrams</vt:lpstr>
      <vt:lpstr>Example of SLR(1)</vt:lpstr>
      <vt:lpstr>PowerPoint Presentation</vt:lpstr>
      <vt:lpstr>PowerPoint Presentation</vt:lpstr>
      <vt:lpstr>PowerPoint Presentation</vt:lpstr>
      <vt:lpstr>Explanation of Table Creation</vt:lpstr>
      <vt:lpstr>PowerPoint Presentation</vt:lpstr>
      <vt:lpstr>PowerPoint Presentation</vt:lpstr>
      <vt:lpstr>Conflicts</vt:lpstr>
      <vt:lpstr>Try this examples</vt:lpstr>
      <vt:lpstr>Try This Example on LR Parser</vt:lpstr>
      <vt:lpstr>Another Example</vt:lpstr>
      <vt:lpstr>Another Example</vt:lpstr>
      <vt:lpstr>Reference: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Construction</dc:title>
  <dc:creator>Zufiqar Ali</dc:creator>
  <cp:lastModifiedBy>Tesla Laptops</cp:lastModifiedBy>
  <cp:revision>1002</cp:revision>
  <dcterms:created xsi:type="dcterms:W3CDTF">2025-08-08T09:42:33Z</dcterms:created>
  <dcterms:modified xsi:type="dcterms:W3CDTF">2026-03-25T09:07:43Z</dcterms:modified>
</cp:coreProperties>
</file>