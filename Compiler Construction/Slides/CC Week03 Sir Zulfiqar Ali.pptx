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56" r:id="rId2"/>
    <p:sldId id="261" r:id="rId3"/>
    <p:sldId id="273" r:id="rId4"/>
    <p:sldId id="274" r:id="rId5"/>
    <p:sldId id="275" r:id="rId6"/>
    <p:sldId id="276" r:id="rId7"/>
    <p:sldId id="277" r:id="rId8"/>
    <p:sldId id="278" r:id="rId9"/>
    <p:sldId id="280" r:id="rId10"/>
    <p:sldId id="282" r:id="rId11"/>
    <p:sldId id="281" r:id="rId12"/>
    <p:sldId id="279" r:id="rId13"/>
    <p:sldId id="283" r:id="rId14"/>
    <p:sldId id="284" r:id="rId15"/>
    <p:sldId id="285" r:id="rId16"/>
    <p:sldId id="286" r:id="rId17"/>
    <p:sldId id="287" r:id="rId18"/>
    <p:sldId id="288" r:id="rId19"/>
    <p:sldId id="289" r:id="rId20"/>
    <p:sldId id="290" r:id="rId21"/>
    <p:sldId id="291" r:id="rId22"/>
    <p:sldId id="292" r:id="rId23"/>
    <p:sldId id="272"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15" autoAdjust="0"/>
    <p:restoredTop sz="94660"/>
  </p:normalViewPr>
  <p:slideViewPr>
    <p:cSldViewPr snapToGrid="0">
      <p:cViewPr varScale="1">
        <p:scale>
          <a:sx n="89" d="100"/>
          <a:sy n="89" d="100"/>
        </p:scale>
        <p:origin x="120" y="1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19E53E1-CEB2-494C-8775-D8A99ED827E9}" type="datetimeFigureOut">
              <a:rPr lang="en-GB" smtClean="0"/>
              <a:t>27/08/2025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77A4238-B7B9-460B-BE74-ADFB88CFFB6C}" type="slidenum">
              <a:rPr lang="en-GB" smtClean="0"/>
              <a:t>‹#›</a:t>
            </a:fld>
            <a:endParaRPr lang="en-GB"/>
          </a:p>
        </p:txBody>
      </p:sp>
    </p:spTree>
    <p:extLst>
      <p:ext uri="{BB962C8B-B14F-4D97-AF65-F5344CB8AC3E}">
        <p14:creationId xmlns:p14="http://schemas.microsoft.com/office/powerpoint/2010/main" val="40190461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p>
            <a:fld id="{84F1EA38-8D09-4040-A9B0-3F77DCDCC836}" type="datetimeFigureOut">
              <a:rPr lang="en-GB" smtClean="0"/>
              <a:t>27/08/2025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8EDA373-3783-415D-A360-F08463BF1C8E}" type="slidenum">
              <a:rPr lang="en-GB" smtClean="0"/>
              <a:t>‹#›</a:t>
            </a:fld>
            <a:endParaRPr lang="en-GB"/>
          </a:p>
        </p:txBody>
      </p:sp>
    </p:spTree>
    <p:extLst>
      <p:ext uri="{BB962C8B-B14F-4D97-AF65-F5344CB8AC3E}">
        <p14:creationId xmlns:p14="http://schemas.microsoft.com/office/powerpoint/2010/main" val="34271682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84F1EA38-8D09-4040-A9B0-3F77DCDCC836}" type="datetimeFigureOut">
              <a:rPr lang="en-GB" smtClean="0"/>
              <a:t>27/08/2025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8EDA373-3783-415D-A360-F08463BF1C8E}" type="slidenum">
              <a:rPr lang="en-GB" smtClean="0"/>
              <a:t>‹#›</a:t>
            </a:fld>
            <a:endParaRPr lang="en-GB"/>
          </a:p>
        </p:txBody>
      </p:sp>
    </p:spTree>
    <p:extLst>
      <p:ext uri="{BB962C8B-B14F-4D97-AF65-F5344CB8AC3E}">
        <p14:creationId xmlns:p14="http://schemas.microsoft.com/office/powerpoint/2010/main" val="8255816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GB"/>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84F1EA38-8D09-4040-A9B0-3F77DCDCC836}" type="datetimeFigureOut">
              <a:rPr lang="en-GB" smtClean="0"/>
              <a:t>27/08/2025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8EDA373-3783-415D-A360-F08463BF1C8E}" type="slidenum">
              <a:rPr lang="en-GB" smtClean="0"/>
              <a:t>‹#›</a:t>
            </a:fld>
            <a:endParaRPr lang="en-GB"/>
          </a:p>
        </p:txBody>
      </p:sp>
    </p:spTree>
    <p:extLst>
      <p:ext uri="{BB962C8B-B14F-4D97-AF65-F5344CB8AC3E}">
        <p14:creationId xmlns:p14="http://schemas.microsoft.com/office/powerpoint/2010/main" val="34658037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4"/>
          <p:cNvSpPr>
            <a:spLocks noGrp="1"/>
          </p:cNvSpPr>
          <p:nvPr>
            <p:ph type="dt" sz="half" idx="10"/>
          </p:nvPr>
        </p:nvSpPr>
        <p:spPr/>
        <p:txBody>
          <a:bodyPr/>
          <a:lstStyle/>
          <a:p>
            <a:fld id="{84F1EA38-8D09-4040-A9B0-3F77DCDCC836}" type="datetimeFigureOut">
              <a:rPr lang="en-GB" smtClean="0"/>
              <a:t>27/08/2025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28EDA373-3783-415D-A360-F08463BF1C8E}" type="slidenum">
              <a:rPr lang="en-GB" smtClean="0"/>
              <a:t>‹#›</a:t>
            </a:fld>
            <a:endParaRPr lang="en-GB"/>
          </a:p>
        </p:txBody>
      </p:sp>
    </p:spTree>
    <p:extLst>
      <p:ext uri="{BB962C8B-B14F-4D97-AF65-F5344CB8AC3E}">
        <p14:creationId xmlns:p14="http://schemas.microsoft.com/office/powerpoint/2010/main" val="11106018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GB"/>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6"/>
          <p:cNvSpPr>
            <a:spLocks noGrp="1"/>
          </p:cNvSpPr>
          <p:nvPr>
            <p:ph type="dt" sz="half" idx="10"/>
          </p:nvPr>
        </p:nvSpPr>
        <p:spPr/>
        <p:txBody>
          <a:bodyPr/>
          <a:lstStyle/>
          <a:p>
            <a:fld id="{84F1EA38-8D09-4040-A9B0-3F77DCDCC836}" type="datetimeFigureOut">
              <a:rPr lang="en-GB" smtClean="0"/>
              <a:t>27/08/2025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28EDA373-3783-415D-A360-F08463BF1C8E}" type="slidenum">
              <a:rPr lang="en-GB" smtClean="0"/>
              <a:t>‹#›</a:t>
            </a:fld>
            <a:endParaRPr lang="en-GB"/>
          </a:p>
        </p:txBody>
      </p:sp>
    </p:spTree>
    <p:extLst>
      <p:ext uri="{BB962C8B-B14F-4D97-AF65-F5344CB8AC3E}">
        <p14:creationId xmlns:p14="http://schemas.microsoft.com/office/powerpoint/2010/main" val="11520254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2"/>
          <p:cNvSpPr>
            <a:spLocks noGrp="1"/>
          </p:cNvSpPr>
          <p:nvPr>
            <p:ph type="dt" sz="half" idx="10"/>
          </p:nvPr>
        </p:nvSpPr>
        <p:spPr/>
        <p:txBody>
          <a:bodyPr/>
          <a:lstStyle/>
          <a:p>
            <a:fld id="{84F1EA38-8D09-4040-A9B0-3F77DCDCC836}" type="datetimeFigureOut">
              <a:rPr lang="en-GB" smtClean="0"/>
              <a:t>27/08/2025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28EDA373-3783-415D-A360-F08463BF1C8E}" type="slidenum">
              <a:rPr lang="en-GB" smtClean="0"/>
              <a:t>‹#›</a:t>
            </a:fld>
            <a:endParaRPr lang="en-GB"/>
          </a:p>
        </p:txBody>
      </p:sp>
    </p:spTree>
    <p:extLst>
      <p:ext uri="{BB962C8B-B14F-4D97-AF65-F5344CB8AC3E}">
        <p14:creationId xmlns:p14="http://schemas.microsoft.com/office/powerpoint/2010/main" val="20315546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F1EA38-8D09-4040-A9B0-3F77DCDCC836}" type="datetimeFigureOut">
              <a:rPr lang="en-GB" smtClean="0"/>
              <a:t>27/08/2025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28EDA373-3783-415D-A360-F08463BF1C8E}" type="slidenum">
              <a:rPr lang="en-GB" smtClean="0"/>
              <a:t>‹#›</a:t>
            </a:fld>
            <a:endParaRPr lang="en-GB"/>
          </a:p>
        </p:txBody>
      </p:sp>
    </p:spTree>
    <p:extLst>
      <p:ext uri="{BB962C8B-B14F-4D97-AF65-F5344CB8AC3E}">
        <p14:creationId xmlns:p14="http://schemas.microsoft.com/office/powerpoint/2010/main" val="23435443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GB"/>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84F1EA38-8D09-4040-A9B0-3F77DCDCC836}" type="datetimeFigureOut">
              <a:rPr lang="en-GB" smtClean="0"/>
              <a:t>27/08/2025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28EDA373-3783-415D-A360-F08463BF1C8E}" type="slidenum">
              <a:rPr lang="en-GB" smtClean="0"/>
              <a:t>‹#›</a:t>
            </a:fld>
            <a:endParaRPr lang="en-GB"/>
          </a:p>
        </p:txBody>
      </p:sp>
    </p:spTree>
    <p:extLst>
      <p:ext uri="{BB962C8B-B14F-4D97-AF65-F5344CB8AC3E}">
        <p14:creationId xmlns:p14="http://schemas.microsoft.com/office/powerpoint/2010/main" val="41561629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GB"/>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84F1EA38-8D09-4040-A9B0-3F77DCDCC836}" type="datetimeFigureOut">
              <a:rPr lang="en-GB" smtClean="0"/>
              <a:t>27/08/2025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28EDA373-3783-415D-A360-F08463BF1C8E}" type="slidenum">
              <a:rPr lang="en-GB" smtClean="0"/>
              <a:t>‹#›</a:t>
            </a:fld>
            <a:endParaRPr lang="en-GB"/>
          </a:p>
        </p:txBody>
      </p:sp>
    </p:spTree>
    <p:extLst>
      <p:ext uri="{BB962C8B-B14F-4D97-AF65-F5344CB8AC3E}">
        <p14:creationId xmlns:p14="http://schemas.microsoft.com/office/powerpoint/2010/main" val="22340395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84F1EA38-8D09-4040-A9B0-3F77DCDCC836}" type="datetimeFigureOut">
              <a:rPr lang="en-GB" smtClean="0"/>
              <a:t>27/08/2025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8EDA373-3783-415D-A360-F08463BF1C8E}" type="slidenum">
              <a:rPr lang="en-GB" smtClean="0"/>
              <a:t>‹#›</a:t>
            </a:fld>
            <a:endParaRPr lang="en-GB"/>
          </a:p>
        </p:txBody>
      </p:sp>
    </p:spTree>
    <p:extLst>
      <p:ext uri="{BB962C8B-B14F-4D97-AF65-F5344CB8AC3E}">
        <p14:creationId xmlns:p14="http://schemas.microsoft.com/office/powerpoint/2010/main" val="14016077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84F1EA38-8D09-4040-A9B0-3F77DCDCC836}" type="datetimeFigureOut">
              <a:rPr lang="en-GB" smtClean="0"/>
              <a:t>27/08/2025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8EDA373-3783-415D-A360-F08463BF1C8E}" type="slidenum">
              <a:rPr lang="en-GB" smtClean="0"/>
              <a:t>‹#›</a:t>
            </a:fld>
            <a:endParaRPr lang="en-GB"/>
          </a:p>
        </p:txBody>
      </p:sp>
    </p:spTree>
    <p:extLst>
      <p:ext uri="{BB962C8B-B14F-4D97-AF65-F5344CB8AC3E}">
        <p14:creationId xmlns:p14="http://schemas.microsoft.com/office/powerpoint/2010/main" val="4936921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GB"/>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F1EA38-8D09-4040-A9B0-3F77DCDCC836}" type="datetimeFigureOut">
              <a:rPr lang="en-GB" smtClean="0"/>
              <a:t>27/08/2025</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8EDA373-3783-415D-A360-F08463BF1C8E}" type="slidenum">
              <a:rPr lang="en-GB" smtClean="0"/>
              <a:t>‹#›</a:t>
            </a:fld>
            <a:endParaRPr lang="en-GB"/>
          </a:p>
        </p:txBody>
      </p:sp>
    </p:spTree>
    <p:extLst>
      <p:ext uri="{BB962C8B-B14F-4D97-AF65-F5344CB8AC3E}">
        <p14:creationId xmlns:p14="http://schemas.microsoft.com/office/powerpoint/2010/main" val="34142150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Zulfiqar.rafique@nu.edu.pk"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smtClean="0"/>
              <a:t>Compiler Construction</a:t>
            </a:r>
            <a:endParaRPr lang="en-GB" dirty="0"/>
          </a:p>
        </p:txBody>
      </p:sp>
      <p:sp>
        <p:nvSpPr>
          <p:cNvPr id="3" name="Subtitle 2"/>
          <p:cNvSpPr>
            <a:spLocks noGrp="1"/>
          </p:cNvSpPr>
          <p:nvPr>
            <p:ph type="subTitle" idx="1"/>
          </p:nvPr>
        </p:nvSpPr>
        <p:spPr/>
        <p:txBody>
          <a:bodyPr/>
          <a:lstStyle/>
          <a:p>
            <a:r>
              <a:rPr lang="en-GB" dirty="0" smtClean="0"/>
              <a:t>Teacher : Zulfiqar Ali</a:t>
            </a:r>
          </a:p>
          <a:p>
            <a:r>
              <a:rPr lang="en-GB" dirty="0" smtClean="0"/>
              <a:t>Email: </a:t>
            </a:r>
            <a:r>
              <a:rPr lang="en-GB" dirty="0" smtClean="0">
                <a:hlinkClick r:id="rId2"/>
              </a:rPr>
              <a:t>Zulfiqar.rafique@nu.edu.pk</a:t>
            </a:r>
            <a:endParaRPr lang="en-GB" dirty="0" smtClean="0"/>
          </a:p>
          <a:p>
            <a:r>
              <a:rPr lang="en-GB" dirty="0"/>
              <a:t>Office: No.6,Basement -1 (CS Block 1)</a:t>
            </a:r>
          </a:p>
          <a:p>
            <a:endParaRPr lang="en-GB" dirty="0"/>
          </a:p>
        </p:txBody>
      </p:sp>
    </p:spTree>
    <p:extLst>
      <p:ext uri="{BB962C8B-B14F-4D97-AF65-F5344CB8AC3E}">
        <p14:creationId xmlns:p14="http://schemas.microsoft.com/office/powerpoint/2010/main" val="40885785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smtClean="0"/>
              <a:t>Week </a:t>
            </a:r>
            <a:r>
              <a:rPr lang="en-GB" b="1" dirty="0" smtClean="0"/>
              <a:t>3:</a:t>
            </a:r>
            <a:endParaRPr lang="en-GB" b="1" dirty="0"/>
          </a:p>
        </p:txBody>
      </p:sp>
      <p:sp>
        <p:nvSpPr>
          <p:cNvPr id="3" name="Content Placeholder 2"/>
          <p:cNvSpPr>
            <a:spLocks noGrp="1"/>
          </p:cNvSpPr>
          <p:nvPr>
            <p:ph idx="1"/>
          </p:nvPr>
        </p:nvSpPr>
        <p:spPr/>
        <p:txBody>
          <a:bodyPr/>
          <a:lstStyle/>
          <a:p>
            <a:r>
              <a:rPr lang="en-GB" dirty="0" smtClean="0"/>
              <a:t>Lexical Analyser Tools</a:t>
            </a:r>
          </a:p>
          <a:p>
            <a:r>
              <a:rPr lang="en-GB" dirty="0" smtClean="0"/>
              <a:t>Regex</a:t>
            </a:r>
          </a:p>
          <a:p>
            <a:r>
              <a:rPr lang="en-GB" dirty="0" smtClean="0"/>
              <a:t>Lex</a:t>
            </a:r>
            <a:endParaRPr lang="en-GB" dirty="0"/>
          </a:p>
        </p:txBody>
      </p:sp>
    </p:spTree>
    <p:extLst>
      <p:ext uri="{BB962C8B-B14F-4D97-AF65-F5344CB8AC3E}">
        <p14:creationId xmlns:p14="http://schemas.microsoft.com/office/powerpoint/2010/main" val="35662676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Compiler Construction Tools</a:t>
            </a:r>
            <a:endParaRPr lang="en-GB" dirty="0"/>
          </a:p>
        </p:txBody>
      </p:sp>
      <p:sp>
        <p:nvSpPr>
          <p:cNvPr id="3" name="Content Placeholder 2"/>
          <p:cNvSpPr>
            <a:spLocks noGrp="1"/>
          </p:cNvSpPr>
          <p:nvPr>
            <p:ph idx="1"/>
          </p:nvPr>
        </p:nvSpPr>
        <p:spPr/>
        <p:txBody>
          <a:bodyPr>
            <a:normAutofit fontScale="85000" lnSpcReduction="10000"/>
          </a:bodyPr>
          <a:lstStyle/>
          <a:p>
            <a:r>
              <a:rPr lang="en-GB" b="1" dirty="0" err="1" smtClean="0"/>
              <a:t>Jflap</a:t>
            </a:r>
            <a:r>
              <a:rPr lang="en-GB" b="1" dirty="0"/>
              <a:t>: </a:t>
            </a:r>
            <a:r>
              <a:rPr lang="en-GB" dirty="0"/>
              <a:t>JFLAP is software for experimenting with formal languages topics including nondeterministic finite automata, nondeterministic pushdown automata, multi-tape Turing machines, several types of grammars, parsing, and L-systems.</a:t>
            </a:r>
          </a:p>
          <a:p>
            <a:r>
              <a:rPr lang="en-GB" b="1" dirty="0" smtClean="0"/>
              <a:t>Regex</a:t>
            </a:r>
            <a:r>
              <a:rPr lang="en-GB" b="1" dirty="0"/>
              <a:t>: </a:t>
            </a:r>
            <a:r>
              <a:rPr lang="en-GB" dirty="0"/>
              <a:t>C++ offers a built-in regular expression library as part of its standard library, introduced in C++11. This library provides classes and functions for working with regular expressions, enabling tasks such as pattern matching, searching, and replacing within strings.</a:t>
            </a:r>
          </a:p>
          <a:p>
            <a:r>
              <a:rPr lang="en-GB" b="1" dirty="0" smtClean="0"/>
              <a:t>Flex </a:t>
            </a:r>
            <a:r>
              <a:rPr lang="en-GB" b="1" dirty="0"/>
              <a:t>&amp; Bison: </a:t>
            </a:r>
            <a:r>
              <a:rPr lang="en-GB" dirty="0"/>
              <a:t>These are widely used tools for generating lexical </a:t>
            </a:r>
            <a:r>
              <a:rPr lang="en-GB" dirty="0" err="1"/>
              <a:t>analyzers</a:t>
            </a:r>
            <a:r>
              <a:rPr lang="en-GB" dirty="0"/>
              <a:t> and parsers, respectively, and are often employed in C/C++ compiler </a:t>
            </a:r>
            <a:r>
              <a:rPr lang="en-GB" dirty="0" smtClean="0"/>
              <a:t>projects. (Lex for Lexical &amp; </a:t>
            </a:r>
            <a:r>
              <a:rPr lang="en-GB" dirty="0" err="1" smtClean="0"/>
              <a:t>Yacc</a:t>
            </a:r>
            <a:r>
              <a:rPr lang="en-GB" dirty="0" smtClean="0"/>
              <a:t> for Parsing)</a:t>
            </a:r>
          </a:p>
          <a:p>
            <a:r>
              <a:rPr lang="en-GB" b="1" dirty="0" err="1" smtClean="0"/>
              <a:t>Jflex</a:t>
            </a:r>
            <a:r>
              <a:rPr lang="en-GB" b="1" dirty="0"/>
              <a:t>: </a:t>
            </a:r>
            <a:r>
              <a:rPr lang="en-GB" dirty="0" err="1"/>
              <a:t>JFlex</a:t>
            </a:r>
            <a:r>
              <a:rPr lang="en-GB" dirty="0"/>
              <a:t> is a lexical </a:t>
            </a:r>
            <a:r>
              <a:rPr lang="en-GB" dirty="0" err="1"/>
              <a:t>analyzer</a:t>
            </a:r>
            <a:r>
              <a:rPr lang="en-GB" dirty="0"/>
              <a:t> generator for Java. It takes a specification with regular expressions and actions to generate a program (</a:t>
            </a:r>
            <a:r>
              <a:rPr lang="en-GB" dirty="0" err="1"/>
              <a:t>lexer</a:t>
            </a:r>
            <a:r>
              <a:rPr lang="en-GB" dirty="0"/>
              <a:t>) that reads input and matches it against the expressions to generate a token stream.</a:t>
            </a:r>
            <a:endParaRPr lang="en-GB" dirty="0" smtClean="0"/>
          </a:p>
          <a:p>
            <a:endParaRPr lang="en-GB" dirty="0"/>
          </a:p>
        </p:txBody>
      </p:sp>
    </p:spTree>
    <p:extLst>
      <p:ext uri="{BB962C8B-B14F-4D97-AF65-F5344CB8AC3E}">
        <p14:creationId xmlns:p14="http://schemas.microsoft.com/office/powerpoint/2010/main" val="15258902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Compiler Construction Tools</a:t>
            </a:r>
          </a:p>
        </p:txBody>
      </p:sp>
      <p:sp>
        <p:nvSpPr>
          <p:cNvPr id="3" name="Content Placeholder 2"/>
          <p:cNvSpPr>
            <a:spLocks noGrp="1"/>
          </p:cNvSpPr>
          <p:nvPr>
            <p:ph idx="1"/>
          </p:nvPr>
        </p:nvSpPr>
        <p:spPr/>
        <p:txBody>
          <a:bodyPr>
            <a:normAutofit fontScale="92500" lnSpcReduction="20000"/>
          </a:bodyPr>
          <a:lstStyle/>
          <a:p>
            <a:r>
              <a:rPr lang="en-GB" b="1" dirty="0"/>
              <a:t>ANTLR (Another Tool for Language Recognition) with semantic predicates:  </a:t>
            </a:r>
            <a:r>
              <a:rPr lang="en-GB" dirty="0"/>
              <a:t>is a powerful parser generator for reading, processing, executing, or translating structured text or binary files. Used for Syntax and Semantic </a:t>
            </a:r>
            <a:r>
              <a:rPr lang="en-GB" dirty="0" smtClean="0"/>
              <a:t>Analysis</a:t>
            </a:r>
            <a:endParaRPr lang="en-GB" b="1" dirty="0" smtClean="0"/>
          </a:p>
          <a:p>
            <a:r>
              <a:rPr lang="en-GB" b="1" dirty="0" smtClean="0"/>
              <a:t>LLVM(Low Level Virtual Machine)The </a:t>
            </a:r>
            <a:r>
              <a:rPr lang="en-GB" dirty="0"/>
              <a:t>LLVM Core libraries provide a modern source- and target-independent optimizer, along with code generation support for many popular </a:t>
            </a:r>
            <a:r>
              <a:rPr lang="en-GB" dirty="0" smtClean="0"/>
              <a:t>CPUs.</a:t>
            </a:r>
          </a:p>
          <a:p>
            <a:r>
              <a:rPr lang="en-GB" b="1" dirty="0"/>
              <a:t>ANTLR: Another Tool for Language </a:t>
            </a:r>
            <a:r>
              <a:rPr lang="en-GB" b="1" dirty="0" smtClean="0"/>
              <a:t>Recognition: </a:t>
            </a:r>
            <a:r>
              <a:rPr lang="en-GB" dirty="0" smtClean="0"/>
              <a:t>Provides </a:t>
            </a:r>
            <a:r>
              <a:rPr lang="en-GB" dirty="0"/>
              <a:t>scanning, parsing and </a:t>
            </a:r>
            <a:r>
              <a:rPr lang="en-GB" dirty="0" smtClean="0"/>
              <a:t>tree-walking functionalities</a:t>
            </a:r>
            <a:r>
              <a:rPr lang="en-GB" dirty="0"/>
              <a:t>, along with many </a:t>
            </a:r>
            <a:r>
              <a:rPr lang="en-GB" dirty="0" smtClean="0"/>
              <a:t>others. It supports for Java.</a:t>
            </a:r>
          </a:p>
          <a:p>
            <a:r>
              <a:rPr lang="en-GB" b="1" dirty="0" err="1"/>
              <a:t>JavaCC</a:t>
            </a:r>
            <a:r>
              <a:rPr lang="en-GB" b="1" dirty="0"/>
              <a:t>: </a:t>
            </a:r>
            <a:r>
              <a:rPr lang="en-GB" dirty="0"/>
              <a:t>Very popular parser </a:t>
            </a:r>
            <a:r>
              <a:rPr lang="en-GB" dirty="0" smtClean="0"/>
              <a:t>generator Takes </a:t>
            </a:r>
            <a:r>
              <a:rPr lang="en-GB" dirty="0"/>
              <a:t>as input a language, converts it to </a:t>
            </a:r>
            <a:r>
              <a:rPr lang="en-GB" dirty="0" smtClean="0"/>
              <a:t>a Java </a:t>
            </a:r>
            <a:r>
              <a:rPr lang="en-GB" dirty="0"/>
              <a:t>file, and then determines matches to </a:t>
            </a:r>
            <a:r>
              <a:rPr lang="en-GB" dirty="0" smtClean="0"/>
              <a:t>this language. Builds </a:t>
            </a:r>
            <a:r>
              <a:rPr lang="en-GB" dirty="0"/>
              <a:t>syntax trees according to a </a:t>
            </a:r>
            <a:r>
              <a:rPr lang="en-GB" dirty="0" smtClean="0"/>
              <a:t>given language </a:t>
            </a:r>
            <a:r>
              <a:rPr lang="en-GB" dirty="0"/>
              <a:t>using Java Tree Builder (JTB)</a:t>
            </a:r>
            <a:endParaRPr lang="en-GB" dirty="0" smtClean="0"/>
          </a:p>
          <a:p>
            <a:endParaRPr lang="en-GB" dirty="0"/>
          </a:p>
        </p:txBody>
      </p:sp>
    </p:spTree>
    <p:extLst>
      <p:ext uri="{BB962C8B-B14F-4D97-AF65-F5344CB8AC3E}">
        <p14:creationId xmlns:p14="http://schemas.microsoft.com/office/powerpoint/2010/main" val="23357335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smtClean="0"/>
              <a:t>Jflap</a:t>
            </a:r>
            <a:endParaRPr lang="en-GB" dirty="0"/>
          </a:p>
        </p:txBody>
      </p:sp>
      <p:sp>
        <p:nvSpPr>
          <p:cNvPr id="3" name="Content Placeholder 2"/>
          <p:cNvSpPr>
            <a:spLocks noGrp="1"/>
          </p:cNvSpPr>
          <p:nvPr>
            <p:ph idx="1"/>
          </p:nvPr>
        </p:nvSpPr>
        <p:spPr/>
        <p:txBody>
          <a:bodyPr/>
          <a:lstStyle/>
          <a:p>
            <a:r>
              <a:rPr lang="en-GB" dirty="0"/>
              <a:t>JFLAP program makes it possible to create and simulate automata. Learning about automata with pen and paper can be difficult, time consuming and error-prone. With JFLAP we can create automata of different types and it is easy to change them as we want. JFLAP supports creation of DFA and NFA, Regular Expressions, PDA, Turing Machines, Grammars and more. </a:t>
            </a:r>
            <a:endParaRPr lang="en-GB" dirty="0" smtClean="0"/>
          </a:p>
          <a:p>
            <a:endParaRPr lang="en-GB" dirty="0"/>
          </a:p>
        </p:txBody>
      </p:sp>
    </p:spTree>
    <p:extLst>
      <p:ext uri="{BB962C8B-B14F-4D97-AF65-F5344CB8AC3E}">
        <p14:creationId xmlns:p14="http://schemas.microsoft.com/office/powerpoint/2010/main" val="19205872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smtClean="0"/>
              <a:t>Jflap</a:t>
            </a:r>
            <a:r>
              <a:rPr lang="en-GB" dirty="0" smtClean="0"/>
              <a:t> Setup</a:t>
            </a:r>
            <a:endParaRPr lang="en-GB" dirty="0"/>
          </a:p>
        </p:txBody>
      </p:sp>
      <p:sp>
        <p:nvSpPr>
          <p:cNvPr id="3" name="Content Placeholder 2"/>
          <p:cNvSpPr>
            <a:spLocks noGrp="1"/>
          </p:cNvSpPr>
          <p:nvPr>
            <p:ph idx="1"/>
          </p:nvPr>
        </p:nvSpPr>
        <p:spPr/>
        <p:txBody>
          <a:bodyPr/>
          <a:lstStyle/>
          <a:p>
            <a:r>
              <a:rPr lang="en-GB" dirty="0"/>
              <a:t>JFLAP is available from the homepage: (www.JFLAP.org). From there press “Get FLAP” and follow the instructions. You will notice that JFLAP have a .JAR extension. This means that you need Java to run JFLAP. With Java correctly installed you can simply select the program to run it. You can also use a command console run it from the file’s current directory with, Java –jar JFLAP.jar. </a:t>
            </a:r>
          </a:p>
        </p:txBody>
      </p:sp>
    </p:spTree>
    <p:extLst>
      <p:ext uri="{BB962C8B-B14F-4D97-AF65-F5344CB8AC3E}">
        <p14:creationId xmlns:p14="http://schemas.microsoft.com/office/powerpoint/2010/main" val="12342821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Using </a:t>
            </a:r>
            <a:r>
              <a:rPr lang="en-GB" dirty="0" err="1" smtClean="0"/>
              <a:t>JFLap</a:t>
            </a:r>
            <a:endParaRPr lang="en-GB" dirty="0"/>
          </a:p>
        </p:txBody>
      </p:sp>
      <p:sp>
        <p:nvSpPr>
          <p:cNvPr id="3" name="Content Placeholder 2"/>
          <p:cNvSpPr>
            <a:spLocks noGrp="1"/>
          </p:cNvSpPr>
          <p:nvPr>
            <p:ph idx="1"/>
          </p:nvPr>
        </p:nvSpPr>
        <p:spPr/>
        <p:txBody>
          <a:bodyPr/>
          <a:lstStyle/>
          <a:p>
            <a:r>
              <a:rPr lang="en-US" dirty="0"/>
              <a:t>When you first start JFLAP you will see a small menu with a selection of eleven different automata and rule sets. Choosing one of them will open the editor where you create chosen type of automata. Usually you can create automata containing  states  and  transitions  but  there  is  also  creation  of Grammar and Regular Expression which is made with a text editor. </a:t>
            </a:r>
            <a:endParaRPr lang="en-GB" dirty="0"/>
          </a:p>
          <a:p>
            <a:endParaRPr lang="en-GB" dirty="0"/>
          </a:p>
        </p:txBody>
      </p:sp>
    </p:spTree>
    <p:extLst>
      <p:ext uri="{BB962C8B-B14F-4D97-AF65-F5344CB8AC3E}">
        <p14:creationId xmlns:p14="http://schemas.microsoft.com/office/powerpoint/2010/main" val="28937160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Finite Automata and Languages </a:t>
            </a:r>
          </a:p>
        </p:txBody>
      </p:sp>
      <p:sp>
        <p:nvSpPr>
          <p:cNvPr id="3" name="Content Placeholder 2"/>
          <p:cNvSpPr>
            <a:spLocks noGrp="1"/>
          </p:cNvSpPr>
          <p:nvPr>
            <p:ph idx="1"/>
          </p:nvPr>
        </p:nvSpPr>
        <p:spPr/>
        <p:txBody>
          <a:bodyPr/>
          <a:lstStyle/>
          <a:p>
            <a:r>
              <a:rPr lang="en-US" dirty="0"/>
              <a:t>The simplest type to begin with is Finite Automata, which is the first option from the selection menu. In JFLAP both DFA and NFA are created using Finite Automata. </a:t>
            </a:r>
            <a:endParaRPr lang="en-US" dirty="0" smtClean="0"/>
          </a:p>
          <a:p>
            <a:r>
              <a:rPr lang="en-US" dirty="0" smtClean="0"/>
              <a:t>Now </a:t>
            </a:r>
            <a:r>
              <a:rPr lang="en-US" dirty="0"/>
              <a:t>you should have an empty window in front of you. You will have a couple of tools and features at your disposal. </a:t>
            </a:r>
            <a:endParaRPr lang="en-GB" dirty="0"/>
          </a:p>
          <a:p>
            <a:endParaRPr lang="en-GB" dirty="0"/>
          </a:p>
          <a:p>
            <a:endParaRPr lang="en-GB" dirty="0"/>
          </a:p>
        </p:txBody>
      </p:sp>
      <p:pic>
        <p:nvPicPr>
          <p:cNvPr id="4" name="Picture 3"/>
          <p:cNvPicPr/>
          <p:nvPr/>
        </p:nvPicPr>
        <p:blipFill>
          <a:blip r:embed="rId2"/>
          <a:stretch>
            <a:fillRect/>
          </a:stretch>
        </p:blipFill>
        <p:spPr>
          <a:xfrm>
            <a:off x="8909965" y="2759598"/>
            <a:ext cx="2443835" cy="3552302"/>
          </a:xfrm>
          <a:prstGeom prst="rect">
            <a:avLst/>
          </a:prstGeom>
        </p:spPr>
      </p:pic>
      <p:grpSp>
        <p:nvGrpSpPr>
          <p:cNvPr id="5" name="Group 4"/>
          <p:cNvGrpSpPr/>
          <p:nvPr/>
        </p:nvGrpSpPr>
        <p:grpSpPr>
          <a:xfrm>
            <a:off x="1270019" y="4266808"/>
            <a:ext cx="4703445" cy="2273714"/>
            <a:chOff x="0" y="0"/>
            <a:chExt cx="4703445" cy="2274033"/>
          </a:xfrm>
        </p:grpSpPr>
        <p:pic>
          <p:nvPicPr>
            <p:cNvPr id="6" name="Picture 5"/>
            <p:cNvPicPr/>
            <p:nvPr/>
          </p:nvPicPr>
          <p:blipFill>
            <a:blip r:embed="rId3"/>
            <a:stretch>
              <a:fillRect/>
            </a:stretch>
          </p:blipFill>
          <p:spPr>
            <a:xfrm>
              <a:off x="2795270" y="898525"/>
              <a:ext cx="1908175" cy="705485"/>
            </a:xfrm>
            <a:prstGeom prst="rect">
              <a:avLst/>
            </a:prstGeom>
          </p:spPr>
        </p:pic>
        <p:sp>
          <p:nvSpPr>
            <p:cNvPr id="7" name="Rectangle 6"/>
            <p:cNvSpPr/>
            <p:nvPr/>
          </p:nvSpPr>
          <p:spPr>
            <a:xfrm>
              <a:off x="2610612" y="2067603"/>
              <a:ext cx="46619" cy="206430"/>
            </a:xfrm>
            <a:prstGeom prst="rect">
              <a:avLst/>
            </a:prstGeom>
            <a:ln>
              <a:noFill/>
            </a:ln>
          </p:spPr>
          <p:txBody>
            <a:bodyPr vert="horz" lIns="0" tIns="0" rIns="0" bIns="0" rtlCol="0">
              <a:noAutofit/>
            </a:bodyPr>
            <a:lstStyle/>
            <a:p>
              <a:pPr marL="6350" indent="-6350" algn="l">
                <a:lnSpc>
                  <a:spcPct val="107000"/>
                </a:lnSpc>
                <a:spcAft>
                  <a:spcPts val="800"/>
                </a:spcAft>
              </a:pPr>
              <a:r>
                <a:rPr lang="en-GB" sz="1100">
                  <a:solidFill>
                    <a:srgbClr val="000000"/>
                  </a:solidFill>
                  <a:effectLst/>
                  <a:latin typeface="Times New Roman" panose="02020603050405020304" pitchFamily="18" charset="0"/>
                  <a:ea typeface="Times New Roman" panose="02020603050405020304" pitchFamily="18" charset="0"/>
                </a:rPr>
                <a:t> </a:t>
              </a:r>
            </a:p>
          </p:txBody>
        </p:sp>
        <p:pic>
          <p:nvPicPr>
            <p:cNvPr id="8" name="Picture 7"/>
            <p:cNvPicPr/>
            <p:nvPr/>
          </p:nvPicPr>
          <p:blipFill>
            <a:blip r:embed="rId4"/>
            <a:stretch>
              <a:fillRect/>
            </a:stretch>
          </p:blipFill>
          <p:spPr>
            <a:xfrm>
              <a:off x="0" y="0"/>
              <a:ext cx="2611755" cy="2183130"/>
            </a:xfrm>
            <a:prstGeom prst="rect">
              <a:avLst/>
            </a:prstGeom>
          </p:spPr>
        </p:pic>
      </p:grpSp>
    </p:spTree>
    <p:extLst>
      <p:ext uri="{BB962C8B-B14F-4D97-AF65-F5344CB8AC3E}">
        <p14:creationId xmlns:p14="http://schemas.microsoft.com/office/powerpoint/2010/main" val="13692711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Finite Automata and Languages </a:t>
            </a:r>
          </a:p>
        </p:txBody>
      </p:sp>
      <p:sp>
        <p:nvSpPr>
          <p:cNvPr id="3" name="Content Placeholder 2"/>
          <p:cNvSpPr>
            <a:spLocks noGrp="1"/>
          </p:cNvSpPr>
          <p:nvPr>
            <p:ph idx="1"/>
          </p:nvPr>
        </p:nvSpPr>
        <p:spPr/>
        <p:txBody>
          <a:bodyPr>
            <a:normAutofit lnSpcReduction="10000"/>
          </a:bodyPr>
          <a:lstStyle/>
          <a:p>
            <a:r>
              <a:rPr lang="en-US" dirty="0"/>
              <a:t>The toolbar contains six tools, which are used to edit automata. </a:t>
            </a:r>
            <a:endParaRPr lang="en-GB" dirty="0"/>
          </a:p>
          <a:p>
            <a:r>
              <a:rPr lang="en-US" b="1" dirty="0"/>
              <a:t>Attribute Editor Tool</a:t>
            </a:r>
            <a:r>
              <a:rPr lang="en-US" dirty="0"/>
              <a:t>, changes properties and position of existing states and transitions. </a:t>
            </a:r>
            <a:endParaRPr lang="en-GB" dirty="0"/>
          </a:p>
          <a:p>
            <a:r>
              <a:rPr lang="en-US" b="1" dirty="0"/>
              <a:t>State Creator Tool</a:t>
            </a:r>
            <a:r>
              <a:rPr lang="en-US" dirty="0"/>
              <a:t>, creates new states. </a:t>
            </a:r>
            <a:r>
              <a:rPr lang="en-US" b="1" dirty="0"/>
              <a:t>Transition Creator Tool</a:t>
            </a:r>
            <a:r>
              <a:rPr lang="en-US" dirty="0"/>
              <a:t>, creates transitions. </a:t>
            </a:r>
            <a:r>
              <a:rPr lang="en-US" b="1" dirty="0"/>
              <a:t>Deletion Tool</a:t>
            </a:r>
            <a:r>
              <a:rPr lang="en-US" dirty="0"/>
              <a:t>, deletes states and transitions. </a:t>
            </a:r>
            <a:endParaRPr lang="en-GB" dirty="0"/>
          </a:p>
          <a:p>
            <a:r>
              <a:rPr lang="en-US" b="1" dirty="0"/>
              <a:t>Undo/Redo</a:t>
            </a:r>
            <a:r>
              <a:rPr lang="en-US" dirty="0"/>
              <a:t>, changes the selected object prior to their history. </a:t>
            </a:r>
            <a:endParaRPr lang="en-GB" dirty="0"/>
          </a:p>
          <a:p>
            <a:r>
              <a:rPr lang="en-US" dirty="0"/>
              <a:t>Creating an automaton is easy with the state and transition tools. Note that you need to change back to the </a:t>
            </a:r>
            <a:r>
              <a:rPr lang="en-US" b="1" dirty="0"/>
              <a:t>Attribute Editor Tool</a:t>
            </a:r>
            <a:r>
              <a:rPr lang="en-US" dirty="0"/>
              <a:t> (first) to change states. Let’s try to add states with the </a:t>
            </a:r>
            <a:r>
              <a:rPr lang="en-US" b="1" dirty="0"/>
              <a:t>State Creator Tool</a:t>
            </a:r>
            <a:r>
              <a:rPr lang="en-US" dirty="0"/>
              <a:t> (second). </a:t>
            </a:r>
            <a:endParaRPr lang="en-GB" dirty="0"/>
          </a:p>
          <a:p>
            <a:endParaRPr lang="en-GB" dirty="0"/>
          </a:p>
        </p:txBody>
      </p:sp>
    </p:spTree>
    <p:extLst>
      <p:ext uri="{BB962C8B-B14F-4D97-AF65-F5344CB8AC3E}">
        <p14:creationId xmlns:p14="http://schemas.microsoft.com/office/powerpoint/2010/main" val="34728636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endParaRPr lang="en-GB"/>
          </a:p>
        </p:txBody>
      </p:sp>
      <p:grpSp>
        <p:nvGrpSpPr>
          <p:cNvPr id="4" name="Group 3"/>
          <p:cNvGrpSpPr/>
          <p:nvPr/>
        </p:nvGrpSpPr>
        <p:grpSpPr>
          <a:xfrm>
            <a:off x="2282972" y="1981145"/>
            <a:ext cx="6721177" cy="3795712"/>
            <a:chOff x="0" y="0"/>
            <a:chExt cx="5345430" cy="2807051"/>
          </a:xfrm>
        </p:grpSpPr>
        <p:pic>
          <p:nvPicPr>
            <p:cNvPr id="5" name="Picture 4"/>
            <p:cNvPicPr/>
            <p:nvPr/>
          </p:nvPicPr>
          <p:blipFill>
            <a:blip r:embed="rId2"/>
            <a:stretch>
              <a:fillRect/>
            </a:stretch>
          </p:blipFill>
          <p:spPr>
            <a:xfrm>
              <a:off x="2790825" y="635"/>
              <a:ext cx="2554605" cy="2709545"/>
            </a:xfrm>
            <a:prstGeom prst="rect">
              <a:avLst/>
            </a:prstGeom>
          </p:spPr>
        </p:pic>
        <p:sp>
          <p:nvSpPr>
            <p:cNvPr id="6" name="Rectangle 5"/>
            <p:cNvSpPr/>
            <p:nvPr/>
          </p:nvSpPr>
          <p:spPr>
            <a:xfrm>
              <a:off x="2695448" y="2600621"/>
              <a:ext cx="46619" cy="206430"/>
            </a:xfrm>
            <a:prstGeom prst="rect">
              <a:avLst/>
            </a:prstGeom>
            <a:ln>
              <a:noFill/>
            </a:ln>
          </p:spPr>
          <p:txBody>
            <a:bodyPr vert="horz" lIns="0" tIns="0" rIns="0" bIns="0" rtlCol="0">
              <a:noAutofit/>
            </a:bodyPr>
            <a:lstStyle/>
            <a:p>
              <a:pPr marL="6350" indent="-6350" algn="l">
                <a:lnSpc>
                  <a:spcPct val="107000"/>
                </a:lnSpc>
                <a:spcAft>
                  <a:spcPts val="800"/>
                </a:spcAft>
              </a:pPr>
              <a:r>
                <a:rPr lang="en-GB" sz="1100">
                  <a:solidFill>
                    <a:srgbClr val="000000"/>
                  </a:solidFill>
                  <a:effectLst/>
                  <a:latin typeface="Times New Roman" panose="02020603050405020304" pitchFamily="18" charset="0"/>
                  <a:ea typeface="Times New Roman" panose="02020603050405020304" pitchFamily="18" charset="0"/>
                </a:rPr>
                <a:t> </a:t>
              </a:r>
            </a:p>
          </p:txBody>
        </p:sp>
        <p:pic>
          <p:nvPicPr>
            <p:cNvPr id="7" name="Picture 6"/>
            <p:cNvPicPr/>
            <p:nvPr/>
          </p:nvPicPr>
          <p:blipFill>
            <a:blip r:embed="rId3"/>
            <a:stretch>
              <a:fillRect/>
            </a:stretch>
          </p:blipFill>
          <p:spPr>
            <a:xfrm>
              <a:off x="0" y="0"/>
              <a:ext cx="2694940" cy="2721610"/>
            </a:xfrm>
            <a:prstGeom prst="rect">
              <a:avLst/>
            </a:prstGeom>
          </p:spPr>
        </p:pic>
      </p:grpSp>
    </p:spTree>
    <p:extLst>
      <p:ext uri="{BB962C8B-B14F-4D97-AF65-F5344CB8AC3E}">
        <p14:creationId xmlns:p14="http://schemas.microsoft.com/office/powerpoint/2010/main" val="39119283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r>
              <a:rPr lang="en-US" b="1" dirty="0"/>
              <a:t>Attribute Editor Tool</a:t>
            </a:r>
            <a:r>
              <a:rPr lang="en-US" dirty="0"/>
              <a:t>. Transitions are easily dragged between states with the </a:t>
            </a:r>
            <a:r>
              <a:rPr lang="en-US" b="1" dirty="0"/>
              <a:t>Transition Creator Tool</a:t>
            </a:r>
            <a:r>
              <a:rPr lang="en-US" dirty="0"/>
              <a:t>. </a:t>
            </a:r>
            <a:endParaRPr lang="en-GB" dirty="0"/>
          </a:p>
          <a:p>
            <a:r>
              <a:rPr lang="en-US" dirty="0"/>
              <a:t>The automaton above only accepts strings containing b which end with a. To test this automaton you can use any of the available tools under the Input menu. </a:t>
            </a:r>
            <a:endParaRPr lang="en-GB" dirty="0"/>
          </a:p>
          <a:p>
            <a:r>
              <a:rPr lang="en-US" dirty="0"/>
              <a:t>The fastest in this case is to use Input → Fast Run. A menu where you can set your input string pops up. Type the string “</a:t>
            </a:r>
            <a:r>
              <a:rPr lang="en-US" dirty="0" err="1"/>
              <a:t>bba</a:t>
            </a:r>
            <a:r>
              <a:rPr lang="en-US" dirty="0"/>
              <a:t>” and select “OK”. The program shows all the transitions that are done when consuming the input string. </a:t>
            </a:r>
            <a:endParaRPr lang="en-GB" dirty="0"/>
          </a:p>
          <a:p>
            <a:endParaRPr lang="en-GB" dirty="0"/>
          </a:p>
        </p:txBody>
      </p:sp>
    </p:spTree>
    <p:extLst>
      <p:ext uri="{BB962C8B-B14F-4D97-AF65-F5344CB8AC3E}">
        <p14:creationId xmlns:p14="http://schemas.microsoft.com/office/powerpoint/2010/main" val="4895400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r>
              <a:rPr lang="en-US" dirty="0"/>
              <a:t>If you want to test multiple inputs at once you can select the “Multiple Run” option. If you wish to individually review single runs, it can be accessed by selecting the View “Trace”, which gives a view similar to the “Fast Run” option. </a:t>
            </a:r>
            <a:endParaRPr lang="en-GB" dirty="0"/>
          </a:p>
          <a:p>
            <a:endParaRPr lang="en-GB" dirty="0"/>
          </a:p>
        </p:txBody>
      </p:sp>
      <p:pic>
        <p:nvPicPr>
          <p:cNvPr id="4" name="Picture 3"/>
          <p:cNvPicPr/>
          <p:nvPr/>
        </p:nvPicPr>
        <p:blipFill>
          <a:blip r:embed="rId2"/>
          <a:stretch>
            <a:fillRect/>
          </a:stretch>
        </p:blipFill>
        <p:spPr>
          <a:xfrm>
            <a:off x="8131082" y="3272528"/>
            <a:ext cx="2598774" cy="3308313"/>
          </a:xfrm>
          <a:prstGeom prst="rect">
            <a:avLst/>
          </a:prstGeom>
        </p:spPr>
      </p:pic>
      <p:pic>
        <p:nvPicPr>
          <p:cNvPr id="5" name="Picture 4"/>
          <p:cNvPicPr/>
          <p:nvPr/>
        </p:nvPicPr>
        <p:blipFill>
          <a:blip r:embed="rId3"/>
          <a:stretch>
            <a:fillRect/>
          </a:stretch>
        </p:blipFill>
        <p:spPr>
          <a:xfrm>
            <a:off x="2254006" y="3742297"/>
            <a:ext cx="4232855" cy="2720210"/>
          </a:xfrm>
          <a:prstGeom prst="rect">
            <a:avLst/>
          </a:prstGeom>
        </p:spPr>
      </p:pic>
    </p:spTree>
    <p:extLst>
      <p:ext uri="{BB962C8B-B14F-4D97-AF65-F5344CB8AC3E}">
        <p14:creationId xmlns:p14="http://schemas.microsoft.com/office/powerpoint/2010/main" val="2586080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r>
              <a:rPr lang="en-US" dirty="0"/>
              <a:t>To debug the automata “Step by Closure” or “Step by State” can be selected. For each step the automaton highlights the currently active state. </a:t>
            </a:r>
            <a:endParaRPr lang="en-GB" dirty="0"/>
          </a:p>
          <a:p>
            <a:r>
              <a:rPr lang="en-US" dirty="0"/>
              <a:t>For “stepping” you press the “Step” button. </a:t>
            </a:r>
            <a:endParaRPr lang="en-US" dirty="0" smtClean="0"/>
          </a:p>
          <a:p>
            <a:r>
              <a:rPr lang="en-US" dirty="0"/>
              <a:t>The first character consumed. Notice that </a:t>
            </a:r>
            <a:r>
              <a:rPr lang="en-US" dirty="0" smtClean="0"/>
              <a:t>the</a:t>
            </a:r>
            <a:br>
              <a:rPr lang="en-US" dirty="0" smtClean="0"/>
            </a:br>
            <a:r>
              <a:rPr lang="en-US" dirty="0" smtClean="0"/>
              <a:t> </a:t>
            </a:r>
            <a:r>
              <a:rPr lang="en-US" dirty="0"/>
              <a:t>first letter is grayed out and the currently </a:t>
            </a:r>
            <a:r>
              <a:rPr lang="en-US" dirty="0" smtClean="0"/>
              <a:t>active</a:t>
            </a:r>
            <a:br>
              <a:rPr lang="en-US" dirty="0" smtClean="0"/>
            </a:br>
            <a:r>
              <a:rPr lang="en-US" dirty="0" smtClean="0"/>
              <a:t> </a:t>
            </a:r>
            <a:r>
              <a:rPr lang="en-US" dirty="0"/>
              <a:t>state have changed. </a:t>
            </a:r>
            <a:endParaRPr lang="en-GB" dirty="0"/>
          </a:p>
          <a:p>
            <a:endParaRPr lang="en-GB" dirty="0"/>
          </a:p>
          <a:p>
            <a:endParaRPr lang="en-GB" dirty="0"/>
          </a:p>
        </p:txBody>
      </p:sp>
      <p:pic>
        <p:nvPicPr>
          <p:cNvPr id="5" name="Picture 4"/>
          <p:cNvPicPr/>
          <p:nvPr/>
        </p:nvPicPr>
        <p:blipFill>
          <a:blip r:embed="rId2"/>
          <a:stretch>
            <a:fillRect/>
          </a:stretch>
        </p:blipFill>
        <p:spPr>
          <a:xfrm>
            <a:off x="8344535" y="3267804"/>
            <a:ext cx="3009265" cy="2646045"/>
          </a:xfrm>
          <a:prstGeom prst="rect">
            <a:avLst/>
          </a:prstGeom>
        </p:spPr>
      </p:pic>
    </p:spTree>
    <p:extLst>
      <p:ext uri="{BB962C8B-B14F-4D97-AF65-F5344CB8AC3E}">
        <p14:creationId xmlns:p14="http://schemas.microsoft.com/office/powerpoint/2010/main" val="29307321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r>
              <a:rPr lang="en-US" dirty="0"/>
              <a:t>Now the last character is about to be consumed. This step shows the transition between q0 and q1. If there happen to be multiple paths with the same character you will see them grayed out</a:t>
            </a:r>
            <a:r>
              <a:rPr lang="en-US" dirty="0" smtClean="0"/>
              <a:t>.</a:t>
            </a:r>
          </a:p>
          <a:p>
            <a:endParaRPr lang="en-US" dirty="0"/>
          </a:p>
          <a:p>
            <a:r>
              <a:rPr lang="en-US" dirty="0"/>
              <a:t>The simulator reached the final state. </a:t>
            </a:r>
            <a:endParaRPr lang="en-GB" dirty="0"/>
          </a:p>
          <a:p>
            <a:r>
              <a:rPr lang="en-US" dirty="0" smtClean="0"/>
              <a:t> </a:t>
            </a:r>
            <a:endParaRPr lang="en-GB" dirty="0"/>
          </a:p>
        </p:txBody>
      </p:sp>
      <p:pic>
        <p:nvPicPr>
          <p:cNvPr id="4" name="Picture 3"/>
          <p:cNvPicPr/>
          <p:nvPr/>
        </p:nvPicPr>
        <p:blipFill>
          <a:blip r:embed="rId2"/>
          <a:stretch>
            <a:fillRect/>
          </a:stretch>
        </p:blipFill>
        <p:spPr>
          <a:xfrm>
            <a:off x="8199755" y="3375978"/>
            <a:ext cx="3154045" cy="2800985"/>
          </a:xfrm>
          <a:prstGeom prst="rect">
            <a:avLst/>
          </a:prstGeom>
        </p:spPr>
      </p:pic>
    </p:spTree>
    <p:extLst>
      <p:ext uri="{BB962C8B-B14F-4D97-AF65-F5344CB8AC3E}">
        <p14:creationId xmlns:p14="http://schemas.microsoft.com/office/powerpoint/2010/main" val="14322956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Regex</a:t>
            </a:r>
            <a:endParaRPr lang="en-GB" dirty="0"/>
          </a:p>
        </p:txBody>
      </p:sp>
      <p:sp>
        <p:nvSpPr>
          <p:cNvPr id="3" name="Content Placeholder 2"/>
          <p:cNvSpPr>
            <a:spLocks noGrp="1"/>
          </p:cNvSpPr>
          <p:nvPr>
            <p:ph idx="1"/>
          </p:nvPr>
        </p:nvSpPr>
        <p:spPr/>
        <p:txBody>
          <a:bodyPr>
            <a:normAutofit lnSpcReduction="10000"/>
          </a:bodyPr>
          <a:lstStyle/>
          <a:p>
            <a:r>
              <a:rPr lang="en-US" dirty="0"/>
              <a:t>The regular expressions library provides a class that represents regular expressions, which are a kind of mini-language used to perform pattern matching within strings. Almost all operations with regexes can be characterized by operating on several of the following objects: </a:t>
            </a:r>
            <a:endParaRPr lang="en-GB" dirty="0"/>
          </a:p>
          <a:p>
            <a:pPr lvl="1"/>
            <a:r>
              <a:rPr lang="en-US" b="1" dirty="0" smtClean="0"/>
              <a:t>Target Sequence: </a:t>
            </a:r>
            <a:r>
              <a:rPr lang="en-US" dirty="0"/>
              <a:t>The character sequence that is searched for a pattern. This may be a range specified by two iterators, a null terminated character string or a </a:t>
            </a:r>
            <a:r>
              <a:rPr lang="en-US" dirty="0" err="1"/>
              <a:t>std</a:t>
            </a:r>
            <a:r>
              <a:rPr lang="en-US" dirty="0"/>
              <a:t>::string. </a:t>
            </a:r>
            <a:endParaRPr lang="en-US" dirty="0" smtClean="0"/>
          </a:p>
          <a:p>
            <a:pPr lvl="1"/>
            <a:r>
              <a:rPr lang="en-US" b="1" dirty="0" smtClean="0"/>
              <a:t>Pattern: </a:t>
            </a:r>
            <a:r>
              <a:rPr lang="en-US" dirty="0"/>
              <a:t>This is the regular expression itself. It determines what constitutes a match. It is an object of type </a:t>
            </a:r>
            <a:r>
              <a:rPr lang="en-US" dirty="0" err="1"/>
              <a:t>std</a:t>
            </a:r>
            <a:r>
              <a:rPr lang="en-US" dirty="0"/>
              <a:t>::</a:t>
            </a:r>
            <a:r>
              <a:rPr lang="en-US" dirty="0" err="1"/>
              <a:t>basic_regex</a:t>
            </a:r>
            <a:r>
              <a:rPr lang="en-US" dirty="0"/>
              <a:t>, constructed from a string with special syntax. See </a:t>
            </a:r>
            <a:r>
              <a:rPr lang="en-US" dirty="0" err="1"/>
              <a:t>regex_constants</a:t>
            </a:r>
            <a:r>
              <a:rPr lang="en-US" dirty="0"/>
              <a:t>::</a:t>
            </a:r>
            <a:r>
              <a:rPr lang="en-US" dirty="0" err="1"/>
              <a:t>syntax_option_type</a:t>
            </a:r>
            <a:r>
              <a:rPr lang="en-US" dirty="0"/>
              <a:t> for the description of supported syntax variations. </a:t>
            </a:r>
            <a:endParaRPr lang="en-GB" dirty="0"/>
          </a:p>
          <a:p>
            <a:pPr lvl="1"/>
            <a:endParaRPr lang="en-US" dirty="0" smtClean="0"/>
          </a:p>
          <a:p>
            <a:endParaRPr lang="en-GB" dirty="0"/>
          </a:p>
        </p:txBody>
      </p:sp>
    </p:spTree>
    <p:extLst>
      <p:ext uri="{BB962C8B-B14F-4D97-AF65-F5344CB8AC3E}">
        <p14:creationId xmlns:p14="http://schemas.microsoft.com/office/powerpoint/2010/main" val="27113343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52139" y="454554"/>
            <a:ext cx="10515600" cy="4351338"/>
          </a:xfrm>
        </p:spPr>
        <p:txBody>
          <a:bodyPr/>
          <a:lstStyle/>
          <a:p>
            <a:pPr lvl="1"/>
            <a:r>
              <a:rPr lang="en-US" b="1" dirty="0"/>
              <a:t>Matched </a:t>
            </a:r>
            <a:r>
              <a:rPr lang="en-US" b="1" dirty="0" smtClean="0"/>
              <a:t>Array: </a:t>
            </a:r>
            <a:r>
              <a:rPr lang="en-US" dirty="0"/>
              <a:t>The information about matches may be retrieved as an object of type </a:t>
            </a:r>
            <a:r>
              <a:rPr lang="en-US" dirty="0" err="1"/>
              <a:t>std</a:t>
            </a:r>
            <a:r>
              <a:rPr lang="en-US" dirty="0"/>
              <a:t>::</a:t>
            </a:r>
            <a:r>
              <a:rPr lang="en-US" dirty="0" err="1"/>
              <a:t>match_results</a:t>
            </a:r>
            <a:r>
              <a:rPr lang="en-US" dirty="0"/>
              <a:t>. </a:t>
            </a:r>
            <a:endParaRPr lang="en-US" dirty="0" smtClean="0"/>
          </a:p>
          <a:p>
            <a:pPr lvl="1"/>
            <a:endParaRPr lang="en-US" sz="1100" dirty="0"/>
          </a:p>
          <a:p>
            <a:pPr lvl="1"/>
            <a:r>
              <a:rPr lang="en-US" b="1" dirty="0"/>
              <a:t>Replacement </a:t>
            </a:r>
            <a:r>
              <a:rPr lang="en-US" b="1" dirty="0" smtClean="0"/>
              <a:t>String: </a:t>
            </a:r>
            <a:r>
              <a:rPr lang="en-US" dirty="0"/>
              <a:t>This is a string that determines how to replace the matches, see </a:t>
            </a:r>
            <a:r>
              <a:rPr lang="en-US" dirty="0" err="1"/>
              <a:t>regex_constants</a:t>
            </a:r>
            <a:r>
              <a:rPr lang="en-US" dirty="0"/>
              <a:t>::</a:t>
            </a:r>
            <a:r>
              <a:rPr lang="en-US" dirty="0" err="1"/>
              <a:t>match_flag_type</a:t>
            </a:r>
            <a:r>
              <a:rPr lang="en-US" dirty="0"/>
              <a:t> for the description of supported syntax variations. </a:t>
            </a:r>
            <a:endParaRPr lang="en-US" dirty="0" smtClean="0"/>
          </a:p>
          <a:p>
            <a:pPr lvl="1"/>
            <a:endParaRPr lang="en-US" sz="1200" dirty="0"/>
          </a:p>
          <a:p>
            <a:pPr lvl="1"/>
            <a:r>
              <a:rPr lang="en-US" b="1" dirty="0"/>
              <a:t>Main </a:t>
            </a:r>
            <a:r>
              <a:rPr lang="en-US" b="1" dirty="0" smtClean="0"/>
              <a:t>Classes: </a:t>
            </a:r>
            <a:r>
              <a:rPr lang="en-US" dirty="0"/>
              <a:t>These classes encapsulate a regular expression and the results of matching a regular expression within a target sequence of characters. </a:t>
            </a:r>
            <a:endParaRPr lang="en-GB" dirty="0"/>
          </a:p>
          <a:p>
            <a:pPr lvl="1"/>
            <a:endParaRPr lang="en-GB" dirty="0"/>
          </a:p>
        </p:txBody>
      </p:sp>
      <p:graphicFrame>
        <p:nvGraphicFramePr>
          <p:cNvPr id="6" name="Table 5"/>
          <p:cNvGraphicFramePr>
            <a:graphicFrameLocks noGrp="1"/>
          </p:cNvGraphicFramePr>
          <p:nvPr>
            <p:extLst>
              <p:ext uri="{D42A27DB-BD31-4B8C-83A1-F6EECF244321}">
                <p14:modId xmlns:p14="http://schemas.microsoft.com/office/powerpoint/2010/main" val="4270336108"/>
              </p:ext>
            </p:extLst>
          </p:nvPr>
        </p:nvGraphicFramePr>
        <p:xfrm>
          <a:off x="2436532" y="3601035"/>
          <a:ext cx="7146813" cy="1506008"/>
        </p:xfrm>
        <a:graphic>
          <a:graphicData uri="http://schemas.openxmlformats.org/drawingml/2006/table">
            <a:tbl>
              <a:tblPr firstRow="1" firstCol="1" bandRow="1">
                <a:tableStyleId>{5C22544A-7EE6-4342-B048-85BDC9FD1C3A}</a:tableStyleId>
              </a:tblPr>
              <a:tblGrid>
                <a:gridCol w="1854717">
                  <a:extLst>
                    <a:ext uri="{9D8B030D-6E8A-4147-A177-3AD203B41FA5}">
                      <a16:colId xmlns:a16="http://schemas.microsoft.com/office/drawing/2014/main" val="3850710391"/>
                    </a:ext>
                  </a:extLst>
                </a:gridCol>
                <a:gridCol w="5292096">
                  <a:extLst>
                    <a:ext uri="{9D8B030D-6E8A-4147-A177-3AD203B41FA5}">
                      <a16:colId xmlns:a16="http://schemas.microsoft.com/office/drawing/2014/main" val="4289478444"/>
                    </a:ext>
                  </a:extLst>
                </a:gridCol>
              </a:tblGrid>
              <a:tr h="438399">
                <a:tc>
                  <a:txBody>
                    <a:bodyPr/>
                    <a:lstStyle/>
                    <a:p>
                      <a:pPr marL="3175" indent="-6350" algn="l">
                        <a:lnSpc>
                          <a:spcPct val="107000"/>
                        </a:lnSpc>
                        <a:spcAft>
                          <a:spcPts val="0"/>
                        </a:spcAft>
                      </a:pPr>
                      <a:r>
                        <a:rPr lang="en-US" sz="1100" dirty="0" err="1">
                          <a:effectLst/>
                        </a:rPr>
                        <a:t>basic_regex</a:t>
                      </a:r>
                      <a:r>
                        <a:rPr lang="en-US" sz="1100" dirty="0">
                          <a:effectLst/>
                        </a:rPr>
                        <a:t> (C++11) </a:t>
                      </a:r>
                      <a:endParaRPr lang="en-GB" sz="1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945" marR="45085" marT="635" marB="0"/>
                </a:tc>
                <a:tc>
                  <a:txBody>
                    <a:bodyPr/>
                    <a:lstStyle/>
                    <a:p>
                      <a:pPr marL="70485" marR="2530475" indent="-6350" algn="just">
                        <a:lnSpc>
                          <a:spcPct val="107000"/>
                        </a:lnSpc>
                        <a:spcAft>
                          <a:spcPts val="0"/>
                        </a:spcAft>
                      </a:pPr>
                      <a:r>
                        <a:rPr lang="en-US" sz="1100">
                          <a:effectLst/>
                        </a:rPr>
                        <a:t>regular expression object (class template) </a:t>
                      </a:r>
                      <a:endParaRPr lang="en-GB" sz="1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945" marR="45085" marT="635" marB="0"/>
                </a:tc>
                <a:extLst>
                  <a:ext uri="{0D108BD9-81ED-4DB2-BD59-A6C34878D82A}">
                    <a16:rowId xmlns:a16="http://schemas.microsoft.com/office/drawing/2014/main" val="3148379039"/>
                  </a:ext>
                </a:extLst>
              </a:tr>
              <a:tr h="438399">
                <a:tc>
                  <a:txBody>
                    <a:bodyPr/>
                    <a:lstStyle/>
                    <a:p>
                      <a:pPr marL="3175" indent="-6350" algn="l">
                        <a:lnSpc>
                          <a:spcPct val="107000"/>
                        </a:lnSpc>
                        <a:spcAft>
                          <a:spcPts val="0"/>
                        </a:spcAft>
                      </a:pPr>
                      <a:r>
                        <a:rPr lang="en-US" sz="1100">
                          <a:effectLst/>
                        </a:rPr>
                        <a:t>sub_match (C++11) </a:t>
                      </a:r>
                      <a:endParaRPr lang="en-GB" sz="1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945" marR="45085" marT="635" marB="0"/>
                </a:tc>
                <a:tc>
                  <a:txBody>
                    <a:bodyPr/>
                    <a:lstStyle/>
                    <a:p>
                      <a:pPr marL="70485" marR="260985" indent="-6350" algn="just">
                        <a:lnSpc>
                          <a:spcPct val="107000"/>
                        </a:lnSpc>
                        <a:spcAft>
                          <a:spcPts val="0"/>
                        </a:spcAft>
                      </a:pPr>
                      <a:r>
                        <a:rPr lang="en-US" sz="1100">
                          <a:effectLst/>
                        </a:rPr>
                        <a:t>identifies the sequence of characters matched by a sub-expression (class template) </a:t>
                      </a:r>
                      <a:endParaRPr lang="en-GB" sz="1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945" marR="45085" marT="635" marB="0"/>
                </a:tc>
                <a:extLst>
                  <a:ext uri="{0D108BD9-81ED-4DB2-BD59-A6C34878D82A}">
                    <a16:rowId xmlns:a16="http://schemas.microsoft.com/office/drawing/2014/main" val="2769832496"/>
                  </a:ext>
                </a:extLst>
              </a:tr>
              <a:tr h="629210">
                <a:tc>
                  <a:txBody>
                    <a:bodyPr/>
                    <a:lstStyle/>
                    <a:p>
                      <a:pPr marL="3175" indent="-6350" algn="l">
                        <a:lnSpc>
                          <a:spcPct val="107000"/>
                        </a:lnSpc>
                        <a:spcAft>
                          <a:spcPts val="0"/>
                        </a:spcAft>
                      </a:pPr>
                      <a:r>
                        <a:rPr lang="en-US" sz="1100">
                          <a:effectLst/>
                        </a:rPr>
                        <a:t>match_results (C++11) </a:t>
                      </a:r>
                      <a:endParaRPr lang="en-GB" sz="1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945" marR="45085" marT="635" marB="0"/>
                </a:tc>
                <a:tc>
                  <a:txBody>
                    <a:bodyPr/>
                    <a:lstStyle/>
                    <a:p>
                      <a:pPr marL="70485" indent="-6350" algn="just">
                        <a:lnSpc>
                          <a:spcPct val="99000"/>
                        </a:lnSpc>
                        <a:spcAft>
                          <a:spcPts val="0"/>
                        </a:spcAft>
                      </a:pPr>
                      <a:r>
                        <a:rPr lang="en-US" sz="1100" dirty="0">
                          <a:effectLst/>
                        </a:rPr>
                        <a:t>identifies  one  regular  expression  match,  including  all  sub-expression matches </a:t>
                      </a:r>
                      <a:endParaRPr lang="en-GB" sz="1100" dirty="0">
                        <a:effectLst/>
                      </a:endParaRPr>
                    </a:p>
                    <a:p>
                      <a:pPr marL="70485" indent="-6350" algn="l">
                        <a:lnSpc>
                          <a:spcPct val="107000"/>
                        </a:lnSpc>
                        <a:spcAft>
                          <a:spcPts val="0"/>
                        </a:spcAft>
                      </a:pPr>
                      <a:r>
                        <a:rPr lang="en-US" sz="1100" dirty="0">
                          <a:effectLst/>
                        </a:rPr>
                        <a:t>(class template) </a:t>
                      </a:r>
                      <a:endParaRPr lang="en-GB" sz="1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945" marR="45085" marT="635" marB="0"/>
                </a:tc>
                <a:extLst>
                  <a:ext uri="{0D108BD9-81ED-4DB2-BD59-A6C34878D82A}">
                    <a16:rowId xmlns:a16="http://schemas.microsoft.com/office/drawing/2014/main" val="3649461798"/>
                  </a:ext>
                </a:extLst>
              </a:tr>
            </a:tbl>
          </a:graphicData>
        </a:graphic>
      </p:graphicFrame>
    </p:spTree>
    <p:extLst>
      <p:ext uri="{BB962C8B-B14F-4D97-AF65-F5344CB8AC3E}">
        <p14:creationId xmlns:p14="http://schemas.microsoft.com/office/powerpoint/2010/main" val="40584379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98350" y="528339"/>
            <a:ext cx="10515600" cy="4351338"/>
          </a:xfrm>
        </p:spPr>
        <p:txBody>
          <a:bodyPr>
            <a:normAutofit/>
          </a:bodyPr>
          <a:lstStyle/>
          <a:p>
            <a:pPr lvl="1"/>
            <a:r>
              <a:rPr lang="en-US" b="1" dirty="0" smtClean="0"/>
              <a:t>Algorithms </a:t>
            </a:r>
            <a:r>
              <a:rPr lang="en-GB" dirty="0" smtClean="0"/>
              <a:t/>
            </a:r>
            <a:br>
              <a:rPr lang="en-GB" dirty="0" smtClean="0"/>
            </a:br>
            <a:r>
              <a:rPr lang="en-GB" dirty="0" smtClean="0"/>
              <a:t> </a:t>
            </a:r>
            <a:r>
              <a:rPr lang="en-US" dirty="0" smtClean="0"/>
              <a:t>These functions are used to apply the regular expression encapsulated in a regex to a target sequence of characters. </a:t>
            </a:r>
          </a:p>
          <a:p>
            <a:pPr lvl="1"/>
            <a:endParaRPr lang="en-US" dirty="0"/>
          </a:p>
          <a:p>
            <a:pPr lvl="1"/>
            <a:endParaRPr lang="en-US" dirty="0" smtClean="0"/>
          </a:p>
          <a:p>
            <a:pPr lvl="1"/>
            <a:endParaRPr lang="en-US" dirty="0"/>
          </a:p>
          <a:p>
            <a:pPr lvl="1"/>
            <a:endParaRPr lang="en-US" dirty="0" smtClean="0"/>
          </a:p>
          <a:p>
            <a:pPr lvl="1"/>
            <a:r>
              <a:rPr lang="en-US" b="1" dirty="0" smtClean="0"/>
              <a:t>Iterators </a:t>
            </a:r>
            <a:r>
              <a:rPr lang="en-GB" sz="2000" dirty="0"/>
              <a:t/>
            </a:r>
            <a:br>
              <a:rPr lang="en-GB" sz="2000" dirty="0"/>
            </a:br>
            <a:r>
              <a:rPr lang="en-GB" sz="2000" dirty="0" smtClean="0"/>
              <a:t> </a:t>
            </a:r>
            <a:r>
              <a:rPr lang="en-US" dirty="0" smtClean="0"/>
              <a:t>The </a:t>
            </a:r>
            <a:r>
              <a:rPr lang="en-US" dirty="0"/>
              <a:t>regex iterators are used to traverse the entire set of regular expression matches found within a sequence. </a:t>
            </a:r>
            <a:endParaRPr lang="en-GB" dirty="0"/>
          </a:p>
          <a:p>
            <a:pPr lvl="1"/>
            <a:endParaRPr lang="en-US" dirty="0" smtClean="0"/>
          </a:p>
          <a:p>
            <a:pPr lvl="1"/>
            <a:endParaRPr lang="en-GB" dirty="0"/>
          </a:p>
          <a:p>
            <a:endParaRPr lang="en-GB" dirty="0"/>
          </a:p>
        </p:txBody>
      </p:sp>
      <p:graphicFrame>
        <p:nvGraphicFramePr>
          <p:cNvPr id="5" name="Table 4"/>
          <p:cNvGraphicFramePr>
            <a:graphicFrameLocks noGrp="1"/>
          </p:cNvGraphicFramePr>
          <p:nvPr>
            <p:extLst>
              <p:ext uri="{D42A27DB-BD31-4B8C-83A1-F6EECF244321}">
                <p14:modId xmlns:p14="http://schemas.microsoft.com/office/powerpoint/2010/main" val="2662789264"/>
              </p:ext>
            </p:extLst>
          </p:nvPr>
        </p:nvGraphicFramePr>
        <p:xfrm>
          <a:off x="1835821" y="1681985"/>
          <a:ext cx="8803491" cy="1149123"/>
        </p:xfrm>
        <a:graphic>
          <a:graphicData uri="http://schemas.openxmlformats.org/drawingml/2006/table">
            <a:tbl>
              <a:tblPr firstRow="1" firstCol="1" bandRow="1">
                <a:tableStyleId>{5C22544A-7EE6-4342-B048-85BDC9FD1C3A}</a:tableStyleId>
              </a:tblPr>
              <a:tblGrid>
                <a:gridCol w="2284653">
                  <a:extLst>
                    <a:ext uri="{9D8B030D-6E8A-4147-A177-3AD203B41FA5}">
                      <a16:colId xmlns:a16="http://schemas.microsoft.com/office/drawing/2014/main" val="3027776095"/>
                    </a:ext>
                  </a:extLst>
                </a:gridCol>
                <a:gridCol w="6518838">
                  <a:extLst>
                    <a:ext uri="{9D8B030D-6E8A-4147-A177-3AD203B41FA5}">
                      <a16:colId xmlns:a16="http://schemas.microsoft.com/office/drawing/2014/main" val="575835480"/>
                    </a:ext>
                  </a:extLst>
                </a:gridCol>
              </a:tblGrid>
              <a:tr h="383041">
                <a:tc>
                  <a:txBody>
                    <a:bodyPr/>
                    <a:lstStyle/>
                    <a:p>
                      <a:pPr marL="3175" indent="-6350" algn="l">
                        <a:lnSpc>
                          <a:spcPct val="107000"/>
                        </a:lnSpc>
                        <a:spcAft>
                          <a:spcPts val="0"/>
                        </a:spcAft>
                      </a:pPr>
                      <a:r>
                        <a:rPr lang="en-US" sz="1100" dirty="0" err="1">
                          <a:effectLst/>
                        </a:rPr>
                        <a:t>regex_match</a:t>
                      </a:r>
                      <a:r>
                        <a:rPr lang="en-US" sz="1100" dirty="0">
                          <a:effectLst/>
                        </a:rPr>
                        <a:t> (C++11) </a:t>
                      </a:r>
                      <a:endParaRPr lang="en-GB" sz="1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945" marR="48260" marT="635" marB="0"/>
                </a:tc>
                <a:tc>
                  <a:txBody>
                    <a:bodyPr/>
                    <a:lstStyle/>
                    <a:p>
                      <a:pPr marL="70485" indent="-6350" algn="just">
                        <a:lnSpc>
                          <a:spcPct val="107000"/>
                        </a:lnSpc>
                        <a:spcAft>
                          <a:spcPts val="0"/>
                        </a:spcAft>
                      </a:pPr>
                      <a:r>
                        <a:rPr lang="en-US" sz="1100">
                          <a:effectLst/>
                        </a:rPr>
                        <a:t>attempts to match a regular expression to an entire character sequence (function template) </a:t>
                      </a:r>
                      <a:endParaRPr lang="en-GB" sz="1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945" marR="48260" marT="635" marB="0"/>
                </a:tc>
                <a:extLst>
                  <a:ext uri="{0D108BD9-81ED-4DB2-BD59-A6C34878D82A}">
                    <a16:rowId xmlns:a16="http://schemas.microsoft.com/office/drawing/2014/main" val="1644169542"/>
                  </a:ext>
                </a:extLst>
              </a:tr>
              <a:tr h="383041">
                <a:tc>
                  <a:txBody>
                    <a:bodyPr/>
                    <a:lstStyle/>
                    <a:p>
                      <a:pPr marL="3175" indent="-6350" algn="l">
                        <a:lnSpc>
                          <a:spcPct val="107000"/>
                        </a:lnSpc>
                        <a:spcAft>
                          <a:spcPts val="0"/>
                        </a:spcAft>
                      </a:pPr>
                      <a:r>
                        <a:rPr lang="en-US" sz="1100">
                          <a:effectLst/>
                        </a:rPr>
                        <a:t>regex_search (C++11) </a:t>
                      </a:r>
                      <a:endParaRPr lang="en-GB" sz="1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945" marR="48260" marT="635" marB="0"/>
                </a:tc>
                <a:tc>
                  <a:txBody>
                    <a:bodyPr/>
                    <a:lstStyle/>
                    <a:p>
                      <a:pPr marL="70485" indent="-6350" algn="just">
                        <a:lnSpc>
                          <a:spcPct val="107000"/>
                        </a:lnSpc>
                        <a:spcAft>
                          <a:spcPts val="0"/>
                        </a:spcAft>
                      </a:pPr>
                      <a:r>
                        <a:rPr lang="en-US" sz="1100">
                          <a:effectLst/>
                        </a:rPr>
                        <a:t>attempts to match a regular expression to any part of a character sequence (function template) </a:t>
                      </a:r>
                      <a:endParaRPr lang="en-GB" sz="1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945" marR="48260" marT="635" marB="0"/>
                </a:tc>
                <a:extLst>
                  <a:ext uri="{0D108BD9-81ED-4DB2-BD59-A6C34878D82A}">
                    <a16:rowId xmlns:a16="http://schemas.microsoft.com/office/drawing/2014/main" val="3834282654"/>
                  </a:ext>
                </a:extLst>
              </a:tr>
              <a:tr h="383041">
                <a:tc>
                  <a:txBody>
                    <a:bodyPr/>
                    <a:lstStyle/>
                    <a:p>
                      <a:pPr marL="3175" indent="-6350" algn="l">
                        <a:lnSpc>
                          <a:spcPct val="107000"/>
                        </a:lnSpc>
                        <a:spcAft>
                          <a:spcPts val="0"/>
                        </a:spcAft>
                      </a:pPr>
                      <a:r>
                        <a:rPr lang="en-US" sz="1100" dirty="0" err="1">
                          <a:effectLst/>
                        </a:rPr>
                        <a:t>regex_replace</a:t>
                      </a:r>
                      <a:r>
                        <a:rPr lang="en-US" sz="1100" dirty="0">
                          <a:effectLst/>
                        </a:rPr>
                        <a:t> (C++11) </a:t>
                      </a:r>
                      <a:endParaRPr lang="en-GB" sz="1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945" marR="48260" marT="635" marB="0"/>
                </a:tc>
                <a:tc>
                  <a:txBody>
                    <a:bodyPr/>
                    <a:lstStyle/>
                    <a:p>
                      <a:pPr marL="70485" indent="-6350" algn="just">
                        <a:lnSpc>
                          <a:spcPct val="107000"/>
                        </a:lnSpc>
                        <a:spcAft>
                          <a:spcPts val="0"/>
                        </a:spcAft>
                      </a:pPr>
                      <a:r>
                        <a:rPr lang="en-US" sz="1100" dirty="0">
                          <a:effectLst/>
                        </a:rPr>
                        <a:t>replaces occurrences of a regular expression with formatted replacement text (function template) </a:t>
                      </a:r>
                      <a:endParaRPr lang="en-GB" sz="1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945" marR="48260" marT="635" marB="0"/>
                </a:tc>
                <a:extLst>
                  <a:ext uri="{0D108BD9-81ED-4DB2-BD59-A6C34878D82A}">
                    <a16:rowId xmlns:a16="http://schemas.microsoft.com/office/drawing/2014/main" val="3553072720"/>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544752107"/>
              </p:ext>
            </p:extLst>
          </p:nvPr>
        </p:nvGraphicFramePr>
        <p:xfrm>
          <a:off x="1717487" y="4434318"/>
          <a:ext cx="8921825" cy="1019809"/>
        </p:xfrm>
        <a:graphic>
          <a:graphicData uri="http://schemas.openxmlformats.org/drawingml/2006/table">
            <a:tbl>
              <a:tblPr firstRow="1" firstCol="1" bandRow="1">
                <a:tableStyleId>{5C22544A-7EE6-4342-B048-85BDC9FD1C3A}</a:tableStyleId>
              </a:tblPr>
              <a:tblGrid>
                <a:gridCol w="2743709">
                  <a:extLst>
                    <a:ext uri="{9D8B030D-6E8A-4147-A177-3AD203B41FA5}">
                      <a16:colId xmlns:a16="http://schemas.microsoft.com/office/drawing/2014/main" val="596379284"/>
                    </a:ext>
                  </a:extLst>
                </a:gridCol>
                <a:gridCol w="6178116">
                  <a:extLst>
                    <a:ext uri="{9D8B030D-6E8A-4147-A177-3AD203B41FA5}">
                      <a16:colId xmlns:a16="http://schemas.microsoft.com/office/drawing/2014/main" val="3231287495"/>
                    </a:ext>
                  </a:extLst>
                </a:gridCol>
              </a:tblGrid>
              <a:tr h="406027">
                <a:tc>
                  <a:txBody>
                    <a:bodyPr/>
                    <a:lstStyle/>
                    <a:p>
                      <a:pPr marL="70485" indent="-6350" algn="l">
                        <a:lnSpc>
                          <a:spcPct val="107000"/>
                        </a:lnSpc>
                        <a:spcAft>
                          <a:spcPts val="0"/>
                        </a:spcAft>
                      </a:pPr>
                      <a:r>
                        <a:rPr lang="en-US" sz="1100">
                          <a:effectLst/>
                        </a:rPr>
                        <a:t>regex_iterator (C++11) </a:t>
                      </a:r>
                      <a:endParaRPr lang="en-GB" sz="1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1120" marR="41910" marT="635" marB="0"/>
                </a:tc>
                <a:tc>
                  <a:txBody>
                    <a:bodyPr/>
                    <a:lstStyle/>
                    <a:p>
                      <a:pPr marL="70485" marR="186055" indent="-6350" algn="l">
                        <a:lnSpc>
                          <a:spcPct val="107000"/>
                        </a:lnSpc>
                        <a:spcAft>
                          <a:spcPts val="0"/>
                        </a:spcAft>
                      </a:pPr>
                      <a:r>
                        <a:rPr lang="en-US" sz="1100">
                          <a:effectLst/>
                        </a:rPr>
                        <a:t>iterates through all regex matches within a character sequence (class template) </a:t>
                      </a:r>
                      <a:endParaRPr lang="en-GB" sz="1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1120" marR="41910" marT="635" marB="0"/>
                </a:tc>
                <a:extLst>
                  <a:ext uri="{0D108BD9-81ED-4DB2-BD59-A6C34878D82A}">
                    <a16:rowId xmlns:a16="http://schemas.microsoft.com/office/drawing/2014/main" val="2867503774"/>
                  </a:ext>
                </a:extLst>
              </a:tr>
              <a:tr h="613782">
                <a:tc>
                  <a:txBody>
                    <a:bodyPr/>
                    <a:lstStyle/>
                    <a:p>
                      <a:pPr marL="70485" indent="-6350" algn="l">
                        <a:lnSpc>
                          <a:spcPct val="107000"/>
                        </a:lnSpc>
                        <a:spcAft>
                          <a:spcPts val="0"/>
                        </a:spcAft>
                      </a:pPr>
                      <a:r>
                        <a:rPr lang="en-US" sz="1100" dirty="0" err="1">
                          <a:effectLst/>
                        </a:rPr>
                        <a:t>regex_token_iterator</a:t>
                      </a:r>
                      <a:r>
                        <a:rPr lang="en-US" sz="1100" dirty="0">
                          <a:effectLst/>
                        </a:rPr>
                        <a:t> (C++11) </a:t>
                      </a:r>
                      <a:endParaRPr lang="en-GB" sz="1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1120" marR="41910" marT="635" marB="0"/>
                </a:tc>
                <a:tc>
                  <a:txBody>
                    <a:bodyPr/>
                    <a:lstStyle/>
                    <a:p>
                      <a:pPr marL="70485" marR="59690" indent="-6350" algn="l">
                        <a:lnSpc>
                          <a:spcPct val="107000"/>
                        </a:lnSpc>
                        <a:spcAft>
                          <a:spcPts val="0"/>
                        </a:spcAft>
                      </a:pPr>
                      <a:r>
                        <a:rPr lang="en-US" sz="1100" dirty="0">
                          <a:effectLst/>
                        </a:rPr>
                        <a:t>iterates through the specified sub-expressions within all regex matches in a given string or through unmatched substrings (class template) </a:t>
                      </a:r>
                      <a:endParaRPr lang="en-GB" sz="1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1120" marR="41910" marT="635" marB="0"/>
                </a:tc>
                <a:extLst>
                  <a:ext uri="{0D108BD9-81ED-4DB2-BD59-A6C34878D82A}">
                    <a16:rowId xmlns:a16="http://schemas.microsoft.com/office/drawing/2014/main" val="2896832419"/>
                  </a:ext>
                </a:extLst>
              </a:tr>
            </a:tbl>
          </a:graphicData>
        </a:graphic>
      </p:graphicFrame>
    </p:spTree>
    <p:extLst>
      <p:ext uri="{BB962C8B-B14F-4D97-AF65-F5344CB8AC3E}">
        <p14:creationId xmlns:p14="http://schemas.microsoft.com/office/powerpoint/2010/main" val="9018538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59404"/>
            <a:ext cx="10515600" cy="4351338"/>
          </a:xfrm>
        </p:spPr>
        <p:txBody>
          <a:bodyPr>
            <a:normAutofit lnSpcReduction="10000"/>
          </a:bodyPr>
          <a:lstStyle/>
          <a:p>
            <a:pPr lvl="1"/>
            <a:r>
              <a:rPr lang="en-US" b="1" dirty="0"/>
              <a:t>Exceptions </a:t>
            </a:r>
            <a:r>
              <a:rPr lang="en-GB" b="1" dirty="0"/>
              <a:t/>
            </a:r>
            <a:br>
              <a:rPr lang="en-GB" b="1" dirty="0"/>
            </a:br>
            <a:r>
              <a:rPr lang="en-GB" dirty="0" smtClean="0"/>
              <a:t> </a:t>
            </a:r>
            <a:r>
              <a:rPr lang="en-US" dirty="0" smtClean="0"/>
              <a:t>This </a:t>
            </a:r>
            <a:r>
              <a:rPr lang="en-US" dirty="0"/>
              <a:t>class defines the type of objects thrown as exceptions to report errors from the regular expressions library. </a:t>
            </a:r>
            <a:endParaRPr lang="en-US" dirty="0" smtClean="0"/>
          </a:p>
          <a:p>
            <a:pPr lvl="1"/>
            <a:endParaRPr lang="en-GB" dirty="0" smtClean="0"/>
          </a:p>
          <a:p>
            <a:pPr lvl="1"/>
            <a:endParaRPr lang="en-GB" dirty="0"/>
          </a:p>
          <a:p>
            <a:pPr lvl="1"/>
            <a:endParaRPr lang="en-US" b="1" dirty="0" smtClean="0"/>
          </a:p>
          <a:p>
            <a:pPr lvl="1"/>
            <a:r>
              <a:rPr lang="en-US" b="1" dirty="0" smtClean="0"/>
              <a:t>Traits </a:t>
            </a:r>
            <a:r>
              <a:rPr lang="en-GB" sz="2000" b="1" dirty="0" smtClean="0"/>
              <a:t>: </a:t>
            </a:r>
            <a:r>
              <a:rPr lang="en-US" dirty="0" smtClean="0"/>
              <a:t>The </a:t>
            </a:r>
            <a:r>
              <a:rPr lang="en-US" dirty="0"/>
              <a:t>regex traits class is used to encapsulate the localizable aspects of a </a:t>
            </a:r>
            <a:r>
              <a:rPr lang="en-US" dirty="0" smtClean="0"/>
              <a:t>regex</a:t>
            </a:r>
          </a:p>
          <a:p>
            <a:pPr lvl="1"/>
            <a:endParaRPr lang="en-GB" dirty="0" smtClean="0"/>
          </a:p>
          <a:p>
            <a:pPr lvl="1"/>
            <a:endParaRPr lang="en-US" b="1" dirty="0" smtClean="0"/>
          </a:p>
          <a:p>
            <a:pPr lvl="1"/>
            <a:endParaRPr lang="en-US" b="1" dirty="0"/>
          </a:p>
          <a:p>
            <a:pPr lvl="1"/>
            <a:r>
              <a:rPr lang="en-US" b="1" dirty="0" smtClean="0"/>
              <a:t>Constants </a:t>
            </a:r>
            <a:r>
              <a:rPr lang="en-GB" sz="2000" b="1" dirty="0" smtClean="0"/>
              <a:t>: </a:t>
            </a:r>
            <a:r>
              <a:rPr lang="en-US" dirty="0" smtClean="0"/>
              <a:t>Defined </a:t>
            </a:r>
            <a:r>
              <a:rPr lang="en-US" dirty="0"/>
              <a:t>in namespace </a:t>
            </a:r>
            <a:r>
              <a:rPr lang="en-US" dirty="0" err="1"/>
              <a:t>std</a:t>
            </a:r>
            <a:r>
              <a:rPr lang="en-US" dirty="0"/>
              <a:t>::</a:t>
            </a:r>
            <a:r>
              <a:rPr lang="en-US" dirty="0" err="1"/>
              <a:t>regex_constants</a:t>
            </a:r>
            <a:r>
              <a:rPr lang="en-US" dirty="0"/>
              <a:t> </a:t>
            </a:r>
            <a:endParaRPr lang="en-GB" dirty="0"/>
          </a:p>
          <a:p>
            <a:pPr marL="457200" lvl="1" indent="0">
              <a:buNone/>
            </a:pPr>
            <a:endParaRPr lang="en-GB" dirty="0"/>
          </a:p>
        </p:txBody>
      </p:sp>
      <p:graphicFrame>
        <p:nvGraphicFramePr>
          <p:cNvPr id="4" name="Table 3"/>
          <p:cNvGraphicFramePr>
            <a:graphicFrameLocks noGrp="1"/>
          </p:cNvGraphicFramePr>
          <p:nvPr>
            <p:extLst>
              <p:ext uri="{D42A27DB-BD31-4B8C-83A1-F6EECF244321}">
                <p14:modId xmlns:p14="http://schemas.microsoft.com/office/powerpoint/2010/main" val="3869667702"/>
              </p:ext>
            </p:extLst>
          </p:nvPr>
        </p:nvGraphicFramePr>
        <p:xfrm>
          <a:off x="2244612" y="1598725"/>
          <a:ext cx="6469082" cy="560266"/>
        </p:xfrm>
        <a:graphic>
          <a:graphicData uri="http://schemas.openxmlformats.org/drawingml/2006/table">
            <a:tbl>
              <a:tblPr firstRow="1" firstCol="1" bandRow="1">
                <a:tableStyleId>{5C22544A-7EE6-4342-B048-85BDC9FD1C3A}</a:tableStyleId>
              </a:tblPr>
              <a:tblGrid>
                <a:gridCol w="1927858">
                  <a:extLst>
                    <a:ext uri="{9D8B030D-6E8A-4147-A177-3AD203B41FA5}">
                      <a16:colId xmlns:a16="http://schemas.microsoft.com/office/drawing/2014/main" val="3493852892"/>
                    </a:ext>
                  </a:extLst>
                </a:gridCol>
                <a:gridCol w="4541224">
                  <a:extLst>
                    <a:ext uri="{9D8B030D-6E8A-4147-A177-3AD203B41FA5}">
                      <a16:colId xmlns:a16="http://schemas.microsoft.com/office/drawing/2014/main" val="3734355093"/>
                    </a:ext>
                  </a:extLst>
                </a:gridCol>
              </a:tblGrid>
              <a:tr h="560266">
                <a:tc>
                  <a:txBody>
                    <a:bodyPr/>
                    <a:lstStyle/>
                    <a:p>
                      <a:pPr marL="68580" indent="-6350" algn="l">
                        <a:lnSpc>
                          <a:spcPct val="107000"/>
                        </a:lnSpc>
                        <a:spcAft>
                          <a:spcPts val="0"/>
                        </a:spcAft>
                      </a:pPr>
                      <a:r>
                        <a:rPr lang="en-US" sz="1100" dirty="0" err="1">
                          <a:effectLst/>
                        </a:rPr>
                        <a:t>regex_error</a:t>
                      </a:r>
                      <a:r>
                        <a:rPr lang="en-US" sz="1100" dirty="0">
                          <a:effectLst/>
                        </a:rPr>
                        <a:t> (C++11)               </a:t>
                      </a:r>
                      <a:endParaRPr lang="en-GB" sz="1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9525" marT="7620" marB="0"/>
                </a:tc>
                <a:tc>
                  <a:txBody>
                    <a:bodyPr/>
                    <a:lstStyle/>
                    <a:p>
                      <a:pPr marL="67310" marR="475615" indent="-76835" algn="l">
                        <a:lnSpc>
                          <a:spcPct val="107000"/>
                        </a:lnSpc>
                        <a:spcAft>
                          <a:spcPts val="0"/>
                        </a:spcAft>
                      </a:pPr>
                      <a:r>
                        <a:rPr lang="en-US" sz="1100" dirty="0">
                          <a:effectLst/>
                        </a:rPr>
                        <a:t>  reports errors generated by the regular expressions library (class) </a:t>
                      </a:r>
                      <a:endParaRPr lang="en-GB" sz="1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9525" marT="7620" marB="0"/>
                </a:tc>
                <a:extLst>
                  <a:ext uri="{0D108BD9-81ED-4DB2-BD59-A6C34878D82A}">
                    <a16:rowId xmlns:a16="http://schemas.microsoft.com/office/drawing/2014/main" val="2563685129"/>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1354194585"/>
              </p:ext>
            </p:extLst>
          </p:nvPr>
        </p:nvGraphicFramePr>
        <p:xfrm>
          <a:off x="2438252" y="3298312"/>
          <a:ext cx="7749240" cy="488950"/>
        </p:xfrm>
        <a:graphic>
          <a:graphicData uri="http://schemas.openxmlformats.org/drawingml/2006/table">
            <a:tbl>
              <a:tblPr firstRow="1" firstCol="1" bandRow="1">
                <a:tableStyleId>{5C22544A-7EE6-4342-B048-85BDC9FD1C3A}</a:tableStyleId>
              </a:tblPr>
              <a:tblGrid>
                <a:gridCol w="2309360">
                  <a:extLst>
                    <a:ext uri="{9D8B030D-6E8A-4147-A177-3AD203B41FA5}">
                      <a16:colId xmlns:a16="http://schemas.microsoft.com/office/drawing/2014/main" val="3033583726"/>
                    </a:ext>
                  </a:extLst>
                </a:gridCol>
                <a:gridCol w="5439880">
                  <a:extLst>
                    <a:ext uri="{9D8B030D-6E8A-4147-A177-3AD203B41FA5}">
                      <a16:colId xmlns:a16="http://schemas.microsoft.com/office/drawing/2014/main" val="1476547062"/>
                    </a:ext>
                  </a:extLst>
                </a:gridCol>
              </a:tblGrid>
              <a:tr h="488950">
                <a:tc>
                  <a:txBody>
                    <a:bodyPr/>
                    <a:lstStyle/>
                    <a:p>
                      <a:pPr marL="68580" indent="-6350" algn="l">
                        <a:lnSpc>
                          <a:spcPct val="107000"/>
                        </a:lnSpc>
                        <a:spcAft>
                          <a:spcPts val="0"/>
                        </a:spcAft>
                      </a:pPr>
                      <a:r>
                        <a:rPr lang="en-US" sz="1100" dirty="0" err="1">
                          <a:effectLst/>
                        </a:rPr>
                        <a:t>regex_traits</a:t>
                      </a:r>
                      <a:r>
                        <a:rPr lang="en-US" sz="1100" dirty="0">
                          <a:effectLst/>
                        </a:rPr>
                        <a:t> (C++11)               </a:t>
                      </a:r>
                      <a:endParaRPr lang="en-GB" sz="1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1905" marT="8890" marB="0"/>
                </a:tc>
                <a:tc>
                  <a:txBody>
                    <a:bodyPr/>
                    <a:lstStyle/>
                    <a:p>
                      <a:pPr marL="70485" indent="-6350" algn="l">
                        <a:lnSpc>
                          <a:spcPct val="107000"/>
                        </a:lnSpc>
                        <a:spcAft>
                          <a:spcPts val="0"/>
                        </a:spcAft>
                      </a:pPr>
                      <a:r>
                        <a:rPr lang="en-US" sz="1100" dirty="0">
                          <a:effectLst/>
                        </a:rPr>
                        <a:t> provides </a:t>
                      </a:r>
                      <a:r>
                        <a:rPr lang="en-US" sz="1100" dirty="0" smtClean="0">
                          <a:effectLst/>
                        </a:rPr>
                        <a:t>meta information </a:t>
                      </a:r>
                      <a:r>
                        <a:rPr lang="en-US" sz="1100" dirty="0">
                          <a:effectLst/>
                        </a:rPr>
                        <a:t>about a character type, required by the regex </a:t>
                      </a:r>
                      <a:r>
                        <a:rPr lang="en-GB" sz="1100" baseline="0" dirty="0" smtClean="0">
                          <a:effectLst/>
                        </a:rPr>
                        <a:t>   </a:t>
                      </a:r>
                      <a:r>
                        <a:rPr lang="en-US" sz="1100" dirty="0" smtClean="0">
                          <a:effectLst/>
                        </a:rPr>
                        <a:t>library (</a:t>
                      </a:r>
                      <a:r>
                        <a:rPr lang="en-US" sz="1100" dirty="0">
                          <a:effectLst/>
                        </a:rPr>
                        <a:t>class template) </a:t>
                      </a:r>
                      <a:endParaRPr lang="en-GB" sz="1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1905" marT="8890" marB="0"/>
                </a:tc>
                <a:extLst>
                  <a:ext uri="{0D108BD9-81ED-4DB2-BD59-A6C34878D82A}">
                    <a16:rowId xmlns:a16="http://schemas.microsoft.com/office/drawing/2014/main" val="226672466"/>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3719790422"/>
              </p:ext>
            </p:extLst>
          </p:nvPr>
        </p:nvGraphicFramePr>
        <p:xfrm>
          <a:off x="2438252" y="4959528"/>
          <a:ext cx="8315660" cy="1377483"/>
        </p:xfrm>
        <a:graphic>
          <a:graphicData uri="http://schemas.openxmlformats.org/drawingml/2006/table">
            <a:tbl>
              <a:tblPr firstRow="1" firstCol="1" bandRow="1">
                <a:tableStyleId>{5C22544A-7EE6-4342-B048-85BDC9FD1C3A}</a:tableStyleId>
              </a:tblPr>
              <a:tblGrid>
                <a:gridCol w="2478160">
                  <a:extLst>
                    <a:ext uri="{9D8B030D-6E8A-4147-A177-3AD203B41FA5}">
                      <a16:colId xmlns:a16="http://schemas.microsoft.com/office/drawing/2014/main" val="182549640"/>
                    </a:ext>
                  </a:extLst>
                </a:gridCol>
                <a:gridCol w="5837500">
                  <a:extLst>
                    <a:ext uri="{9D8B030D-6E8A-4147-A177-3AD203B41FA5}">
                      <a16:colId xmlns:a16="http://schemas.microsoft.com/office/drawing/2014/main" val="4054447005"/>
                    </a:ext>
                  </a:extLst>
                </a:gridCol>
              </a:tblGrid>
              <a:tr h="459161">
                <a:tc>
                  <a:txBody>
                    <a:bodyPr/>
                    <a:lstStyle/>
                    <a:p>
                      <a:pPr marL="1270" indent="-6350" algn="l">
                        <a:lnSpc>
                          <a:spcPct val="107000"/>
                        </a:lnSpc>
                        <a:spcAft>
                          <a:spcPts val="0"/>
                        </a:spcAft>
                      </a:pPr>
                      <a:r>
                        <a:rPr lang="en-US" sz="1100">
                          <a:effectLst/>
                        </a:rPr>
                        <a:t>syntax_option_type (C++11) </a:t>
                      </a:r>
                      <a:endParaRPr lang="en-GB" sz="1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9215" marR="48260" marT="635" marB="0"/>
                </a:tc>
                <a:tc>
                  <a:txBody>
                    <a:bodyPr/>
                    <a:lstStyle/>
                    <a:p>
                      <a:pPr marL="70485" marR="1136015" indent="-6350" algn="l">
                        <a:lnSpc>
                          <a:spcPct val="107000"/>
                        </a:lnSpc>
                        <a:spcAft>
                          <a:spcPts val="0"/>
                        </a:spcAft>
                      </a:pPr>
                      <a:r>
                        <a:rPr lang="en-US" sz="1100">
                          <a:effectLst/>
                        </a:rPr>
                        <a:t>general options controlling regex behavior (typedef) </a:t>
                      </a:r>
                      <a:endParaRPr lang="en-GB" sz="1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9215" marR="48260" marT="635" marB="0"/>
                </a:tc>
                <a:extLst>
                  <a:ext uri="{0D108BD9-81ED-4DB2-BD59-A6C34878D82A}">
                    <a16:rowId xmlns:a16="http://schemas.microsoft.com/office/drawing/2014/main" val="1963227674"/>
                  </a:ext>
                </a:extLst>
              </a:tr>
              <a:tr h="459161">
                <a:tc>
                  <a:txBody>
                    <a:bodyPr/>
                    <a:lstStyle/>
                    <a:p>
                      <a:pPr marL="1270" indent="-6350" algn="l">
                        <a:lnSpc>
                          <a:spcPct val="107000"/>
                        </a:lnSpc>
                        <a:spcAft>
                          <a:spcPts val="0"/>
                        </a:spcAft>
                      </a:pPr>
                      <a:r>
                        <a:rPr lang="en-US" sz="1100">
                          <a:effectLst/>
                        </a:rPr>
                        <a:t>match_flag_type (C++11) </a:t>
                      </a:r>
                      <a:endParaRPr lang="en-GB" sz="1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9215" marR="48260" marT="635" marB="0"/>
                </a:tc>
                <a:tc>
                  <a:txBody>
                    <a:bodyPr/>
                    <a:lstStyle/>
                    <a:p>
                      <a:pPr marL="70485" marR="1931670" indent="-6350" algn="l">
                        <a:lnSpc>
                          <a:spcPct val="107000"/>
                        </a:lnSpc>
                        <a:spcAft>
                          <a:spcPts val="0"/>
                        </a:spcAft>
                      </a:pPr>
                      <a:r>
                        <a:rPr lang="en-US" sz="1100">
                          <a:effectLst/>
                        </a:rPr>
                        <a:t>options specific to matching (typedef) </a:t>
                      </a:r>
                      <a:endParaRPr lang="en-GB" sz="1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9215" marR="48260" marT="635" marB="0"/>
                </a:tc>
                <a:extLst>
                  <a:ext uri="{0D108BD9-81ED-4DB2-BD59-A6C34878D82A}">
                    <a16:rowId xmlns:a16="http://schemas.microsoft.com/office/drawing/2014/main" val="4026425492"/>
                  </a:ext>
                </a:extLst>
              </a:tr>
              <a:tr h="459161">
                <a:tc>
                  <a:txBody>
                    <a:bodyPr/>
                    <a:lstStyle/>
                    <a:p>
                      <a:pPr marL="1270" indent="-6350" algn="l">
                        <a:lnSpc>
                          <a:spcPct val="107000"/>
                        </a:lnSpc>
                        <a:spcAft>
                          <a:spcPts val="0"/>
                        </a:spcAft>
                      </a:pPr>
                      <a:r>
                        <a:rPr lang="en-US" sz="1100">
                          <a:effectLst/>
                        </a:rPr>
                        <a:t>error_type (C++11) </a:t>
                      </a:r>
                      <a:endParaRPr lang="en-GB" sz="1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9215" marR="48260" marT="635" marB="0"/>
                </a:tc>
                <a:tc>
                  <a:txBody>
                    <a:bodyPr/>
                    <a:lstStyle/>
                    <a:p>
                      <a:pPr marL="70485" marR="1078230" indent="-6350" algn="l">
                        <a:lnSpc>
                          <a:spcPct val="107000"/>
                        </a:lnSpc>
                        <a:spcAft>
                          <a:spcPts val="0"/>
                        </a:spcAft>
                      </a:pPr>
                      <a:r>
                        <a:rPr lang="en-US" sz="1100" dirty="0">
                          <a:effectLst/>
                        </a:rPr>
                        <a:t>describes different types of matching errors (</a:t>
                      </a:r>
                      <a:r>
                        <a:rPr lang="en-US" sz="1100" dirty="0" err="1">
                          <a:effectLst/>
                        </a:rPr>
                        <a:t>typedef</a:t>
                      </a:r>
                      <a:r>
                        <a:rPr lang="en-US" sz="1100" dirty="0">
                          <a:effectLst/>
                        </a:rPr>
                        <a:t>) </a:t>
                      </a:r>
                      <a:endParaRPr lang="en-GB" sz="1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9215" marR="48260" marT="635" marB="0"/>
                </a:tc>
                <a:extLst>
                  <a:ext uri="{0D108BD9-81ED-4DB2-BD59-A6C34878D82A}">
                    <a16:rowId xmlns:a16="http://schemas.microsoft.com/office/drawing/2014/main" val="1191429961"/>
                  </a:ext>
                </a:extLst>
              </a:tr>
            </a:tbl>
          </a:graphicData>
        </a:graphic>
      </p:graphicFrame>
    </p:spTree>
    <p:extLst>
      <p:ext uri="{BB962C8B-B14F-4D97-AF65-F5344CB8AC3E}">
        <p14:creationId xmlns:p14="http://schemas.microsoft.com/office/powerpoint/2010/main" val="42925055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52139" y="1438350"/>
            <a:ext cx="10515600" cy="4351338"/>
          </a:xfrm>
        </p:spPr>
        <p:txBody>
          <a:bodyPr>
            <a:normAutofit/>
          </a:bodyPr>
          <a:lstStyle/>
          <a:p>
            <a:r>
              <a:rPr lang="en-US" sz="1800" b="1" dirty="0"/>
              <a:t>Program </a:t>
            </a:r>
            <a:r>
              <a:rPr lang="en-US" sz="1800" b="1" dirty="0" smtClean="0"/>
              <a:t>1</a:t>
            </a:r>
            <a:r>
              <a:rPr lang="en-US" sz="1800" b="1" dirty="0"/>
              <a:t>:</a:t>
            </a:r>
            <a:r>
              <a:rPr lang="en-US" sz="1800" dirty="0"/>
              <a:t> Program to use regex() and </a:t>
            </a:r>
            <a:r>
              <a:rPr lang="en-US" sz="1800" dirty="0" err="1"/>
              <a:t>regex_match</a:t>
            </a:r>
            <a:r>
              <a:rPr lang="en-US" sz="1800" dirty="0"/>
              <a:t>()  to match different patterns input by user</a:t>
            </a:r>
            <a:r>
              <a:rPr lang="en-US" sz="1800" dirty="0" smtClean="0"/>
              <a:t>.</a:t>
            </a:r>
          </a:p>
          <a:p>
            <a:endParaRPr lang="en-GB" sz="1800" dirty="0"/>
          </a:p>
        </p:txBody>
      </p:sp>
      <p:sp>
        <p:nvSpPr>
          <p:cNvPr id="2" name="Title 1"/>
          <p:cNvSpPr>
            <a:spLocks noGrp="1"/>
          </p:cNvSpPr>
          <p:nvPr>
            <p:ph type="title"/>
          </p:nvPr>
        </p:nvSpPr>
        <p:spPr/>
        <p:txBody>
          <a:bodyPr/>
          <a:lstStyle/>
          <a:p>
            <a:r>
              <a:rPr lang="en-GB" dirty="0" err="1" smtClean="0"/>
              <a:t>RegEx</a:t>
            </a:r>
            <a:r>
              <a:rPr lang="en-GB" dirty="0" smtClean="0"/>
              <a:t> Examples</a:t>
            </a:r>
            <a:endParaRPr lang="en-GB" dirty="0"/>
          </a:p>
        </p:txBody>
      </p:sp>
      <p:pic>
        <p:nvPicPr>
          <p:cNvPr id="4" name="Picture 3"/>
          <p:cNvPicPr/>
          <p:nvPr/>
        </p:nvPicPr>
        <p:blipFill>
          <a:blip r:embed="rId2">
            <a:extLst>
              <a:ext uri="{28A0092B-C50C-407E-A947-70E740481C1C}">
                <a14:useLocalDpi xmlns:a14="http://schemas.microsoft.com/office/drawing/2010/main" val="0"/>
              </a:ext>
            </a:extLst>
          </a:blip>
          <a:stretch>
            <a:fillRect/>
          </a:stretch>
        </p:blipFill>
        <p:spPr>
          <a:xfrm>
            <a:off x="1327036" y="1819779"/>
            <a:ext cx="8225753" cy="5167312"/>
          </a:xfrm>
          <a:prstGeom prst="rect">
            <a:avLst/>
          </a:prstGeom>
        </p:spPr>
      </p:pic>
    </p:spTree>
    <p:extLst>
      <p:ext uri="{BB962C8B-B14F-4D97-AF65-F5344CB8AC3E}">
        <p14:creationId xmlns:p14="http://schemas.microsoft.com/office/powerpoint/2010/main" val="21038169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600" b="1" dirty="0"/>
              <a:t>Program </a:t>
            </a:r>
            <a:r>
              <a:rPr lang="en-US" sz="3600" b="1" dirty="0" smtClean="0"/>
              <a:t>2</a:t>
            </a:r>
            <a:r>
              <a:rPr lang="en-US" sz="3600" b="1" dirty="0"/>
              <a:t>:</a:t>
            </a:r>
            <a:r>
              <a:rPr lang="en-US" sz="3600" dirty="0"/>
              <a:t> Program to use </a:t>
            </a:r>
            <a:r>
              <a:rPr lang="en-US" sz="3600" dirty="0" err="1"/>
              <a:t>regex_replace</a:t>
            </a:r>
            <a:r>
              <a:rPr lang="en-US" sz="3600" dirty="0"/>
              <a:t>() for finding and replacing a word.</a:t>
            </a:r>
            <a:r>
              <a:rPr lang="en-GB" dirty="0"/>
              <a:t/>
            </a:r>
            <a:br>
              <a:rPr lang="en-GB" dirty="0"/>
            </a:br>
            <a:endParaRPr lang="en-GB" dirty="0"/>
          </a:p>
        </p:txBody>
      </p:sp>
      <p:pic>
        <p:nvPicPr>
          <p:cNvPr id="4" name="Content Placeholder 3"/>
          <p:cNvPicPr>
            <a:picLocks noGrp="1"/>
          </p:cNvPicPr>
          <p:nvPr>
            <p:ph idx="1"/>
          </p:nvPr>
        </p:nvPicPr>
        <p:blipFill>
          <a:blip r:embed="rId2"/>
          <a:stretch>
            <a:fillRect/>
          </a:stretch>
        </p:blipFill>
        <p:spPr>
          <a:xfrm>
            <a:off x="3936175" y="792890"/>
            <a:ext cx="7262536" cy="5683214"/>
          </a:xfrm>
          <a:prstGeom prst="rect">
            <a:avLst/>
          </a:prstGeom>
        </p:spPr>
      </p:pic>
    </p:spTree>
    <p:extLst>
      <p:ext uri="{BB962C8B-B14F-4D97-AF65-F5344CB8AC3E}">
        <p14:creationId xmlns:p14="http://schemas.microsoft.com/office/powerpoint/2010/main" val="16751740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t>Program </a:t>
            </a:r>
            <a:r>
              <a:rPr lang="en-US" sz="3200" b="1" dirty="0" smtClean="0"/>
              <a:t>3</a:t>
            </a:r>
            <a:r>
              <a:rPr lang="en-US" sz="3200" b="1" dirty="0"/>
              <a:t>:</a:t>
            </a:r>
            <a:r>
              <a:rPr lang="en-US" sz="3200" dirty="0"/>
              <a:t> Program to use </a:t>
            </a:r>
            <a:r>
              <a:rPr lang="en-US" sz="3200" dirty="0" err="1"/>
              <a:t>regex_match</a:t>
            </a:r>
            <a:r>
              <a:rPr lang="en-US" sz="3200" dirty="0"/>
              <a:t>() to match words </a:t>
            </a:r>
            <a:endParaRPr lang="en-GB" sz="3200" dirty="0"/>
          </a:p>
        </p:txBody>
      </p:sp>
      <p:pic>
        <p:nvPicPr>
          <p:cNvPr id="4" name="Content Placeholder 3"/>
          <p:cNvPicPr>
            <a:picLocks noGrp="1"/>
          </p:cNvPicPr>
          <p:nvPr>
            <p:ph idx="1"/>
          </p:nvPr>
        </p:nvPicPr>
        <p:blipFill>
          <a:blip r:embed="rId2"/>
          <a:stretch>
            <a:fillRect/>
          </a:stretch>
        </p:blipFill>
        <p:spPr>
          <a:xfrm>
            <a:off x="3443087" y="1309258"/>
            <a:ext cx="6314099" cy="5285180"/>
          </a:xfrm>
          <a:prstGeom prst="rect">
            <a:avLst/>
          </a:prstGeom>
        </p:spPr>
      </p:pic>
    </p:spTree>
    <p:extLst>
      <p:ext uri="{BB962C8B-B14F-4D97-AF65-F5344CB8AC3E}">
        <p14:creationId xmlns:p14="http://schemas.microsoft.com/office/powerpoint/2010/main" val="35359610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t>Program </a:t>
            </a:r>
            <a:r>
              <a:rPr lang="en-US" sz="3200" b="1" dirty="0" smtClean="0"/>
              <a:t>4</a:t>
            </a:r>
            <a:r>
              <a:rPr lang="en-US" sz="3200" b="1" dirty="0"/>
              <a:t>:</a:t>
            </a:r>
            <a:r>
              <a:rPr lang="en-US" sz="3200" dirty="0"/>
              <a:t> Program to use </a:t>
            </a:r>
            <a:r>
              <a:rPr lang="en-US" sz="3200" dirty="0" err="1"/>
              <a:t>regex_search</a:t>
            </a:r>
            <a:r>
              <a:rPr lang="en-US" sz="3200" dirty="0"/>
              <a:t>() to search a word with in a sentence</a:t>
            </a:r>
            <a:endParaRPr lang="en-GB" sz="3200" dirty="0"/>
          </a:p>
        </p:txBody>
      </p:sp>
      <p:pic>
        <p:nvPicPr>
          <p:cNvPr id="4" name="Content Placeholder 3"/>
          <p:cNvPicPr>
            <a:picLocks noGrp="1"/>
          </p:cNvPicPr>
          <p:nvPr>
            <p:ph idx="1"/>
          </p:nvPr>
        </p:nvPicPr>
        <p:blipFill>
          <a:blip r:embed="rId2"/>
          <a:stretch>
            <a:fillRect/>
          </a:stretch>
        </p:blipFill>
        <p:spPr>
          <a:xfrm>
            <a:off x="1017942" y="1485070"/>
            <a:ext cx="10156116" cy="5055580"/>
          </a:xfrm>
          <a:prstGeom prst="rect">
            <a:avLst/>
          </a:prstGeom>
        </p:spPr>
      </p:pic>
    </p:spTree>
    <p:extLst>
      <p:ext uri="{BB962C8B-B14F-4D97-AF65-F5344CB8AC3E}">
        <p14:creationId xmlns:p14="http://schemas.microsoft.com/office/powerpoint/2010/main" val="32400122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Reference:</a:t>
            </a:r>
            <a:endParaRPr lang="en-GB" dirty="0"/>
          </a:p>
        </p:txBody>
      </p:sp>
      <p:sp>
        <p:nvSpPr>
          <p:cNvPr id="3" name="Content Placeholder 2"/>
          <p:cNvSpPr>
            <a:spLocks noGrp="1"/>
          </p:cNvSpPr>
          <p:nvPr>
            <p:ph idx="1"/>
          </p:nvPr>
        </p:nvSpPr>
        <p:spPr/>
        <p:txBody>
          <a:bodyPr/>
          <a:lstStyle/>
          <a:p>
            <a:endParaRPr lang="en-GB" b="1" dirty="0" smtClean="0"/>
          </a:p>
          <a:p>
            <a:r>
              <a:rPr lang="en-GB" dirty="0"/>
              <a:t>Compilers: Principles, Techniques, and Tools 2nd </a:t>
            </a:r>
            <a:r>
              <a:rPr lang="en-GB" dirty="0" smtClean="0"/>
              <a:t>Edition</a:t>
            </a:r>
            <a:br>
              <a:rPr lang="en-GB" dirty="0" smtClean="0"/>
            </a:br>
            <a:r>
              <a:rPr lang="en-GB" dirty="0" smtClean="0"/>
              <a:t> by </a:t>
            </a:r>
            <a:r>
              <a:rPr lang="en-GB" dirty="0"/>
              <a:t>Alfred </a:t>
            </a:r>
            <a:r>
              <a:rPr lang="en-GB" dirty="0" err="1"/>
              <a:t>Aho</a:t>
            </a:r>
            <a:r>
              <a:rPr lang="en-GB" dirty="0"/>
              <a:t> </a:t>
            </a:r>
            <a:r>
              <a:rPr lang="en-GB" dirty="0" smtClean="0"/>
              <a:t>, Jeffrey Ullman, Ravi </a:t>
            </a:r>
            <a:r>
              <a:rPr lang="en-GB" dirty="0" err="1" smtClean="0"/>
              <a:t>Sethi</a:t>
            </a:r>
            <a:r>
              <a:rPr lang="en-GB" dirty="0" smtClean="0"/>
              <a:t>, Monica Lam</a:t>
            </a:r>
          </a:p>
          <a:p>
            <a:endParaRPr lang="en-GB" dirty="0" smtClean="0"/>
          </a:p>
          <a:p>
            <a:r>
              <a:rPr lang="en-GB" dirty="0" smtClean="0"/>
              <a:t>Introduction </a:t>
            </a:r>
            <a:r>
              <a:rPr lang="en-GB" dirty="0"/>
              <a:t>to Compilers and Language </a:t>
            </a:r>
            <a:r>
              <a:rPr lang="en-GB" dirty="0" smtClean="0"/>
              <a:t>Design | Second Edition | </a:t>
            </a:r>
            <a:r>
              <a:rPr lang="en-GB" dirty="0" err="1" smtClean="0"/>
              <a:t>Prof</a:t>
            </a:r>
            <a:r>
              <a:rPr lang="en-GB" dirty="0" err="1"/>
              <a:t>.</a:t>
            </a:r>
            <a:r>
              <a:rPr lang="en-GB" dirty="0"/>
              <a:t> </a:t>
            </a:r>
            <a:r>
              <a:rPr lang="en-GB" dirty="0" smtClean="0"/>
              <a:t>Douglas </a:t>
            </a:r>
            <a:r>
              <a:rPr lang="en-GB" dirty="0" err="1" smtClean="0"/>
              <a:t>Thain</a:t>
            </a:r>
            <a:r>
              <a:rPr lang="en-GB" dirty="0" smtClean="0"/>
              <a:t> - University </a:t>
            </a:r>
            <a:r>
              <a:rPr lang="en-GB" dirty="0"/>
              <a:t>of Notre Dame </a:t>
            </a:r>
            <a:br>
              <a:rPr lang="en-GB" dirty="0"/>
            </a:br>
            <a:endParaRPr lang="en-GB" dirty="0"/>
          </a:p>
        </p:txBody>
      </p:sp>
    </p:spTree>
    <p:extLst>
      <p:ext uri="{BB962C8B-B14F-4D97-AF65-F5344CB8AC3E}">
        <p14:creationId xmlns:p14="http://schemas.microsoft.com/office/powerpoint/2010/main" val="6047878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2234</TotalTime>
  <Words>1473</Words>
  <Application>Microsoft Office PowerPoint</Application>
  <PresentationFormat>Widescreen</PresentationFormat>
  <Paragraphs>108</Paragraphs>
  <Slides>23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Arial</vt:lpstr>
      <vt:lpstr>Calibri</vt:lpstr>
      <vt:lpstr>Calibri Light</vt:lpstr>
      <vt:lpstr>Times New Roman</vt:lpstr>
      <vt:lpstr>Office Theme</vt:lpstr>
      <vt:lpstr>Compiler Construction</vt:lpstr>
      <vt:lpstr>Week 3:</vt:lpstr>
      <vt:lpstr>Compiler Construction Tools</vt:lpstr>
      <vt:lpstr>Compiler Construction Tools</vt:lpstr>
      <vt:lpstr>Jflap</vt:lpstr>
      <vt:lpstr>Jflap Setup</vt:lpstr>
      <vt:lpstr>Using JFLap</vt:lpstr>
      <vt:lpstr>Finite Automata and Languages </vt:lpstr>
      <vt:lpstr>Finite Automata and Languages </vt:lpstr>
      <vt:lpstr>PowerPoint Presentation</vt:lpstr>
      <vt:lpstr>PowerPoint Presentation</vt:lpstr>
      <vt:lpstr>PowerPoint Presentation</vt:lpstr>
      <vt:lpstr>PowerPoint Presentation</vt:lpstr>
      <vt:lpstr>PowerPoint Presentation</vt:lpstr>
      <vt:lpstr>Regex</vt:lpstr>
      <vt:lpstr>PowerPoint Presentation</vt:lpstr>
      <vt:lpstr>PowerPoint Presentation</vt:lpstr>
      <vt:lpstr>PowerPoint Presentation</vt:lpstr>
      <vt:lpstr>RegEx Examples</vt:lpstr>
      <vt:lpstr>Program 2: Program to use regex_replace() for finding and replacing a word. </vt:lpstr>
      <vt:lpstr>Program 3: Program to use regex_match() to match words </vt:lpstr>
      <vt:lpstr>Program 4: Program to use regex_search() to search a word with in a sentence</vt:lpstr>
      <vt:lpstr>Reference: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Compiler Construction</dc:title>
  <dc:creator>Zufiqar Ali</dc:creator>
  <cp:lastModifiedBy>Zufiqar Ali</cp:lastModifiedBy>
  <cp:revision>540</cp:revision>
  <dcterms:created xsi:type="dcterms:W3CDTF">2025-08-08T09:42:33Z</dcterms:created>
  <dcterms:modified xsi:type="dcterms:W3CDTF">2025-08-27T10:46:25Z</dcterms:modified>
</cp:coreProperties>
</file>