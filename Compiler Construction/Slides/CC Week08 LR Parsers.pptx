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256" r:id="rId2"/>
    <p:sldId id="261" r:id="rId3"/>
    <p:sldId id="273" r:id="rId4"/>
    <p:sldId id="274" r:id="rId5"/>
    <p:sldId id="275" r:id="rId6"/>
    <p:sldId id="276" r:id="rId7"/>
    <p:sldId id="277" r:id="rId8"/>
    <p:sldId id="278" r:id="rId9"/>
    <p:sldId id="279" r:id="rId10"/>
    <p:sldId id="280" r:id="rId11"/>
    <p:sldId id="281" r:id="rId12"/>
    <p:sldId id="282" r:id="rId13"/>
    <p:sldId id="283" r:id="rId14"/>
    <p:sldId id="303" r:id="rId15"/>
    <p:sldId id="304" r:id="rId16"/>
    <p:sldId id="305" r:id="rId17"/>
    <p:sldId id="306" r:id="rId18"/>
    <p:sldId id="284" r:id="rId19"/>
    <p:sldId id="285" r:id="rId20"/>
    <p:sldId id="286" r:id="rId21"/>
    <p:sldId id="287" r:id="rId22"/>
    <p:sldId id="288" r:id="rId23"/>
    <p:sldId id="289" r:id="rId24"/>
    <p:sldId id="290" r:id="rId25"/>
    <p:sldId id="291" r:id="rId26"/>
    <p:sldId id="292" r:id="rId27"/>
    <p:sldId id="293" r:id="rId28"/>
    <p:sldId id="294" r:id="rId29"/>
    <p:sldId id="295" r:id="rId30"/>
    <p:sldId id="296" r:id="rId31"/>
    <p:sldId id="297" r:id="rId32"/>
    <p:sldId id="298" r:id="rId33"/>
    <p:sldId id="299" r:id="rId34"/>
    <p:sldId id="300" r:id="rId35"/>
    <p:sldId id="307" r:id="rId36"/>
    <p:sldId id="308" r:id="rId37"/>
    <p:sldId id="309" r:id="rId38"/>
    <p:sldId id="301" r:id="rId39"/>
    <p:sldId id="302" r:id="rId40"/>
    <p:sldId id="419" r:id="rId41"/>
    <p:sldId id="420" r:id="rId42"/>
    <p:sldId id="421" r:id="rId43"/>
    <p:sldId id="272"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286" autoAdjust="0"/>
    <p:restoredTop sz="94660"/>
  </p:normalViewPr>
  <p:slideViewPr>
    <p:cSldViewPr snapToGrid="0">
      <p:cViewPr varScale="1">
        <p:scale>
          <a:sx n="63" d="100"/>
          <a:sy n="63" d="100"/>
        </p:scale>
        <p:origin x="676"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9E53E1-CEB2-494C-8775-D8A99ED827E9}" type="datetimeFigureOut">
              <a:rPr lang="en-GB" smtClean="0"/>
              <a:t>31/03/2026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7A4238-B7B9-460B-BE74-ADFB88CFFB6C}" type="slidenum">
              <a:rPr lang="en-GB" smtClean="0"/>
              <a:t>‹#›</a:t>
            </a:fld>
            <a:endParaRPr lang="en-GB"/>
          </a:p>
        </p:txBody>
      </p:sp>
    </p:spTree>
    <p:extLst>
      <p:ext uri="{BB962C8B-B14F-4D97-AF65-F5344CB8AC3E}">
        <p14:creationId xmlns:p14="http://schemas.microsoft.com/office/powerpoint/2010/main" val="40190461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84F1EA38-8D09-4040-A9B0-3F77DCDCC836}" type="datetimeFigureOut">
              <a:rPr lang="en-GB" smtClean="0"/>
              <a:t>31/03/2026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8EDA373-3783-415D-A360-F08463BF1C8E}" type="slidenum">
              <a:rPr lang="en-GB" smtClean="0"/>
              <a:t>‹#›</a:t>
            </a:fld>
            <a:endParaRPr lang="en-GB"/>
          </a:p>
        </p:txBody>
      </p:sp>
    </p:spTree>
    <p:extLst>
      <p:ext uri="{BB962C8B-B14F-4D97-AF65-F5344CB8AC3E}">
        <p14:creationId xmlns:p14="http://schemas.microsoft.com/office/powerpoint/2010/main" val="34271682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84F1EA38-8D09-4040-A9B0-3F77DCDCC836}" type="datetimeFigureOut">
              <a:rPr lang="en-GB" smtClean="0"/>
              <a:t>31/03/2026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8EDA373-3783-415D-A360-F08463BF1C8E}" type="slidenum">
              <a:rPr lang="en-GB" smtClean="0"/>
              <a:t>‹#›</a:t>
            </a:fld>
            <a:endParaRPr lang="en-GB"/>
          </a:p>
        </p:txBody>
      </p:sp>
    </p:spTree>
    <p:extLst>
      <p:ext uri="{BB962C8B-B14F-4D97-AF65-F5344CB8AC3E}">
        <p14:creationId xmlns:p14="http://schemas.microsoft.com/office/powerpoint/2010/main" val="8255816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4F1EA38-8D09-4040-A9B0-3F77DCDCC836}" type="datetimeFigureOut">
              <a:rPr lang="en-GB" smtClean="0"/>
              <a:t>31/03/2026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8EDA373-3783-415D-A360-F08463BF1C8E}" type="slidenum">
              <a:rPr lang="en-GB" smtClean="0"/>
              <a:t>‹#›</a:t>
            </a:fld>
            <a:endParaRPr lang="en-GB"/>
          </a:p>
        </p:txBody>
      </p:sp>
    </p:spTree>
    <p:extLst>
      <p:ext uri="{BB962C8B-B14F-4D97-AF65-F5344CB8AC3E}">
        <p14:creationId xmlns:p14="http://schemas.microsoft.com/office/powerpoint/2010/main" val="34658037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84F1EA38-8D09-4040-A9B0-3F77DCDCC836}" type="datetimeFigureOut">
              <a:rPr lang="en-GB" smtClean="0"/>
              <a:t>31/03/2026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8EDA373-3783-415D-A360-F08463BF1C8E}" type="slidenum">
              <a:rPr lang="en-GB" smtClean="0"/>
              <a:t>‹#›</a:t>
            </a:fld>
            <a:endParaRPr lang="en-GB"/>
          </a:p>
        </p:txBody>
      </p:sp>
    </p:spTree>
    <p:extLst>
      <p:ext uri="{BB962C8B-B14F-4D97-AF65-F5344CB8AC3E}">
        <p14:creationId xmlns:p14="http://schemas.microsoft.com/office/powerpoint/2010/main" val="11106018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84F1EA38-8D09-4040-A9B0-3F77DCDCC836}" type="datetimeFigureOut">
              <a:rPr lang="en-GB" smtClean="0"/>
              <a:t>31/03/2026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28EDA373-3783-415D-A360-F08463BF1C8E}" type="slidenum">
              <a:rPr lang="en-GB" smtClean="0"/>
              <a:t>‹#›</a:t>
            </a:fld>
            <a:endParaRPr lang="en-GB"/>
          </a:p>
        </p:txBody>
      </p:sp>
    </p:spTree>
    <p:extLst>
      <p:ext uri="{BB962C8B-B14F-4D97-AF65-F5344CB8AC3E}">
        <p14:creationId xmlns:p14="http://schemas.microsoft.com/office/powerpoint/2010/main" val="11520254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84F1EA38-8D09-4040-A9B0-3F77DCDCC836}" type="datetimeFigureOut">
              <a:rPr lang="en-GB" smtClean="0"/>
              <a:t>31/03/2026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28EDA373-3783-415D-A360-F08463BF1C8E}" type="slidenum">
              <a:rPr lang="en-GB" smtClean="0"/>
              <a:t>‹#›</a:t>
            </a:fld>
            <a:endParaRPr lang="en-GB"/>
          </a:p>
        </p:txBody>
      </p:sp>
    </p:spTree>
    <p:extLst>
      <p:ext uri="{BB962C8B-B14F-4D97-AF65-F5344CB8AC3E}">
        <p14:creationId xmlns:p14="http://schemas.microsoft.com/office/powerpoint/2010/main" val="20315546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F1EA38-8D09-4040-A9B0-3F77DCDCC836}" type="datetimeFigureOut">
              <a:rPr lang="en-GB" smtClean="0"/>
              <a:t>31/03/2026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28EDA373-3783-415D-A360-F08463BF1C8E}" type="slidenum">
              <a:rPr lang="en-GB" smtClean="0"/>
              <a:t>‹#›</a:t>
            </a:fld>
            <a:endParaRPr lang="en-GB"/>
          </a:p>
        </p:txBody>
      </p:sp>
    </p:spTree>
    <p:extLst>
      <p:ext uri="{BB962C8B-B14F-4D97-AF65-F5344CB8AC3E}">
        <p14:creationId xmlns:p14="http://schemas.microsoft.com/office/powerpoint/2010/main" val="23435443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4F1EA38-8D09-4040-A9B0-3F77DCDCC836}" type="datetimeFigureOut">
              <a:rPr lang="en-GB" smtClean="0"/>
              <a:t>31/03/2026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8EDA373-3783-415D-A360-F08463BF1C8E}" type="slidenum">
              <a:rPr lang="en-GB" smtClean="0"/>
              <a:t>‹#›</a:t>
            </a:fld>
            <a:endParaRPr lang="en-GB"/>
          </a:p>
        </p:txBody>
      </p:sp>
    </p:spTree>
    <p:extLst>
      <p:ext uri="{BB962C8B-B14F-4D97-AF65-F5344CB8AC3E}">
        <p14:creationId xmlns:p14="http://schemas.microsoft.com/office/powerpoint/2010/main" val="41561629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4F1EA38-8D09-4040-A9B0-3F77DCDCC836}" type="datetimeFigureOut">
              <a:rPr lang="en-GB" smtClean="0"/>
              <a:t>31/03/2026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8EDA373-3783-415D-A360-F08463BF1C8E}" type="slidenum">
              <a:rPr lang="en-GB" smtClean="0"/>
              <a:t>‹#›</a:t>
            </a:fld>
            <a:endParaRPr lang="en-GB"/>
          </a:p>
        </p:txBody>
      </p:sp>
    </p:spTree>
    <p:extLst>
      <p:ext uri="{BB962C8B-B14F-4D97-AF65-F5344CB8AC3E}">
        <p14:creationId xmlns:p14="http://schemas.microsoft.com/office/powerpoint/2010/main" val="22340395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84F1EA38-8D09-4040-A9B0-3F77DCDCC836}" type="datetimeFigureOut">
              <a:rPr lang="en-GB" smtClean="0"/>
              <a:t>31/03/2026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8EDA373-3783-415D-A360-F08463BF1C8E}" type="slidenum">
              <a:rPr lang="en-GB" smtClean="0"/>
              <a:t>‹#›</a:t>
            </a:fld>
            <a:endParaRPr lang="en-GB"/>
          </a:p>
        </p:txBody>
      </p:sp>
    </p:spTree>
    <p:extLst>
      <p:ext uri="{BB962C8B-B14F-4D97-AF65-F5344CB8AC3E}">
        <p14:creationId xmlns:p14="http://schemas.microsoft.com/office/powerpoint/2010/main" val="14016077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84F1EA38-8D09-4040-A9B0-3F77DCDCC836}" type="datetimeFigureOut">
              <a:rPr lang="en-GB" smtClean="0"/>
              <a:t>31/03/2026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8EDA373-3783-415D-A360-F08463BF1C8E}" type="slidenum">
              <a:rPr lang="en-GB" smtClean="0"/>
              <a:t>‹#›</a:t>
            </a:fld>
            <a:endParaRPr lang="en-GB"/>
          </a:p>
        </p:txBody>
      </p:sp>
    </p:spTree>
    <p:extLst>
      <p:ext uri="{BB962C8B-B14F-4D97-AF65-F5344CB8AC3E}">
        <p14:creationId xmlns:p14="http://schemas.microsoft.com/office/powerpoint/2010/main" val="4936921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F1EA38-8D09-4040-A9B0-3F77DCDCC836}" type="datetimeFigureOut">
              <a:rPr lang="en-GB" smtClean="0"/>
              <a:t>31/03/2026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EDA373-3783-415D-A360-F08463BF1C8E}" type="slidenum">
              <a:rPr lang="en-GB" smtClean="0"/>
              <a:t>‹#›</a:t>
            </a:fld>
            <a:endParaRPr lang="en-GB"/>
          </a:p>
        </p:txBody>
      </p:sp>
    </p:spTree>
    <p:extLst>
      <p:ext uri="{BB962C8B-B14F-4D97-AF65-F5344CB8AC3E}">
        <p14:creationId xmlns:p14="http://schemas.microsoft.com/office/powerpoint/2010/main" val="34142150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Zulfiqar.rafique@nu.edu.pk"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Compiler Construction</a:t>
            </a:r>
          </a:p>
        </p:txBody>
      </p:sp>
      <p:sp>
        <p:nvSpPr>
          <p:cNvPr id="3" name="Subtitle 2"/>
          <p:cNvSpPr>
            <a:spLocks noGrp="1"/>
          </p:cNvSpPr>
          <p:nvPr>
            <p:ph type="subTitle" idx="1"/>
          </p:nvPr>
        </p:nvSpPr>
        <p:spPr/>
        <p:txBody>
          <a:bodyPr/>
          <a:lstStyle/>
          <a:p>
            <a:r>
              <a:rPr lang="en-GB" dirty="0"/>
              <a:t>Teacher : Zulfiqar Ali</a:t>
            </a:r>
          </a:p>
          <a:p>
            <a:r>
              <a:rPr lang="en-GB" dirty="0"/>
              <a:t>Email: </a:t>
            </a:r>
            <a:r>
              <a:rPr lang="en-GB" dirty="0">
                <a:hlinkClick r:id="rId2"/>
              </a:rPr>
              <a:t>Zulfiqar.rafique@nu.edu.pk</a:t>
            </a:r>
            <a:endParaRPr lang="en-GB" dirty="0"/>
          </a:p>
          <a:p>
            <a:r>
              <a:rPr lang="en-GB" dirty="0"/>
              <a:t>Office: No.6,Basement -1 (CS Block 1)</a:t>
            </a:r>
          </a:p>
          <a:p>
            <a:endParaRPr lang="en-GB" dirty="0"/>
          </a:p>
        </p:txBody>
      </p:sp>
    </p:spTree>
    <p:extLst>
      <p:ext uri="{BB962C8B-B14F-4D97-AF65-F5344CB8AC3E}">
        <p14:creationId xmlns:p14="http://schemas.microsoft.com/office/powerpoint/2010/main" val="40885785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Week 8:</a:t>
            </a:r>
          </a:p>
        </p:txBody>
      </p:sp>
      <p:sp>
        <p:nvSpPr>
          <p:cNvPr id="3" name="Content Placeholder 2"/>
          <p:cNvSpPr>
            <a:spLocks noGrp="1"/>
          </p:cNvSpPr>
          <p:nvPr>
            <p:ph idx="1"/>
          </p:nvPr>
        </p:nvSpPr>
        <p:spPr/>
        <p:txBody>
          <a:bodyPr/>
          <a:lstStyle/>
          <a:p>
            <a:pPr marL="0" indent="0">
              <a:buNone/>
            </a:pPr>
            <a:r>
              <a:rPr lang="en-GB" dirty="0"/>
              <a:t>More Powerful LR Parsers</a:t>
            </a:r>
          </a:p>
          <a:p>
            <a:pPr marL="0" indent="0">
              <a:buNone/>
            </a:pPr>
            <a:r>
              <a:rPr lang="en-GB" dirty="0"/>
              <a:t>CLR(1) -  Canonical LR</a:t>
            </a:r>
          </a:p>
          <a:p>
            <a:pPr marL="0" indent="0">
              <a:buNone/>
            </a:pPr>
            <a:r>
              <a:rPr lang="en-GB" dirty="0"/>
              <a:t>LALR(1)</a:t>
            </a:r>
          </a:p>
        </p:txBody>
      </p:sp>
    </p:spTree>
    <p:extLst>
      <p:ext uri="{BB962C8B-B14F-4D97-AF65-F5344CB8AC3E}">
        <p14:creationId xmlns:p14="http://schemas.microsoft.com/office/powerpoint/2010/main" val="35662676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More Powerful LR Parsers</a:t>
            </a:r>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a:blip r:embed="rId2"/>
          <a:stretch>
            <a:fillRect/>
          </a:stretch>
        </p:blipFill>
        <p:spPr>
          <a:xfrm>
            <a:off x="1097415" y="1959370"/>
            <a:ext cx="9646785" cy="4217593"/>
          </a:xfrm>
          <a:prstGeom prst="rect">
            <a:avLst/>
          </a:prstGeom>
        </p:spPr>
      </p:pic>
    </p:spTree>
    <p:extLst>
      <p:ext uri="{BB962C8B-B14F-4D97-AF65-F5344CB8AC3E}">
        <p14:creationId xmlns:p14="http://schemas.microsoft.com/office/powerpoint/2010/main" val="525737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Canonical LR(1)</a:t>
            </a:r>
          </a:p>
        </p:txBody>
      </p:sp>
      <p:sp>
        <p:nvSpPr>
          <p:cNvPr id="3" name="Content Placeholder 2"/>
          <p:cNvSpPr>
            <a:spLocks noGrp="1"/>
          </p:cNvSpPr>
          <p:nvPr>
            <p:ph idx="1"/>
          </p:nvPr>
        </p:nvSpPr>
        <p:spPr/>
        <p:txBody>
          <a:bodyPr/>
          <a:lstStyle/>
          <a:p>
            <a:endParaRPr lang="en-GB" dirty="0"/>
          </a:p>
        </p:txBody>
      </p:sp>
      <p:pic>
        <p:nvPicPr>
          <p:cNvPr id="4" name="Picture 3"/>
          <p:cNvPicPr>
            <a:picLocks noChangeAspect="1"/>
          </p:cNvPicPr>
          <p:nvPr/>
        </p:nvPicPr>
        <p:blipFill>
          <a:blip r:embed="rId2"/>
          <a:stretch>
            <a:fillRect/>
          </a:stretch>
        </p:blipFill>
        <p:spPr>
          <a:xfrm>
            <a:off x="992641" y="1825624"/>
            <a:ext cx="10227386" cy="2746375"/>
          </a:xfrm>
          <a:prstGeom prst="rect">
            <a:avLst/>
          </a:prstGeom>
        </p:spPr>
      </p:pic>
      <p:pic>
        <p:nvPicPr>
          <p:cNvPr id="5" name="Picture 4"/>
          <p:cNvPicPr>
            <a:picLocks noChangeAspect="1"/>
          </p:cNvPicPr>
          <p:nvPr/>
        </p:nvPicPr>
        <p:blipFill>
          <a:blip r:embed="rId3"/>
          <a:stretch>
            <a:fillRect/>
          </a:stretch>
        </p:blipFill>
        <p:spPr>
          <a:xfrm>
            <a:off x="992641" y="4314824"/>
            <a:ext cx="9804228" cy="1742396"/>
          </a:xfrm>
          <a:prstGeom prst="rect">
            <a:avLst/>
          </a:prstGeom>
        </p:spPr>
      </p:pic>
    </p:spTree>
    <p:extLst>
      <p:ext uri="{BB962C8B-B14F-4D97-AF65-F5344CB8AC3E}">
        <p14:creationId xmlns:p14="http://schemas.microsoft.com/office/powerpoint/2010/main" val="24800791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Canonical LR(1)</a:t>
            </a:r>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a:blip r:embed="rId2"/>
          <a:stretch>
            <a:fillRect/>
          </a:stretch>
        </p:blipFill>
        <p:spPr>
          <a:xfrm>
            <a:off x="1127353" y="1690688"/>
            <a:ext cx="8267020" cy="4722409"/>
          </a:xfrm>
          <a:prstGeom prst="rect">
            <a:avLst/>
          </a:prstGeom>
        </p:spPr>
      </p:pic>
    </p:spTree>
    <p:extLst>
      <p:ext uri="{BB962C8B-B14F-4D97-AF65-F5344CB8AC3E}">
        <p14:creationId xmlns:p14="http://schemas.microsoft.com/office/powerpoint/2010/main" val="33605684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Grammar:</a:t>
            </a:r>
          </a:p>
        </p:txBody>
      </p:sp>
      <p:pic>
        <p:nvPicPr>
          <p:cNvPr id="7" name="Content Placeholder 6"/>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838200" y="1633764"/>
            <a:ext cx="10061608" cy="1365703"/>
          </a:xfrm>
          <a:prstGeom prst="rect">
            <a:avLst/>
          </a:prstGeom>
        </p:spPr>
      </p:pic>
      <p:pic>
        <p:nvPicPr>
          <p:cNvPr id="6" name="Picture 5"/>
          <p:cNvPicPr>
            <a:picLocks noChangeAspect="1"/>
          </p:cNvPicPr>
          <p:nvPr/>
        </p:nvPicPr>
        <p:blipFill>
          <a:blip r:embed="rId4"/>
          <a:stretch>
            <a:fillRect/>
          </a:stretch>
        </p:blipFill>
        <p:spPr>
          <a:xfrm>
            <a:off x="6096000" y="422048"/>
            <a:ext cx="2877826" cy="1211716"/>
          </a:xfrm>
          <a:prstGeom prst="rect">
            <a:avLst/>
          </a:prstGeom>
        </p:spPr>
      </p:pic>
      <p:pic>
        <p:nvPicPr>
          <p:cNvPr id="8" name="Picture 7"/>
          <p:cNvPicPr>
            <a:picLocks noChangeAspect="1"/>
          </p:cNvPicPr>
          <p:nvPr/>
        </p:nvPicPr>
        <p:blipFill>
          <a:blip r:embed="rId5"/>
          <a:stretch>
            <a:fillRect/>
          </a:stretch>
        </p:blipFill>
        <p:spPr>
          <a:xfrm>
            <a:off x="2087336" y="2999467"/>
            <a:ext cx="7394013" cy="2962502"/>
          </a:xfrm>
          <a:prstGeom prst="rect">
            <a:avLst/>
          </a:prstGeom>
        </p:spPr>
      </p:pic>
    </p:spTree>
    <p:extLst>
      <p:ext uri="{BB962C8B-B14F-4D97-AF65-F5344CB8AC3E}">
        <p14:creationId xmlns:p14="http://schemas.microsoft.com/office/powerpoint/2010/main" val="5440067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a:blip r:embed="rId2"/>
          <a:stretch>
            <a:fillRect/>
          </a:stretch>
        </p:blipFill>
        <p:spPr>
          <a:xfrm>
            <a:off x="1839685" y="655183"/>
            <a:ext cx="7676653" cy="5179560"/>
          </a:xfrm>
          <a:prstGeom prst="rect">
            <a:avLst/>
          </a:prstGeom>
        </p:spPr>
      </p:pic>
    </p:spTree>
    <p:extLst>
      <p:ext uri="{BB962C8B-B14F-4D97-AF65-F5344CB8AC3E}">
        <p14:creationId xmlns:p14="http://schemas.microsoft.com/office/powerpoint/2010/main" val="4384648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4" name="Content Placeholder 3"/>
          <p:cNvPicPr>
            <a:picLocks noGrp="1" noChangeAspect="1"/>
          </p:cNvPicPr>
          <p:nvPr>
            <p:ph idx="1"/>
          </p:nvPr>
        </p:nvPicPr>
        <p:blipFill>
          <a:blip r:embed="rId2"/>
          <a:stretch>
            <a:fillRect/>
          </a:stretch>
        </p:blipFill>
        <p:spPr>
          <a:xfrm>
            <a:off x="1034143" y="1600993"/>
            <a:ext cx="10123714" cy="4480282"/>
          </a:xfrm>
          <a:prstGeom prst="rect">
            <a:avLst/>
          </a:prstGeom>
        </p:spPr>
      </p:pic>
    </p:spTree>
    <p:extLst>
      <p:ext uri="{BB962C8B-B14F-4D97-AF65-F5344CB8AC3E}">
        <p14:creationId xmlns:p14="http://schemas.microsoft.com/office/powerpoint/2010/main" val="42019324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dirty="0"/>
          </a:p>
        </p:txBody>
      </p:sp>
      <p:pic>
        <p:nvPicPr>
          <p:cNvPr id="4" name="Picture 3"/>
          <p:cNvPicPr>
            <a:picLocks noChangeAspect="1"/>
          </p:cNvPicPr>
          <p:nvPr/>
        </p:nvPicPr>
        <p:blipFill>
          <a:blip r:embed="rId2"/>
          <a:stretch>
            <a:fillRect/>
          </a:stretch>
        </p:blipFill>
        <p:spPr>
          <a:xfrm>
            <a:off x="204787" y="261938"/>
            <a:ext cx="7058025" cy="5915025"/>
          </a:xfrm>
          <a:prstGeom prst="rect">
            <a:avLst/>
          </a:prstGeom>
        </p:spPr>
      </p:pic>
      <p:pic>
        <p:nvPicPr>
          <p:cNvPr id="5" name="Picture 4"/>
          <p:cNvPicPr>
            <a:picLocks noChangeAspect="1"/>
          </p:cNvPicPr>
          <p:nvPr/>
        </p:nvPicPr>
        <p:blipFill>
          <a:blip r:embed="rId3"/>
          <a:stretch>
            <a:fillRect/>
          </a:stretch>
        </p:blipFill>
        <p:spPr>
          <a:xfrm>
            <a:off x="5245554" y="4217307"/>
            <a:ext cx="6402161" cy="1602766"/>
          </a:xfrm>
          <a:prstGeom prst="rect">
            <a:avLst/>
          </a:prstGeom>
        </p:spPr>
      </p:pic>
    </p:spTree>
    <p:extLst>
      <p:ext uri="{BB962C8B-B14F-4D97-AF65-F5344CB8AC3E}">
        <p14:creationId xmlns:p14="http://schemas.microsoft.com/office/powerpoint/2010/main" val="5573298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Canonical LR(1) Parsing Table</a:t>
            </a:r>
          </a:p>
        </p:txBody>
      </p:sp>
      <p:pic>
        <p:nvPicPr>
          <p:cNvPr id="4" name="Content Placeholder 3"/>
          <p:cNvPicPr>
            <a:picLocks noGrp="1" noChangeAspect="1"/>
          </p:cNvPicPr>
          <p:nvPr>
            <p:ph idx="1"/>
          </p:nvPr>
        </p:nvPicPr>
        <p:blipFill>
          <a:blip r:embed="rId2"/>
          <a:stretch>
            <a:fillRect/>
          </a:stretch>
        </p:blipFill>
        <p:spPr>
          <a:xfrm>
            <a:off x="838200" y="1805101"/>
            <a:ext cx="10612603" cy="2799556"/>
          </a:xfrm>
          <a:prstGeom prst="rect">
            <a:avLst/>
          </a:prstGeom>
        </p:spPr>
      </p:pic>
    </p:spTree>
    <p:extLst>
      <p:ext uri="{BB962C8B-B14F-4D97-AF65-F5344CB8AC3E}">
        <p14:creationId xmlns:p14="http://schemas.microsoft.com/office/powerpoint/2010/main" val="38062153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a:blip r:embed="rId2"/>
          <a:stretch>
            <a:fillRect/>
          </a:stretch>
        </p:blipFill>
        <p:spPr>
          <a:xfrm>
            <a:off x="1894114" y="288925"/>
            <a:ext cx="8712600" cy="6013904"/>
          </a:xfrm>
          <a:prstGeom prst="rect">
            <a:avLst/>
          </a:prstGeom>
        </p:spPr>
      </p:pic>
    </p:spTree>
    <p:extLst>
      <p:ext uri="{BB962C8B-B14F-4D97-AF65-F5344CB8AC3E}">
        <p14:creationId xmlns:p14="http://schemas.microsoft.com/office/powerpoint/2010/main" val="22654465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a:blip r:embed="rId2"/>
          <a:stretch>
            <a:fillRect/>
          </a:stretch>
        </p:blipFill>
        <p:spPr>
          <a:xfrm>
            <a:off x="1034822" y="365125"/>
            <a:ext cx="9367512" cy="1898650"/>
          </a:xfrm>
          <a:prstGeom prst="rect">
            <a:avLst/>
          </a:prstGeom>
        </p:spPr>
      </p:pic>
    </p:spTree>
    <p:extLst>
      <p:ext uri="{BB962C8B-B14F-4D97-AF65-F5344CB8AC3E}">
        <p14:creationId xmlns:p14="http://schemas.microsoft.com/office/powerpoint/2010/main" val="11325777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6096000" y="1825625"/>
            <a:ext cx="5627915" cy="4444774"/>
          </a:xfrm>
          <a:prstGeom prst="rect">
            <a:avLst/>
          </a:prstGeom>
        </p:spPr>
      </p:pic>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dirty="0"/>
          </a:p>
        </p:txBody>
      </p:sp>
      <p:pic>
        <p:nvPicPr>
          <p:cNvPr id="5" name="Picture 4"/>
          <p:cNvPicPr>
            <a:picLocks noChangeAspect="1"/>
          </p:cNvPicPr>
          <p:nvPr/>
        </p:nvPicPr>
        <p:blipFill>
          <a:blip r:embed="rId3"/>
          <a:stretch>
            <a:fillRect/>
          </a:stretch>
        </p:blipFill>
        <p:spPr>
          <a:xfrm>
            <a:off x="322489" y="365125"/>
            <a:ext cx="7105650" cy="2152650"/>
          </a:xfrm>
          <a:prstGeom prst="rect">
            <a:avLst/>
          </a:prstGeom>
        </p:spPr>
      </p:pic>
    </p:spTree>
    <p:extLst>
      <p:ext uri="{BB962C8B-B14F-4D97-AF65-F5344CB8AC3E}">
        <p14:creationId xmlns:p14="http://schemas.microsoft.com/office/powerpoint/2010/main" val="15616415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1</a:t>
            </a:r>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a:blip r:embed="rId2"/>
          <a:stretch>
            <a:fillRect/>
          </a:stretch>
        </p:blipFill>
        <p:spPr>
          <a:xfrm>
            <a:off x="1168173" y="1496784"/>
            <a:ext cx="8552770" cy="4893429"/>
          </a:xfrm>
          <a:prstGeom prst="rect">
            <a:avLst/>
          </a:prstGeom>
        </p:spPr>
      </p:pic>
      <p:pic>
        <p:nvPicPr>
          <p:cNvPr id="5" name="Picture 4"/>
          <p:cNvPicPr>
            <a:picLocks noChangeAspect="1"/>
          </p:cNvPicPr>
          <p:nvPr/>
        </p:nvPicPr>
        <p:blipFill>
          <a:blip r:embed="rId2"/>
          <a:stretch>
            <a:fillRect/>
          </a:stretch>
        </p:blipFill>
        <p:spPr>
          <a:xfrm>
            <a:off x="1516516" y="1283534"/>
            <a:ext cx="8552770" cy="4893429"/>
          </a:xfrm>
          <a:prstGeom prst="rect">
            <a:avLst/>
          </a:prstGeom>
        </p:spPr>
      </p:pic>
    </p:spTree>
    <p:extLst>
      <p:ext uri="{BB962C8B-B14F-4D97-AF65-F5344CB8AC3E}">
        <p14:creationId xmlns:p14="http://schemas.microsoft.com/office/powerpoint/2010/main" val="35261427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Canonical Items</a:t>
            </a:r>
          </a:p>
        </p:txBody>
      </p:sp>
      <p:sp>
        <p:nvSpPr>
          <p:cNvPr id="3" name="Content Placeholder 2"/>
          <p:cNvSpPr>
            <a:spLocks noGrp="1"/>
          </p:cNvSpPr>
          <p:nvPr>
            <p:ph idx="1"/>
          </p:nvPr>
        </p:nvSpPr>
        <p:spPr/>
        <p:txBody>
          <a:bodyPr/>
          <a:lstStyle/>
          <a:p>
            <a:endParaRPr lang="en-GB" dirty="0"/>
          </a:p>
        </p:txBody>
      </p:sp>
      <p:pic>
        <p:nvPicPr>
          <p:cNvPr id="4" name="Picture 3"/>
          <p:cNvPicPr>
            <a:picLocks noChangeAspect="1"/>
          </p:cNvPicPr>
          <p:nvPr/>
        </p:nvPicPr>
        <p:blipFill>
          <a:blip r:embed="rId2"/>
          <a:stretch>
            <a:fillRect/>
          </a:stretch>
        </p:blipFill>
        <p:spPr>
          <a:xfrm>
            <a:off x="3331709" y="1279072"/>
            <a:ext cx="7532234" cy="5042154"/>
          </a:xfrm>
          <a:prstGeom prst="rect">
            <a:avLst/>
          </a:prstGeom>
        </p:spPr>
      </p:pic>
    </p:spTree>
    <p:extLst>
      <p:ext uri="{BB962C8B-B14F-4D97-AF65-F5344CB8AC3E}">
        <p14:creationId xmlns:p14="http://schemas.microsoft.com/office/powerpoint/2010/main" val="42646690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CLR Parsing Table</a:t>
            </a:r>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a:blip r:embed="rId2"/>
          <a:stretch>
            <a:fillRect/>
          </a:stretch>
        </p:blipFill>
        <p:spPr>
          <a:xfrm>
            <a:off x="6781120" y="365125"/>
            <a:ext cx="4213452" cy="5704005"/>
          </a:xfrm>
          <a:prstGeom prst="rect">
            <a:avLst/>
          </a:prstGeom>
        </p:spPr>
      </p:pic>
    </p:spTree>
    <p:extLst>
      <p:ext uri="{BB962C8B-B14F-4D97-AF65-F5344CB8AC3E}">
        <p14:creationId xmlns:p14="http://schemas.microsoft.com/office/powerpoint/2010/main" val="24630478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a:blip r:embed="rId2"/>
          <a:stretch>
            <a:fillRect/>
          </a:stretch>
        </p:blipFill>
        <p:spPr>
          <a:xfrm>
            <a:off x="2798988" y="713694"/>
            <a:ext cx="6001901" cy="5463269"/>
          </a:xfrm>
          <a:prstGeom prst="rect">
            <a:avLst/>
          </a:prstGeom>
        </p:spPr>
      </p:pic>
      <p:pic>
        <p:nvPicPr>
          <p:cNvPr id="5" name="Picture 4"/>
          <p:cNvPicPr>
            <a:picLocks noChangeAspect="1"/>
          </p:cNvPicPr>
          <p:nvPr/>
        </p:nvPicPr>
        <p:blipFill>
          <a:blip r:embed="rId2"/>
          <a:stretch>
            <a:fillRect/>
          </a:stretch>
        </p:blipFill>
        <p:spPr>
          <a:xfrm>
            <a:off x="2777217" y="583066"/>
            <a:ext cx="6001901" cy="5463269"/>
          </a:xfrm>
          <a:prstGeom prst="rect">
            <a:avLst/>
          </a:prstGeom>
        </p:spPr>
      </p:pic>
    </p:spTree>
    <p:extLst>
      <p:ext uri="{BB962C8B-B14F-4D97-AF65-F5344CB8AC3E}">
        <p14:creationId xmlns:p14="http://schemas.microsoft.com/office/powerpoint/2010/main" val="36240014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2: CLR(1)</a:t>
            </a:r>
          </a:p>
        </p:txBody>
      </p:sp>
      <p:pic>
        <p:nvPicPr>
          <p:cNvPr id="4" name="Content Placeholder 3"/>
          <p:cNvPicPr>
            <a:picLocks noGrp="1" noChangeAspect="1"/>
          </p:cNvPicPr>
          <p:nvPr>
            <p:ph idx="1"/>
          </p:nvPr>
        </p:nvPicPr>
        <p:blipFill>
          <a:blip r:embed="rId2"/>
          <a:stretch>
            <a:fillRect/>
          </a:stretch>
        </p:blipFill>
        <p:spPr>
          <a:xfrm>
            <a:off x="4841393" y="460602"/>
            <a:ext cx="5772178" cy="5566416"/>
          </a:xfrm>
          <a:prstGeom prst="rect">
            <a:avLst/>
          </a:prstGeom>
        </p:spPr>
      </p:pic>
    </p:spTree>
    <p:extLst>
      <p:ext uri="{BB962C8B-B14F-4D97-AF65-F5344CB8AC3E}">
        <p14:creationId xmlns:p14="http://schemas.microsoft.com/office/powerpoint/2010/main" val="24474881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a:blip r:embed="rId2"/>
          <a:stretch>
            <a:fillRect/>
          </a:stretch>
        </p:blipFill>
        <p:spPr>
          <a:xfrm>
            <a:off x="1360034" y="280307"/>
            <a:ext cx="8197623" cy="6727340"/>
          </a:xfrm>
          <a:prstGeom prst="rect">
            <a:avLst/>
          </a:prstGeom>
        </p:spPr>
      </p:pic>
      <p:pic>
        <p:nvPicPr>
          <p:cNvPr id="5" name="Picture 4"/>
          <p:cNvPicPr>
            <a:picLocks noChangeAspect="1"/>
          </p:cNvPicPr>
          <p:nvPr/>
        </p:nvPicPr>
        <p:blipFill>
          <a:blip r:embed="rId2"/>
          <a:stretch>
            <a:fillRect/>
          </a:stretch>
        </p:blipFill>
        <p:spPr>
          <a:xfrm>
            <a:off x="1523319" y="130660"/>
            <a:ext cx="8197623" cy="6727340"/>
          </a:xfrm>
          <a:prstGeom prst="rect">
            <a:avLst/>
          </a:prstGeom>
        </p:spPr>
      </p:pic>
      <p:pic>
        <p:nvPicPr>
          <p:cNvPr id="6" name="Picture 5"/>
          <p:cNvPicPr>
            <a:picLocks noChangeAspect="1"/>
          </p:cNvPicPr>
          <p:nvPr/>
        </p:nvPicPr>
        <p:blipFill>
          <a:blip r:embed="rId2"/>
          <a:stretch>
            <a:fillRect/>
          </a:stretch>
        </p:blipFill>
        <p:spPr>
          <a:xfrm>
            <a:off x="1664833" y="130660"/>
            <a:ext cx="8197623" cy="6727340"/>
          </a:xfrm>
          <a:prstGeom prst="rect">
            <a:avLst/>
          </a:prstGeom>
        </p:spPr>
      </p:pic>
    </p:spTree>
    <p:extLst>
      <p:ext uri="{BB962C8B-B14F-4D97-AF65-F5344CB8AC3E}">
        <p14:creationId xmlns:p14="http://schemas.microsoft.com/office/powerpoint/2010/main" val="3150657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dirty="0"/>
          </a:p>
        </p:txBody>
      </p:sp>
      <p:pic>
        <p:nvPicPr>
          <p:cNvPr id="4" name="Picture 3"/>
          <p:cNvPicPr>
            <a:picLocks noChangeAspect="1"/>
          </p:cNvPicPr>
          <p:nvPr/>
        </p:nvPicPr>
        <p:blipFill>
          <a:blip r:embed="rId2"/>
          <a:stretch>
            <a:fillRect/>
          </a:stretch>
        </p:blipFill>
        <p:spPr>
          <a:xfrm>
            <a:off x="1918608" y="365125"/>
            <a:ext cx="6561364" cy="5890860"/>
          </a:xfrm>
          <a:prstGeom prst="rect">
            <a:avLst/>
          </a:prstGeom>
        </p:spPr>
      </p:pic>
    </p:spTree>
    <p:extLst>
      <p:ext uri="{BB962C8B-B14F-4D97-AF65-F5344CB8AC3E}">
        <p14:creationId xmlns:p14="http://schemas.microsoft.com/office/powerpoint/2010/main" val="2478990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LALR(1) Parser</a:t>
            </a:r>
          </a:p>
        </p:txBody>
      </p:sp>
      <p:sp>
        <p:nvSpPr>
          <p:cNvPr id="3" name="Content Placeholder 2"/>
          <p:cNvSpPr>
            <a:spLocks noGrp="1"/>
          </p:cNvSpPr>
          <p:nvPr>
            <p:ph idx="1"/>
          </p:nvPr>
        </p:nvSpPr>
        <p:spPr/>
        <p:txBody>
          <a:bodyPr/>
          <a:lstStyle/>
          <a:p>
            <a:r>
              <a:rPr lang="en-GB" dirty="0"/>
              <a:t>LALR Parser is </a:t>
            </a:r>
            <a:r>
              <a:rPr lang="en-GB" dirty="0" err="1"/>
              <a:t>lookahead</a:t>
            </a:r>
            <a:r>
              <a:rPr lang="en-GB" dirty="0"/>
              <a:t> LR parser. It is  the most powerful parser which can handle large classes of grammar. The size of CLR parsing table is quite large as compared to other parsing table. LALR reduces the size of this table. LALR works similar to CLR. The only difference is , it combines the similar states of CLR parsing table  into one single state. </a:t>
            </a:r>
          </a:p>
          <a:p>
            <a:r>
              <a:rPr lang="en-GB" dirty="0"/>
              <a:t>The general syntax becomes  [A-&gt;∝.B, a ]</a:t>
            </a:r>
            <a:br>
              <a:rPr lang="en-GB" dirty="0"/>
            </a:br>
            <a:r>
              <a:rPr lang="en-GB" dirty="0"/>
              <a:t>where A-&gt;∝.B is production and a is a terminal or right end marker $</a:t>
            </a:r>
            <a:br>
              <a:rPr lang="en-GB" dirty="0"/>
            </a:br>
            <a:r>
              <a:rPr lang="en-GB" b="1" dirty="0"/>
              <a:t>	LR(1) items=LR(0) items + look ahead</a:t>
            </a:r>
          </a:p>
        </p:txBody>
      </p:sp>
    </p:spTree>
    <p:extLst>
      <p:ext uri="{BB962C8B-B14F-4D97-AF65-F5344CB8AC3E}">
        <p14:creationId xmlns:p14="http://schemas.microsoft.com/office/powerpoint/2010/main" val="8062752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GB" b="1" dirty="0"/>
              <a:t>CASE 1 –</a:t>
            </a:r>
          </a:p>
          <a:p>
            <a:pPr lvl="1"/>
            <a:r>
              <a:rPr lang="en-GB" dirty="0"/>
              <a:t>A-&gt;∝.BC, a</a:t>
            </a:r>
          </a:p>
          <a:p>
            <a:pPr lvl="1"/>
            <a:r>
              <a:rPr lang="en-GB" dirty="0"/>
              <a:t>B-&gt;.D</a:t>
            </a:r>
          </a:p>
          <a:p>
            <a:pPr lvl="1"/>
            <a:endParaRPr lang="en-GB" dirty="0"/>
          </a:p>
          <a:p>
            <a:pPr lvl="1"/>
            <a:r>
              <a:rPr lang="en-GB" sz="2000" dirty="0"/>
              <a:t>Suppose this is B's production. The look ahead of this production is given as- we look at previous production i.e. - 0th production. Whatever is after B, we find FIRST(of that value) , that is the </a:t>
            </a:r>
            <a:r>
              <a:rPr lang="en-GB" sz="2000" dirty="0" err="1"/>
              <a:t>lookahead</a:t>
            </a:r>
            <a:r>
              <a:rPr lang="en-GB" sz="2000" dirty="0"/>
              <a:t> of 1st production. So, here in 0th production, after B, C is there. Assume FIRST(C)=d, then 1st production become.</a:t>
            </a:r>
          </a:p>
          <a:p>
            <a:pPr lvl="1"/>
            <a:r>
              <a:rPr lang="en-GB" dirty="0"/>
              <a:t>B-&gt;.D, d</a:t>
            </a:r>
          </a:p>
          <a:p>
            <a:pPr lvl="1"/>
            <a:endParaRPr lang="en-GB" sz="2000" dirty="0"/>
          </a:p>
        </p:txBody>
      </p:sp>
      <p:sp>
        <p:nvSpPr>
          <p:cNvPr id="2" name="Title 1"/>
          <p:cNvSpPr>
            <a:spLocks noGrp="1"/>
          </p:cNvSpPr>
          <p:nvPr>
            <p:ph type="title"/>
          </p:nvPr>
        </p:nvSpPr>
        <p:spPr/>
        <p:txBody>
          <a:bodyPr/>
          <a:lstStyle/>
          <a:p>
            <a:r>
              <a:rPr lang="en-GB" b="1" dirty="0"/>
              <a:t>How to add </a:t>
            </a:r>
            <a:r>
              <a:rPr lang="en-GB" b="1" dirty="0" err="1"/>
              <a:t>lookahead</a:t>
            </a:r>
            <a:r>
              <a:rPr lang="en-GB" b="1" dirty="0"/>
              <a:t> with the production?</a:t>
            </a:r>
            <a:br>
              <a:rPr lang="en-GB" b="1" dirty="0"/>
            </a:br>
            <a:endParaRPr lang="en-GB" dirty="0"/>
          </a:p>
        </p:txBody>
      </p:sp>
    </p:spTree>
    <p:extLst>
      <p:ext uri="{BB962C8B-B14F-4D97-AF65-F5344CB8AC3E}">
        <p14:creationId xmlns:p14="http://schemas.microsoft.com/office/powerpoint/2010/main" val="13914630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How to add </a:t>
            </a:r>
            <a:r>
              <a:rPr lang="en-GB" b="1" dirty="0" err="1"/>
              <a:t>lookahead</a:t>
            </a:r>
            <a:r>
              <a:rPr lang="en-GB" b="1" dirty="0"/>
              <a:t> with the production?</a:t>
            </a:r>
            <a:br>
              <a:rPr lang="en-GB" b="1" dirty="0"/>
            </a:br>
            <a:endParaRPr lang="en-GB" dirty="0"/>
          </a:p>
        </p:txBody>
      </p:sp>
      <p:sp>
        <p:nvSpPr>
          <p:cNvPr id="3" name="Content Placeholder 2"/>
          <p:cNvSpPr>
            <a:spLocks noGrp="1"/>
          </p:cNvSpPr>
          <p:nvPr>
            <p:ph idx="1"/>
          </p:nvPr>
        </p:nvSpPr>
        <p:spPr/>
        <p:txBody>
          <a:bodyPr/>
          <a:lstStyle/>
          <a:p>
            <a:r>
              <a:rPr lang="en-GB" b="1" dirty="0"/>
              <a:t>CASE 2 –</a:t>
            </a:r>
          </a:p>
          <a:p>
            <a:pPr lvl="1"/>
            <a:r>
              <a:rPr lang="en-GB" b="1" dirty="0"/>
              <a:t>A-&gt;∝.B, a</a:t>
            </a:r>
          </a:p>
          <a:p>
            <a:pPr lvl="1"/>
            <a:r>
              <a:rPr lang="en-GB" dirty="0" err="1"/>
              <a:t>Here,we</a:t>
            </a:r>
            <a:r>
              <a:rPr lang="en-GB" dirty="0"/>
              <a:t> can see there's nothing after B. So the </a:t>
            </a:r>
            <a:r>
              <a:rPr lang="en-GB" dirty="0" err="1"/>
              <a:t>lookahead</a:t>
            </a:r>
            <a:r>
              <a:rPr lang="en-GB" dirty="0"/>
              <a:t> of 0th production will be the </a:t>
            </a:r>
            <a:r>
              <a:rPr lang="en-GB" dirty="0" err="1"/>
              <a:t>lookahead</a:t>
            </a:r>
            <a:r>
              <a:rPr lang="en-GB" dirty="0"/>
              <a:t> of 1st production. </a:t>
            </a:r>
            <a:r>
              <a:rPr lang="en-GB" dirty="0" err="1"/>
              <a:t>Ie</a:t>
            </a:r>
            <a:endParaRPr lang="en-GB" dirty="0"/>
          </a:p>
          <a:p>
            <a:pPr lvl="1"/>
            <a:r>
              <a:rPr lang="en-GB" b="1" dirty="0"/>
              <a:t>B-&gt;.D, a</a:t>
            </a:r>
          </a:p>
          <a:p>
            <a:endParaRPr lang="en-GB" dirty="0"/>
          </a:p>
        </p:txBody>
      </p:sp>
    </p:spTree>
    <p:extLst>
      <p:ext uri="{BB962C8B-B14F-4D97-AF65-F5344CB8AC3E}">
        <p14:creationId xmlns:p14="http://schemas.microsoft.com/office/powerpoint/2010/main" val="26050432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How to add </a:t>
            </a:r>
            <a:r>
              <a:rPr lang="en-GB" b="1" dirty="0" err="1"/>
              <a:t>lookahead</a:t>
            </a:r>
            <a:r>
              <a:rPr lang="en-GB" b="1" dirty="0"/>
              <a:t> with the production?</a:t>
            </a:r>
            <a:br>
              <a:rPr lang="en-GB" b="1" dirty="0"/>
            </a:br>
            <a:endParaRPr lang="en-GB" dirty="0"/>
          </a:p>
        </p:txBody>
      </p:sp>
      <p:sp>
        <p:nvSpPr>
          <p:cNvPr id="3" name="Content Placeholder 2"/>
          <p:cNvSpPr>
            <a:spLocks noGrp="1"/>
          </p:cNvSpPr>
          <p:nvPr>
            <p:ph idx="1"/>
          </p:nvPr>
        </p:nvSpPr>
        <p:spPr/>
        <p:txBody>
          <a:bodyPr/>
          <a:lstStyle/>
          <a:p>
            <a:r>
              <a:rPr lang="en-GB" dirty="0"/>
              <a:t>CASE 3 –</a:t>
            </a:r>
          </a:p>
          <a:p>
            <a:pPr lvl="1"/>
            <a:r>
              <a:rPr lang="en-GB" dirty="0"/>
              <a:t>Assume a production A-&gt;</a:t>
            </a:r>
            <a:r>
              <a:rPr lang="en-GB" dirty="0" err="1"/>
              <a:t>a|b</a:t>
            </a:r>
            <a:endParaRPr lang="en-GB" dirty="0"/>
          </a:p>
          <a:p>
            <a:pPr lvl="1"/>
            <a:r>
              <a:rPr lang="en-GB" dirty="0"/>
              <a:t>A-&gt;a,$ [0th production]</a:t>
            </a:r>
          </a:p>
          <a:p>
            <a:pPr lvl="1"/>
            <a:r>
              <a:rPr lang="en-GB" dirty="0"/>
              <a:t>A-&gt;b,$ [1st production]</a:t>
            </a:r>
          </a:p>
          <a:p>
            <a:pPr lvl="1"/>
            <a:endParaRPr lang="en-GB" dirty="0"/>
          </a:p>
          <a:p>
            <a:pPr lvl="1"/>
            <a:r>
              <a:rPr lang="en-GB" dirty="0"/>
              <a:t>Here, the 1st production is a part of the previous production, so the </a:t>
            </a:r>
            <a:r>
              <a:rPr lang="en-GB" dirty="0" err="1"/>
              <a:t>lookahead</a:t>
            </a:r>
            <a:r>
              <a:rPr lang="en-GB" dirty="0"/>
              <a:t> will be the same as that of its previous production.</a:t>
            </a:r>
          </a:p>
        </p:txBody>
      </p:sp>
    </p:spTree>
    <p:extLst>
      <p:ext uri="{BB962C8B-B14F-4D97-AF65-F5344CB8AC3E}">
        <p14:creationId xmlns:p14="http://schemas.microsoft.com/office/powerpoint/2010/main" val="20157494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Steps for constructing the LALR parsing table :</a:t>
            </a:r>
            <a:br>
              <a:rPr lang="en-GB" dirty="0"/>
            </a:br>
            <a:endParaRPr lang="en-GB" dirty="0"/>
          </a:p>
        </p:txBody>
      </p:sp>
      <p:sp>
        <p:nvSpPr>
          <p:cNvPr id="3" name="Content Placeholder 2"/>
          <p:cNvSpPr>
            <a:spLocks noGrp="1"/>
          </p:cNvSpPr>
          <p:nvPr>
            <p:ph idx="1"/>
          </p:nvPr>
        </p:nvSpPr>
        <p:spPr/>
        <p:txBody>
          <a:bodyPr/>
          <a:lstStyle/>
          <a:p>
            <a:r>
              <a:rPr lang="en-GB" dirty="0"/>
              <a:t>Writing augmented grammar</a:t>
            </a:r>
          </a:p>
          <a:p>
            <a:r>
              <a:rPr lang="en-GB" dirty="0"/>
              <a:t>LR(1) collection of items to be found</a:t>
            </a:r>
          </a:p>
          <a:p>
            <a:r>
              <a:rPr lang="en-GB" dirty="0"/>
              <a:t>Defining 2 functions: </a:t>
            </a:r>
            <a:r>
              <a:rPr lang="en-GB" dirty="0" err="1"/>
              <a:t>goto</a:t>
            </a:r>
            <a:r>
              <a:rPr lang="en-GB" dirty="0"/>
              <a:t>[list of terminals] and action[list of non-terminals] in the LALR parsing table</a:t>
            </a:r>
          </a:p>
        </p:txBody>
      </p:sp>
    </p:spTree>
    <p:extLst>
      <p:ext uri="{BB962C8B-B14F-4D97-AF65-F5344CB8AC3E}">
        <p14:creationId xmlns:p14="http://schemas.microsoft.com/office/powerpoint/2010/main" val="35851771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a:t>
            </a:r>
          </a:p>
        </p:txBody>
      </p:sp>
      <p:sp>
        <p:nvSpPr>
          <p:cNvPr id="3" name="Content Placeholder 2"/>
          <p:cNvSpPr>
            <a:spLocks noGrp="1"/>
          </p:cNvSpPr>
          <p:nvPr>
            <p:ph idx="1"/>
          </p:nvPr>
        </p:nvSpPr>
        <p:spPr/>
        <p:txBody>
          <a:bodyPr>
            <a:normAutofit fontScale="92500" lnSpcReduction="10000"/>
          </a:bodyPr>
          <a:lstStyle/>
          <a:p>
            <a:r>
              <a:rPr lang="en-GB" dirty="0"/>
              <a:t>S--&gt;AA    </a:t>
            </a:r>
          </a:p>
          <a:p>
            <a:r>
              <a:rPr lang="en-GB" dirty="0"/>
              <a:t>A--&gt;</a:t>
            </a:r>
            <a:r>
              <a:rPr lang="en-GB" dirty="0" err="1"/>
              <a:t>aA|b</a:t>
            </a:r>
            <a:endParaRPr lang="en-GB" dirty="0"/>
          </a:p>
          <a:p>
            <a:endParaRPr lang="en-GB" dirty="0"/>
          </a:p>
          <a:p>
            <a:r>
              <a:rPr lang="en-GB" dirty="0"/>
              <a:t>Solution:</a:t>
            </a:r>
          </a:p>
          <a:p>
            <a:r>
              <a:rPr lang="en-GB" b="1" dirty="0"/>
              <a:t>STEP1- Find augmented grammar</a:t>
            </a:r>
          </a:p>
          <a:p>
            <a:pPr lvl="1"/>
            <a:r>
              <a:rPr lang="en-GB" dirty="0"/>
              <a:t>The augmented grammar of the given grammar is:-</a:t>
            </a:r>
          </a:p>
          <a:p>
            <a:pPr lvl="1"/>
            <a:endParaRPr lang="en-GB" dirty="0"/>
          </a:p>
          <a:p>
            <a:pPr lvl="2"/>
            <a:r>
              <a:rPr lang="en-GB" dirty="0"/>
              <a:t>S'--&gt;.S ,$  	 [0th production]    </a:t>
            </a:r>
          </a:p>
          <a:p>
            <a:pPr lvl="2"/>
            <a:r>
              <a:rPr lang="en-GB" dirty="0"/>
              <a:t>S--&gt;.AA ,$ 	 [1st production]    </a:t>
            </a:r>
          </a:p>
          <a:p>
            <a:pPr lvl="2"/>
            <a:r>
              <a:rPr lang="en-GB" dirty="0"/>
              <a:t>A--&gt;.</a:t>
            </a:r>
            <a:r>
              <a:rPr lang="en-GB" dirty="0" err="1"/>
              <a:t>aA</a:t>
            </a:r>
            <a:r>
              <a:rPr lang="en-GB" dirty="0"/>
              <a:t> ,</a:t>
            </a:r>
            <a:r>
              <a:rPr lang="en-GB" dirty="0" err="1"/>
              <a:t>a|b</a:t>
            </a:r>
            <a:r>
              <a:rPr lang="en-GB" dirty="0"/>
              <a:t> 	[2nd production]      </a:t>
            </a:r>
          </a:p>
          <a:p>
            <a:pPr lvl="2"/>
            <a:r>
              <a:rPr lang="en-GB" dirty="0"/>
              <a:t>A--&gt;.b ,</a:t>
            </a:r>
            <a:r>
              <a:rPr lang="en-GB" dirty="0" err="1"/>
              <a:t>a|b</a:t>
            </a:r>
            <a:r>
              <a:rPr lang="en-GB" dirty="0"/>
              <a:t> 	[3rd production]</a:t>
            </a:r>
          </a:p>
        </p:txBody>
      </p:sp>
    </p:spTree>
    <p:extLst>
      <p:ext uri="{BB962C8B-B14F-4D97-AF65-F5344CB8AC3E}">
        <p14:creationId xmlns:p14="http://schemas.microsoft.com/office/powerpoint/2010/main" val="27987359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600" dirty="0"/>
              <a:t>Applying </a:t>
            </a:r>
            <a:r>
              <a:rPr lang="en-GB" sz="3600" dirty="0" err="1"/>
              <a:t>lookahead</a:t>
            </a:r>
            <a:r>
              <a:rPr lang="en-GB" sz="3600" dirty="0"/>
              <a:t> rule  to the above productions.</a:t>
            </a:r>
            <a:br>
              <a:rPr lang="en-GB" sz="3600" dirty="0"/>
            </a:br>
            <a:endParaRPr lang="en-GB" sz="3600" dirty="0"/>
          </a:p>
        </p:txBody>
      </p:sp>
      <p:sp>
        <p:nvSpPr>
          <p:cNvPr id="3" name="Content Placeholder 2"/>
          <p:cNvSpPr>
            <a:spLocks noGrp="1"/>
          </p:cNvSpPr>
          <p:nvPr>
            <p:ph idx="1"/>
          </p:nvPr>
        </p:nvSpPr>
        <p:spPr/>
        <p:txBody>
          <a:bodyPr>
            <a:normAutofit lnSpcReduction="10000"/>
          </a:bodyPr>
          <a:lstStyle/>
          <a:p>
            <a:r>
              <a:rPr lang="en-GB" dirty="0"/>
              <a:t>The initial look ahead is always $</a:t>
            </a:r>
          </a:p>
          <a:p>
            <a:r>
              <a:rPr lang="en-GB" dirty="0"/>
              <a:t>Now, the 1st production came into existence because of ' . ' before 'S' in 0th production. There is nothing after 'S', so the </a:t>
            </a:r>
            <a:r>
              <a:rPr lang="en-GB" dirty="0" err="1"/>
              <a:t>lookahead</a:t>
            </a:r>
            <a:r>
              <a:rPr lang="en-GB" dirty="0"/>
              <a:t> of 0th production will be the </a:t>
            </a:r>
            <a:r>
              <a:rPr lang="en-GB" dirty="0" err="1"/>
              <a:t>lookahead</a:t>
            </a:r>
            <a:r>
              <a:rPr lang="en-GB" dirty="0"/>
              <a:t> of 1st production. i.e. :  S--&gt;.AA ,$</a:t>
            </a:r>
          </a:p>
          <a:p>
            <a:r>
              <a:rPr lang="en-GB" dirty="0"/>
              <a:t>Now, the 2nd production came into existence because of ' . ' before 'A' in the 1st production.</a:t>
            </a:r>
          </a:p>
          <a:p>
            <a:r>
              <a:rPr lang="en-GB" dirty="0"/>
              <a:t>After 'A', there's  'A'. So, FIRST(A) is </a:t>
            </a:r>
            <a:r>
              <a:rPr lang="en-GB" dirty="0" err="1"/>
              <a:t>a,b</a:t>
            </a:r>
            <a:r>
              <a:rPr lang="en-GB" dirty="0"/>
              <a:t>. Therefore, the </a:t>
            </a:r>
            <a:r>
              <a:rPr lang="en-GB" dirty="0" err="1"/>
              <a:t>lookahead</a:t>
            </a:r>
            <a:r>
              <a:rPr lang="en-GB" dirty="0"/>
              <a:t> of the 2nd production becomes </a:t>
            </a:r>
            <a:r>
              <a:rPr lang="en-GB" dirty="0" err="1"/>
              <a:t>a|b</a:t>
            </a:r>
            <a:r>
              <a:rPr lang="en-GB" dirty="0"/>
              <a:t>.</a:t>
            </a:r>
          </a:p>
          <a:p>
            <a:r>
              <a:rPr lang="en-GB" dirty="0"/>
              <a:t>Now, the 3rd production is a part of the 2nd production. So, the look ahead will be the same.</a:t>
            </a:r>
          </a:p>
        </p:txBody>
      </p:sp>
    </p:spTree>
    <p:extLst>
      <p:ext uri="{BB962C8B-B14F-4D97-AF65-F5344CB8AC3E}">
        <p14:creationId xmlns:p14="http://schemas.microsoft.com/office/powerpoint/2010/main" val="19038991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STEP2 - Find LR(0) collection of items</a:t>
            </a:r>
          </a:p>
        </p:txBody>
      </p:sp>
      <p:pic>
        <p:nvPicPr>
          <p:cNvPr id="4" name="Content Placeholder 3"/>
          <p:cNvPicPr>
            <a:picLocks noGrp="1" noChangeAspect="1"/>
          </p:cNvPicPr>
          <p:nvPr>
            <p:ph idx="1"/>
          </p:nvPr>
        </p:nvPicPr>
        <p:blipFill>
          <a:blip r:embed="rId2"/>
          <a:stretch>
            <a:fillRect/>
          </a:stretch>
        </p:blipFill>
        <p:spPr>
          <a:xfrm>
            <a:off x="1255524" y="1422852"/>
            <a:ext cx="7289761" cy="4911177"/>
          </a:xfrm>
          <a:prstGeom prst="rect">
            <a:avLst/>
          </a:prstGeom>
        </p:spPr>
      </p:pic>
    </p:spTree>
    <p:extLst>
      <p:ext uri="{BB962C8B-B14F-4D97-AF65-F5344CB8AC3E}">
        <p14:creationId xmlns:p14="http://schemas.microsoft.com/office/powerpoint/2010/main" val="37765606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LALR Parsing Table</a:t>
            </a:r>
          </a:p>
        </p:txBody>
      </p:sp>
      <p:sp>
        <p:nvSpPr>
          <p:cNvPr id="3" name="Content Placeholder 2"/>
          <p:cNvSpPr>
            <a:spLocks noGrp="1"/>
          </p:cNvSpPr>
          <p:nvPr>
            <p:ph idx="1"/>
          </p:nvPr>
        </p:nvSpPr>
        <p:spPr/>
        <p:txBody>
          <a:bodyPr/>
          <a:lstStyle/>
          <a:p>
            <a:r>
              <a:rPr lang="en-GB" dirty="0"/>
              <a:t>The terminals of this grammar are {</a:t>
            </a:r>
            <a:r>
              <a:rPr lang="en-GB" dirty="0" err="1"/>
              <a:t>a,b</a:t>
            </a:r>
            <a:r>
              <a:rPr lang="en-GB" dirty="0"/>
              <a:t>}</a:t>
            </a:r>
          </a:p>
          <a:p>
            <a:r>
              <a:rPr lang="en-GB" dirty="0"/>
              <a:t>The non-terminals of this grammar are {S,A}</a:t>
            </a:r>
          </a:p>
        </p:txBody>
      </p:sp>
    </p:spTree>
    <p:extLst>
      <p:ext uri="{BB962C8B-B14F-4D97-AF65-F5344CB8AC3E}">
        <p14:creationId xmlns:p14="http://schemas.microsoft.com/office/powerpoint/2010/main" val="27656873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RULES </a:t>
            </a:r>
          </a:p>
        </p:txBody>
      </p:sp>
      <p:sp>
        <p:nvSpPr>
          <p:cNvPr id="3" name="Content Placeholder 2"/>
          <p:cNvSpPr>
            <a:spLocks noGrp="1"/>
          </p:cNvSpPr>
          <p:nvPr>
            <p:ph idx="1"/>
          </p:nvPr>
        </p:nvSpPr>
        <p:spPr>
          <a:xfrm>
            <a:off x="914400" y="1564367"/>
            <a:ext cx="10515600" cy="4934403"/>
          </a:xfrm>
        </p:spPr>
        <p:txBody>
          <a:bodyPr>
            <a:normAutofit fontScale="77500" lnSpcReduction="20000"/>
          </a:bodyPr>
          <a:lstStyle/>
          <a:p>
            <a:endParaRPr lang="en-GB" dirty="0"/>
          </a:p>
          <a:p>
            <a:r>
              <a:rPr lang="en-GB" dirty="0"/>
              <a:t>If any non-terminal has ' . ' preceding it, we have to write all its production and add ' . ' preceding each of its production.</a:t>
            </a:r>
          </a:p>
          <a:p>
            <a:r>
              <a:rPr lang="en-GB" dirty="0"/>
              <a:t>from each state to the next state, the ' . ' shifts to one place to the right.</a:t>
            </a:r>
          </a:p>
          <a:p>
            <a:r>
              <a:rPr lang="en-GB" dirty="0"/>
              <a:t>In the figure, I0 consists of augmented grammar.</a:t>
            </a:r>
          </a:p>
          <a:p>
            <a:r>
              <a:rPr lang="en-GB" dirty="0"/>
              <a:t>Io goes to I1 when  ' . ' of 0th production is shifted towards the right of S(S'-&gt;S.). This state is the accept state . S is seen by the compiler. Since I1 is a part of the 0th production, the </a:t>
            </a:r>
            <a:r>
              <a:rPr lang="en-GB" dirty="0" err="1"/>
              <a:t>lookahead</a:t>
            </a:r>
            <a:r>
              <a:rPr lang="en-GB" dirty="0"/>
              <a:t> is same i.e. $</a:t>
            </a:r>
          </a:p>
          <a:p>
            <a:r>
              <a:rPr lang="en-GB" dirty="0"/>
              <a:t>Io goes to I2 when  ' . ' of 1st production is shifted towards right (S-&gt;A.A) . A is seen by the compiler. Since I2 is a part of the 1st production, the </a:t>
            </a:r>
            <a:r>
              <a:rPr lang="en-GB" dirty="0" err="1"/>
              <a:t>lookahead</a:t>
            </a:r>
            <a:r>
              <a:rPr lang="en-GB" dirty="0"/>
              <a:t> is  same i.e. $.</a:t>
            </a:r>
          </a:p>
          <a:p>
            <a:r>
              <a:rPr lang="en-GB" dirty="0"/>
              <a:t>I0 goes to I3 when  ' . ' of 2nd production is shifted towards the right (A-&gt;</a:t>
            </a:r>
            <a:r>
              <a:rPr lang="en-GB" dirty="0" err="1"/>
              <a:t>a.A</a:t>
            </a:r>
            <a:r>
              <a:rPr lang="en-GB" dirty="0"/>
              <a:t>) . a is seen by the </a:t>
            </a:r>
            <a:r>
              <a:rPr lang="en-GB" dirty="0" err="1"/>
              <a:t>compiler.since</a:t>
            </a:r>
            <a:r>
              <a:rPr lang="en-GB" dirty="0"/>
              <a:t> I3 is a part of 2nd production, the </a:t>
            </a:r>
            <a:r>
              <a:rPr lang="en-GB" dirty="0" err="1"/>
              <a:t>lookahead</a:t>
            </a:r>
            <a:r>
              <a:rPr lang="en-GB" dirty="0"/>
              <a:t> is same i.e. </a:t>
            </a:r>
            <a:r>
              <a:rPr lang="en-GB" dirty="0" err="1"/>
              <a:t>a|b</a:t>
            </a:r>
            <a:r>
              <a:rPr lang="en-GB" dirty="0"/>
              <a:t>.</a:t>
            </a:r>
          </a:p>
          <a:p>
            <a:r>
              <a:rPr lang="en-GB" dirty="0"/>
              <a:t>I0 goes to I4 when  ' . ' of 3rd production is shifted towards right (A-&gt;b.) . b is seen by the compiler. Since I4 is a part of 3rd production, the </a:t>
            </a:r>
            <a:r>
              <a:rPr lang="en-GB" dirty="0" err="1"/>
              <a:t>lookahead</a:t>
            </a:r>
            <a:r>
              <a:rPr lang="en-GB" dirty="0"/>
              <a:t> is same i.e. </a:t>
            </a:r>
            <a:r>
              <a:rPr lang="en-GB" dirty="0" err="1"/>
              <a:t>a|b</a:t>
            </a:r>
            <a:r>
              <a:rPr lang="en-GB" dirty="0"/>
              <a:t>.</a:t>
            </a:r>
          </a:p>
          <a:p>
            <a:r>
              <a:rPr lang="en-GB" dirty="0"/>
              <a:t>I2 goes to I5 when  ' . ' of 1st production is shifted towards right (S-&gt;AA.) . A is seen by the compiler. Since I5 is a part of the 1st production, the </a:t>
            </a:r>
            <a:r>
              <a:rPr lang="en-GB" dirty="0" err="1"/>
              <a:t>lookahead</a:t>
            </a:r>
            <a:r>
              <a:rPr lang="en-GB" dirty="0"/>
              <a:t> is same i.e. $.</a:t>
            </a:r>
          </a:p>
          <a:p>
            <a:endParaRPr lang="en-GB" dirty="0"/>
          </a:p>
        </p:txBody>
      </p:sp>
    </p:spTree>
    <p:extLst>
      <p:ext uri="{BB962C8B-B14F-4D97-AF65-F5344CB8AC3E}">
        <p14:creationId xmlns:p14="http://schemas.microsoft.com/office/powerpoint/2010/main" val="27664954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RULES (Continued)</a:t>
            </a:r>
          </a:p>
        </p:txBody>
      </p:sp>
      <p:sp>
        <p:nvSpPr>
          <p:cNvPr id="3" name="Content Placeholder 2"/>
          <p:cNvSpPr>
            <a:spLocks noGrp="1"/>
          </p:cNvSpPr>
          <p:nvPr>
            <p:ph idx="1"/>
          </p:nvPr>
        </p:nvSpPr>
        <p:spPr/>
        <p:txBody>
          <a:bodyPr>
            <a:normAutofit fontScale="77500" lnSpcReduction="20000"/>
          </a:bodyPr>
          <a:lstStyle/>
          <a:p>
            <a:r>
              <a:rPr lang="en-GB" dirty="0"/>
              <a:t>I2 goes to I6 when  ' . ' of 2nd production is shifted towards the right (A-&gt;</a:t>
            </a:r>
            <a:r>
              <a:rPr lang="en-GB" dirty="0" err="1"/>
              <a:t>a.A</a:t>
            </a:r>
            <a:r>
              <a:rPr lang="en-GB" dirty="0"/>
              <a:t>) . A is seen by the compiler. Since I6 is a part of the 2nd production, the </a:t>
            </a:r>
            <a:r>
              <a:rPr lang="en-GB" dirty="0" err="1"/>
              <a:t>lookahead</a:t>
            </a:r>
            <a:r>
              <a:rPr lang="en-GB" dirty="0"/>
              <a:t> is same i.e. $.</a:t>
            </a:r>
          </a:p>
          <a:p>
            <a:r>
              <a:rPr lang="en-GB" dirty="0"/>
              <a:t>I2 goes to I7 when  ' . ' of 3rd production is shifted towards right (A-&gt;b.) . A is seen by the compiler. Since I6 is a part of the 3rd production, the </a:t>
            </a:r>
            <a:r>
              <a:rPr lang="en-GB" dirty="0" err="1"/>
              <a:t>lookahead</a:t>
            </a:r>
            <a:r>
              <a:rPr lang="en-GB" dirty="0"/>
              <a:t> is same i.e. $.</a:t>
            </a:r>
          </a:p>
          <a:p>
            <a:r>
              <a:rPr lang="en-GB" dirty="0"/>
              <a:t>I3 goes to I3 when  ' . ' of the 2nd production is shifted towards right (A-&gt;</a:t>
            </a:r>
            <a:r>
              <a:rPr lang="en-GB" dirty="0" err="1"/>
              <a:t>a.A</a:t>
            </a:r>
            <a:r>
              <a:rPr lang="en-GB" dirty="0"/>
              <a:t>) . a is seen by the compiler. Since I3 is a part of the 2nd production, the </a:t>
            </a:r>
            <a:r>
              <a:rPr lang="en-GB" dirty="0" err="1"/>
              <a:t>lookahead</a:t>
            </a:r>
            <a:r>
              <a:rPr lang="en-GB" dirty="0"/>
              <a:t> is same i.e. </a:t>
            </a:r>
            <a:r>
              <a:rPr lang="en-GB" dirty="0" err="1"/>
              <a:t>a|b</a:t>
            </a:r>
            <a:r>
              <a:rPr lang="en-GB" dirty="0"/>
              <a:t>.</a:t>
            </a:r>
          </a:p>
          <a:p>
            <a:r>
              <a:rPr lang="en-GB" dirty="0"/>
              <a:t>I3 goes to I8 when  ' . ' of 2nd production is shifted towards the right (A-&gt;</a:t>
            </a:r>
            <a:r>
              <a:rPr lang="en-GB" dirty="0" err="1"/>
              <a:t>aA</a:t>
            </a:r>
            <a:r>
              <a:rPr lang="en-GB" dirty="0"/>
              <a:t>.) . A is seen by the compiler. Since I8 is a part of the 2nd production, the </a:t>
            </a:r>
            <a:r>
              <a:rPr lang="en-GB" dirty="0" err="1"/>
              <a:t>lookahead</a:t>
            </a:r>
            <a:r>
              <a:rPr lang="en-GB" dirty="0"/>
              <a:t> is same i.e. </a:t>
            </a:r>
            <a:r>
              <a:rPr lang="en-GB" dirty="0" err="1"/>
              <a:t>a|b</a:t>
            </a:r>
            <a:r>
              <a:rPr lang="en-GB" dirty="0"/>
              <a:t>.</a:t>
            </a:r>
          </a:p>
          <a:p>
            <a:r>
              <a:rPr lang="en-GB" dirty="0"/>
              <a:t>I6 goes to I9 when  ' . ' of 2nd production is shifted towards the right (A-&gt;</a:t>
            </a:r>
            <a:r>
              <a:rPr lang="en-GB" dirty="0" err="1"/>
              <a:t>aA</a:t>
            </a:r>
            <a:r>
              <a:rPr lang="en-GB" dirty="0"/>
              <a:t>.) . A is seen by the compiler. Since I9 is a part of the 2nd production, the </a:t>
            </a:r>
            <a:r>
              <a:rPr lang="en-GB" dirty="0" err="1"/>
              <a:t>lookahead</a:t>
            </a:r>
            <a:r>
              <a:rPr lang="en-GB" dirty="0"/>
              <a:t> is same i.e. $.</a:t>
            </a:r>
          </a:p>
          <a:p>
            <a:r>
              <a:rPr lang="en-GB" dirty="0"/>
              <a:t>I6 goes to I6 when  ' . ' of the 2nd production is shifted towards right (A-&gt;</a:t>
            </a:r>
            <a:r>
              <a:rPr lang="en-GB" dirty="0" err="1"/>
              <a:t>a.A</a:t>
            </a:r>
            <a:r>
              <a:rPr lang="en-GB" dirty="0"/>
              <a:t>) . a is seen by the compiler. Since I6 is a part of the 2nd production, the </a:t>
            </a:r>
            <a:r>
              <a:rPr lang="en-GB" dirty="0" err="1"/>
              <a:t>lookahead</a:t>
            </a:r>
            <a:r>
              <a:rPr lang="en-GB" dirty="0"/>
              <a:t> is same i.e. $.</a:t>
            </a:r>
          </a:p>
          <a:p>
            <a:r>
              <a:rPr lang="en-GB" dirty="0"/>
              <a:t>I6 goes to I7 when  ' . ' of the 3rd production is shifted towards right (A-&gt;b.) . b is seen by the compiler. Since I6 is a part of the 3rd production, the </a:t>
            </a:r>
            <a:r>
              <a:rPr lang="en-GB" dirty="0" err="1"/>
              <a:t>lookahead</a:t>
            </a:r>
            <a:r>
              <a:rPr lang="en-GB" dirty="0"/>
              <a:t> is same i.e. $.</a:t>
            </a:r>
          </a:p>
        </p:txBody>
      </p:sp>
    </p:spTree>
    <p:extLst>
      <p:ext uri="{BB962C8B-B14F-4D97-AF65-F5344CB8AC3E}">
        <p14:creationId xmlns:p14="http://schemas.microsoft.com/office/powerpoint/2010/main" val="18401144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STEP 3 -</a:t>
            </a:r>
            <a:br>
              <a:rPr lang="en-GB" dirty="0"/>
            </a:br>
            <a:endParaRPr lang="en-GB" dirty="0"/>
          </a:p>
        </p:txBody>
      </p:sp>
      <p:sp>
        <p:nvSpPr>
          <p:cNvPr id="3" name="Content Placeholder 2"/>
          <p:cNvSpPr>
            <a:spLocks noGrp="1"/>
          </p:cNvSpPr>
          <p:nvPr>
            <p:ph idx="1"/>
          </p:nvPr>
        </p:nvSpPr>
        <p:spPr/>
        <p:txBody>
          <a:bodyPr/>
          <a:lstStyle/>
          <a:p>
            <a:r>
              <a:rPr lang="en-GB" dirty="0"/>
              <a:t>Defining 2 functions: </a:t>
            </a:r>
            <a:r>
              <a:rPr lang="en-GB" dirty="0" err="1"/>
              <a:t>goto</a:t>
            </a:r>
            <a:r>
              <a:rPr lang="en-GB" dirty="0"/>
              <a:t>[list of terminals] and action[list of non-terminals] in the parsing table. Below is the </a:t>
            </a:r>
            <a:r>
              <a:rPr lang="en-GB" b="1" dirty="0"/>
              <a:t>CLR parsing table.</a:t>
            </a:r>
          </a:p>
          <a:p>
            <a:r>
              <a:rPr lang="en-GB" dirty="0"/>
              <a:t> </a:t>
            </a:r>
          </a:p>
        </p:txBody>
      </p:sp>
      <p:pic>
        <p:nvPicPr>
          <p:cNvPr id="4" name="Picture 3"/>
          <p:cNvPicPr>
            <a:picLocks noChangeAspect="1"/>
          </p:cNvPicPr>
          <p:nvPr/>
        </p:nvPicPr>
        <p:blipFill>
          <a:blip r:embed="rId2"/>
          <a:stretch>
            <a:fillRect/>
          </a:stretch>
        </p:blipFill>
        <p:spPr>
          <a:xfrm>
            <a:off x="1392011" y="2626859"/>
            <a:ext cx="9025618" cy="4056970"/>
          </a:xfrm>
          <a:prstGeom prst="rect">
            <a:avLst/>
          </a:prstGeom>
        </p:spPr>
      </p:pic>
    </p:spTree>
    <p:extLst>
      <p:ext uri="{BB962C8B-B14F-4D97-AF65-F5344CB8AC3E}">
        <p14:creationId xmlns:p14="http://schemas.microsoft.com/office/powerpoint/2010/main" val="19040165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Making of LALR Parsing Table</a:t>
            </a:r>
          </a:p>
        </p:txBody>
      </p:sp>
      <p:sp>
        <p:nvSpPr>
          <p:cNvPr id="3" name="Content Placeholder 2"/>
          <p:cNvSpPr>
            <a:spLocks noGrp="1"/>
          </p:cNvSpPr>
          <p:nvPr>
            <p:ph idx="1"/>
          </p:nvPr>
        </p:nvSpPr>
        <p:spPr/>
        <p:txBody>
          <a:bodyPr>
            <a:normAutofit lnSpcReduction="10000"/>
          </a:bodyPr>
          <a:lstStyle/>
          <a:p>
            <a:r>
              <a:rPr lang="en-GB" dirty="0"/>
              <a:t>Once we make a CLR parsing table, we can easily make a LALR parsing table from it.</a:t>
            </a:r>
          </a:p>
          <a:p>
            <a:r>
              <a:rPr lang="en-GB" dirty="0"/>
              <a:t>In the </a:t>
            </a:r>
            <a:r>
              <a:rPr lang="en-GB" b="1" dirty="0"/>
              <a:t>step2 diagram</a:t>
            </a:r>
            <a:r>
              <a:rPr lang="en-GB" dirty="0"/>
              <a:t>, we can see that </a:t>
            </a:r>
          </a:p>
          <a:p>
            <a:pPr lvl="1"/>
            <a:r>
              <a:rPr lang="en-GB" dirty="0"/>
              <a:t>I3 and I6 are similar except their </a:t>
            </a:r>
            <a:r>
              <a:rPr lang="en-GB" dirty="0" err="1"/>
              <a:t>lookaheads</a:t>
            </a:r>
            <a:r>
              <a:rPr lang="en-GB" dirty="0"/>
              <a:t>.</a:t>
            </a:r>
          </a:p>
          <a:p>
            <a:pPr lvl="1"/>
            <a:r>
              <a:rPr lang="en-GB" dirty="0"/>
              <a:t>I4 and I7 are similar except their </a:t>
            </a:r>
            <a:r>
              <a:rPr lang="en-GB" dirty="0" err="1"/>
              <a:t>lookaheads</a:t>
            </a:r>
            <a:r>
              <a:rPr lang="en-GB" dirty="0"/>
              <a:t>.</a:t>
            </a:r>
          </a:p>
          <a:p>
            <a:pPr lvl="1"/>
            <a:r>
              <a:rPr lang="en-GB" dirty="0"/>
              <a:t>I8 and I9 are similar except their </a:t>
            </a:r>
            <a:r>
              <a:rPr lang="en-GB" dirty="0" err="1"/>
              <a:t>lookaheads</a:t>
            </a:r>
            <a:r>
              <a:rPr lang="en-GB" dirty="0"/>
              <a:t>.</a:t>
            </a:r>
          </a:p>
          <a:p>
            <a:pPr lvl="1"/>
            <a:endParaRPr lang="en-GB" dirty="0"/>
          </a:p>
          <a:p>
            <a:r>
              <a:rPr lang="en-GB" dirty="0"/>
              <a:t>In LALR parsing table construction , we merge these similar states.</a:t>
            </a:r>
          </a:p>
          <a:p>
            <a:pPr lvl="1"/>
            <a:r>
              <a:rPr lang="en-GB" dirty="0"/>
              <a:t> Wherever there is 3 or 6, make it  36(combined form)</a:t>
            </a:r>
          </a:p>
          <a:p>
            <a:pPr lvl="1"/>
            <a:r>
              <a:rPr lang="en-GB" dirty="0"/>
              <a:t>Wherever there is 4 or 7, make it  47(combined form)</a:t>
            </a:r>
          </a:p>
          <a:p>
            <a:pPr lvl="1"/>
            <a:r>
              <a:rPr lang="en-GB" dirty="0"/>
              <a:t>Wherever there is 8 or 9, make it  89(combined form)</a:t>
            </a:r>
          </a:p>
        </p:txBody>
      </p:sp>
    </p:spTree>
    <p:extLst>
      <p:ext uri="{BB962C8B-B14F-4D97-AF65-F5344CB8AC3E}">
        <p14:creationId xmlns:p14="http://schemas.microsoft.com/office/powerpoint/2010/main" val="17680086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Below is the LALR parsing table. </a:t>
            </a:r>
          </a:p>
        </p:txBody>
      </p:sp>
      <p:pic>
        <p:nvPicPr>
          <p:cNvPr id="4" name="Content Placeholder 3"/>
          <p:cNvPicPr>
            <a:picLocks noGrp="1" noChangeAspect="1"/>
          </p:cNvPicPr>
          <p:nvPr>
            <p:ph idx="1"/>
          </p:nvPr>
        </p:nvPicPr>
        <p:blipFill>
          <a:blip r:embed="rId2"/>
          <a:stretch>
            <a:fillRect/>
          </a:stretch>
        </p:blipFill>
        <p:spPr>
          <a:xfrm>
            <a:off x="1366837" y="1886744"/>
            <a:ext cx="9458325" cy="4229100"/>
          </a:xfrm>
          <a:prstGeom prst="rect">
            <a:avLst/>
          </a:prstGeom>
        </p:spPr>
      </p:pic>
    </p:spTree>
    <p:extLst>
      <p:ext uri="{BB962C8B-B14F-4D97-AF65-F5344CB8AC3E}">
        <p14:creationId xmlns:p14="http://schemas.microsoft.com/office/powerpoint/2010/main" val="37257219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LALR Examples</a:t>
            </a:r>
          </a:p>
        </p:txBody>
      </p:sp>
      <p:pic>
        <p:nvPicPr>
          <p:cNvPr id="4" name="Content Placeholder 3"/>
          <p:cNvPicPr>
            <a:picLocks noGrp="1" noChangeAspect="1"/>
          </p:cNvPicPr>
          <p:nvPr>
            <p:ph idx="1"/>
          </p:nvPr>
        </p:nvPicPr>
        <p:blipFill>
          <a:blip r:embed="rId2"/>
          <a:stretch>
            <a:fillRect/>
          </a:stretch>
        </p:blipFill>
        <p:spPr>
          <a:xfrm>
            <a:off x="2016689" y="2178616"/>
            <a:ext cx="9337111" cy="3449298"/>
          </a:xfrm>
          <a:prstGeom prst="rect">
            <a:avLst/>
          </a:prstGeom>
        </p:spPr>
      </p:pic>
    </p:spTree>
    <p:extLst>
      <p:ext uri="{BB962C8B-B14F-4D97-AF65-F5344CB8AC3E}">
        <p14:creationId xmlns:p14="http://schemas.microsoft.com/office/powerpoint/2010/main" val="1759068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a:blip r:embed="rId2"/>
          <a:stretch>
            <a:fillRect/>
          </a:stretch>
        </p:blipFill>
        <p:spPr>
          <a:xfrm>
            <a:off x="1265465" y="1239611"/>
            <a:ext cx="8877300" cy="4248150"/>
          </a:xfrm>
          <a:prstGeom prst="rect">
            <a:avLst/>
          </a:prstGeom>
        </p:spPr>
      </p:pic>
    </p:spTree>
    <p:extLst>
      <p:ext uri="{BB962C8B-B14F-4D97-AF65-F5344CB8AC3E}">
        <p14:creationId xmlns:p14="http://schemas.microsoft.com/office/powerpoint/2010/main" val="38361850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LR Table		Making it LALR</a:t>
            </a:r>
          </a:p>
        </p:txBody>
      </p:sp>
      <p:sp>
        <p:nvSpPr>
          <p:cNvPr id="3" name="Content Placeholder 2"/>
          <p:cNvSpPr>
            <a:spLocks noGrp="1"/>
          </p:cNvSpPr>
          <p:nvPr>
            <p:ph idx="1"/>
          </p:nvPr>
        </p:nvSpPr>
        <p:spPr/>
        <p:txBody>
          <a:bodyPr/>
          <a:lstStyle/>
          <a:p>
            <a:endParaRPr lang="en-GB"/>
          </a:p>
        </p:txBody>
      </p:sp>
      <p:pic>
        <p:nvPicPr>
          <p:cNvPr id="4" name="Picture 3"/>
          <p:cNvPicPr>
            <a:picLocks noChangeAspect="1"/>
          </p:cNvPicPr>
          <p:nvPr/>
        </p:nvPicPr>
        <p:blipFill>
          <a:blip r:embed="rId2"/>
          <a:stretch>
            <a:fillRect/>
          </a:stretch>
        </p:blipFill>
        <p:spPr>
          <a:xfrm>
            <a:off x="172130" y="1690688"/>
            <a:ext cx="5229225" cy="4229100"/>
          </a:xfrm>
          <a:prstGeom prst="rect">
            <a:avLst/>
          </a:prstGeom>
        </p:spPr>
      </p:pic>
      <p:pic>
        <p:nvPicPr>
          <p:cNvPr id="5" name="Picture 4"/>
          <p:cNvPicPr>
            <a:picLocks noChangeAspect="1"/>
          </p:cNvPicPr>
          <p:nvPr/>
        </p:nvPicPr>
        <p:blipFill>
          <a:blip r:embed="rId3"/>
          <a:stretch>
            <a:fillRect/>
          </a:stretch>
        </p:blipFill>
        <p:spPr>
          <a:xfrm>
            <a:off x="4427084" y="1825625"/>
            <a:ext cx="7496175" cy="4295775"/>
          </a:xfrm>
          <a:prstGeom prst="rect">
            <a:avLst/>
          </a:prstGeom>
        </p:spPr>
      </p:pic>
    </p:spTree>
    <p:extLst>
      <p:ext uri="{BB962C8B-B14F-4D97-AF65-F5344CB8AC3E}">
        <p14:creationId xmlns:p14="http://schemas.microsoft.com/office/powerpoint/2010/main" val="16977579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GB" dirty="0"/>
              <a:t>Now we have to remove the unwanted rows</a:t>
            </a:r>
          </a:p>
          <a:p>
            <a:r>
              <a:rPr lang="en-GB" dirty="0"/>
              <a:t>As we can see, 36 row has same data twice, so we delete 1 row.</a:t>
            </a:r>
          </a:p>
          <a:p>
            <a:r>
              <a:rPr lang="en-GB" dirty="0"/>
              <a:t>We combine two 47 row into one by combining each value in the single 47 row.</a:t>
            </a:r>
          </a:p>
          <a:p>
            <a:r>
              <a:rPr lang="en-GB" dirty="0"/>
              <a:t>We combine two 89 row into one by combining each value in the single 89 row.</a:t>
            </a:r>
          </a:p>
        </p:txBody>
      </p:sp>
    </p:spTree>
    <p:extLst>
      <p:ext uri="{BB962C8B-B14F-4D97-AF65-F5344CB8AC3E}">
        <p14:creationId xmlns:p14="http://schemas.microsoft.com/office/powerpoint/2010/main" val="40774386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final LALR table looks like the below.</a:t>
            </a:r>
          </a:p>
        </p:txBody>
      </p:sp>
      <p:pic>
        <p:nvPicPr>
          <p:cNvPr id="4" name="Content Placeholder 3"/>
          <p:cNvPicPr>
            <a:picLocks noGrp="1" noChangeAspect="1"/>
          </p:cNvPicPr>
          <p:nvPr>
            <p:ph idx="1"/>
          </p:nvPr>
        </p:nvPicPr>
        <p:blipFill>
          <a:blip r:embed="rId2"/>
          <a:stretch>
            <a:fillRect/>
          </a:stretch>
        </p:blipFill>
        <p:spPr>
          <a:xfrm>
            <a:off x="891268" y="1690688"/>
            <a:ext cx="10462532" cy="4702855"/>
          </a:xfrm>
          <a:prstGeom prst="rect">
            <a:avLst/>
          </a:prstGeom>
        </p:spPr>
      </p:pic>
    </p:spTree>
    <p:extLst>
      <p:ext uri="{BB962C8B-B14F-4D97-AF65-F5344CB8AC3E}">
        <p14:creationId xmlns:p14="http://schemas.microsoft.com/office/powerpoint/2010/main" val="29322185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86C06-FAE7-0861-653B-7EA528419F01}"/>
              </a:ext>
            </a:extLst>
          </p:cNvPr>
          <p:cNvSpPr>
            <a:spLocks noGrp="1"/>
          </p:cNvSpPr>
          <p:nvPr>
            <p:ph type="title"/>
          </p:nvPr>
        </p:nvSpPr>
        <p:spPr/>
        <p:txBody>
          <a:bodyPr/>
          <a:lstStyle/>
          <a:p>
            <a:r>
              <a:rPr lang="en-US" dirty="0"/>
              <a:t>NOT SLR	</a:t>
            </a:r>
            <a:endParaRPr lang="en-PK" dirty="0"/>
          </a:p>
        </p:txBody>
      </p:sp>
      <p:sp>
        <p:nvSpPr>
          <p:cNvPr id="3" name="Content Placeholder 2">
            <a:extLst>
              <a:ext uri="{FF2B5EF4-FFF2-40B4-BE49-F238E27FC236}">
                <a16:creationId xmlns:a16="http://schemas.microsoft.com/office/drawing/2014/main" id="{EE102DD4-47C2-F313-2E9F-3EB26B5833B4}"/>
              </a:ext>
            </a:extLst>
          </p:cNvPr>
          <p:cNvSpPr>
            <a:spLocks noGrp="1"/>
          </p:cNvSpPr>
          <p:nvPr>
            <p:ph idx="1"/>
          </p:nvPr>
        </p:nvSpPr>
        <p:spPr/>
        <p:txBody>
          <a:bodyPr/>
          <a:lstStyle/>
          <a:p>
            <a:r>
              <a:rPr lang="pt-BR" dirty="0"/>
              <a:t>S → L = R</a:t>
            </a:r>
            <a:br>
              <a:rPr lang="pt-BR" dirty="0"/>
            </a:br>
            <a:r>
              <a:rPr lang="pt-BR" dirty="0"/>
              <a:t>S → R</a:t>
            </a:r>
            <a:br>
              <a:rPr lang="pt-BR" dirty="0"/>
            </a:br>
            <a:r>
              <a:rPr lang="pt-BR" dirty="0"/>
              <a:t>L → * R</a:t>
            </a:r>
            <a:br>
              <a:rPr lang="pt-BR" dirty="0"/>
            </a:br>
            <a:r>
              <a:rPr lang="pt-BR" dirty="0"/>
              <a:t>L → id</a:t>
            </a:r>
            <a:br>
              <a:rPr lang="pt-BR" dirty="0"/>
            </a:br>
            <a:r>
              <a:rPr lang="pt-BR" dirty="0"/>
              <a:t>R → L</a:t>
            </a:r>
            <a:endParaRPr lang="en-PK" dirty="0"/>
          </a:p>
        </p:txBody>
      </p:sp>
    </p:spTree>
    <p:extLst>
      <p:ext uri="{BB962C8B-B14F-4D97-AF65-F5344CB8AC3E}">
        <p14:creationId xmlns:p14="http://schemas.microsoft.com/office/powerpoint/2010/main" val="12960036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06592-121E-55DD-64E5-288585AD6D34}"/>
              </a:ext>
            </a:extLst>
          </p:cNvPr>
          <p:cNvSpPr>
            <a:spLocks noGrp="1"/>
          </p:cNvSpPr>
          <p:nvPr>
            <p:ph type="title"/>
          </p:nvPr>
        </p:nvSpPr>
        <p:spPr/>
        <p:txBody>
          <a:bodyPr/>
          <a:lstStyle/>
          <a:p>
            <a:r>
              <a:rPr lang="en-US" dirty="0"/>
              <a:t>NOT LR(0)</a:t>
            </a:r>
            <a:endParaRPr lang="en-PK" dirty="0"/>
          </a:p>
        </p:txBody>
      </p:sp>
      <p:sp>
        <p:nvSpPr>
          <p:cNvPr id="3" name="Content Placeholder 2">
            <a:extLst>
              <a:ext uri="{FF2B5EF4-FFF2-40B4-BE49-F238E27FC236}">
                <a16:creationId xmlns:a16="http://schemas.microsoft.com/office/drawing/2014/main" id="{68BD970E-3599-920A-D767-67F361BA50D4}"/>
              </a:ext>
            </a:extLst>
          </p:cNvPr>
          <p:cNvSpPr>
            <a:spLocks noGrp="1"/>
          </p:cNvSpPr>
          <p:nvPr>
            <p:ph idx="1"/>
          </p:nvPr>
        </p:nvSpPr>
        <p:spPr/>
        <p:txBody>
          <a:bodyPr/>
          <a:lstStyle/>
          <a:p>
            <a:r>
              <a:rPr lang="pt-BR" dirty="0"/>
              <a:t>S → A a</a:t>
            </a:r>
            <a:br>
              <a:rPr lang="pt-BR" dirty="0"/>
            </a:br>
            <a:r>
              <a:rPr lang="pt-BR" dirty="0"/>
              <a:t>S → b A c</a:t>
            </a:r>
            <a:br>
              <a:rPr lang="pt-BR" dirty="0"/>
            </a:br>
            <a:r>
              <a:rPr lang="pt-BR" dirty="0"/>
              <a:t>S → d c</a:t>
            </a:r>
            <a:br>
              <a:rPr lang="pt-BR" dirty="0"/>
            </a:br>
            <a:r>
              <a:rPr lang="pt-BR" dirty="0"/>
              <a:t>S → b d a</a:t>
            </a:r>
            <a:br>
              <a:rPr lang="pt-BR" dirty="0"/>
            </a:br>
            <a:r>
              <a:rPr lang="pt-BR" dirty="0"/>
              <a:t>A → d</a:t>
            </a:r>
            <a:endParaRPr lang="en-PK" dirty="0"/>
          </a:p>
        </p:txBody>
      </p:sp>
    </p:spTree>
    <p:extLst>
      <p:ext uri="{BB962C8B-B14F-4D97-AF65-F5344CB8AC3E}">
        <p14:creationId xmlns:p14="http://schemas.microsoft.com/office/powerpoint/2010/main" val="41584343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CED6C-D98D-3855-4F8E-400479AC6E60}"/>
              </a:ext>
            </a:extLst>
          </p:cNvPr>
          <p:cNvSpPr>
            <a:spLocks noGrp="1"/>
          </p:cNvSpPr>
          <p:nvPr>
            <p:ph type="title"/>
          </p:nvPr>
        </p:nvSpPr>
        <p:spPr/>
        <p:txBody>
          <a:bodyPr/>
          <a:lstStyle/>
          <a:p>
            <a:r>
              <a:rPr lang="en-US" dirty="0"/>
              <a:t>It contains dangling else but resolved in CLR</a:t>
            </a:r>
            <a:endParaRPr lang="en-PK" dirty="0"/>
          </a:p>
        </p:txBody>
      </p:sp>
      <p:sp>
        <p:nvSpPr>
          <p:cNvPr id="3" name="Content Placeholder 2">
            <a:extLst>
              <a:ext uri="{FF2B5EF4-FFF2-40B4-BE49-F238E27FC236}">
                <a16:creationId xmlns:a16="http://schemas.microsoft.com/office/drawing/2014/main" id="{E3C3ACA3-02E7-AAA4-FF4F-5F903BBDD3F0}"/>
              </a:ext>
            </a:extLst>
          </p:cNvPr>
          <p:cNvSpPr>
            <a:spLocks noGrp="1"/>
          </p:cNvSpPr>
          <p:nvPr>
            <p:ph idx="1"/>
          </p:nvPr>
        </p:nvSpPr>
        <p:spPr/>
        <p:txBody>
          <a:bodyPr/>
          <a:lstStyle/>
          <a:p>
            <a:r>
              <a:rPr lang="en-US" dirty="0"/>
              <a:t>S → if E then S else S</a:t>
            </a:r>
            <a:br>
              <a:rPr lang="en-US" dirty="0"/>
            </a:br>
            <a:r>
              <a:rPr lang="en-US" dirty="0" err="1"/>
              <a:t>S</a:t>
            </a:r>
            <a:r>
              <a:rPr lang="en-US" dirty="0"/>
              <a:t> → if E then S</a:t>
            </a:r>
            <a:br>
              <a:rPr lang="en-US" dirty="0"/>
            </a:br>
            <a:r>
              <a:rPr lang="en-US" dirty="0" err="1"/>
              <a:t>S</a:t>
            </a:r>
            <a:r>
              <a:rPr lang="en-US" dirty="0"/>
              <a:t> → other</a:t>
            </a:r>
            <a:endParaRPr lang="en-PK" dirty="0"/>
          </a:p>
        </p:txBody>
      </p:sp>
    </p:spTree>
    <p:extLst>
      <p:ext uri="{BB962C8B-B14F-4D97-AF65-F5344CB8AC3E}">
        <p14:creationId xmlns:p14="http://schemas.microsoft.com/office/powerpoint/2010/main" val="33367522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Reference:</a:t>
            </a:r>
          </a:p>
        </p:txBody>
      </p:sp>
      <p:sp>
        <p:nvSpPr>
          <p:cNvPr id="3" name="Content Placeholder 2"/>
          <p:cNvSpPr>
            <a:spLocks noGrp="1"/>
          </p:cNvSpPr>
          <p:nvPr>
            <p:ph idx="1"/>
          </p:nvPr>
        </p:nvSpPr>
        <p:spPr/>
        <p:txBody>
          <a:bodyPr/>
          <a:lstStyle/>
          <a:p>
            <a:endParaRPr lang="en-GB" b="1" dirty="0"/>
          </a:p>
          <a:p>
            <a:r>
              <a:rPr lang="en-GB" dirty="0"/>
              <a:t>Compilers: Principles, Techniques, and Tools 2nd Edition</a:t>
            </a:r>
            <a:br>
              <a:rPr lang="en-GB" dirty="0"/>
            </a:br>
            <a:r>
              <a:rPr lang="en-GB" dirty="0"/>
              <a:t> by Alfred </a:t>
            </a:r>
            <a:r>
              <a:rPr lang="en-GB" dirty="0" err="1"/>
              <a:t>Aho</a:t>
            </a:r>
            <a:r>
              <a:rPr lang="en-GB" dirty="0"/>
              <a:t> , Jeffrey Ullman, Ravi </a:t>
            </a:r>
            <a:r>
              <a:rPr lang="en-GB" dirty="0" err="1"/>
              <a:t>Sethi</a:t>
            </a:r>
            <a:r>
              <a:rPr lang="en-GB" dirty="0"/>
              <a:t>, Monica Lam</a:t>
            </a:r>
          </a:p>
          <a:p>
            <a:endParaRPr lang="en-GB" dirty="0"/>
          </a:p>
          <a:p>
            <a:r>
              <a:rPr lang="en-GB" dirty="0"/>
              <a:t>Introduction to Compilers and Language Design | Second Edition | </a:t>
            </a:r>
            <a:r>
              <a:rPr lang="en-GB" dirty="0" err="1"/>
              <a:t>Prof.</a:t>
            </a:r>
            <a:r>
              <a:rPr lang="en-GB" dirty="0"/>
              <a:t> Douglas </a:t>
            </a:r>
            <a:r>
              <a:rPr lang="en-GB" dirty="0" err="1"/>
              <a:t>Thain</a:t>
            </a:r>
            <a:r>
              <a:rPr lang="en-GB" dirty="0"/>
              <a:t> - University of Notre Dame </a:t>
            </a:r>
            <a:br>
              <a:rPr lang="en-GB" dirty="0"/>
            </a:br>
            <a:endParaRPr lang="en-GB" dirty="0"/>
          </a:p>
        </p:txBody>
      </p:sp>
    </p:spTree>
    <p:extLst>
      <p:ext uri="{BB962C8B-B14F-4D97-AF65-F5344CB8AC3E}">
        <p14:creationId xmlns:p14="http://schemas.microsoft.com/office/powerpoint/2010/main" val="6047878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14920</TotalTime>
  <Words>1737</Words>
  <Application>Microsoft Office PowerPoint</Application>
  <PresentationFormat>Widescreen</PresentationFormat>
  <Paragraphs>116</Paragraphs>
  <Slides>43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43</vt:i4>
      </vt:variant>
    </vt:vector>
  </HeadingPairs>
  <TitlesOfParts>
    <vt:vector size="47" baseType="lpstr">
      <vt:lpstr>Arial</vt:lpstr>
      <vt:lpstr>Calibri</vt:lpstr>
      <vt:lpstr>Calibri Light</vt:lpstr>
      <vt:lpstr>Office Theme</vt:lpstr>
      <vt:lpstr>Compiler Construction</vt:lpstr>
      <vt:lpstr>Week 8:</vt:lpstr>
      <vt:lpstr>More Powerful LR Parsers</vt:lpstr>
      <vt:lpstr>Canonical LR(1)</vt:lpstr>
      <vt:lpstr>Canonical LR(1)</vt:lpstr>
      <vt:lpstr>Example      Grammar:</vt:lpstr>
      <vt:lpstr>PowerPoint Presentation</vt:lpstr>
      <vt:lpstr>PowerPoint Presentation</vt:lpstr>
      <vt:lpstr>PowerPoint Presentation</vt:lpstr>
      <vt:lpstr>Canonical LR(1) Parsing Table</vt:lpstr>
      <vt:lpstr>PowerPoint Presentation</vt:lpstr>
      <vt:lpstr>PowerPoint Presentation</vt:lpstr>
      <vt:lpstr>PowerPoint Presentation</vt:lpstr>
      <vt:lpstr>Example: 1</vt:lpstr>
      <vt:lpstr>Canonical Items</vt:lpstr>
      <vt:lpstr>CLR Parsing Table</vt:lpstr>
      <vt:lpstr>PowerPoint Presentation</vt:lpstr>
      <vt:lpstr>Example 2: CLR(1)</vt:lpstr>
      <vt:lpstr>PowerPoint Presentation</vt:lpstr>
      <vt:lpstr>PowerPoint Presentation</vt:lpstr>
      <vt:lpstr>LALR(1) Parser</vt:lpstr>
      <vt:lpstr>How to add lookahead with the production? </vt:lpstr>
      <vt:lpstr>How to add lookahead with the production? </vt:lpstr>
      <vt:lpstr>How to add lookahead with the production? </vt:lpstr>
      <vt:lpstr>Steps for constructing the LALR parsing table : </vt:lpstr>
      <vt:lpstr>EXAMPLE</vt:lpstr>
      <vt:lpstr>Applying lookahead rule  to the above productions. </vt:lpstr>
      <vt:lpstr>STEP2 - Find LR(0) collection of items</vt:lpstr>
      <vt:lpstr>LALR Parsing Table</vt:lpstr>
      <vt:lpstr>RULES </vt:lpstr>
      <vt:lpstr>RULES (Continued)</vt:lpstr>
      <vt:lpstr>STEP 3 - </vt:lpstr>
      <vt:lpstr>Making of LALR Parsing Table</vt:lpstr>
      <vt:lpstr>Below is the LALR parsing table. </vt:lpstr>
      <vt:lpstr>LALR Examples</vt:lpstr>
      <vt:lpstr>PowerPoint Presentation</vt:lpstr>
      <vt:lpstr>LR Table  Making it LALR</vt:lpstr>
      <vt:lpstr>PowerPoint Presentation</vt:lpstr>
      <vt:lpstr>The final LALR table looks like the below.</vt:lpstr>
      <vt:lpstr>NOT SLR </vt:lpstr>
      <vt:lpstr>NOT LR(0)</vt:lpstr>
      <vt:lpstr>It contains dangling else but resolved in CLR</vt:lpstr>
      <vt:lpstr>Reference: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Compiler Construction</dc:title>
  <dc:creator>Zufiqar Ali</dc:creator>
  <cp:lastModifiedBy>Tesla Laptops</cp:lastModifiedBy>
  <cp:revision>1169</cp:revision>
  <dcterms:created xsi:type="dcterms:W3CDTF">2025-08-08T09:42:33Z</dcterms:created>
  <dcterms:modified xsi:type="dcterms:W3CDTF">2026-03-31T05:33:26Z</dcterms:modified>
</cp:coreProperties>
</file>