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61" r:id="rId3"/>
    <p:sldId id="311" r:id="rId4"/>
    <p:sldId id="314" r:id="rId5"/>
    <p:sldId id="313" r:id="rId6"/>
    <p:sldId id="315" r:id="rId7"/>
    <p:sldId id="316" r:id="rId8"/>
    <p:sldId id="312" r:id="rId9"/>
    <p:sldId id="317" r:id="rId10"/>
    <p:sldId id="318" r:id="rId11"/>
    <p:sldId id="319" r:id="rId12"/>
    <p:sldId id="321" r:id="rId13"/>
    <p:sldId id="320" r:id="rId14"/>
    <p:sldId id="322" r:id="rId15"/>
    <p:sldId id="360" r:id="rId16"/>
    <p:sldId id="361" r:id="rId17"/>
    <p:sldId id="362" r:id="rId18"/>
    <p:sldId id="358" r:id="rId19"/>
    <p:sldId id="359" r:id="rId20"/>
    <p:sldId id="327" r:id="rId21"/>
    <p:sldId id="326" r:id="rId22"/>
    <p:sldId id="328" r:id="rId23"/>
    <p:sldId id="333" r:id="rId24"/>
    <p:sldId id="325" r:id="rId25"/>
    <p:sldId id="334" r:id="rId26"/>
    <p:sldId id="338" r:id="rId27"/>
    <p:sldId id="339" r:id="rId28"/>
    <p:sldId id="340" r:id="rId29"/>
    <p:sldId id="341" r:id="rId30"/>
    <p:sldId id="342" r:id="rId31"/>
    <p:sldId id="343" r:id="rId32"/>
    <p:sldId id="344" r:id="rId33"/>
    <p:sldId id="345" r:id="rId34"/>
    <p:sldId id="346" r:id="rId35"/>
    <p:sldId id="347" r:id="rId36"/>
    <p:sldId id="348" r:id="rId37"/>
    <p:sldId id="349" r:id="rId38"/>
    <p:sldId id="350" r:id="rId39"/>
    <p:sldId id="354" r:id="rId40"/>
    <p:sldId id="355" r:id="rId41"/>
    <p:sldId id="356" r:id="rId42"/>
    <p:sldId id="351" r:id="rId43"/>
    <p:sldId id="353" r:id="rId44"/>
    <p:sldId id="27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>
        <p:scale>
          <a:sx n="65" d="100"/>
          <a:sy n="65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E53E1-CEB2-494C-8775-D8A99ED827E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7A4238-B7B9-460B-BE74-ADFB88CFFB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046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08718-F271-459F-AEBA-D315249C88F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51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168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58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803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601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025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55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54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162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039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607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1EA38-8D09-4040-A9B0-3F77DCDCC83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69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1EA38-8D09-4040-A9B0-3F77DCDCC836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A373-3783-415D-A360-F08463BF1C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21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ulfiqar.rafique@nu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Compiler Construction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Teacher : Zulfiqar Ali</a:t>
            </a:r>
          </a:p>
          <a:p>
            <a:r>
              <a:rPr lang="en-GB" dirty="0"/>
              <a:t>Email: </a:t>
            </a:r>
            <a:r>
              <a:rPr lang="en-GB" dirty="0">
                <a:hlinkClick r:id="rId2"/>
              </a:rPr>
              <a:t>Zulfiqar.rafique@nu.edu.pk</a:t>
            </a:r>
            <a:endParaRPr lang="en-GB" dirty="0"/>
          </a:p>
          <a:p>
            <a:r>
              <a:rPr lang="en-GB" dirty="0"/>
              <a:t>Office: No.6,Basement -1 (CS Block 1)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8578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Week 5: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Left Recursion</a:t>
            </a:r>
          </a:p>
          <a:p>
            <a:r>
              <a:rPr lang="en-GB" dirty="0"/>
              <a:t>Left Factoring</a:t>
            </a:r>
          </a:p>
          <a:p>
            <a:r>
              <a:rPr lang="en-GB" dirty="0"/>
              <a:t>Grammar Rules</a:t>
            </a:r>
          </a:p>
          <a:p>
            <a:pPr lvl="1"/>
            <a:r>
              <a:rPr lang="en-GB" dirty="0"/>
              <a:t>First()</a:t>
            </a:r>
          </a:p>
          <a:p>
            <a:pPr lvl="1"/>
            <a:r>
              <a:rPr lang="en-GB" dirty="0"/>
              <a:t>Follow()</a:t>
            </a:r>
          </a:p>
          <a:p>
            <a:pPr lvl="1"/>
            <a:r>
              <a:rPr lang="en-GB" dirty="0"/>
              <a:t>Nullable</a:t>
            </a:r>
          </a:p>
          <a:p>
            <a:r>
              <a:rPr lang="en-GB" dirty="0"/>
              <a:t>Right Recursion</a:t>
            </a:r>
          </a:p>
          <a:p>
            <a:r>
              <a:rPr lang="en-GB" dirty="0"/>
              <a:t>Predictive Parser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6267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Recursion Grammar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 production of grammar is said to have left recursion if the leftmost variable of its RHS is same as variable of its LHS.</a:t>
            </a:r>
          </a:p>
          <a:p>
            <a:r>
              <a:rPr lang="en-US" dirty="0"/>
              <a:t>A grammar containing a production having left recursion is called as Left Recursive Grammar.</a:t>
            </a:r>
          </a:p>
          <a:p>
            <a:r>
              <a:rPr lang="en-US" dirty="0"/>
              <a:t>Example: </a:t>
            </a:r>
            <a:r>
              <a:rPr lang="en-US" b="1" dirty="0"/>
              <a:t>S</a:t>
            </a:r>
            <a:r>
              <a:rPr lang="en-US" dirty="0"/>
              <a:t> → </a:t>
            </a:r>
            <a:r>
              <a:rPr lang="en-US" b="1" dirty="0"/>
              <a:t>S</a:t>
            </a:r>
            <a:r>
              <a:rPr lang="en-US" dirty="0"/>
              <a:t>a / ∈</a:t>
            </a:r>
          </a:p>
        </p:txBody>
      </p:sp>
    </p:spTree>
    <p:extLst>
      <p:ext uri="{BB962C8B-B14F-4D97-AF65-F5344CB8AC3E}">
        <p14:creationId xmlns:p14="http://schemas.microsoft.com/office/powerpoint/2010/main" val="1223884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Left Recursion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 Left recursion</a:t>
            </a:r>
          </a:p>
          <a:p>
            <a:pPr lvl="1"/>
            <a:r>
              <a:rPr lang="en-US" dirty="0"/>
              <a:t>B-&gt;Ba</a:t>
            </a:r>
          </a:p>
          <a:p>
            <a:r>
              <a:rPr lang="en-US" dirty="0"/>
              <a:t>Indirect Left Recursion </a:t>
            </a:r>
          </a:p>
          <a:p>
            <a:pPr lvl="1"/>
            <a:r>
              <a:rPr lang="en-US" dirty="0"/>
              <a:t>S-&gt;</a:t>
            </a:r>
            <a:r>
              <a:rPr lang="en-US" dirty="0" err="1"/>
              <a:t>Aa</a:t>
            </a:r>
            <a:endParaRPr lang="en-US" dirty="0"/>
          </a:p>
          <a:p>
            <a:pPr lvl="1"/>
            <a:r>
              <a:rPr lang="en-US" dirty="0"/>
              <a:t>A-&gt;</a:t>
            </a:r>
            <a:r>
              <a:rPr lang="en-US" dirty="0" err="1"/>
              <a:t>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534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Eliminate Left 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Top-Down Parsers cannot accept the Grammar having left Recursion. </a:t>
            </a:r>
          </a:p>
          <a:p>
            <a:r>
              <a:rPr lang="en-US" dirty="0"/>
              <a:t>If a left recursion is present in any grammar then, during parsing in the syntax analysis part of compilation, there is a chance that the grammar will create an infinite loop. This is because, at every time of production of grammar, S will produce another S without checking any condition.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49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Eliminate Left 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l-GR" b="1" dirty="0"/>
              <a:t>β α</a:t>
            </a:r>
            <a:r>
              <a:rPr lang="en-US" b="1" dirty="0"/>
              <a:t>*				</a:t>
            </a:r>
            <a:r>
              <a:rPr lang="el-GR" b="1" dirty="0"/>
              <a:t> α</a:t>
            </a:r>
            <a:r>
              <a:rPr lang="en-US" b="1" dirty="0"/>
              <a:t>*</a:t>
            </a:r>
            <a:r>
              <a:rPr lang="el-GR" b="1" dirty="0"/>
              <a:t> β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" y="1803401"/>
            <a:ext cx="3352800" cy="3446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426" y="1905000"/>
            <a:ext cx="2949575" cy="3277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559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2209800"/>
            <a:ext cx="5981700" cy="3420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9056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Eliminating Left 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876799"/>
          </a:xfrm>
        </p:spPr>
        <p:txBody>
          <a:bodyPr>
            <a:normAutofit/>
          </a:bodyPr>
          <a:lstStyle/>
          <a:p>
            <a:r>
              <a:rPr lang="en-US" dirty="0"/>
              <a:t>Left recursion is eliminated by converting the grammar into a right recursive grammar.</a:t>
            </a:r>
          </a:p>
          <a:p>
            <a:r>
              <a:rPr lang="en-US" dirty="0"/>
              <a:t>If we have the left-recursive pair of productions- </a:t>
            </a:r>
            <a:br>
              <a:rPr lang="en-US" dirty="0"/>
            </a:br>
            <a:r>
              <a:rPr lang="en-US" b="1" dirty="0"/>
              <a:t>A </a:t>
            </a:r>
            <a:r>
              <a:rPr lang="en-US" dirty="0"/>
              <a:t>→</a:t>
            </a:r>
            <a:r>
              <a:rPr lang="en-US" b="1" dirty="0"/>
              <a:t> A</a:t>
            </a:r>
            <a:r>
              <a:rPr lang="el-GR" b="1" dirty="0"/>
              <a:t>α </a:t>
            </a:r>
            <a:r>
              <a:rPr lang="en-US" b="1" dirty="0"/>
              <a:t>|</a:t>
            </a:r>
            <a:r>
              <a:rPr lang="el-GR" b="1" dirty="0"/>
              <a:t> β</a:t>
            </a:r>
            <a:r>
              <a:rPr lang="en-US" dirty="0"/>
              <a:t> where β does not begin with an A.</a:t>
            </a:r>
          </a:p>
          <a:p>
            <a:r>
              <a:rPr lang="en-US" dirty="0"/>
              <a:t>Then, we can eliminate left recursion by replacing the pair of productions with-</a:t>
            </a:r>
          </a:p>
          <a:p>
            <a:pPr lvl="1"/>
            <a:r>
              <a:rPr lang="en-US" b="1" dirty="0"/>
              <a:t>A </a:t>
            </a:r>
            <a:r>
              <a:rPr lang="en-US" dirty="0"/>
              <a:t>→ </a:t>
            </a:r>
            <a:r>
              <a:rPr lang="el-GR" b="1" dirty="0"/>
              <a:t>β</a:t>
            </a:r>
            <a:r>
              <a:rPr lang="en-US" b="1" dirty="0"/>
              <a:t>A’</a:t>
            </a:r>
            <a:endParaRPr lang="en-US" dirty="0"/>
          </a:p>
          <a:p>
            <a:pPr lvl="1"/>
            <a:r>
              <a:rPr lang="en-US" b="1" dirty="0"/>
              <a:t>A’ </a:t>
            </a:r>
            <a:r>
              <a:rPr lang="en-US" dirty="0"/>
              <a:t>→ </a:t>
            </a:r>
            <a:r>
              <a:rPr lang="el-GR" b="1" dirty="0"/>
              <a:t>α</a:t>
            </a:r>
            <a:r>
              <a:rPr lang="en-US" b="1" dirty="0"/>
              <a:t>A’ | ∈</a:t>
            </a:r>
          </a:p>
          <a:p>
            <a:r>
              <a:rPr lang="en-US" dirty="0"/>
              <a:t>This right recursive grammar functions same as left recursive grammar.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295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Algorithm to Remove Left Recursion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Suppose we have a grammar which contains left recursion: 					</a:t>
            </a:r>
            <a:r>
              <a:rPr lang="en-US" sz="4800" b="1" dirty="0"/>
              <a:t>S ⇒ S a | S b | c | d </a:t>
            </a:r>
          </a:p>
          <a:p>
            <a:r>
              <a:rPr lang="en-US" dirty="0"/>
              <a:t>Introduce a new nonterminal and write it at the end of every terminal. We create a new nonterminal </a:t>
            </a:r>
            <a:r>
              <a:rPr lang="en-US" b="1" dirty="0"/>
              <a:t>S’ </a:t>
            </a:r>
            <a:r>
              <a:rPr lang="en-US" dirty="0"/>
              <a:t>and write the new production as:		</a:t>
            </a:r>
            <a:r>
              <a:rPr lang="en-US" sz="5467" dirty="0"/>
              <a:t>S ⇒ </a:t>
            </a:r>
            <a:r>
              <a:rPr lang="en-US" sz="5467" dirty="0" err="1"/>
              <a:t>c</a:t>
            </a:r>
            <a:r>
              <a:rPr lang="en-US" sz="5467" b="1" dirty="0" err="1"/>
              <a:t>S'</a:t>
            </a:r>
            <a:r>
              <a:rPr lang="en-US" sz="5467" dirty="0"/>
              <a:t> | </a:t>
            </a:r>
            <a:r>
              <a:rPr lang="en-US" sz="5467" dirty="0" err="1"/>
              <a:t>d</a:t>
            </a:r>
            <a:r>
              <a:rPr lang="en-US" sz="5467" b="1" dirty="0" err="1"/>
              <a:t>S'</a:t>
            </a:r>
            <a:r>
              <a:rPr lang="en-US" sz="5467" dirty="0"/>
              <a:t> </a:t>
            </a:r>
          </a:p>
          <a:p>
            <a:r>
              <a:rPr lang="en-US" dirty="0"/>
              <a:t>Write the newly produced nonterminal </a:t>
            </a:r>
            <a:r>
              <a:rPr lang="en-US" b="1" dirty="0"/>
              <a:t>S’</a:t>
            </a:r>
            <a:r>
              <a:rPr lang="en-US" dirty="0"/>
              <a:t> in the LHS, and in the RHS it can either produce </a:t>
            </a:r>
            <a:r>
              <a:rPr lang="en-US" b="1" dirty="0"/>
              <a:t>S’</a:t>
            </a:r>
            <a:r>
              <a:rPr lang="en-US" dirty="0"/>
              <a:t> or it can produce new production in which the terminals or non terminals which followed the previous LHS will be replaced by the new nonterminal </a:t>
            </a:r>
            <a:r>
              <a:rPr lang="en-US" b="1" dirty="0"/>
              <a:t>S’</a:t>
            </a:r>
            <a:r>
              <a:rPr lang="en-US" dirty="0"/>
              <a:t> at the end of the term.</a:t>
            </a:r>
            <a:br>
              <a:rPr lang="en-US" dirty="0"/>
            </a:br>
            <a:r>
              <a:rPr lang="en-US" dirty="0"/>
              <a:t>				</a:t>
            </a:r>
            <a:r>
              <a:rPr lang="en-US" sz="4533" b="1" dirty="0"/>
              <a:t>S' </a:t>
            </a:r>
            <a:r>
              <a:rPr lang="en-US" sz="4533" dirty="0"/>
              <a:t>⇒ </a:t>
            </a:r>
            <a:r>
              <a:rPr lang="el-GR" sz="4533" dirty="0"/>
              <a:t>ε | </a:t>
            </a:r>
            <a:r>
              <a:rPr lang="en-US" sz="4533" dirty="0" err="1"/>
              <a:t>a</a:t>
            </a:r>
            <a:r>
              <a:rPr lang="en-US" sz="4533" b="1" dirty="0" err="1"/>
              <a:t>S'</a:t>
            </a:r>
            <a:r>
              <a:rPr lang="en-US" sz="4533" dirty="0"/>
              <a:t> | </a:t>
            </a:r>
            <a:r>
              <a:rPr lang="en-US" sz="4533" dirty="0" err="1"/>
              <a:t>b</a:t>
            </a:r>
            <a:r>
              <a:rPr lang="en-US" sz="4533" b="1" dirty="0" err="1"/>
              <a:t>S‘</a:t>
            </a:r>
            <a:endParaRPr lang="en-US" sz="4533" b="1" dirty="0"/>
          </a:p>
        </p:txBody>
      </p:sp>
    </p:spTree>
    <p:extLst>
      <p:ext uri="{BB962C8B-B14F-4D97-AF65-F5344CB8AC3E}">
        <p14:creationId xmlns:p14="http://schemas.microsoft.com/office/powerpoint/2010/main" val="3738329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So, after conversion, the new equivalent production is:</a:t>
            </a:r>
            <a:br>
              <a:rPr lang="en-US" dirty="0"/>
            </a:br>
            <a:r>
              <a:rPr lang="en-US" dirty="0"/>
              <a:t>			</a:t>
            </a:r>
            <a:r>
              <a:rPr lang="en-US" sz="3200" dirty="0"/>
              <a:t>	</a:t>
            </a:r>
            <a:r>
              <a:rPr lang="en-US" sz="5333" dirty="0"/>
              <a:t>S ⇒ </a:t>
            </a:r>
            <a:r>
              <a:rPr lang="en-US" sz="5333" dirty="0" err="1"/>
              <a:t>c</a:t>
            </a:r>
            <a:r>
              <a:rPr lang="en-US" sz="5333" b="1" dirty="0" err="1"/>
              <a:t>S'</a:t>
            </a:r>
            <a:r>
              <a:rPr lang="en-US" sz="5333" b="1" dirty="0"/>
              <a:t> </a:t>
            </a:r>
            <a:r>
              <a:rPr lang="en-US" sz="5333" dirty="0"/>
              <a:t>| </a:t>
            </a:r>
            <a:r>
              <a:rPr lang="en-US" sz="5333" dirty="0" err="1"/>
              <a:t>d</a:t>
            </a:r>
            <a:r>
              <a:rPr lang="en-US" sz="5333" b="1" dirty="0" err="1"/>
              <a:t>S'</a:t>
            </a:r>
            <a:r>
              <a:rPr lang="en-US" sz="5333" dirty="0"/>
              <a:t> </a:t>
            </a:r>
            <a:br>
              <a:rPr lang="en-US" sz="5333" dirty="0"/>
            </a:br>
            <a:r>
              <a:rPr lang="en-US" sz="5333" dirty="0"/>
              <a:t>				</a:t>
            </a:r>
            <a:r>
              <a:rPr lang="en-US" sz="5333" b="1" dirty="0"/>
              <a:t>S' </a:t>
            </a:r>
            <a:r>
              <a:rPr lang="en-US" sz="5333" dirty="0"/>
              <a:t>⇒ </a:t>
            </a:r>
            <a:r>
              <a:rPr lang="el-GR" sz="5333" dirty="0"/>
              <a:t>ε | </a:t>
            </a:r>
            <a:r>
              <a:rPr lang="en-US" sz="5333" dirty="0" err="1"/>
              <a:t>a</a:t>
            </a:r>
            <a:r>
              <a:rPr lang="en-US" sz="5333" b="1" dirty="0" err="1"/>
              <a:t>S'</a:t>
            </a:r>
            <a:r>
              <a:rPr lang="en-US" sz="5333" dirty="0"/>
              <a:t> | </a:t>
            </a:r>
            <a:r>
              <a:rPr lang="en-US" sz="5333" dirty="0" err="1"/>
              <a:t>b</a:t>
            </a:r>
            <a:r>
              <a:rPr lang="en-US" sz="5333" b="1" dirty="0" err="1"/>
              <a:t>S'</a:t>
            </a:r>
            <a:endParaRPr lang="en-US" sz="72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180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Eliminate Left Recursion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the following grammar and eliminate left recursion-</a:t>
            </a:r>
          </a:p>
          <a:p>
            <a:pPr lvl="1"/>
            <a:r>
              <a:rPr lang="en-US" dirty="0"/>
              <a:t>A → </a:t>
            </a:r>
            <a:r>
              <a:rPr lang="en-US" dirty="0" err="1"/>
              <a:t>ABd</a:t>
            </a:r>
            <a:r>
              <a:rPr lang="en-US" dirty="0"/>
              <a:t> / </a:t>
            </a:r>
            <a:r>
              <a:rPr lang="en-US" dirty="0" err="1"/>
              <a:t>Aa</a:t>
            </a:r>
            <a:r>
              <a:rPr lang="en-US" dirty="0"/>
              <a:t> / a</a:t>
            </a:r>
          </a:p>
          <a:p>
            <a:pPr lvl="1"/>
            <a:r>
              <a:rPr lang="en-US" dirty="0"/>
              <a:t>B → Be / b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The grammar after eliminating left recursion is-</a:t>
            </a:r>
          </a:p>
          <a:p>
            <a:pPr lvl="2"/>
            <a:r>
              <a:rPr lang="en-US" dirty="0"/>
              <a:t>A → </a:t>
            </a:r>
            <a:r>
              <a:rPr lang="en-US" dirty="0" err="1"/>
              <a:t>aA</a:t>
            </a:r>
            <a:r>
              <a:rPr lang="en-US" dirty="0"/>
              <a:t>’</a:t>
            </a:r>
          </a:p>
          <a:p>
            <a:pPr lvl="2"/>
            <a:r>
              <a:rPr lang="en-US" dirty="0"/>
              <a:t>A’ → </a:t>
            </a:r>
            <a:r>
              <a:rPr lang="en-US" dirty="0" err="1"/>
              <a:t>BdA</a:t>
            </a:r>
            <a:r>
              <a:rPr lang="en-US" dirty="0"/>
              <a:t>’ / </a:t>
            </a:r>
            <a:r>
              <a:rPr lang="en-US" dirty="0" err="1"/>
              <a:t>aA</a:t>
            </a:r>
            <a:r>
              <a:rPr lang="en-US" dirty="0"/>
              <a:t>’ / ∈</a:t>
            </a:r>
          </a:p>
          <a:p>
            <a:pPr lvl="2"/>
            <a:r>
              <a:rPr lang="en-US" dirty="0"/>
              <a:t>B → </a:t>
            </a:r>
            <a:r>
              <a:rPr lang="en-US" dirty="0" err="1"/>
              <a:t>bB</a:t>
            </a:r>
            <a:r>
              <a:rPr lang="en-US" dirty="0"/>
              <a:t>’</a:t>
            </a:r>
          </a:p>
          <a:p>
            <a:pPr lvl="2"/>
            <a:r>
              <a:rPr lang="en-US" dirty="0"/>
              <a:t>B’ → </a:t>
            </a:r>
            <a:r>
              <a:rPr lang="en-US" dirty="0" err="1"/>
              <a:t>eB</a:t>
            </a:r>
            <a:r>
              <a:rPr lang="en-US" dirty="0"/>
              <a:t>’ / ∈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620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Eliminate Left Recursion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the following grammar and eliminate left recursion-</a:t>
            </a:r>
          </a:p>
          <a:p>
            <a:pPr lvl="1"/>
            <a:r>
              <a:rPr lang="en-US" dirty="0"/>
              <a:t>S → (L) / a</a:t>
            </a:r>
          </a:p>
          <a:p>
            <a:pPr lvl="1"/>
            <a:r>
              <a:rPr lang="en-US" dirty="0"/>
              <a:t>L → L , S / S</a:t>
            </a:r>
          </a:p>
          <a:p>
            <a:pPr marL="0" indent="0">
              <a:buNone/>
            </a:pPr>
            <a:r>
              <a:rPr lang="en-US" b="1" u="sng" dirty="0"/>
              <a:t>Solution-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The grammar after eliminating left recursion is-</a:t>
            </a:r>
          </a:p>
          <a:p>
            <a:pPr lvl="1"/>
            <a:r>
              <a:rPr lang="en-US" dirty="0"/>
              <a:t>S → (L) / a</a:t>
            </a:r>
          </a:p>
          <a:p>
            <a:pPr lvl="1"/>
            <a:r>
              <a:rPr lang="en-US" dirty="0"/>
              <a:t>L → SL’</a:t>
            </a:r>
          </a:p>
          <a:p>
            <a:pPr lvl="1"/>
            <a:r>
              <a:rPr lang="en-US" dirty="0"/>
              <a:t>L’ → ,SL’ / ∈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709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Eliminate Left Recursion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the following grammar and eliminate left recursion-</a:t>
            </a:r>
          </a:p>
          <a:p>
            <a:pPr lvl="1"/>
            <a:r>
              <a:rPr lang="en-US" dirty="0"/>
              <a:t>E → E + T / T</a:t>
            </a:r>
          </a:p>
          <a:p>
            <a:pPr lvl="1"/>
            <a:r>
              <a:rPr lang="en-US" dirty="0"/>
              <a:t>T → T x F / F</a:t>
            </a:r>
          </a:p>
          <a:p>
            <a:pPr lvl="1"/>
            <a:r>
              <a:rPr lang="en-US" dirty="0"/>
              <a:t>F → id</a:t>
            </a:r>
          </a:p>
          <a:p>
            <a:r>
              <a:rPr lang="en-US" b="1" u="sng" dirty="0"/>
              <a:t>Solution-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The grammar after eliminating left recursion is-</a:t>
            </a:r>
          </a:p>
          <a:p>
            <a:pPr lvl="2"/>
            <a:r>
              <a:rPr lang="en-US" dirty="0"/>
              <a:t>E → TE’</a:t>
            </a:r>
          </a:p>
          <a:p>
            <a:pPr lvl="2"/>
            <a:r>
              <a:rPr lang="en-US" dirty="0"/>
              <a:t>E’ → +TE’ / ∈</a:t>
            </a:r>
          </a:p>
          <a:p>
            <a:pPr lvl="2"/>
            <a:r>
              <a:rPr lang="en-US" dirty="0"/>
              <a:t>T → FT’</a:t>
            </a:r>
          </a:p>
          <a:p>
            <a:pPr lvl="2"/>
            <a:r>
              <a:rPr lang="en-US" dirty="0"/>
              <a:t>T’ → </a:t>
            </a:r>
            <a:r>
              <a:rPr lang="en-US" dirty="0" err="1"/>
              <a:t>xFT</a:t>
            </a:r>
            <a:r>
              <a:rPr lang="en-US" dirty="0"/>
              <a:t>’ / ∈</a:t>
            </a:r>
          </a:p>
          <a:p>
            <a:pPr lvl="2"/>
            <a:r>
              <a:rPr lang="en-US" dirty="0"/>
              <a:t>F → id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78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Tree after Eliminating Left 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0" y="1397000"/>
            <a:ext cx="4775200" cy="5083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769600" y="6267847"/>
            <a:ext cx="348600" cy="615553"/>
          </a:xfrm>
          <a:prstGeom prst="rect">
            <a:avLst/>
          </a:prstGeom>
          <a:noFill/>
        </p:spPr>
        <p:txBody>
          <a:bodyPr wrap="square" lIns="121920" tIns="60960" rIns="121920" bIns="60960">
            <a:spAutoFit/>
          </a:bodyPr>
          <a:lstStyle/>
          <a:p>
            <a:pPr algn="ctr"/>
            <a:r>
              <a:rPr lang="en-US" sz="3200" dirty="0">
                <a:ln w="12700">
                  <a:noFill/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91992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82BD-4641-2039-98DD-BE82016B4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Removing Indirect Left Recursion in a Grammar</a:t>
            </a:r>
            <a:endParaRPr lang="en-PK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C7733-C473-21E0-A310-5DE737EB7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grammar is said to have indirect left recursion if, starting from any symbol of the grammar, it is possible to derive a string whose head is that symbol. For example.</a:t>
            </a:r>
          </a:p>
          <a:p>
            <a:pPr lvl="1" fontAlgn="base"/>
            <a:r>
              <a:rPr lang="pt-BR" b="1" i="1" dirty="0"/>
              <a:t>A</a:t>
            </a:r>
            <a:r>
              <a:rPr lang="pt-BR" dirty="0"/>
              <a:t> ⇒ B r </a:t>
            </a:r>
          </a:p>
          <a:p>
            <a:pPr lvl="1" fontAlgn="base"/>
            <a:r>
              <a:rPr lang="pt-BR" dirty="0"/>
              <a:t>B ⇒ C d</a:t>
            </a:r>
          </a:p>
          <a:p>
            <a:pPr lvl="1" fontAlgn="base"/>
            <a:r>
              <a:rPr lang="pt-BR" dirty="0"/>
              <a:t>C ⇒ </a:t>
            </a:r>
            <a:r>
              <a:rPr lang="pt-BR" b="1" i="1" dirty="0"/>
              <a:t>A </a:t>
            </a:r>
            <a:r>
              <a:rPr lang="pt-BR" dirty="0"/>
              <a:t>t </a:t>
            </a:r>
          </a:p>
          <a:p>
            <a:pPr fontAlgn="base"/>
            <a:endParaRPr lang="pt-BR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78741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25825-CB87-B649-3C71-8294AD7E1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Algorithm to Remove Indirect Recursion with help of an example: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9DACB-31CC-35FC-6FAD-04FD54058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sz="3200" dirty="0"/>
              <a:t>A1 ⇒ A2 A3</a:t>
            </a:r>
          </a:p>
          <a:p>
            <a:pPr fontAlgn="base"/>
            <a:r>
              <a:rPr lang="pt-BR" sz="3200" dirty="0"/>
              <a:t>A2 ⇒ A3 A1 | b</a:t>
            </a:r>
          </a:p>
          <a:p>
            <a:pPr fontAlgn="base"/>
            <a:r>
              <a:rPr lang="pt-BR" sz="3200" dirty="0"/>
              <a:t>A3 ⇒ A1 A1 | a </a:t>
            </a:r>
          </a:p>
          <a:p>
            <a:pPr lvl="1"/>
            <a:r>
              <a:rPr lang="en-US" sz="2800" dirty="0"/>
              <a:t>Identify the productions which can cause indirect left recursion. In our case.</a:t>
            </a:r>
          </a:p>
          <a:p>
            <a:pPr lvl="2"/>
            <a:r>
              <a:rPr lang="en-US" sz="2400" dirty="0"/>
              <a:t>A3 ⇒ A1 </a:t>
            </a:r>
            <a:r>
              <a:rPr lang="en-US" sz="2400" dirty="0" err="1"/>
              <a:t>A1</a:t>
            </a:r>
            <a:r>
              <a:rPr lang="en-US" sz="2400" dirty="0"/>
              <a:t> | a</a:t>
            </a:r>
          </a:p>
          <a:p>
            <a:pPr lvl="1"/>
            <a:r>
              <a:rPr lang="en-US" sz="2800" dirty="0"/>
              <a:t>Substitute its production at the place the terminal is present in any other production: substitute A1–&gt; A2 A3 in production of A3. </a:t>
            </a:r>
          </a:p>
          <a:p>
            <a:pPr lvl="2"/>
            <a:r>
              <a:rPr lang="pt-BR" sz="2400" dirty="0"/>
              <a:t>A3 ⇒ A2 A3 A1 | a</a:t>
            </a:r>
            <a:endParaRPr lang="en-US" sz="2400" dirty="0"/>
          </a:p>
          <a:p>
            <a:pPr lvl="1"/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3603483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2E5E8-5F39-4267-AF17-146B03FE7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7360"/>
            <a:ext cx="10515600" cy="6085840"/>
          </a:xfrm>
        </p:spPr>
        <p:txBody>
          <a:bodyPr>
            <a:normAutofit/>
          </a:bodyPr>
          <a:lstStyle/>
          <a:p>
            <a:r>
              <a:rPr lang="en-US" dirty="0"/>
              <a:t>Now in this production substitute A2 ⇒ A3 A1 | b</a:t>
            </a:r>
          </a:p>
          <a:p>
            <a:pPr lvl="1"/>
            <a:r>
              <a:rPr lang="en-US" dirty="0"/>
              <a:t> </a:t>
            </a:r>
            <a:r>
              <a:rPr lang="pt-BR" dirty="0"/>
              <a:t>A3 ⇒ (A3 A1 | b) A3 A1 | a </a:t>
            </a:r>
          </a:p>
          <a:p>
            <a:pPr lvl="1"/>
            <a:r>
              <a:rPr lang="pt-BR" dirty="0"/>
              <a:t>A3 ⇒ A3 A1 A3 A1 | b A3 A1 | a</a:t>
            </a:r>
          </a:p>
          <a:p>
            <a:r>
              <a:rPr lang="en-US" dirty="0"/>
              <a:t>Now the new production is converted in the form of direct left recursion, solve this by the direct left recursion method. </a:t>
            </a:r>
          </a:p>
          <a:p>
            <a:pPr lvl="1" fontAlgn="base"/>
            <a:r>
              <a:rPr lang="pt-BR" dirty="0"/>
              <a:t>A3 ⇒ b A3 A1 </a:t>
            </a:r>
            <a:r>
              <a:rPr lang="pt-BR" b="1" i="1" dirty="0"/>
              <a:t>A'</a:t>
            </a:r>
            <a:r>
              <a:rPr lang="pt-BR" dirty="0"/>
              <a:t> | a</a:t>
            </a:r>
            <a:r>
              <a:rPr lang="pt-BR" b="1" i="1" dirty="0"/>
              <a:t>A'</a:t>
            </a:r>
            <a:endParaRPr lang="pt-BR" dirty="0"/>
          </a:p>
          <a:p>
            <a:pPr lvl="1" fontAlgn="base"/>
            <a:r>
              <a:rPr lang="pt-BR" b="1" i="1" dirty="0"/>
              <a:t>A'</a:t>
            </a:r>
            <a:r>
              <a:rPr lang="pt-BR" dirty="0"/>
              <a:t> ⇒ ε | A1 A3 A1 </a:t>
            </a:r>
            <a:r>
              <a:rPr lang="pt-BR" b="1" i="1" dirty="0"/>
              <a:t>A'</a:t>
            </a:r>
            <a:endParaRPr lang="pt-BR" dirty="0"/>
          </a:p>
          <a:p>
            <a:r>
              <a:rPr lang="en-US" dirty="0"/>
              <a:t>The resulting grammar is then:</a:t>
            </a:r>
          </a:p>
          <a:p>
            <a:pPr lvl="1" fontAlgn="base"/>
            <a:r>
              <a:rPr lang="pt-BR" dirty="0"/>
              <a:t>A1 ⇒ A2 A3</a:t>
            </a:r>
          </a:p>
          <a:p>
            <a:pPr lvl="1" fontAlgn="base"/>
            <a:r>
              <a:rPr lang="pt-BR" dirty="0"/>
              <a:t>A2 ⇒ A3 A1 | b</a:t>
            </a:r>
          </a:p>
          <a:p>
            <a:pPr lvl="1" fontAlgn="base"/>
            <a:r>
              <a:rPr lang="pt-BR" dirty="0"/>
              <a:t>A3 </a:t>
            </a:r>
            <a:r>
              <a:rPr lang="pt-BR"/>
              <a:t>⇒ b </a:t>
            </a:r>
            <a:r>
              <a:rPr lang="pt-BR" dirty="0"/>
              <a:t>A3 A1 </a:t>
            </a:r>
            <a:r>
              <a:rPr lang="pt-BR" b="1" i="1" dirty="0"/>
              <a:t>A'</a:t>
            </a:r>
            <a:r>
              <a:rPr lang="pt-BR" dirty="0"/>
              <a:t> | a</a:t>
            </a:r>
            <a:r>
              <a:rPr lang="pt-BR" b="1" i="1" dirty="0"/>
              <a:t>A'</a:t>
            </a:r>
            <a:endParaRPr lang="pt-BR" dirty="0"/>
          </a:p>
          <a:p>
            <a:pPr lvl="1" fontAlgn="base"/>
            <a:r>
              <a:rPr lang="pt-BR" b="1" i="1" dirty="0"/>
              <a:t>A'</a:t>
            </a:r>
            <a:r>
              <a:rPr lang="pt-BR" dirty="0"/>
              <a:t> ⇒ ε | A1 A3 A1 </a:t>
            </a:r>
            <a:r>
              <a:rPr lang="pt-BR" b="1" i="1" dirty="0"/>
              <a:t>A'</a:t>
            </a:r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41758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E2781-95E3-E8FB-7913-F8FD7D882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289E7-35AC-FD1B-67C8-51778BA83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40"/>
            <a:ext cx="10972800" cy="5059361"/>
          </a:xfrm>
        </p:spPr>
        <p:txBody>
          <a:bodyPr>
            <a:normAutofit fontScale="77500" lnSpcReduction="20000"/>
          </a:bodyPr>
          <a:lstStyle/>
          <a:p>
            <a:pPr fontAlgn="base"/>
            <a:r>
              <a:rPr lang="en-US" sz="5067" b="1" dirty="0"/>
              <a:t>A → Ba / Aa / c</a:t>
            </a:r>
          </a:p>
          <a:p>
            <a:pPr fontAlgn="base"/>
            <a:r>
              <a:rPr lang="en-US" sz="5067" b="1" dirty="0"/>
              <a:t>B → Bb / Ab / d</a:t>
            </a:r>
          </a:p>
          <a:p>
            <a:pPr fontAlgn="base"/>
            <a:endParaRPr lang="en-US" dirty="0"/>
          </a:p>
          <a:p>
            <a:pPr fontAlgn="base"/>
            <a:r>
              <a:rPr lang="en-US" b="1" u="sng" dirty="0"/>
              <a:t>Step-01: </a:t>
            </a:r>
            <a:r>
              <a:rPr lang="en-US" dirty="0"/>
              <a:t>First let us eliminate left recursion from A → Ba / Aa / c</a:t>
            </a:r>
          </a:p>
          <a:p>
            <a:pPr lvl="1" fontAlgn="base"/>
            <a:r>
              <a:rPr lang="en-US" dirty="0"/>
              <a:t>Eliminating left recursion from here, we get-</a:t>
            </a:r>
          </a:p>
          <a:p>
            <a:pPr lvl="1" fontAlgn="base"/>
            <a:r>
              <a:rPr lang="en-US" dirty="0"/>
              <a:t>A → </a:t>
            </a:r>
            <a:r>
              <a:rPr lang="en-US" dirty="0" err="1"/>
              <a:t>BaA</a:t>
            </a:r>
            <a:r>
              <a:rPr lang="en-US" dirty="0"/>
              <a:t>’ / </a:t>
            </a:r>
            <a:r>
              <a:rPr lang="en-US" dirty="0" err="1"/>
              <a:t>cA</a:t>
            </a:r>
            <a:r>
              <a:rPr lang="en-US" dirty="0"/>
              <a:t>’</a:t>
            </a:r>
          </a:p>
          <a:p>
            <a:pPr lvl="1" fontAlgn="base"/>
            <a:r>
              <a:rPr lang="en-US" dirty="0"/>
              <a:t>A’ → </a:t>
            </a:r>
            <a:r>
              <a:rPr lang="en-US" dirty="0" err="1"/>
              <a:t>aA</a:t>
            </a:r>
            <a:r>
              <a:rPr lang="en-US" dirty="0"/>
              <a:t>’ / </a:t>
            </a:r>
            <a:r>
              <a:rPr lang="en-US" sz="1067" dirty="0"/>
              <a:t>∈</a:t>
            </a:r>
            <a:endParaRPr lang="en-US" dirty="0"/>
          </a:p>
          <a:p>
            <a:pPr fontAlgn="base"/>
            <a:r>
              <a:rPr lang="en-US" dirty="0"/>
              <a:t>Now, given grammar becomes-</a:t>
            </a:r>
          </a:p>
          <a:p>
            <a:pPr lvl="1" fontAlgn="base"/>
            <a:r>
              <a:rPr lang="en-US" dirty="0"/>
              <a:t>A → </a:t>
            </a:r>
            <a:r>
              <a:rPr lang="en-US" dirty="0" err="1"/>
              <a:t>BaA</a:t>
            </a:r>
            <a:r>
              <a:rPr lang="en-US" dirty="0"/>
              <a:t>’ / </a:t>
            </a:r>
            <a:r>
              <a:rPr lang="en-US" dirty="0" err="1"/>
              <a:t>cA</a:t>
            </a:r>
            <a:r>
              <a:rPr lang="en-US" dirty="0"/>
              <a:t>’</a:t>
            </a:r>
          </a:p>
          <a:p>
            <a:pPr lvl="1" fontAlgn="base"/>
            <a:r>
              <a:rPr lang="en-US" dirty="0"/>
              <a:t>A’ → </a:t>
            </a:r>
            <a:r>
              <a:rPr lang="en-US" dirty="0" err="1"/>
              <a:t>aA</a:t>
            </a:r>
            <a:r>
              <a:rPr lang="en-US" dirty="0"/>
              <a:t>’ / </a:t>
            </a:r>
            <a:r>
              <a:rPr lang="en-US" sz="1067" dirty="0"/>
              <a:t>∈</a:t>
            </a:r>
            <a:endParaRPr lang="en-US" dirty="0"/>
          </a:p>
          <a:p>
            <a:pPr lvl="1" fontAlgn="base"/>
            <a:r>
              <a:rPr lang="en-US" dirty="0"/>
              <a:t>B → Bb / Ab / d</a:t>
            </a:r>
          </a:p>
          <a:p>
            <a:pPr fontAlgn="base"/>
            <a:r>
              <a:rPr lang="en-US" b="1" u="sng" dirty="0"/>
              <a:t>Step-02: </a:t>
            </a:r>
            <a:r>
              <a:rPr lang="en-US" dirty="0"/>
              <a:t>Substituting the productions of A in B → Ab, we get the following grammar-</a:t>
            </a:r>
          </a:p>
          <a:p>
            <a:pPr lvl="1" fontAlgn="base"/>
            <a:r>
              <a:rPr lang="en-US" dirty="0"/>
              <a:t>A → </a:t>
            </a:r>
            <a:r>
              <a:rPr lang="en-US" dirty="0" err="1"/>
              <a:t>BaA</a:t>
            </a:r>
            <a:r>
              <a:rPr lang="en-US" dirty="0"/>
              <a:t>’ / </a:t>
            </a:r>
            <a:r>
              <a:rPr lang="en-US" dirty="0" err="1"/>
              <a:t>cA</a:t>
            </a:r>
            <a:r>
              <a:rPr lang="en-US" dirty="0"/>
              <a:t>’</a:t>
            </a:r>
          </a:p>
          <a:p>
            <a:pPr lvl="1" fontAlgn="base"/>
            <a:r>
              <a:rPr lang="en-US" dirty="0"/>
              <a:t>A’ → </a:t>
            </a:r>
            <a:r>
              <a:rPr lang="en-US" dirty="0" err="1"/>
              <a:t>aA</a:t>
            </a:r>
            <a:r>
              <a:rPr lang="en-US" dirty="0"/>
              <a:t>’ / </a:t>
            </a:r>
            <a:r>
              <a:rPr lang="en-US" sz="1067" dirty="0"/>
              <a:t>∈</a:t>
            </a:r>
            <a:endParaRPr lang="en-US" dirty="0"/>
          </a:p>
          <a:p>
            <a:pPr lvl="1" fontAlgn="base"/>
            <a:r>
              <a:rPr lang="en-US" dirty="0"/>
              <a:t>B → Bb / </a:t>
            </a:r>
            <a:r>
              <a:rPr lang="en-US" dirty="0" err="1"/>
              <a:t>BaA’b</a:t>
            </a:r>
            <a:r>
              <a:rPr lang="en-US" dirty="0"/>
              <a:t> / </a:t>
            </a:r>
            <a:r>
              <a:rPr lang="en-US" dirty="0" err="1"/>
              <a:t>cA’b</a:t>
            </a:r>
            <a:r>
              <a:rPr lang="en-US" dirty="0"/>
              <a:t> / d</a:t>
            </a:r>
          </a:p>
        </p:txBody>
      </p:sp>
    </p:spTree>
    <p:extLst>
      <p:ext uri="{BB962C8B-B14F-4D97-AF65-F5344CB8AC3E}">
        <p14:creationId xmlns:p14="http://schemas.microsoft.com/office/powerpoint/2010/main" val="1412675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3A59-AD36-1D55-CCA9-4335B3DB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70982-57A3-94FF-1305-6DF2BECF4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u="sng" dirty="0"/>
              <a:t>Step-03:</a:t>
            </a:r>
            <a:endParaRPr lang="en-US" dirty="0"/>
          </a:p>
          <a:p>
            <a:pPr fontAlgn="base"/>
            <a:r>
              <a:rPr lang="en-US" dirty="0"/>
              <a:t>Now, eliminating left recursion from the productions of B, we get the following grammar.</a:t>
            </a:r>
          </a:p>
          <a:p>
            <a:pPr lvl="1" fontAlgn="base"/>
            <a:r>
              <a:rPr lang="en-US" dirty="0"/>
              <a:t>A → </a:t>
            </a:r>
            <a:r>
              <a:rPr lang="en-US" dirty="0" err="1"/>
              <a:t>BaA</a:t>
            </a:r>
            <a:r>
              <a:rPr lang="en-US" dirty="0"/>
              <a:t>’ / </a:t>
            </a:r>
            <a:r>
              <a:rPr lang="en-US" dirty="0" err="1"/>
              <a:t>cA</a:t>
            </a:r>
            <a:r>
              <a:rPr lang="en-US" dirty="0"/>
              <a:t>’</a:t>
            </a:r>
          </a:p>
          <a:p>
            <a:pPr lvl="1" fontAlgn="base"/>
            <a:r>
              <a:rPr lang="en-US" dirty="0"/>
              <a:t>A’ → </a:t>
            </a:r>
            <a:r>
              <a:rPr lang="en-US" dirty="0" err="1"/>
              <a:t>aA</a:t>
            </a:r>
            <a:r>
              <a:rPr lang="en-US" dirty="0"/>
              <a:t>’ / </a:t>
            </a:r>
            <a:r>
              <a:rPr lang="en-US" sz="1067" dirty="0"/>
              <a:t>∈</a:t>
            </a:r>
            <a:endParaRPr lang="en-US" dirty="0"/>
          </a:p>
          <a:p>
            <a:pPr lvl="1" fontAlgn="base"/>
            <a:r>
              <a:rPr lang="en-US" dirty="0"/>
              <a:t>B → </a:t>
            </a:r>
            <a:r>
              <a:rPr lang="en-US" dirty="0" err="1"/>
              <a:t>cA’bB</a:t>
            </a:r>
            <a:r>
              <a:rPr lang="en-US" dirty="0"/>
              <a:t>’ / dB’</a:t>
            </a:r>
          </a:p>
          <a:p>
            <a:pPr lvl="1" fontAlgn="base"/>
            <a:r>
              <a:rPr lang="en-US" dirty="0"/>
              <a:t>B’ → </a:t>
            </a:r>
            <a:r>
              <a:rPr lang="en-US" dirty="0" err="1"/>
              <a:t>bB</a:t>
            </a:r>
            <a:r>
              <a:rPr lang="en-US" dirty="0"/>
              <a:t>’ / </a:t>
            </a:r>
            <a:r>
              <a:rPr lang="en-US" dirty="0" err="1"/>
              <a:t>aA’bB</a:t>
            </a:r>
            <a:r>
              <a:rPr lang="en-US" dirty="0"/>
              <a:t>’ / </a:t>
            </a:r>
            <a:r>
              <a:rPr lang="en-US" sz="2533" dirty="0"/>
              <a:t>∈</a:t>
            </a: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26368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Grammar With Common Prefixes-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RHS of more than one production starts with the same symbol, then such a grammar is called as </a:t>
            </a:r>
            <a:r>
              <a:rPr lang="en-US" b="1" dirty="0"/>
              <a:t>Grammar With Common Prefixes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b="1" dirty="0"/>
              <a:t>A </a:t>
            </a:r>
            <a:r>
              <a:rPr lang="en-US" dirty="0"/>
              <a:t>→</a:t>
            </a:r>
            <a:r>
              <a:rPr lang="en-US" b="1" dirty="0"/>
              <a:t> </a:t>
            </a:r>
            <a:r>
              <a:rPr lang="el-GR" b="1" dirty="0"/>
              <a:t>αβ</a:t>
            </a:r>
            <a:r>
              <a:rPr lang="el-GR" b="1" baseline="-25000" dirty="0"/>
              <a:t>1</a:t>
            </a:r>
            <a:r>
              <a:rPr lang="el-GR" b="1" dirty="0"/>
              <a:t> / αβ</a:t>
            </a:r>
            <a:r>
              <a:rPr lang="el-GR" b="1" baseline="-25000" dirty="0"/>
              <a:t>2</a:t>
            </a:r>
            <a:r>
              <a:rPr lang="el-GR" b="1" dirty="0"/>
              <a:t> / αβ</a:t>
            </a:r>
            <a:r>
              <a:rPr lang="el-GR" b="1" baseline="-25000" dirty="0"/>
              <a:t>3</a:t>
            </a:r>
            <a:endParaRPr lang="el-G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965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Factoring Elimination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Left factoring is a grammar transformation that is useful for producing a grammar suitable for predictive or top-down parsing.</a:t>
            </a:r>
          </a:p>
          <a:p>
            <a:r>
              <a:rPr lang="en-US" altLang="en-US" dirty="0"/>
              <a:t>Consider following grammar:</a:t>
            </a:r>
          </a:p>
          <a:p>
            <a:pPr lvl="1"/>
            <a:r>
              <a:rPr lang="en-US" altLang="en-US" dirty="0" err="1"/>
              <a:t>Stmt</a:t>
            </a:r>
            <a:r>
              <a:rPr lang="en-US" altLang="en-US" dirty="0"/>
              <a:t> -&gt; </a:t>
            </a:r>
            <a:r>
              <a:rPr lang="en-US" altLang="en-US" b="1" dirty="0"/>
              <a:t>if</a:t>
            </a:r>
            <a:r>
              <a:rPr lang="en-US" altLang="en-US" dirty="0"/>
              <a:t> </a:t>
            </a:r>
            <a:r>
              <a:rPr lang="en-US" altLang="en-US" dirty="0" err="1"/>
              <a:t>expr</a:t>
            </a:r>
            <a:r>
              <a:rPr lang="en-US" altLang="en-US" dirty="0"/>
              <a:t> </a:t>
            </a:r>
            <a:r>
              <a:rPr lang="en-US" altLang="en-US" b="1" dirty="0"/>
              <a:t>then</a:t>
            </a:r>
            <a:r>
              <a:rPr lang="en-US" altLang="en-US" dirty="0"/>
              <a:t> </a:t>
            </a:r>
            <a:r>
              <a:rPr lang="en-US" altLang="en-US" dirty="0" err="1"/>
              <a:t>stmt</a:t>
            </a:r>
            <a:r>
              <a:rPr lang="en-US" altLang="en-US" dirty="0"/>
              <a:t> </a:t>
            </a:r>
            <a:r>
              <a:rPr lang="en-US" altLang="en-US" b="1" dirty="0"/>
              <a:t>else</a:t>
            </a:r>
            <a:r>
              <a:rPr lang="en-US" altLang="en-US" dirty="0"/>
              <a:t> </a:t>
            </a:r>
            <a:r>
              <a:rPr lang="en-US" altLang="en-US" dirty="0" err="1"/>
              <a:t>stmt</a:t>
            </a:r>
            <a:endParaRPr lang="en-US" altLang="en-US" dirty="0"/>
          </a:p>
          <a:p>
            <a:pPr lvl="1"/>
            <a:r>
              <a:rPr lang="en-US" altLang="en-US" dirty="0"/>
              <a:t>          | </a:t>
            </a:r>
            <a:r>
              <a:rPr lang="en-US" altLang="en-US" b="1" dirty="0"/>
              <a:t>if</a:t>
            </a:r>
            <a:r>
              <a:rPr lang="en-US" altLang="en-US" dirty="0"/>
              <a:t> </a:t>
            </a:r>
            <a:r>
              <a:rPr lang="en-US" altLang="en-US" dirty="0" err="1"/>
              <a:t>expr</a:t>
            </a:r>
            <a:r>
              <a:rPr lang="en-US" altLang="en-US" dirty="0"/>
              <a:t> </a:t>
            </a:r>
            <a:r>
              <a:rPr lang="en-US" altLang="en-US" b="1" dirty="0"/>
              <a:t>then</a:t>
            </a:r>
            <a:r>
              <a:rPr lang="en-US" altLang="en-US" dirty="0"/>
              <a:t> </a:t>
            </a:r>
            <a:r>
              <a:rPr lang="en-US" altLang="en-US" dirty="0" err="1"/>
              <a:t>stmt</a:t>
            </a:r>
            <a:endParaRPr lang="en-US" altLang="en-US" dirty="0"/>
          </a:p>
          <a:p>
            <a:r>
              <a:rPr lang="en-US" altLang="en-US" dirty="0"/>
              <a:t>On seeing input </a:t>
            </a:r>
            <a:r>
              <a:rPr lang="en-US" altLang="en-US" b="1" dirty="0"/>
              <a:t>if</a:t>
            </a:r>
            <a:r>
              <a:rPr lang="en-US" altLang="en-US" dirty="0"/>
              <a:t> it is not clear for the parser which production to 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123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Factoring Elimination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We can easily perform left factoring:</a:t>
            </a:r>
          </a:p>
          <a:p>
            <a:pPr lvl="1"/>
            <a:r>
              <a:rPr lang="en-US" altLang="en-US" dirty="0"/>
              <a:t>If we have A-&gt;</a:t>
            </a:r>
            <a:r>
              <a:rPr lang="el-GR" altLang="en-US" dirty="0">
                <a:latin typeface="MS Mincho" pitchFamily="49" charset="-128"/>
                <a:ea typeface="MS Mincho" pitchFamily="49" charset="-128"/>
              </a:rPr>
              <a:t>αβ</a:t>
            </a:r>
            <a:r>
              <a:rPr lang="en-US" altLang="en-US" dirty="0"/>
              <a:t>1</a:t>
            </a:r>
            <a:r>
              <a:rPr lang="el-GR" altLang="en-US" dirty="0">
                <a:latin typeface="MS Mincho" pitchFamily="49" charset="-128"/>
                <a:ea typeface="MS Mincho" pitchFamily="49" charset="-128"/>
              </a:rPr>
              <a:t> </a:t>
            </a:r>
            <a:r>
              <a:rPr lang="en-US" altLang="en-US" dirty="0">
                <a:latin typeface="MS Mincho" pitchFamily="49" charset="-128"/>
                <a:ea typeface="MS Mincho" pitchFamily="49" charset="-128"/>
              </a:rPr>
              <a:t>| </a:t>
            </a:r>
            <a:r>
              <a:rPr lang="el-GR" altLang="en-US" dirty="0">
                <a:latin typeface="MS Mincho" pitchFamily="49" charset="-128"/>
                <a:ea typeface="MS Mincho" pitchFamily="49" charset="-128"/>
              </a:rPr>
              <a:t>αβ</a:t>
            </a:r>
            <a:r>
              <a:rPr lang="en-US" altLang="en-US" dirty="0"/>
              <a:t>2   then we replace it with</a:t>
            </a:r>
          </a:p>
          <a:p>
            <a:pPr lvl="2"/>
            <a:r>
              <a:rPr lang="en-US" altLang="en-US" dirty="0"/>
              <a:t>A  -&gt; </a:t>
            </a:r>
            <a:r>
              <a:rPr lang="el-GR" altLang="en-US" dirty="0">
                <a:latin typeface="MS Mincho" pitchFamily="49" charset="-128"/>
                <a:ea typeface="MS Mincho" pitchFamily="49" charset="-128"/>
              </a:rPr>
              <a:t>α</a:t>
            </a:r>
            <a:r>
              <a:rPr lang="en-US" altLang="en-US" dirty="0"/>
              <a:t>A’</a:t>
            </a:r>
          </a:p>
          <a:p>
            <a:pPr lvl="2"/>
            <a:r>
              <a:rPr lang="en-US" altLang="en-US" dirty="0"/>
              <a:t>A’ -&gt;  </a:t>
            </a:r>
            <a:r>
              <a:rPr lang="el-GR" altLang="en-US" dirty="0">
                <a:latin typeface="MS Mincho" pitchFamily="49" charset="-128"/>
                <a:ea typeface="MS Mincho" pitchFamily="49" charset="-128"/>
              </a:rPr>
              <a:t>β</a:t>
            </a:r>
            <a:r>
              <a:rPr lang="en-US" altLang="en-US" dirty="0"/>
              <a:t>1</a:t>
            </a:r>
            <a:r>
              <a:rPr lang="el-GR" altLang="en-US" dirty="0">
                <a:latin typeface="MS Mincho" pitchFamily="49" charset="-128"/>
                <a:ea typeface="MS Mincho" pitchFamily="49" charset="-128"/>
              </a:rPr>
              <a:t> </a:t>
            </a:r>
            <a:r>
              <a:rPr lang="en-US" altLang="en-US" dirty="0">
                <a:latin typeface="MS Mincho" pitchFamily="49" charset="-128"/>
                <a:ea typeface="MS Mincho" pitchFamily="49" charset="-128"/>
              </a:rPr>
              <a:t>| </a:t>
            </a:r>
            <a:r>
              <a:rPr lang="el-GR" altLang="en-US" dirty="0">
                <a:latin typeface="MS Mincho" pitchFamily="49" charset="-128"/>
                <a:ea typeface="MS Mincho" pitchFamily="49" charset="-128"/>
              </a:rPr>
              <a:t>β</a:t>
            </a:r>
            <a:r>
              <a:rPr lang="en-US" altLang="en-US" dirty="0"/>
              <a:t>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440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Left Factoring Elimination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Grammar </a:t>
            </a:r>
            <a:r>
              <a:rPr lang="en-US" dirty="0"/>
              <a:t>A → </a:t>
            </a:r>
            <a:r>
              <a:rPr lang="en-US" dirty="0" err="1"/>
              <a:t>aAB</a:t>
            </a:r>
            <a:r>
              <a:rPr lang="en-US" dirty="0"/>
              <a:t> / </a:t>
            </a:r>
            <a:r>
              <a:rPr lang="en-US" dirty="0" err="1"/>
              <a:t>aBc</a:t>
            </a:r>
            <a:r>
              <a:rPr lang="en-US" dirty="0"/>
              <a:t> / </a:t>
            </a:r>
            <a:r>
              <a:rPr lang="en-US" dirty="0" err="1"/>
              <a:t>aAc</a:t>
            </a:r>
            <a:endParaRPr lang="en-US" dirty="0"/>
          </a:p>
          <a:p>
            <a:r>
              <a:rPr lang="en-US" b="1" dirty="0"/>
              <a:t>Solution</a:t>
            </a:r>
          </a:p>
          <a:p>
            <a:pPr lvl="1"/>
            <a:r>
              <a:rPr lang="en-US" dirty="0"/>
              <a:t>A → </a:t>
            </a:r>
            <a:r>
              <a:rPr lang="en-US" dirty="0" err="1"/>
              <a:t>aA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A’ → AB / </a:t>
            </a:r>
            <a:r>
              <a:rPr lang="en-US" dirty="0" err="1"/>
              <a:t>Bc</a:t>
            </a:r>
            <a:r>
              <a:rPr lang="en-US" dirty="0"/>
              <a:t> / Ac</a:t>
            </a:r>
          </a:p>
          <a:p>
            <a:r>
              <a:rPr lang="en-US" dirty="0"/>
              <a:t>Again, this is a grammar with common prefixes.</a:t>
            </a:r>
          </a:p>
          <a:p>
            <a:pPr lvl="1"/>
            <a:r>
              <a:rPr lang="en-US" dirty="0"/>
              <a:t>A → </a:t>
            </a:r>
            <a:r>
              <a:rPr lang="en-US" dirty="0" err="1"/>
              <a:t>aA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A’ → AD / </a:t>
            </a:r>
            <a:r>
              <a:rPr lang="en-US" dirty="0" err="1"/>
              <a:t>Bc</a:t>
            </a:r>
            <a:endParaRPr lang="en-US" dirty="0"/>
          </a:p>
          <a:p>
            <a:pPr lvl="1"/>
            <a:r>
              <a:rPr lang="en-US" dirty="0"/>
              <a:t>D → B / c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363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79400"/>
            <a:ext cx="9042400" cy="6399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337BED-FBC0-4B5C-8B46-B5A0F7DECC93}"/>
              </a:ext>
            </a:extLst>
          </p:cNvPr>
          <p:cNvSpPr/>
          <p:nvPr/>
        </p:nvSpPr>
        <p:spPr>
          <a:xfrm>
            <a:off x="9347200" y="2819400"/>
            <a:ext cx="2032000" cy="142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S-&gt; </a:t>
            </a:r>
            <a:r>
              <a:rPr lang="en-US" sz="2400" dirty="0" err="1"/>
              <a:t>cAd</a:t>
            </a:r>
            <a:endParaRPr lang="en-US" sz="2400" dirty="0"/>
          </a:p>
          <a:p>
            <a:pPr algn="ctr"/>
            <a:r>
              <a:rPr lang="en-US" sz="2400" dirty="0"/>
              <a:t>A-&gt; ab | a</a:t>
            </a:r>
          </a:p>
        </p:txBody>
      </p:sp>
    </p:spTree>
    <p:extLst>
      <p:ext uri="{BB962C8B-B14F-4D97-AF65-F5344CB8AC3E}">
        <p14:creationId xmlns:p14="http://schemas.microsoft.com/office/powerpoint/2010/main" val="323208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the compiler would have come to know in advance, that what is the “first character of the string produced when a production rule is applied”, and comparing it to the current character or token in the input string it sees, it can wisely take decision on which production rule to apply. </a:t>
            </a:r>
          </a:p>
          <a:p>
            <a:r>
              <a:rPr lang="en-US" dirty="0"/>
              <a:t>Let’s take a grammar 	</a:t>
            </a:r>
          </a:p>
          <a:p>
            <a:pPr lvl="1"/>
            <a:r>
              <a:rPr lang="en-US" dirty="0"/>
              <a:t>S -&gt; </a:t>
            </a:r>
            <a:r>
              <a:rPr lang="en-US" dirty="0" err="1"/>
              <a:t>cAd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 -&gt; </a:t>
            </a:r>
            <a:r>
              <a:rPr lang="en-US" dirty="0" err="1"/>
              <a:t>bc|a</a:t>
            </a:r>
            <a:r>
              <a:rPr lang="en-US" dirty="0"/>
              <a:t> </a:t>
            </a:r>
          </a:p>
          <a:p>
            <a:r>
              <a:rPr lang="en-US" dirty="0"/>
              <a:t>the input string is “cad”.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30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the example above, if it knew that after reading character ‘c’ in the input string and applying S-&gt;</a:t>
            </a:r>
            <a:r>
              <a:rPr lang="en-US" dirty="0" err="1"/>
              <a:t>cAd</a:t>
            </a:r>
            <a:r>
              <a:rPr lang="en-US" dirty="0"/>
              <a:t>.</a:t>
            </a:r>
          </a:p>
          <a:p>
            <a:r>
              <a:rPr lang="en-US" dirty="0"/>
              <a:t>Next character in the input string is ‘a’, then it would have ignored the production rule A-&gt;</a:t>
            </a:r>
            <a:r>
              <a:rPr lang="en-US" dirty="0" err="1"/>
              <a:t>bc</a:t>
            </a:r>
            <a:r>
              <a:rPr lang="en-US" dirty="0"/>
              <a:t> (because ‘b’ is the first character of the string produced by this production rule, not ‘a’ ), and directly use the production rule A-&gt;a.</a:t>
            </a:r>
          </a:p>
          <a:p>
            <a:r>
              <a:rPr lang="en-US" dirty="0"/>
              <a:t>(because ‘a’ is the first character of the string produced by this production rule, and is same as the current character of the input string which is also ‘a’).</a:t>
            </a:r>
          </a:p>
          <a:p>
            <a:r>
              <a:rPr lang="en-US" dirty="0"/>
              <a:t>Hence it is validated that if the compiler/parser knows about first character of the string that can be obtained by applying a production rule, then it can wisely apply the correct production rule to get the correct syntax tree for the given input string.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5999" y="4622801"/>
            <a:ext cx="2920079" cy="219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2988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Follow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parser faces one more problem. Let us consider below grammar to understand this problem. </a:t>
            </a:r>
          </a:p>
          <a:p>
            <a:pPr lvl="1"/>
            <a:r>
              <a:rPr lang="en-US" dirty="0"/>
              <a:t>A -&gt; </a:t>
            </a:r>
            <a:r>
              <a:rPr lang="en-US" dirty="0" err="1"/>
              <a:t>aBb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 -&gt; c | ε</a:t>
            </a:r>
          </a:p>
          <a:p>
            <a:r>
              <a:rPr lang="en-US" dirty="0"/>
              <a:t> And suppose the input string is “</a:t>
            </a:r>
            <a:r>
              <a:rPr lang="en-US" b="1" dirty="0" err="1"/>
              <a:t>ab</a:t>
            </a:r>
            <a:r>
              <a:rPr lang="en-US" dirty="0"/>
              <a:t>” to parse. </a:t>
            </a:r>
          </a:p>
        </p:txBody>
      </p:sp>
    </p:spTree>
    <p:extLst>
      <p:ext uri="{BB962C8B-B14F-4D97-AF65-F5344CB8AC3E}">
        <p14:creationId xmlns:p14="http://schemas.microsoft.com/office/powerpoint/2010/main" val="3346879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the first character in the input is a, the parser applies the rule </a:t>
            </a:r>
            <a:r>
              <a:rPr lang="en-US" b="1" dirty="0"/>
              <a:t>A-&gt;</a:t>
            </a:r>
            <a:r>
              <a:rPr lang="en-US" b="1" dirty="0" err="1"/>
              <a:t>aBb.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Now the parser checks for the second character of the input string which is b, and the Non-Terminal to derive is B, but the parser can’t get any string derivable from B that contains b as first character.</a:t>
            </a:r>
            <a:r>
              <a:rPr lang="en-US" b="1" dirty="0"/>
              <a:t> </a:t>
            </a:r>
          </a:p>
          <a:p>
            <a:endParaRPr lang="en-US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01" y="2108200"/>
            <a:ext cx="1739900" cy="116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6129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But the Grammar does contain a production rule B -&gt; ε, if that is applied then B will vanish, and the parser gets the input “</a:t>
            </a:r>
            <a:r>
              <a:rPr lang="en-US" dirty="0" err="1"/>
              <a:t>ab</a:t>
            </a:r>
            <a:r>
              <a:rPr lang="en-US" dirty="0"/>
              <a:t>”, as shown below. But the parser can apply it only when it knows that the character that follows B in the production rule is same as the current character in the input. </a:t>
            </a:r>
          </a:p>
        </p:txBody>
      </p:sp>
    </p:spTree>
    <p:extLst>
      <p:ext uri="{BB962C8B-B14F-4D97-AF65-F5344CB8AC3E}">
        <p14:creationId xmlns:p14="http://schemas.microsoft.com/office/powerpoint/2010/main" val="10080309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82600"/>
            <a:ext cx="10972800" cy="5892800"/>
          </a:xfrm>
        </p:spPr>
        <p:txBody>
          <a:bodyPr/>
          <a:lstStyle/>
          <a:p>
            <a:r>
              <a:rPr lang="en-US" dirty="0"/>
              <a:t>In RHS of A -&gt; </a:t>
            </a:r>
            <a:r>
              <a:rPr lang="en-US" dirty="0" err="1"/>
              <a:t>aBb</a:t>
            </a:r>
            <a:r>
              <a:rPr lang="en-US" dirty="0"/>
              <a:t>, b follows Non-Terminal B, i.e. FOLLOW(B) = {b}, and the current input character read is also b. Hence the parser applies this rule. And it is able to get the string “</a:t>
            </a:r>
            <a:r>
              <a:rPr lang="en-US" dirty="0" err="1"/>
              <a:t>ab</a:t>
            </a:r>
            <a:r>
              <a:rPr lang="en-US" dirty="0"/>
              <a:t>” from the given grammar.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1" y="4038600"/>
            <a:ext cx="5372100" cy="185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2590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First(α) is a set of terminal symbols that begin in strings derived from α.</a:t>
            </a:r>
          </a:p>
          <a:p>
            <a:r>
              <a:rPr lang="en-US" dirty="0" err="1"/>
              <a:t>Example:Consider</a:t>
            </a:r>
            <a:r>
              <a:rPr lang="en-US" dirty="0"/>
              <a:t> the production rule- </a:t>
            </a:r>
            <a:br>
              <a:rPr lang="en-US" dirty="0"/>
            </a:br>
            <a:r>
              <a:rPr lang="en-US" b="1" dirty="0"/>
              <a:t>A → </a:t>
            </a:r>
            <a:r>
              <a:rPr lang="en-US" b="1" dirty="0" err="1"/>
              <a:t>abc</a:t>
            </a:r>
            <a:r>
              <a:rPr lang="en-US" b="1" dirty="0"/>
              <a:t> / </a:t>
            </a:r>
            <a:r>
              <a:rPr lang="en-US" b="1" dirty="0" err="1"/>
              <a:t>def</a:t>
            </a:r>
            <a:r>
              <a:rPr lang="en-US" b="1" dirty="0"/>
              <a:t> / </a:t>
            </a:r>
            <a:r>
              <a:rPr lang="en-US" b="1" dirty="0" err="1"/>
              <a:t>ghi</a:t>
            </a:r>
            <a:endParaRPr lang="en-US" b="1" dirty="0"/>
          </a:p>
          <a:p>
            <a:r>
              <a:rPr lang="en-US" dirty="0"/>
              <a:t>Then, we have-</a:t>
            </a:r>
          </a:p>
          <a:p>
            <a:pPr lvl="1"/>
            <a:r>
              <a:rPr lang="en-US" dirty="0"/>
              <a:t>First(A) = { a , d , g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23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to find First()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production rule X → ∈,</a:t>
            </a:r>
          </a:p>
          <a:p>
            <a:pPr lvl="1"/>
            <a:r>
              <a:rPr lang="en-US" dirty="0"/>
              <a:t>First(X) = { ∈ }</a:t>
            </a:r>
          </a:p>
          <a:p>
            <a:r>
              <a:rPr lang="en-US" dirty="0"/>
              <a:t>For any terminal symbol ‘a’, X → a</a:t>
            </a:r>
          </a:p>
          <a:p>
            <a:pPr lvl="1"/>
            <a:r>
              <a:rPr lang="en-US" dirty="0"/>
              <a:t>First(a) = { a }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7376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F6AA4-C169-4812-93A2-3EF839A08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to find First()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898EC-68A2-4E54-BD3E-CCDE84C80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err="1"/>
              <a:t>For</a:t>
            </a:r>
            <a:r>
              <a:rPr lang="es-ES" dirty="0"/>
              <a:t> a </a:t>
            </a:r>
            <a:r>
              <a:rPr lang="es-ES" dirty="0" err="1"/>
              <a:t>production</a:t>
            </a:r>
            <a:r>
              <a:rPr lang="es-ES" dirty="0"/>
              <a:t> rule X → Y1Y2Y3</a:t>
            </a:r>
          </a:p>
          <a:p>
            <a:pPr lvl="1"/>
            <a:r>
              <a:rPr lang="es-ES" dirty="0" err="1"/>
              <a:t>Calculating</a:t>
            </a:r>
            <a:r>
              <a:rPr lang="es-ES" dirty="0"/>
              <a:t> </a:t>
            </a:r>
            <a:r>
              <a:rPr lang="es-ES" dirty="0" err="1"/>
              <a:t>First</a:t>
            </a:r>
            <a:r>
              <a:rPr lang="es-ES" dirty="0"/>
              <a:t>(X)</a:t>
            </a:r>
          </a:p>
          <a:p>
            <a:pPr lvl="2"/>
            <a:r>
              <a:rPr lang="en-US" dirty="0"/>
              <a:t>If ∈ ∉ First(Y1), then First(X) = First(Y1)</a:t>
            </a:r>
          </a:p>
          <a:p>
            <a:pPr lvl="2"/>
            <a:r>
              <a:rPr lang="en-US" dirty="0"/>
              <a:t>If ∈ ∈ First(Y1), then First(X) = { First(Y1) – ∈ } ∪ First(Y2Y3)</a:t>
            </a:r>
          </a:p>
          <a:p>
            <a:pPr lvl="1"/>
            <a:r>
              <a:rPr lang="es-ES" dirty="0" err="1"/>
              <a:t>Calculating</a:t>
            </a:r>
            <a:r>
              <a:rPr lang="es-ES" dirty="0"/>
              <a:t> </a:t>
            </a:r>
            <a:r>
              <a:rPr lang="es-ES" dirty="0" err="1"/>
              <a:t>First</a:t>
            </a:r>
            <a:r>
              <a:rPr lang="es-ES" dirty="0"/>
              <a:t>(Y2Y3)</a:t>
            </a:r>
          </a:p>
          <a:p>
            <a:pPr lvl="2"/>
            <a:r>
              <a:rPr lang="en-US" dirty="0"/>
              <a:t>If ∈ ∉ First(Y2), then First(Y2Y3) = First(Y2)</a:t>
            </a:r>
          </a:p>
          <a:p>
            <a:pPr lvl="2"/>
            <a:r>
              <a:rPr lang="en-US" dirty="0"/>
              <a:t>If ∈ ∈ First(Y2), then First(Y2Y3) = { First(Y2) – ∈ } ∪ First(Y3)</a:t>
            </a:r>
            <a:endParaRPr lang="es-E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8319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9D6D4-B6A0-4FFB-A298-756135899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to Find Follow()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B7456-D58C-4E83-8215-F58553D45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the start symbol S, place $ in Follow(S).</a:t>
            </a:r>
          </a:p>
          <a:p>
            <a:r>
              <a:rPr lang="en-US" dirty="0"/>
              <a:t>For any production rule A → αB</a:t>
            </a:r>
          </a:p>
          <a:p>
            <a:pPr lvl="1"/>
            <a:r>
              <a:rPr lang="en-US" dirty="0"/>
              <a:t>Follow(B) = Follow(A)</a:t>
            </a:r>
          </a:p>
          <a:p>
            <a:r>
              <a:rPr lang="en-US" dirty="0"/>
              <a:t>For any production rule A → αBβ,</a:t>
            </a:r>
          </a:p>
          <a:p>
            <a:pPr lvl="1"/>
            <a:r>
              <a:rPr lang="en-US" dirty="0"/>
              <a:t>If ∈ ∉ First(β), then Follow(B) = First(β)</a:t>
            </a:r>
          </a:p>
          <a:p>
            <a:pPr lvl="1"/>
            <a:r>
              <a:rPr lang="en-US" dirty="0"/>
              <a:t>If ∈ ∈ First(β), then Follow(B) = { First(β) – ∈ } ∪ Follow(A)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0065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E1827-EEC9-4514-90A2-0A9E1C8FC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A8AA8-06BE-414A-AA1B-9207F946F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∈ may appear in the first function of a non-terminal.</a:t>
            </a:r>
          </a:p>
          <a:p>
            <a:r>
              <a:rPr lang="en-US" dirty="0"/>
              <a:t>∈ will never appear in the follow function of a non-terminal.</a:t>
            </a:r>
          </a:p>
          <a:p>
            <a:r>
              <a:rPr lang="en-US" dirty="0"/>
              <a:t>Before calculating the first and follow functions, eliminate Left Recursion from the grammar, if present.</a:t>
            </a:r>
          </a:p>
          <a:p>
            <a:r>
              <a:rPr lang="en-US" dirty="0"/>
              <a:t>We calculate the follow function of a non-terminal by looking where it is present on the RHS of a production rule.</a:t>
            </a:r>
          </a:p>
        </p:txBody>
      </p:sp>
    </p:spTree>
    <p:extLst>
      <p:ext uri="{BB962C8B-B14F-4D97-AF65-F5344CB8AC3E}">
        <p14:creationId xmlns:p14="http://schemas.microsoft.com/office/powerpoint/2010/main" val="38764579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00EB4-BA67-4FDF-BD2A-AD8ABB498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9BDAB-E656-4ADE-98C1-41E3ECA9F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Calculate the first and follow functions for the given grammar-</a:t>
            </a:r>
          </a:p>
          <a:p>
            <a:r>
              <a:rPr lang="en-US" b="1" dirty="0"/>
              <a:t>Finding First</a:t>
            </a:r>
          </a:p>
          <a:p>
            <a:pPr lvl="1"/>
            <a:r>
              <a:rPr lang="en-US" dirty="0"/>
              <a:t>First(S) = First(A) = { a }</a:t>
            </a:r>
          </a:p>
          <a:p>
            <a:pPr lvl="1"/>
            <a:r>
              <a:rPr lang="en-US" dirty="0"/>
              <a:t>First(A) = { a }</a:t>
            </a:r>
          </a:p>
          <a:p>
            <a:pPr lvl="1"/>
            <a:r>
              <a:rPr lang="en-US" dirty="0"/>
              <a:t>First(A’) = { d , ∈ }</a:t>
            </a:r>
          </a:p>
          <a:p>
            <a:pPr lvl="1"/>
            <a:r>
              <a:rPr lang="en-US" dirty="0"/>
              <a:t>First(B) = { b }</a:t>
            </a:r>
          </a:p>
          <a:p>
            <a:pPr lvl="1"/>
            <a:r>
              <a:rPr lang="en-US" dirty="0"/>
              <a:t>First(C) = { g }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4D10AD-C277-40B8-BD3A-ECE045BD7772}"/>
              </a:ext>
            </a:extLst>
          </p:cNvPr>
          <p:cNvSpPr/>
          <p:nvPr/>
        </p:nvSpPr>
        <p:spPr>
          <a:xfrm>
            <a:off x="9347200" y="2541180"/>
            <a:ext cx="2133600" cy="274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 → A</a:t>
            </a:r>
          </a:p>
          <a:p>
            <a:pPr algn="ctr"/>
            <a:r>
              <a:rPr lang="pt-BR" sz="2400" dirty="0"/>
              <a:t>A → aBA’</a:t>
            </a:r>
          </a:p>
          <a:p>
            <a:pPr algn="ctr"/>
            <a:r>
              <a:rPr lang="pt-BR" sz="2400" dirty="0"/>
              <a:t>A’ → dA’ / ∈</a:t>
            </a:r>
          </a:p>
          <a:p>
            <a:pPr algn="ctr"/>
            <a:r>
              <a:rPr lang="pt-BR" sz="2400" dirty="0"/>
              <a:t>B → b</a:t>
            </a:r>
          </a:p>
          <a:p>
            <a:pPr algn="ctr"/>
            <a:r>
              <a:rPr lang="pt-BR" sz="2400" dirty="0"/>
              <a:t>C → 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007364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1A858-A50F-4A88-922E-DE8652B62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02E8A-734F-4DCA-B06D-80CD64FEF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 Follow</a:t>
            </a:r>
          </a:p>
          <a:p>
            <a:pPr lvl="1"/>
            <a:r>
              <a:rPr lang="en-US" dirty="0"/>
              <a:t>Follow(S) = { $ }</a:t>
            </a:r>
          </a:p>
          <a:p>
            <a:pPr lvl="1"/>
            <a:r>
              <a:rPr lang="en-US" dirty="0"/>
              <a:t>Follow(A) = Follow(S) = { $ }</a:t>
            </a:r>
          </a:p>
          <a:p>
            <a:pPr lvl="1"/>
            <a:r>
              <a:rPr lang="en-US" dirty="0"/>
              <a:t>Follow(A’) = Follow(A) = { $ }</a:t>
            </a:r>
          </a:p>
          <a:p>
            <a:pPr lvl="1"/>
            <a:r>
              <a:rPr lang="en-US" dirty="0"/>
              <a:t>Follow(B) = { First(A’) – ∈ } ∪ Follow(A) = { d , $ }</a:t>
            </a:r>
          </a:p>
          <a:p>
            <a:pPr lvl="1"/>
            <a:r>
              <a:rPr lang="en-US" dirty="0"/>
              <a:t>Follow(C) = NA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515DB2-18A5-4093-B67E-3BCD34602DAD}"/>
              </a:ext>
            </a:extLst>
          </p:cNvPr>
          <p:cNvSpPr/>
          <p:nvPr/>
        </p:nvSpPr>
        <p:spPr>
          <a:xfrm>
            <a:off x="9418084" y="1600201"/>
            <a:ext cx="2133600" cy="2743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 → A</a:t>
            </a:r>
          </a:p>
          <a:p>
            <a:pPr algn="ctr"/>
            <a:r>
              <a:rPr lang="pt-BR" sz="2400" dirty="0"/>
              <a:t>A → aBA’</a:t>
            </a:r>
          </a:p>
          <a:p>
            <a:pPr algn="ctr"/>
            <a:r>
              <a:rPr lang="pt-BR" sz="2400" dirty="0"/>
              <a:t>A’ → dA’ / ∈</a:t>
            </a:r>
          </a:p>
          <a:p>
            <a:pPr algn="ctr"/>
            <a:r>
              <a:rPr lang="pt-BR" sz="2400" dirty="0"/>
              <a:t>B → b</a:t>
            </a:r>
          </a:p>
          <a:p>
            <a:pPr algn="ctr"/>
            <a:r>
              <a:rPr lang="pt-BR" sz="2400" dirty="0"/>
              <a:t>C → 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17481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84B3F-5F24-4E1D-A302-B0306EC6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86FF5-A575-4B0F-80E8-0DAEBD3CB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and Follow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63AD39-69AB-41A4-B2CE-43949A66E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884117"/>
              </p:ext>
            </p:extLst>
          </p:nvPr>
        </p:nvGraphicFramePr>
        <p:xfrm>
          <a:off x="786809" y="2503745"/>
          <a:ext cx="10769600" cy="3589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4800">
                  <a:extLst>
                    <a:ext uri="{9D8B030D-6E8A-4147-A177-3AD203B41FA5}">
                      <a16:colId xmlns:a16="http://schemas.microsoft.com/office/drawing/2014/main" val="2321265299"/>
                    </a:ext>
                  </a:extLst>
                </a:gridCol>
                <a:gridCol w="5384800">
                  <a:extLst>
                    <a:ext uri="{9D8B030D-6E8A-4147-A177-3AD203B41FA5}">
                      <a16:colId xmlns:a16="http://schemas.microsoft.com/office/drawing/2014/main" val="3364299807"/>
                    </a:ext>
                  </a:extLst>
                </a:gridCol>
              </a:tblGrid>
              <a:tr h="500788">
                <a:tc>
                  <a:txBody>
                    <a:bodyPr/>
                    <a:lstStyle/>
                    <a:p>
                      <a:r>
                        <a:rPr lang="en-US" sz="2400" dirty="0"/>
                        <a:t>First ()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Follow()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164705206"/>
                  </a:ext>
                </a:extLst>
              </a:tr>
              <a:tr h="500788">
                <a:tc>
                  <a:txBody>
                    <a:bodyPr/>
                    <a:lstStyle/>
                    <a:p>
                      <a:pPr lvl="1" algn="l"/>
                      <a:r>
                        <a:rPr lang="en-US" sz="2400" dirty="0"/>
                        <a:t>First(S) = First(A) = { a }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sz="2400" dirty="0"/>
                        <a:t>Follow(S) = { $ }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975259261"/>
                  </a:ext>
                </a:extLst>
              </a:tr>
              <a:tr h="6079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First(A) = { a }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sz="2400" dirty="0"/>
                        <a:t>Follow(A) = Follow(S) = { $ }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01252596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First(A’) = { d , ∈ }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sz="2400" dirty="0"/>
                        <a:t>Follow(A’) = Follow(A) = { $ }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512350873"/>
                  </a:ext>
                </a:extLst>
              </a:tr>
              <a:tr h="8643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First(B) = { b }</a:t>
                      </a:r>
                    </a:p>
                    <a:p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sz="2400" dirty="0"/>
                        <a:t>Follow(B) = { First(A’) – ∈ } ∪ Follow(A) = { d , $ }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792277499"/>
                  </a:ext>
                </a:extLst>
              </a:tr>
              <a:tr h="5064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First(C) = { g }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Follow(C) = NA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319712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4570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932FE-A99D-4C9E-81F5-B21B139D1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18256-3EF7-4D9C-83A2-2BE6F2F73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Calculate the first and follow functions for the given grammar-</a:t>
            </a:r>
          </a:p>
          <a:p>
            <a:r>
              <a:rPr lang="en-US" dirty="0"/>
              <a:t>E → TE’</a:t>
            </a:r>
          </a:p>
          <a:p>
            <a:r>
              <a:rPr lang="en-US" dirty="0"/>
              <a:t>E’ → + TE’ / ∈</a:t>
            </a:r>
          </a:p>
          <a:p>
            <a:r>
              <a:rPr lang="en-US" dirty="0"/>
              <a:t>T → FT’</a:t>
            </a:r>
          </a:p>
          <a:p>
            <a:r>
              <a:rPr lang="en-US" dirty="0"/>
              <a:t>T’ → x FT’ / ∈</a:t>
            </a:r>
          </a:p>
          <a:p>
            <a:r>
              <a:rPr lang="en-US" dirty="0"/>
              <a:t>F → (E) / id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1956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9D96-89AF-4F3F-9438-9A580EDE2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A82EE-1F4E-47EB-801D-5E340932F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First(E) = First(T) = First(F) = { ( , id }</a:t>
            </a:r>
          </a:p>
          <a:p>
            <a:r>
              <a:rPr lang="en-US" dirty="0"/>
              <a:t>First(E’) = { + , ∈ }</a:t>
            </a:r>
          </a:p>
          <a:p>
            <a:r>
              <a:rPr lang="en-US" dirty="0"/>
              <a:t>First(T) = First(F) = { ( , id }</a:t>
            </a:r>
          </a:p>
          <a:p>
            <a:r>
              <a:rPr lang="en-US" dirty="0"/>
              <a:t>First(T’) = { x , ∈ }</a:t>
            </a:r>
          </a:p>
          <a:p>
            <a:r>
              <a:rPr lang="en-US" dirty="0"/>
              <a:t>First(F) = { ( , id }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6663E2-4E0B-4E7E-8C2E-60367C6303A0}"/>
              </a:ext>
            </a:extLst>
          </p:cNvPr>
          <p:cNvSpPr/>
          <p:nvPr/>
        </p:nvSpPr>
        <p:spPr>
          <a:xfrm>
            <a:off x="8534400" y="2717799"/>
            <a:ext cx="2133600" cy="3408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E → TE’</a:t>
            </a:r>
          </a:p>
          <a:p>
            <a:r>
              <a:rPr lang="en-US" sz="2400" dirty="0"/>
              <a:t>E’ → + TE’ / ∈</a:t>
            </a:r>
          </a:p>
          <a:p>
            <a:r>
              <a:rPr lang="en-US" sz="2400" dirty="0"/>
              <a:t>T → FT’</a:t>
            </a:r>
          </a:p>
          <a:p>
            <a:r>
              <a:rPr lang="en-US" sz="2400" dirty="0"/>
              <a:t>T’ → x FT’ / ∈</a:t>
            </a:r>
          </a:p>
          <a:p>
            <a:r>
              <a:rPr lang="en-US" sz="2400" dirty="0"/>
              <a:t>F → (E) / id</a:t>
            </a:r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217506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39DD-DE20-47E0-89B1-02D68C9AF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D31BD-C6DA-429E-B2F2-0813CEB78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Follow(E) = { $ , ) }</a:t>
            </a:r>
          </a:p>
          <a:p>
            <a:r>
              <a:rPr lang="en-US" dirty="0"/>
              <a:t>Follow(E’) = Follow(E) = { $ , ) }</a:t>
            </a:r>
          </a:p>
          <a:p>
            <a:r>
              <a:rPr lang="en-US" dirty="0"/>
              <a:t>Follow(T) = { First(E’) – ∈ } ∪ Follow(E) ∪ Follow(E’) = { + , $ , ) }</a:t>
            </a:r>
          </a:p>
          <a:p>
            <a:r>
              <a:rPr lang="en-US" dirty="0"/>
              <a:t>Follow(T’) = Follow(T) = { + , $ , ) }</a:t>
            </a:r>
          </a:p>
          <a:p>
            <a:r>
              <a:rPr lang="en-US" dirty="0"/>
              <a:t>Follow(F) = { First(T’) – ∈ } ∪ Follow(T) ∪ Follow(T’) = { x , + , $ , ) }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DF6A4-8A0E-4EC3-9951-7FB744FF84D7}"/>
              </a:ext>
            </a:extLst>
          </p:cNvPr>
          <p:cNvSpPr/>
          <p:nvPr/>
        </p:nvSpPr>
        <p:spPr>
          <a:xfrm>
            <a:off x="8534400" y="2717799"/>
            <a:ext cx="2133600" cy="3408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E → TE’</a:t>
            </a:r>
          </a:p>
          <a:p>
            <a:r>
              <a:rPr lang="en-US" sz="2400" dirty="0"/>
              <a:t>E’ → + TE’ / ∈</a:t>
            </a:r>
          </a:p>
          <a:p>
            <a:r>
              <a:rPr lang="en-US" sz="2400" dirty="0"/>
              <a:t>T → FT’</a:t>
            </a:r>
          </a:p>
          <a:p>
            <a:r>
              <a:rPr lang="en-US" sz="2400" dirty="0"/>
              <a:t>T’ → x FT’ / ∈</a:t>
            </a:r>
          </a:p>
          <a:p>
            <a:r>
              <a:rPr lang="en-US" sz="2400" dirty="0"/>
              <a:t>F → (E) / id</a:t>
            </a:r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473416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7AE2A-077A-4E71-A9E0-C6DC4A13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0CD1F-F99F-41A9-BA17-BCB060FF7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Calculate the first and follow functions for the given grammar-</a:t>
            </a:r>
          </a:p>
          <a:p>
            <a:r>
              <a:rPr lang="en-US" dirty="0"/>
              <a:t>Finding First</a:t>
            </a:r>
          </a:p>
          <a:p>
            <a:pPr lvl="1"/>
            <a:r>
              <a:rPr lang="en-US" dirty="0"/>
              <a:t>First(S)={(, a}</a:t>
            </a:r>
          </a:p>
          <a:p>
            <a:pPr lvl="1"/>
            <a:r>
              <a:rPr lang="en-US" dirty="0"/>
              <a:t>First(L)={(, a}</a:t>
            </a:r>
          </a:p>
          <a:p>
            <a:pPr lvl="1"/>
            <a:r>
              <a:rPr lang="en-US" dirty="0"/>
              <a:t>First (L’)={,  , ∈}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03BAEA-1A14-42C0-8489-CFF581D7E4A9}"/>
              </a:ext>
            </a:extLst>
          </p:cNvPr>
          <p:cNvSpPr/>
          <p:nvPr/>
        </p:nvSpPr>
        <p:spPr>
          <a:xfrm>
            <a:off x="8534400" y="2717800"/>
            <a:ext cx="2133600" cy="20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S → (L) / a</a:t>
            </a:r>
          </a:p>
          <a:p>
            <a:r>
              <a:rPr lang="en-US" sz="2400" dirty="0"/>
              <a:t>L → SL’</a:t>
            </a:r>
          </a:p>
          <a:p>
            <a:r>
              <a:rPr lang="en-US" sz="2400" dirty="0"/>
              <a:t>L’ → ,SL’ / ∈</a:t>
            </a:r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377023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7AE2A-077A-4E71-A9E0-C6DC4A13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0CD1F-F99F-41A9-BA17-BCB060FF7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Calculate the first and follow functions for the given grammar-</a:t>
            </a:r>
          </a:p>
          <a:p>
            <a:r>
              <a:rPr lang="en-US" b="1" dirty="0"/>
              <a:t>Finding Follow</a:t>
            </a:r>
          </a:p>
          <a:p>
            <a:pPr lvl="1"/>
            <a:r>
              <a:rPr lang="en-US" dirty="0"/>
              <a:t>Follow(S)={ $ , , , ) }</a:t>
            </a:r>
          </a:p>
          <a:p>
            <a:pPr lvl="1"/>
            <a:r>
              <a:rPr lang="en-US" dirty="0"/>
              <a:t>Follow(L) = { ) }</a:t>
            </a:r>
          </a:p>
          <a:p>
            <a:pPr lvl="1"/>
            <a:r>
              <a:rPr lang="en-US" dirty="0"/>
              <a:t>Follow(L’) = Follow(L) = { ) }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03BAEA-1A14-42C0-8489-CFF581D7E4A9}"/>
              </a:ext>
            </a:extLst>
          </p:cNvPr>
          <p:cNvSpPr/>
          <p:nvPr/>
        </p:nvSpPr>
        <p:spPr>
          <a:xfrm>
            <a:off x="8534400" y="2717800"/>
            <a:ext cx="2133600" cy="203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S → (L) / a</a:t>
            </a:r>
          </a:p>
          <a:p>
            <a:r>
              <a:rPr lang="en-US" sz="2400" dirty="0"/>
              <a:t>L → SL’</a:t>
            </a:r>
          </a:p>
          <a:p>
            <a:r>
              <a:rPr lang="en-US" sz="2400" dirty="0"/>
              <a:t>L’ → ,SL’ / ∈</a:t>
            </a:r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414745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r>
              <a:rPr lang="en-GB" dirty="0"/>
              <a:t>Compilers: Principles, Techniques, and Tools 2nd Edition</a:t>
            </a:r>
            <a:br>
              <a:rPr lang="en-GB" dirty="0"/>
            </a:br>
            <a:r>
              <a:rPr lang="en-GB" dirty="0"/>
              <a:t> by Alfred </a:t>
            </a:r>
            <a:r>
              <a:rPr lang="en-GB" dirty="0" err="1"/>
              <a:t>Aho</a:t>
            </a:r>
            <a:r>
              <a:rPr lang="en-GB" dirty="0"/>
              <a:t> , Jeffrey Ullman, Ravi </a:t>
            </a:r>
            <a:r>
              <a:rPr lang="en-GB" dirty="0" err="1"/>
              <a:t>Sethi</a:t>
            </a:r>
            <a:r>
              <a:rPr lang="en-GB" dirty="0"/>
              <a:t>, Monica Lam</a:t>
            </a:r>
          </a:p>
          <a:p>
            <a:endParaRPr lang="en-GB" dirty="0"/>
          </a:p>
          <a:p>
            <a:r>
              <a:rPr lang="en-GB" dirty="0"/>
              <a:t>Introduction to Compilers and Language Design | Second Edition | </a:t>
            </a:r>
            <a:r>
              <a:rPr lang="en-GB" dirty="0" err="1"/>
              <a:t>Prof.</a:t>
            </a:r>
            <a:r>
              <a:rPr lang="en-GB" dirty="0"/>
              <a:t> Douglas </a:t>
            </a:r>
            <a:r>
              <a:rPr lang="en-GB" dirty="0" err="1"/>
              <a:t>Thain</a:t>
            </a:r>
            <a:r>
              <a:rPr lang="en-GB" dirty="0"/>
              <a:t> - University of Notre Dame 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4787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7857</TotalTime>
  <Words>2782</Words>
  <Application>Microsoft Office PowerPoint</Application>
  <PresentationFormat>Widescreen</PresentationFormat>
  <Paragraphs>298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MS Mincho</vt:lpstr>
      <vt:lpstr>Arial</vt:lpstr>
      <vt:lpstr>Calibri</vt:lpstr>
      <vt:lpstr>Calibri Light</vt:lpstr>
      <vt:lpstr>Office Theme</vt:lpstr>
      <vt:lpstr>Compiler Construction</vt:lpstr>
      <vt:lpstr>Week 5:</vt:lpstr>
      <vt:lpstr>Left Recursion Grammar</vt:lpstr>
      <vt:lpstr>Types of Left Recursion </vt:lpstr>
      <vt:lpstr>Why Eliminate Left Recursion</vt:lpstr>
      <vt:lpstr>Why Eliminate Left Recursion</vt:lpstr>
      <vt:lpstr>PowerPoint Presentation</vt:lpstr>
      <vt:lpstr>Eliminating Left Recursion</vt:lpstr>
      <vt:lpstr>Algorithm to Remove Left Recursion</vt:lpstr>
      <vt:lpstr>PowerPoint Presentation</vt:lpstr>
      <vt:lpstr>Eliminate Left Recursion Examples</vt:lpstr>
      <vt:lpstr>Eliminate Left Recursion Examples</vt:lpstr>
      <vt:lpstr>Eliminate Left Recursion Examples</vt:lpstr>
      <vt:lpstr>Tree after Eliminating Left Recursion</vt:lpstr>
      <vt:lpstr>Removing Indirect Left Recursion in a Grammar</vt:lpstr>
      <vt:lpstr>Algorithm to Remove Indirect Recursion with help of an example:</vt:lpstr>
      <vt:lpstr>PowerPoint Presentation</vt:lpstr>
      <vt:lpstr>Example</vt:lpstr>
      <vt:lpstr>PowerPoint Presentation</vt:lpstr>
      <vt:lpstr>Grammar With Common Prefixes-</vt:lpstr>
      <vt:lpstr>Left Factoring Elimination</vt:lpstr>
      <vt:lpstr>Left Factoring Elimination</vt:lpstr>
      <vt:lpstr>Left Factoring Elimination Examples</vt:lpstr>
      <vt:lpstr>PowerPoint Presentation</vt:lpstr>
      <vt:lpstr>Why First</vt:lpstr>
      <vt:lpstr>PowerPoint Presentation</vt:lpstr>
      <vt:lpstr>Why Follow</vt:lpstr>
      <vt:lpstr>PowerPoint Presentation</vt:lpstr>
      <vt:lpstr>PowerPoint Presentation</vt:lpstr>
      <vt:lpstr>PowerPoint Presentation</vt:lpstr>
      <vt:lpstr>First()</vt:lpstr>
      <vt:lpstr>Rules to find First()</vt:lpstr>
      <vt:lpstr>Rules to find First()</vt:lpstr>
      <vt:lpstr>Rules to Find Follow()</vt:lpstr>
      <vt:lpstr>Important Notes</vt:lpstr>
      <vt:lpstr>Examples:</vt:lpstr>
      <vt:lpstr>Examples</vt:lpstr>
      <vt:lpstr>PowerPoint Presentation</vt:lpstr>
      <vt:lpstr>Example</vt:lpstr>
      <vt:lpstr>First</vt:lpstr>
      <vt:lpstr>Follow</vt:lpstr>
      <vt:lpstr>Example 2</vt:lpstr>
      <vt:lpstr>Example 2</vt:lpstr>
      <vt:lpstr>Reference: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Construction</dc:title>
  <dc:creator>Zufiqar Ali</dc:creator>
  <cp:lastModifiedBy>Tesla Laptops</cp:lastModifiedBy>
  <cp:revision>657</cp:revision>
  <dcterms:created xsi:type="dcterms:W3CDTF">2025-08-08T09:42:33Z</dcterms:created>
  <dcterms:modified xsi:type="dcterms:W3CDTF">2026-03-09T05:57:05Z</dcterms:modified>
</cp:coreProperties>
</file>