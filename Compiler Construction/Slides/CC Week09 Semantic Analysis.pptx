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256" r:id="rId2"/>
    <p:sldId id="261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3" r:id="rId13"/>
    <p:sldId id="282" r:id="rId14"/>
    <p:sldId id="284" r:id="rId15"/>
    <p:sldId id="285" r:id="rId16"/>
    <p:sldId id="286" r:id="rId17"/>
    <p:sldId id="287" r:id="rId18"/>
    <p:sldId id="288" r:id="rId19"/>
    <p:sldId id="290" r:id="rId20"/>
    <p:sldId id="289" r:id="rId21"/>
    <p:sldId id="291" r:id="rId22"/>
    <p:sldId id="292" r:id="rId23"/>
    <p:sldId id="293" r:id="rId24"/>
    <p:sldId id="296" r:id="rId25"/>
    <p:sldId id="294" r:id="rId26"/>
    <p:sldId id="476" r:id="rId27"/>
    <p:sldId id="295" r:id="rId28"/>
    <p:sldId id="475" r:id="rId29"/>
    <p:sldId id="473" r:id="rId30"/>
    <p:sldId id="474" r:id="rId31"/>
    <p:sldId id="297" r:id="rId32"/>
    <p:sldId id="329" r:id="rId33"/>
    <p:sldId id="472" r:id="rId34"/>
    <p:sldId id="298" r:id="rId35"/>
    <p:sldId id="299" r:id="rId36"/>
    <p:sldId id="300" r:id="rId37"/>
    <p:sldId id="301" r:id="rId38"/>
    <p:sldId id="302" r:id="rId39"/>
    <p:sldId id="305" r:id="rId40"/>
    <p:sldId id="306" r:id="rId41"/>
    <p:sldId id="303" r:id="rId42"/>
    <p:sldId id="304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9" r:id="rId54"/>
    <p:sldId id="320" r:id="rId55"/>
    <p:sldId id="317" r:id="rId56"/>
    <p:sldId id="318" r:id="rId57"/>
    <p:sldId id="321" r:id="rId58"/>
    <p:sldId id="322" r:id="rId59"/>
    <p:sldId id="323" r:id="rId60"/>
    <p:sldId id="324" r:id="rId61"/>
    <p:sldId id="325" r:id="rId62"/>
    <p:sldId id="326" r:id="rId63"/>
    <p:sldId id="327" r:id="rId64"/>
    <p:sldId id="462" r:id="rId65"/>
    <p:sldId id="463" r:id="rId66"/>
    <p:sldId id="464" r:id="rId67"/>
    <p:sldId id="465" r:id="rId68"/>
    <p:sldId id="466" r:id="rId69"/>
    <p:sldId id="467" r:id="rId70"/>
    <p:sldId id="468" r:id="rId71"/>
    <p:sldId id="469" r:id="rId72"/>
    <p:sldId id="470" r:id="rId73"/>
    <p:sldId id="471" r:id="rId74"/>
    <p:sldId id="272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4660"/>
  </p:normalViewPr>
  <p:slideViewPr>
    <p:cSldViewPr snapToGrid="0">
      <p:cViewPr>
        <p:scale>
          <a:sx n="76" d="100"/>
          <a:sy n="76" d="100"/>
        </p:scale>
        <p:origin x="284" y="-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E53E1-CEB2-494C-8775-D8A99ED827E9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7A4238-B7B9-460B-BE74-ADFB88CFFB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046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16202677969_0_12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g16202677969_0_1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6597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6202677969_0_1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g16202677969_0_1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8551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16202677969_0_12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g16202677969_0_1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7877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6202677969_0_12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g16202677969_0_1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1054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16202677969_0_12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g16202677969_0_1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6338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16202677969_0_12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g16202677969_0_1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3189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16202677969_0_12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g16202677969_0_1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0505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16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58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803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601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025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55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54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162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03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607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69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1EA38-8D09-4040-A9B0-3F77DCDCC83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21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ulfiqar.rafique@nu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Compiler Construction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Teacher : Zulfiqar Ali</a:t>
            </a:r>
          </a:p>
          <a:p>
            <a:r>
              <a:rPr lang="en-GB" dirty="0"/>
              <a:t>Email: </a:t>
            </a:r>
            <a:r>
              <a:rPr lang="en-GB" dirty="0">
                <a:hlinkClick r:id="rId2"/>
              </a:rPr>
              <a:t>Zulfiqar.rafique@nu.edu.pk</a:t>
            </a:r>
            <a:endParaRPr lang="en-GB" dirty="0"/>
          </a:p>
          <a:p>
            <a:r>
              <a:rPr lang="en-GB" dirty="0"/>
              <a:t>Office: No.6,Basement -1 (CS Block 1)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8578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Week 9: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Semantic Analysis</a:t>
            </a:r>
          </a:p>
          <a:p>
            <a:r>
              <a:rPr lang="en-GB" dirty="0"/>
              <a:t>SDD (Syntax Directed Definition)</a:t>
            </a:r>
          </a:p>
          <a:p>
            <a:r>
              <a:rPr lang="en-GB" dirty="0"/>
              <a:t>SDT (Syntax Directed Translation)</a:t>
            </a:r>
          </a:p>
        </p:txBody>
      </p:sp>
    </p:spTree>
    <p:extLst>
      <p:ext uri="{BB962C8B-B14F-4D97-AF65-F5344CB8AC3E}">
        <p14:creationId xmlns:p14="http://schemas.microsoft.com/office/powerpoint/2010/main" val="356626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Semantic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Semantic analysis is a phase in the compilation process that focuses on the meaning and logical consistency of a program.</a:t>
            </a:r>
          </a:p>
          <a:p>
            <a:r>
              <a:rPr lang="en-GB" dirty="0"/>
              <a:t>It is often the third phase of a compiler, following lexical and syntax analysis.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5899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Functions of Semantic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Type checking: </a:t>
            </a:r>
            <a:r>
              <a:rPr lang="en-GB" dirty="0"/>
              <a:t>Check the Data Types </a:t>
            </a:r>
          </a:p>
          <a:p>
            <a:r>
              <a:rPr lang="en-GB" b="1" dirty="0"/>
              <a:t>Scope Resolution: </a:t>
            </a:r>
            <a:r>
              <a:rPr lang="en-GB" dirty="0"/>
              <a:t>Check the Scope of Variables/Functions/Objects</a:t>
            </a:r>
          </a:p>
          <a:p>
            <a:r>
              <a:rPr lang="en-GB" b="1" dirty="0"/>
              <a:t>Checking for correct function/method calls: </a:t>
            </a:r>
            <a:r>
              <a:rPr lang="en-GB" dirty="0"/>
              <a:t>This involves verifying that the number and type of arguments passed to a function or method match its definition. </a:t>
            </a:r>
          </a:p>
          <a:p>
            <a:r>
              <a:rPr lang="en-GB" b="1" dirty="0"/>
              <a:t>Checking for declaration errors: </a:t>
            </a:r>
            <a:r>
              <a:rPr lang="en-GB" dirty="0"/>
              <a:t>The </a:t>
            </a:r>
            <a:r>
              <a:rPr lang="en-GB" dirty="0" err="1"/>
              <a:t>analyzer</a:t>
            </a:r>
            <a:r>
              <a:rPr lang="en-GB" dirty="0"/>
              <a:t> ensures that every identifier is declared before it is used.</a:t>
            </a:r>
          </a:p>
          <a:p>
            <a:r>
              <a:rPr lang="en-GB" b="1" dirty="0"/>
              <a:t>Handling type coercion/casting: </a:t>
            </a:r>
            <a:r>
              <a:rPr lang="en-GB" dirty="0"/>
              <a:t>The semantic </a:t>
            </a:r>
            <a:r>
              <a:rPr lang="en-GB" dirty="0" err="1"/>
              <a:t>analyzer</a:t>
            </a:r>
            <a:r>
              <a:rPr lang="en-GB" dirty="0"/>
              <a:t> can perform implicit type conversions</a:t>
            </a:r>
          </a:p>
        </p:txBody>
      </p:sp>
    </p:spTree>
    <p:extLst>
      <p:ext uri="{BB962C8B-B14F-4D97-AF65-F5344CB8AC3E}">
        <p14:creationId xmlns:p14="http://schemas.microsoft.com/office/powerpoint/2010/main" val="295453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role of the symbol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central data structure for semantic analysis is the symbol table. </a:t>
            </a:r>
          </a:p>
          <a:p>
            <a:r>
              <a:rPr lang="en-GB" dirty="0"/>
              <a:t>The symbol table stores information about every identifier (variable names, function names, etc.) in the source code.</a:t>
            </a:r>
          </a:p>
          <a:p>
            <a:r>
              <a:rPr lang="en-GB" dirty="0"/>
              <a:t>It is typically built during earlier phases, like lexical and syntax analysis, and is heavily used during semantic analysis to:</a:t>
            </a:r>
          </a:p>
          <a:p>
            <a:r>
              <a:rPr lang="en-GB" dirty="0"/>
              <a:t>Store attributes such as data type, scope, and memory location.</a:t>
            </a:r>
          </a:p>
          <a:p>
            <a:r>
              <a:rPr lang="en-GB" dirty="0"/>
              <a:t>Perform quick lookups to find an identifier's attributes whenever it is referenced in the code.</a:t>
            </a:r>
          </a:p>
        </p:txBody>
      </p:sp>
    </p:spTree>
    <p:extLst>
      <p:ext uri="{BB962C8B-B14F-4D97-AF65-F5344CB8AC3E}">
        <p14:creationId xmlns:p14="http://schemas.microsoft.com/office/powerpoint/2010/main" val="281188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Semantic errors vs. syntax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Syntax errors: </a:t>
            </a:r>
            <a:r>
              <a:rPr lang="en-GB" dirty="0"/>
              <a:t>These are grammar mistakes that violate the structure of the language. </a:t>
            </a:r>
            <a:r>
              <a:rPr lang="en-GB" b="1" dirty="0"/>
              <a:t>For example</a:t>
            </a:r>
            <a:r>
              <a:rPr lang="en-GB" dirty="0"/>
              <a:t>, a missing semicolon</a:t>
            </a:r>
          </a:p>
          <a:p>
            <a:r>
              <a:rPr lang="en-GB" dirty="0"/>
              <a:t> </a:t>
            </a:r>
            <a:r>
              <a:rPr lang="en-GB" b="1" dirty="0"/>
              <a:t>Semantic errors: </a:t>
            </a:r>
            <a:r>
              <a:rPr lang="en-GB" dirty="0"/>
              <a:t>These are logical inconsistencies that violate the meaning of the program, even if the program is syntactically valid.</a:t>
            </a:r>
            <a:br>
              <a:rPr lang="en-GB" dirty="0"/>
            </a:br>
            <a:r>
              <a:rPr lang="en-GB" b="1" dirty="0"/>
              <a:t>   For example</a:t>
            </a:r>
            <a:r>
              <a:rPr lang="en-GB" dirty="0"/>
              <a:t>, </a:t>
            </a:r>
            <a:r>
              <a:rPr lang="en-GB" dirty="0" err="1"/>
              <a:t>int</a:t>
            </a:r>
            <a:r>
              <a:rPr lang="en-GB" dirty="0"/>
              <a:t> x = 5; string y = "hello"; string z = x + y; is syntactically correct in terms of structure, but semantically wrong in a strongly-typed language because you cannot add an integer and a string.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7352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Working of Semantic Analysis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Semantic Analysis can be implemented by</a:t>
            </a:r>
          </a:p>
          <a:p>
            <a:endParaRPr lang="en-GB" dirty="0"/>
          </a:p>
          <a:p>
            <a:pPr lvl="1"/>
            <a:r>
              <a:rPr lang="en-GB" b="1" dirty="0"/>
              <a:t>SDD (Syntax Directed Definition): </a:t>
            </a:r>
            <a:r>
              <a:rPr lang="en-GB" dirty="0"/>
              <a:t>is a high-level, declarative specification that attaches semantic rules to the productions of a context-free grammar.</a:t>
            </a:r>
            <a:br>
              <a:rPr lang="en-GB" dirty="0"/>
            </a:br>
            <a:r>
              <a:rPr lang="en-GB" dirty="0"/>
              <a:t>It defines</a:t>
            </a:r>
            <a:r>
              <a:rPr lang="en-GB" b="1" dirty="0"/>
              <a:t> what </a:t>
            </a:r>
            <a:r>
              <a:rPr lang="en-GB" dirty="0"/>
              <a:t>needs to be computed. </a:t>
            </a:r>
            <a:r>
              <a:rPr lang="en-GB" b="1" dirty="0"/>
              <a:t>For example, </a:t>
            </a:r>
            <a:r>
              <a:rPr lang="en-GB" dirty="0"/>
              <a:t>"the type of an expression must be computed and checked for compatibility.“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SDT(Syntax Directed Translation): </a:t>
            </a:r>
            <a:r>
              <a:rPr lang="en-GB" dirty="0"/>
              <a:t>An SDT is a procedural specification that embeds program fragments (often called semantic actions) directly into the productions of a grammar. </a:t>
            </a:r>
            <a:br>
              <a:rPr lang="en-GB" dirty="0"/>
            </a:br>
            <a:r>
              <a:rPr lang="en-GB" dirty="0"/>
              <a:t>It defines </a:t>
            </a:r>
            <a:r>
              <a:rPr lang="en-GB" b="1" dirty="0"/>
              <a:t>how </a:t>
            </a:r>
            <a:r>
              <a:rPr lang="en-GB" dirty="0"/>
              <a:t>and when the computation happens. </a:t>
            </a:r>
            <a:r>
              <a:rPr lang="en-GB" b="1" dirty="0"/>
              <a:t>For example, </a:t>
            </a:r>
            <a:r>
              <a:rPr lang="en-GB" dirty="0"/>
              <a:t>"call the type-checking function right after the sub-expression has been parsed."</a:t>
            </a:r>
          </a:p>
        </p:txBody>
      </p:sp>
    </p:spTree>
    <p:extLst>
      <p:ext uri="{BB962C8B-B14F-4D97-AF65-F5344CB8AC3E}">
        <p14:creationId xmlns:p14="http://schemas.microsoft.com/office/powerpoint/2010/main" val="3432355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 Directed Definition (the What)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An SDD is a context-free grammar that has been enhanced with attributes and semantic rules.</a:t>
            </a:r>
          </a:p>
          <a:p>
            <a:r>
              <a:rPr lang="en-GB" dirty="0"/>
              <a:t>It is a formal mechanism for specifying semantic analysis.</a:t>
            </a:r>
          </a:p>
          <a:p>
            <a:endParaRPr lang="en-GB" dirty="0"/>
          </a:p>
          <a:p>
            <a:r>
              <a:rPr lang="en-GB" b="1" dirty="0"/>
              <a:t>Components of an SDD:</a:t>
            </a:r>
            <a:endParaRPr lang="en-GB" dirty="0"/>
          </a:p>
          <a:p>
            <a:pPr lvl="1"/>
            <a:r>
              <a:rPr lang="en-GB" b="1" dirty="0"/>
              <a:t>Context-Free Grammar: </a:t>
            </a:r>
            <a:r>
              <a:rPr lang="en-GB" dirty="0"/>
              <a:t>The foundational structure.</a:t>
            </a:r>
          </a:p>
          <a:p>
            <a:pPr lvl="1"/>
            <a:r>
              <a:rPr lang="en-GB" b="1" dirty="0"/>
              <a:t>Attributes: </a:t>
            </a:r>
            <a:r>
              <a:rPr lang="en-GB" dirty="0"/>
              <a:t>Pieces of data (e.g., type, value, memory location) associated with grammar symbols </a:t>
            </a:r>
          </a:p>
          <a:p>
            <a:pPr lvl="1"/>
            <a:r>
              <a:rPr lang="en-GB" b="1" dirty="0"/>
              <a:t>Rules: </a:t>
            </a:r>
            <a:r>
              <a:rPr lang="en-GB" dirty="0"/>
              <a:t>Semantic rules attached to each grammar production that define how to compute the values of attributes.</a:t>
            </a:r>
          </a:p>
          <a:p>
            <a:r>
              <a:rPr lang="en-GB" b="1" dirty="0"/>
              <a:t>Notation:</a:t>
            </a:r>
          </a:p>
          <a:p>
            <a:pPr lvl="1"/>
            <a:r>
              <a:rPr lang="en-GB" dirty="0"/>
              <a:t>If</a:t>
            </a:r>
            <a:r>
              <a:rPr lang="en-GB" b="1" dirty="0"/>
              <a:t> X </a:t>
            </a:r>
            <a:r>
              <a:rPr lang="en-GB" dirty="0"/>
              <a:t>is a symbol and </a:t>
            </a:r>
            <a:r>
              <a:rPr lang="en-GB" b="1" dirty="0"/>
              <a:t>a</a:t>
            </a:r>
            <a:r>
              <a:rPr lang="en-GB" dirty="0"/>
              <a:t> is its attribute, the value is denoted by </a:t>
            </a:r>
            <a:r>
              <a:rPr lang="en-GB" b="1" dirty="0" err="1"/>
              <a:t>X.a</a:t>
            </a:r>
            <a:endParaRPr lang="en-GB" dirty="0"/>
          </a:p>
          <a:p>
            <a:pPr lvl="1"/>
            <a:r>
              <a:rPr lang="en-GB" dirty="0"/>
              <a:t>In a parse tree, attributes are stored in the nodes, much like data fields in an object.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6998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Attributes of SDD (The Carriers)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Attributes hold the semantic information that we need to compute and check.</a:t>
            </a:r>
          </a:p>
          <a:p>
            <a:r>
              <a:rPr lang="en-GB" dirty="0"/>
              <a:t>They can be of various data types:</a:t>
            </a:r>
          </a:p>
          <a:p>
            <a:pPr lvl="1"/>
            <a:r>
              <a:rPr lang="en-GB" dirty="0"/>
              <a:t>Numbers (e.g., for constant folding)</a:t>
            </a:r>
          </a:p>
          <a:p>
            <a:pPr lvl="1"/>
            <a:r>
              <a:rPr lang="en-GB" dirty="0"/>
              <a:t>Types (e.g., </a:t>
            </a:r>
            <a:r>
              <a:rPr lang="en-GB" dirty="0" err="1"/>
              <a:t>int</a:t>
            </a:r>
            <a:r>
              <a:rPr lang="en-GB" dirty="0"/>
              <a:t>, float, string)</a:t>
            </a:r>
          </a:p>
          <a:p>
            <a:pPr lvl="1"/>
            <a:r>
              <a:rPr lang="en-GB" dirty="0"/>
              <a:t>Table References (e.g., pointers to a symbol table entry)</a:t>
            </a:r>
          </a:p>
          <a:p>
            <a:pPr lvl="1"/>
            <a:r>
              <a:rPr lang="en-GB" dirty="0"/>
              <a:t>Strings (e.g., variable names)</a:t>
            </a:r>
          </a:p>
          <a:p>
            <a:pPr lvl="1"/>
            <a:r>
              <a:rPr lang="en-GB" dirty="0"/>
              <a:t>Code (e.g., sequences of intermediate instructions)</a:t>
            </a:r>
          </a:p>
        </p:txBody>
      </p:sp>
    </p:spTree>
    <p:extLst>
      <p:ext uri="{BB962C8B-B14F-4D97-AF65-F5344CB8AC3E}">
        <p14:creationId xmlns:p14="http://schemas.microsoft.com/office/powerpoint/2010/main" val="2911871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Key Types of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Attributes for non-terminals are classified based on how their values flow through the parse tree.</a:t>
            </a:r>
          </a:p>
          <a:p>
            <a:pPr lvl="1"/>
            <a:r>
              <a:rPr lang="en-GB" dirty="0"/>
              <a:t>Synthesized Attributes</a:t>
            </a:r>
          </a:p>
          <a:p>
            <a:pPr lvl="1"/>
            <a:r>
              <a:rPr lang="en-GB" dirty="0"/>
              <a:t>Inherited Attributes</a:t>
            </a:r>
          </a:p>
        </p:txBody>
      </p:sp>
    </p:spTree>
    <p:extLst>
      <p:ext uri="{BB962C8B-B14F-4D97-AF65-F5344CB8AC3E}">
        <p14:creationId xmlns:p14="http://schemas.microsoft.com/office/powerpoint/2010/main" val="3903577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Synthesized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An attribute for a nonterminal A that is defined by a semantic rule at the same node N (where N is </a:t>
            </a:r>
            <a:r>
              <a:rPr lang="en-GB" dirty="0" err="1"/>
              <a:t>labeled</a:t>
            </a:r>
            <a:r>
              <a:rPr lang="en-GB" dirty="0"/>
              <a:t> A).</a:t>
            </a:r>
          </a:p>
          <a:p>
            <a:r>
              <a:rPr lang="en-GB" b="1" dirty="0"/>
              <a:t>How is it calculated?</a:t>
            </a:r>
          </a:p>
          <a:p>
            <a:pPr lvl="1"/>
            <a:r>
              <a:rPr lang="en-GB" dirty="0"/>
              <a:t>Its value is defined only in terms of the attribute values of the children of node N and the node N itself.</a:t>
            </a:r>
          </a:p>
          <a:p>
            <a:r>
              <a:rPr lang="en-GB" b="1" dirty="0"/>
              <a:t>Analogy: </a:t>
            </a:r>
            <a:r>
              <a:rPr lang="en-GB" dirty="0"/>
              <a:t>"Bottom up/Bubbling Up" Information flows upwards from the leaves towards the root.</a:t>
            </a:r>
          </a:p>
          <a:p>
            <a:pPr lvl="1"/>
            <a:r>
              <a:rPr lang="en-GB" b="1" dirty="0"/>
              <a:t>Example: </a:t>
            </a:r>
            <a:r>
              <a:rPr lang="en-GB" dirty="0"/>
              <a:t>Computing the value of an expression. The value of a parent node is synthesized from the values of its children.</a:t>
            </a:r>
          </a:p>
          <a:p>
            <a:r>
              <a:rPr lang="en-GB" b="1" dirty="0"/>
              <a:t>Production Form:</a:t>
            </a:r>
          </a:p>
          <a:p>
            <a:pPr lvl="1"/>
            <a:r>
              <a:rPr lang="en-GB" dirty="0"/>
              <a:t>A -&gt; X Y Z</a:t>
            </a:r>
          </a:p>
          <a:p>
            <a:pPr lvl="1"/>
            <a:r>
              <a:rPr lang="en-GB" dirty="0"/>
              <a:t>Semantic Rule: </a:t>
            </a:r>
            <a:r>
              <a:rPr lang="en-GB" dirty="0" err="1"/>
              <a:t>A.synth</a:t>
            </a:r>
            <a:r>
              <a:rPr lang="en-GB" dirty="0"/>
              <a:t> = f(</a:t>
            </a:r>
            <a:r>
              <a:rPr lang="en-GB" dirty="0" err="1"/>
              <a:t>X.synth</a:t>
            </a:r>
            <a:r>
              <a:rPr lang="en-GB" dirty="0"/>
              <a:t>, </a:t>
            </a:r>
            <a:r>
              <a:rPr lang="en-GB" dirty="0" err="1"/>
              <a:t>Y.synth</a:t>
            </a:r>
            <a:r>
              <a:rPr lang="en-GB" dirty="0"/>
              <a:t>, </a:t>
            </a:r>
            <a:r>
              <a:rPr lang="en-GB" dirty="0" err="1"/>
              <a:t>Z.synth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65411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Synthesized Attribute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199" y="1426709"/>
            <a:ext cx="4223657" cy="343689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41963" y="1426708"/>
            <a:ext cx="6736865" cy="343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45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Inherited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An attribute for a nonterminal B that is defined by a semantic rule at the parent of node N (where N is labelled B).</a:t>
            </a:r>
          </a:p>
          <a:p>
            <a:r>
              <a:rPr lang="en-GB" b="1" dirty="0"/>
              <a:t>How is it calculated?</a:t>
            </a:r>
          </a:p>
          <a:p>
            <a:pPr lvl="1"/>
            <a:r>
              <a:rPr lang="en-GB" dirty="0"/>
              <a:t>Its value is defined only in terms of the attribute values of the node N's parent, N itself, and N's siblings.</a:t>
            </a:r>
          </a:p>
          <a:p>
            <a:r>
              <a:rPr lang="en-GB" b="1" dirty="0"/>
              <a:t>Analogy: </a:t>
            </a:r>
            <a:r>
              <a:rPr lang="en-GB" dirty="0"/>
              <a:t>"Trickling Down/Top Down" Information flows downwards from </a:t>
            </a:r>
            <a:br>
              <a:rPr lang="en-GB" dirty="0"/>
            </a:br>
            <a:r>
              <a:rPr lang="en-GB" dirty="0"/>
              <a:t>                   the root and across siblings.</a:t>
            </a:r>
          </a:p>
          <a:p>
            <a:r>
              <a:rPr lang="en-GB" b="1" dirty="0"/>
              <a:t>Example: </a:t>
            </a:r>
            <a:r>
              <a:rPr lang="en-GB" dirty="0"/>
              <a:t>Propagating type information or a symbol table down into a variable declaration.</a:t>
            </a:r>
          </a:p>
          <a:p>
            <a:r>
              <a:rPr lang="en-GB" b="1" dirty="0"/>
              <a:t>Production Form:</a:t>
            </a:r>
          </a:p>
          <a:p>
            <a:pPr lvl="1"/>
            <a:r>
              <a:rPr lang="en-GB" dirty="0"/>
              <a:t>A -&gt; B C D</a:t>
            </a:r>
          </a:p>
          <a:p>
            <a:pPr lvl="1"/>
            <a:r>
              <a:rPr lang="en-GB" dirty="0"/>
              <a:t>Semantic Rule: </a:t>
            </a:r>
            <a:r>
              <a:rPr lang="en-GB" dirty="0" err="1"/>
              <a:t>B.inh</a:t>
            </a:r>
            <a:r>
              <a:rPr lang="en-GB" dirty="0"/>
              <a:t> = f(</a:t>
            </a:r>
            <a:r>
              <a:rPr lang="en-GB" dirty="0" err="1"/>
              <a:t>A.inh</a:t>
            </a:r>
            <a:r>
              <a:rPr lang="en-GB" dirty="0"/>
              <a:t>, </a:t>
            </a:r>
            <a:r>
              <a:rPr lang="en-GB" dirty="0" err="1"/>
              <a:t>C.synth</a:t>
            </a:r>
            <a:r>
              <a:rPr lang="en-GB" dirty="0"/>
              <a:t>, </a:t>
            </a:r>
            <a:r>
              <a:rPr lang="en-GB" dirty="0" err="1"/>
              <a:t>D.synth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17133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Inherited Attributes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a simple language with integer and floating-point variables. An inherited attribute can be used to pass the type information down the parse tree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48" y="3204481"/>
            <a:ext cx="3429681" cy="28600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517" y="3204481"/>
            <a:ext cx="6328965" cy="299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422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Inherited Attributes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2" y="1701574"/>
            <a:ext cx="8360228" cy="441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24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Circular Dependency of Inherited &amp; Synthesized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486" y="985107"/>
            <a:ext cx="7211242" cy="577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030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Annotated Parse Tree Examples 1: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3 * 5 + 4 n, construct Annotated Parse tree using Following Grammar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2940219"/>
            <a:ext cx="4838700" cy="30003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19674"/>
          <a:stretch/>
        </p:blipFill>
        <p:spPr>
          <a:xfrm>
            <a:off x="6096000" y="2294277"/>
            <a:ext cx="5314950" cy="429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936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Annotated Parse Tree Examples 2: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Construct Parse Tree for the</a:t>
            </a:r>
            <a:r>
              <a:rPr lang="en-GB" b="1" dirty="0"/>
              <a:t> 3 * 5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20" y="1212413"/>
            <a:ext cx="5063680" cy="28841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69" y="4001294"/>
            <a:ext cx="9176392" cy="258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665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" y="898751"/>
            <a:ext cx="10669122" cy="45985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78" y="1040265"/>
            <a:ext cx="10669122" cy="459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52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1" y="1931563"/>
            <a:ext cx="6754586" cy="424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863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 </a:t>
            </a:r>
            <a:r>
              <a:rPr lang="en-GB" b="1" dirty="0"/>
              <a:t>evaluation order</a:t>
            </a:r>
            <a:r>
              <a:rPr lang="en-GB" dirty="0"/>
              <a:t> of an SDD (Syntax-Directed Definition) is any sequence that computes attributes after all their dependencies have been calculated. It's obtained from a </a:t>
            </a:r>
            <a:r>
              <a:rPr lang="en-GB" b="1" dirty="0"/>
              <a:t>topological sort</a:t>
            </a:r>
            <a:r>
              <a:rPr lang="en-GB" dirty="0"/>
              <a:t> of the dependency graph - ensuring no attribute is used before it's computed.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72" y="900227"/>
            <a:ext cx="10091056" cy="228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277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Dependency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dependency graph is a diagram with:</a:t>
            </a:r>
          </a:p>
          <a:p>
            <a:pPr lvl="1"/>
            <a:r>
              <a:rPr lang="en-GB" b="1" dirty="0"/>
              <a:t>Nodes (Circles): </a:t>
            </a:r>
            <a:r>
              <a:rPr lang="en-GB" dirty="0"/>
              <a:t>Each circle represents one specific value that needs to be calculated.</a:t>
            </a:r>
          </a:p>
          <a:p>
            <a:pPr lvl="1"/>
            <a:r>
              <a:rPr lang="en-GB" b="1" dirty="0"/>
              <a:t>Arrows (Edges): </a:t>
            </a:r>
            <a:r>
              <a:rPr lang="en-GB" dirty="0"/>
              <a:t>An arrow from value A to value B means: "To calculate value B, you first need to know value A."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4" y="4074436"/>
            <a:ext cx="6999514" cy="13929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514" y="3741141"/>
            <a:ext cx="5366658" cy="205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10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7" y="772319"/>
            <a:ext cx="7663691" cy="42895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730" y="2917088"/>
            <a:ext cx="4784270" cy="300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18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36" y="2696481"/>
            <a:ext cx="10380964" cy="212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2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S-Attributes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Its value is computed only from the values of its children nodes in the parse tree. Information flows upwards from the leaves to the root.</a:t>
            </a:r>
          </a:p>
          <a:p>
            <a:pPr lvl="1"/>
            <a:r>
              <a:rPr lang="en-GB" b="1" dirty="0"/>
              <a:t>Key Property: </a:t>
            </a:r>
            <a:r>
              <a:rPr lang="en-GB" dirty="0"/>
              <a:t>They are guaranteed to be non-cyclic (no circular dependencies), making them safe and easy to evaluate.</a:t>
            </a:r>
          </a:p>
          <a:p>
            <a:r>
              <a:rPr lang="en-GB" b="1" dirty="0"/>
              <a:t>How to Evaluate: </a:t>
            </a:r>
            <a:r>
              <a:rPr lang="en-GB" dirty="0"/>
              <a:t>You can calculate all the attributes with a simple </a:t>
            </a:r>
            <a:r>
              <a:rPr lang="en-GB" dirty="0" err="1"/>
              <a:t>Postorder</a:t>
            </a:r>
            <a:r>
              <a:rPr lang="en-GB" dirty="0"/>
              <a:t> traversal (visit children from left to right, then evaluate the parent). This fits perfectly with bottom-up parsing (like LR parsing), where the order of operations is naturally post-order.</a:t>
            </a:r>
          </a:p>
          <a:p>
            <a:r>
              <a:rPr lang="en-GB" dirty="0"/>
              <a:t>Example: </a:t>
            </a:r>
            <a:r>
              <a:rPr lang="en-US" i="1" dirty="0"/>
              <a:t>A</a:t>
            </a:r>
            <a:r>
              <a:rPr lang="en-US" dirty="0"/>
              <a:t>.</a:t>
            </a:r>
            <a:r>
              <a:rPr lang="en-US" i="1" dirty="0"/>
              <a:t>s</a:t>
            </a:r>
            <a:r>
              <a:rPr lang="en-US" dirty="0"/>
              <a:t>=</a:t>
            </a:r>
            <a:r>
              <a:rPr lang="en-US" i="1" dirty="0" err="1"/>
              <a:t>B</a:t>
            </a:r>
            <a:r>
              <a:rPr lang="en-US" dirty="0" err="1"/>
              <a:t>.</a:t>
            </a:r>
            <a:r>
              <a:rPr lang="en-US" i="1" dirty="0" err="1"/>
              <a:t>s</a:t>
            </a:r>
            <a:r>
              <a:rPr lang="en-US" dirty="0" err="1"/>
              <a:t>+</a:t>
            </a:r>
            <a:r>
              <a:rPr lang="en-US" i="1" dirty="0" err="1"/>
              <a:t>C</a:t>
            </a:r>
            <a:r>
              <a:rPr lang="en-US" dirty="0" err="1"/>
              <a:t>.</a:t>
            </a:r>
            <a:r>
              <a:rPr lang="en-US" i="1" dirty="0" err="1"/>
              <a:t>s</a:t>
            </a:r>
            <a:r>
              <a:rPr lang="en-US" dirty="0" err="1"/>
              <a:t>+</a:t>
            </a:r>
            <a:r>
              <a:rPr lang="en-US" i="1" dirty="0" err="1"/>
              <a:t>D</a:t>
            </a:r>
            <a:r>
              <a:rPr lang="en-US" dirty="0" err="1"/>
              <a:t>.</a:t>
            </a:r>
            <a:r>
              <a:rPr lang="en-US" i="1" dirty="0" err="1"/>
              <a:t>s</a:t>
            </a:r>
            <a:endParaRPr lang="en-US" i="1" dirty="0"/>
          </a:p>
          <a:p>
            <a:r>
              <a:rPr lang="en-US" i="1" dirty="0"/>
              <a:t>   	        A</a:t>
            </a:r>
            <a:r>
              <a:rPr lang="en-US" dirty="0"/>
              <a:t>.</a:t>
            </a:r>
            <a:r>
              <a:rPr lang="en-US" i="1" dirty="0"/>
              <a:t>s</a:t>
            </a:r>
            <a:r>
              <a:rPr lang="en-US" dirty="0"/>
              <a:t>=2×(</a:t>
            </a:r>
            <a:r>
              <a:rPr lang="en-US" i="1" dirty="0" err="1"/>
              <a:t>B</a:t>
            </a:r>
            <a:r>
              <a:rPr lang="en-US" dirty="0" err="1"/>
              <a:t>.</a:t>
            </a:r>
            <a:r>
              <a:rPr lang="en-US" i="1" dirty="0" err="1"/>
              <a:t>s</a:t>
            </a:r>
            <a:r>
              <a:rPr lang="en-US" dirty="0" err="1"/>
              <a:t>+</a:t>
            </a:r>
            <a:r>
              <a:rPr lang="en-US" i="1" dirty="0" err="1"/>
              <a:t>C</a:t>
            </a:r>
            <a:r>
              <a:rPr lang="en-US" dirty="0" err="1"/>
              <a:t>.</a:t>
            </a:r>
            <a:r>
              <a:rPr lang="en-US" i="1" dirty="0" err="1"/>
              <a:t>s</a:t>
            </a:r>
            <a:r>
              <a:rPr lang="en-US" dirty="0"/>
              <a:t>)×</a:t>
            </a:r>
            <a:r>
              <a:rPr lang="en-US" i="1" dirty="0"/>
              <a:t>D</a:t>
            </a:r>
            <a:r>
              <a:rPr lang="en-US" dirty="0"/>
              <a:t>.</a:t>
            </a:r>
            <a:r>
              <a:rPr lang="en-US" i="1" dirty="0"/>
              <a:t>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9516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78011-DAE6-32FF-FA3C-9AD1F8511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S-Attribute Example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13521-CB18-6FBA-E3B3-904F27ACC5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Example S1: Expression evaluation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𝑣𝑎𝑙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𝑣𝑎𝑙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𝑣𝑎𝑙</m:t>
                        </m:r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𝑣𝑎𝑙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𝑣𝑎𝑙</m:t>
                        </m:r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∗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𝑣𝑎𝑙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𝑣𝑎𝑙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𝑣𝑎𝑙</m:t>
                        </m:r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𝑣𝑎𝑙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𝑣𝑎𝑙</m:t>
                        </m:r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i="1"/>
                      <m:t>num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𝑣𝑎𝑙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i="1"/>
                          <m:t>num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𝑙𝑒𝑥𝑣𝑎𝑙</m:t>
                        </m:r>
                      </m:e>
                    </m:d>
                  </m:oMath>
                </a14:m>
                <a:endParaRPr lang="ar-AE" b="0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𝑣𝑎𝑙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𝑣𝑎𝑙</m:t>
                        </m:r>
                      </m:e>
                    </m:d>
                  </m:oMath>
                </a14:m>
                <a:endParaRPr lang="ar-AE" dirty="0"/>
              </a:p>
              <a:p>
                <a:br>
                  <a:rPr lang="ar-AE" dirty="0"/>
                </a:br>
                <a:endParaRPr lang="en-P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13521-CB18-6FBA-E3B3-904F27ACC5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4653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L-Attributed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Both synthesized and inherited attributes, but with strict rules on the inherited ones.</a:t>
            </a:r>
          </a:p>
          <a:p>
            <a:r>
              <a:rPr lang="en-GB" dirty="0"/>
              <a:t>Its value is passed down from a parent or from a sibling. Information can flow downwards and sideways (but only left-to-right).</a:t>
            </a:r>
          </a:p>
          <a:p>
            <a:r>
              <a:rPr lang="en-GB" dirty="0"/>
              <a:t>The "L" Rule (Left-to-Right): When calculating an inherited attribute for a symbol in a production, you can only use:</a:t>
            </a:r>
          </a:p>
          <a:p>
            <a:r>
              <a:rPr lang="en-GB" dirty="0"/>
              <a:t>Inherited attributes from the production's head (the parent).</a:t>
            </a:r>
          </a:p>
          <a:p>
            <a:r>
              <a:rPr lang="en-GB" dirty="0"/>
              <a:t>Attributes (synthesized or inherited) from symbols to its left in the same production.</a:t>
            </a:r>
          </a:p>
          <a:p>
            <a:r>
              <a:rPr lang="en-GB" b="1" dirty="0"/>
              <a:t>Key Property:</a:t>
            </a:r>
            <a:r>
              <a:rPr lang="en-GB" dirty="0"/>
              <a:t> This left-to-right restriction ensures the dependency graph has no cycles and that attributes can be evaluated </a:t>
            </a:r>
            <a:r>
              <a:rPr lang="en-GB" b="1" dirty="0"/>
              <a:t>during a top-down, left-to-right traversal</a:t>
            </a:r>
            <a:r>
              <a:rPr lang="en-GB" dirty="0"/>
              <a:t> of the parse tree. This makes them ideal for </a:t>
            </a:r>
            <a:r>
              <a:rPr lang="en-GB" b="1" dirty="0"/>
              <a:t>top-down parsing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3710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94EB-C77B-53EF-4382-1B6006D3D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</a:t>
            </a:r>
            <a:r>
              <a:rPr lang="en-US" dirty="0" err="1"/>
              <a:t>oF</a:t>
            </a:r>
            <a:r>
              <a:rPr lang="en-US" dirty="0"/>
              <a:t> L-Attribute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99F60-174C-B03E-B54E-F9930D1E13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Example L2: Left‑to‑right dependence</a:t>
                </a:r>
              </a:p>
              <a:p>
                <a:r>
                  <a:rPr lang="en-US" dirty="0"/>
                  <a:t>Grammar: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US" i="1"/>
                      <m:t>  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nor/>
                      </m:rPr>
                      <a:rPr lang="en-US" i="1"/>
                      <m:t>  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pPr lvl="1"/>
                <a:r>
                  <a:rPr lang="en-US" i="1" dirty="0" err="1"/>
                  <a:t>X</a:t>
                </a:r>
                <a:r>
                  <a:rPr lang="en-US" dirty="0" err="1"/>
                  <a:t>.</a:t>
                </a:r>
                <a:r>
                  <a:rPr lang="en-US" i="1" dirty="0" err="1"/>
                  <a:t>i</a:t>
                </a:r>
                <a:r>
                  <a:rPr lang="en-US" dirty="0"/>
                  <a:t>=</a:t>
                </a:r>
                <a:r>
                  <a:rPr lang="en-US" i="1" dirty="0" err="1"/>
                  <a:t>P</a:t>
                </a:r>
                <a:r>
                  <a:rPr lang="en-US" dirty="0" err="1"/>
                  <a:t>.</a:t>
                </a:r>
                <a:r>
                  <a:rPr lang="en-US" i="1" dirty="0" err="1"/>
                  <a:t>i</a:t>
                </a:r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 depends on parent inherited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 — OK.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 depends on left sibling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 — OK.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 depends on left siblings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 — OK.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 depends on last child’s synthesized — OK.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P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99F60-174C-B03E-B54E-F9930D1E13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322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9975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756B-261B-CFC1-D3C2-B5DF8725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S-Attribute Rules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0D574-2234-A879-D32B-52106E69F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Only synthesized attributes</a:t>
            </a:r>
            <a:r>
              <a:rPr lang="en-US" dirty="0"/>
              <a:t> are allowed.</a:t>
            </a:r>
          </a:p>
          <a:p>
            <a:pPr lvl="1"/>
            <a:r>
              <a:rPr lang="en-US" dirty="0"/>
              <a:t>No inherited attributes appear anywhere in the definition.</a:t>
            </a:r>
          </a:p>
          <a:p>
            <a:r>
              <a:rPr lang="en-US" b="1" dirty="0"/>
              <a:t>Semantic rules</a:t>
            </a:r>
            <a:r>
              <a:rPr lang="en-US" dirty="0"/>
              <a:t> can compute only </a:t>
            </a:r>
            <a:r>
              <a:rPr lang="en-US" b="1" dirty="0"/>
              <a:t>synthesized attributes</a:t>
            </a:r>
            <a:r>
              <a:rPr lang="en-US" dirty="0"/>
              <a:t> of the left‑hand side nonterminal.</a:t>
            </a:r>
          </a:p>
          <a:p>
            <a:r>
              <a:rPr lang="en-US" b="1" dirty="0"/>
              <a:t>Dependencies</a:t>
            </a:r>
            <a:r>
              <a:rPr lang="en-US" dirty="0"/>
              <a:t> flow strictly </a:t>
            </a:r>
            <a:r>
              <a:rPr lang="en-US" b="1" dirty="0"/>
              <a:t>bottom‑up</a:t>
            </a:r>
            <a:r>
              <a:rPr lang="en-US" dirty="0"/>
              <a:t> (from children to parent).</a:t>
            </a:r>
          </a:p>
          <a:p>
            <a:r>
              <a:rPr lang="en-US" dirty="0"/>
              <a:t>Evaluation order: </a:t>
            </a:r>
            <a:r>
              <a:rPr lang="en-US" b="1" dirty="0" err="1"/>
              <a:t>Postorder</a:t>
            </a:r>
            <a:r>
              <a:rPr lang="en-US" b="1" dirty="0"/>
              <a:t> traversal</a:t>
            </a:r>
            <a:r>
              <a:rPr lang="en-US" dirty="0"/>
              <a:t> (bottom‑up) works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57707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FD85D-93FE-A3F8-D67E-B5991F1F2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497"/>
            <a:ext cx="10515600" cy="832304"/>
          </a:xfrm>
        </p:spPr>
        <p:txBody>
          <a:bodyPr/>
          <a:lstStyle/>
          <a:p>
            <a:r>
              <a:rPr lang="en-US" dirty="0"/>
              <a:t>L-Attribute Rules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5138E4-2F3D-4D50-5889-7A42956298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66800"/>
                <a:ext cx="10515600" cy="6149248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Inherited attributes</a:t>
                </a:r>
                <a:r>
                  <a:rPr lang="en-US" dirty="0"/>
                  <a:t> are allowed, but with restrictions.</a:t>
                </a:r>
              </a:p>
              <a:p>
                <a:r>
                  <a:rPr lang="en-US" dirty="0"/>
                  <a:t>For a production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 lvl="1"/>
                <a:r>
                  <a:rPr lang="en-US" b="1" dirty="0"/>
                  <a:t>Synthesized attributes</a:t>
                </a:r>
                <a:r>
                  <a:rPr lang="en-US" dirty="0"/>
                  <a:t> of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 can depend on:</a:t>
                </a:r>
              </a:p>
              <a:p>
                <a:pPr lvl="2"/>
                <a:r>
                  <a:rPr lang="en-US" dirty="0"/>
                  <a:t>Inherited attributes of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Synthesized attributes of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Inherited attributes of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b="1" dirty="0"/>
                  <a:t>Inherited attributes</a:t>
                </a:r>
                <a:r>
                  <a:rPr lang="en-US" dirty="0"/>
                  <a:t> of a child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dirty="0"/>
                  <a:t> </a:t>
                </a:r>
                <a:r>
                  <a:rPr lang="en-US" dirty="0"/>
                  <a:t>can depend only on:</a:t>
                </a:r>
              </a:p>
              <a:p>
                <a:pPr lvl="2"/>
                <a:r>
                  <a:rPr lang="en-US" dirty="0"/>
                  <a:t>Inherited attributes of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Synthesized attributes of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 (</a:t>
                </a:r>
                <a:r>
                  <a:rPr lang="en-US" dirty="0"/>
                  <a:t>left siblings)</a:t>
                </a:r>
              </a:p>
              <a:p>
                <a:pPr lvl="2"/>
                <a:r>
                  <a:rPr lang="en-US" b="1" dirty="0"/>
                  <a:t>Cannot</a:t>
                </a:r>
                <a:r>
                  <a:rPr lang="en-US" dirty="0"/>
                  <a:t> depend on:</a:t>
                </a:r>
              </a:p>
              <a:p>
                <a:pPr lvl="3"/>
                <a:r>
                  <a:rPr lang="en-US" dirty="0"/>
                  <a:t>Attributes of right siblings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ar-AE" dirty="0"/>
              </a:p>
              <a:p>
                <a:pPr lvl="3"/>
                <a:r>
                  <a:rPr lang="en-US" dirty="0"/>
                  <a:t>Synthesized attributes of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?</a:t>
                </a:r>
                <a:br>
                  <a:rPr lang="en-US" dirty="0"/>
                </a:br>
                <a:r>
                  <a:rPr lang="en-US" dirty="0"/>
                  <a:t>(Actually, synthesized of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 can depend on children, so inherited of child can depend on synthesized of left siblings only —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 is not a left sibling, so no direct dependence.)</a:t>
                </a:r>
              </a:p>
              <a:p>
                <a:endParaRPr lang="en-P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5138E4-2F3D-4D50-5889-7A42956298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66800"/>
                <a:ext cx="10515600" cy="6149248"/>
              </a:xfrm>
              <a:blipFill>
                <a:blip r:embed="rId2"/>
                <a:stretch>
                  <a:fillRect l="-1043" t="-158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7920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814387"/>
            <a:ext cx="10215131" cy="434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1170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b="1" dirty="0"/>
                  <a:t>a)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(</a:t>
                </a:r>
                <a:r>
                  <a:rPr lang="en-US" dirty="0" err="1"/>
                  <a:t>i</a:t>
                </a:r>
                <a:r>
                  <a:rPr lang="en-US" dirty="0"/>
                  <a:t>) S‑attributed? </a:t>
                </a:r>
                <a:r>
                  <a:rPr lang="en-US" b="1" dirty="0"/>
                  <a:t>No</a:t>
                </a:r>
                <a:r>
                  <a:rPr lang="en-US" dirty="0"/>
                  <a:t> — uses inherited attribute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(ii) L‑attributed? </a:t>
                </a:r>
                <a:r>
                  <a:rPr lang="en-US" b="1" dirty="0"/>
                  <a:t>No</a:t>
                </a:r>
                <a:r>
                  <a:rPr lang="en-US" dirty="0"/>
                  <a:t> — rule for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 missing.</a:t>
                </a:r>
              </a:p>
              <a:p>
                <a:r>
                  <a:rPr lang="en-US" dirty="0"/>
                  <a:t>(iii) Any evaluation order? </a:t>
                </a:r>
                <a:r>
                  <a:rPr lang="en-US" b="1" dirty="0"/>
                  <a:t>No</a:t>
                </a:r>
                <a:r>
                  <a:rPr lang="en-US" dirty="0"/>
                  <a:t> —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 undefined.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b)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b="1" dirty="0"/>
                  <a:t> and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(</a:t>
                </a:r>
                <a:r>
                  <a:rPr lang="en-US" dirty="0" err="1"/>
                  <a:t>i</a:t>
                </a:r>
                <a:r>
                  <a:rPr lang="en-US" dirty="0"/>
                  <a:t>) S‑attributed? </a:t>
                </a:r>
                <a:r>
                  <a:rPr lang="en-US" b="1" dirty="0"/>
                  <a:t>No</a:t>
                </a:r>
                <a:r>
                  <a:rPr lang="en-US" dirty="0"/>
                  <a:t> — uses inherited attributes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(ii) L‑attributed? </a:t>
                </a:r>
                <a:r>
                  <a:rPr lang="en-US" b="1" dirty="0"/>
                  <a:t>No</a:t>
                </a:r>
                <a:r>
                  <a:rPr lang="en-US" dirty="0"/>
                  <a:t> — rule for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 missing.</a:t>
                </a:r>
              </a:p>
              <a:p>
                <a:r>
                  <a:rPr lang="en-US" dirty="0"/>
                  <a:t>(iii) Any evaluation order? </a:t>
                </a:r>
                <a:r>
                  <a:rPr lang="en-US" b="1" dirty="0"/>
                  <a:t>No</a:t>
                </a:r>
                <a:r>
                  <a:rPr lang="en-US" dirty="0"/>
                  <a:t> —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 undefined.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b="-224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6629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9EE4B-E173-AAD1-D556-7658CF5A9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A43A8C-E122-4C37-2A25-A472A8F033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c)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(</a:t>
                </a:r>
                <a:r>
                  <a:rPr lang="en-US" dirty="0" err="1"/>
                  <a:t>i</a:t>
                </a:r>
                <a:r>
                  <a:rPr lang="en-US" dirty="0"/>
                  <a:t>) S‑attributed? </a:t>
                </a:r>
                <a:r>
                  <a:rPr lang="en-US" b="1" dirty="0"/>
                  <a:t>Yes</a:t>
                </a:r>
                <a:r>
                  <a:rPr lang="en-US" dirty="0"/>
                  <a:t> — uses only synthesized attributes.</a:t>
                </a:r>
              </a:p>
              <a:p>
                <a:r>
                  <a:rPr lang="en-US" dirty="0"/>
                  <a:t>(ii) L‑attributed? </a:t>
                </a:r>
                <a:r>
                  <a:rPr lang="en-US" b="1" dirty="0"/>
                  <a:t>Yes</a:t>
                </a:r>
                <a:r>
                  <a:rPr lang="en-US" dirty="0"/>
                  <a:t> — all S‑attributed definitions are L‑attributed.</a:t>
                </a:r>
              </a:p>
              <a:p>
                <a:r>
                  <a:rPr lang="en-US" dirty="0"/>
                  <a:t>(iii) Any evaluation order? </a:t>
                </a:r>
                <a:r>
                  <a:rPr lang="en-US" b="1" dirty="0"/>
                  <a:t>Yes</a:t>
                </a:r>
                <a:r>
                  <a:rPr lang="en-US" dirty="0"/>
                  <a:t> — bottom‑up evaluation works.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d)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(</a:t>
                </a:r>
                <a:r>
                  <a:rPr lang="en-US" dirty="0" err="1"/>
                  <a:t>i</a:t>
                </a:r>
                <a:r>
                  <a:rPr lang="en-US" dirty="0"/>
                  <a:t>) S‑attributed? </a:t>
                </a:r>
                <a:r>
                  <a:rPr lang="en-US" b="1" dirty="0"/>
                  <a:t>No</a:t>
                </a:r>
                <a:r>
                  <a:rPr lang="en-US" dirty="0"/>
                  <a:t> — uses inherited attributes.</a:t>
                </a:r>
              </a:p>
              <a:p>
                <a:r>
                  <a:rPr lang="en-US" dirty="0"/>
                  <a:t>(ii) L‑attributed? </a:t>
                </a:r>
                <a:r>
                  <a:rPr lang="en-US" b="1" dirty="0"/>
                  <a:t>No</a:t>
                </a:r>
                <a:r>
                  <a:rPr lang="en-US" dirty="0"/>
                  <a:t> — cycle: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 depends on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 depends on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 depends on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(iii) Any evaluation order? </a:t>
                </a:r>
                <a:r>
                  <a:rPr lang="en-US" b="1" dirty="0"/>
                  <a:t>No</a:t>
                </a:r>
                <a:r>
                  <a:rPr lang="en-US" dirty="0"/>
                  <a:t> — circular dependency.</a:t>
                </a:r>
              </a:p>
              <a:p>
                <a:endParaRPr lang="en-P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A43A8C-E122-4C37-2A25-A472A8F033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80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5824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 Directed Translation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Constructions of Syntax Trees</a:t>
            </a:r>
          </a:p>
          <a:p>
            <a:r>
              <a:rPr lang="en-GB" dirty="0"/>
              <a:t>From Syntax Tree building Intermediate code</a:t>
            </a:r>
          </a:p>
          <a:p>
            <a:r>
              <a:rPr lang="en-GB" dirty="0"/>
              <a:t>Ensuring compatible data types performed in the code </a:t>
            </a:r>
          </a:p>
        </p:txBody>
      </p:sp>
    </p:spTree>
    <p:extLst>
      <p:ext uri="{BB962C8B-B14F-4D97-AF65-F5344CB8AC3E}">
        <p14:creationId xmlns:p14="http://schemas.microsoft.com/office/powerpoint/2010/main" val="17905473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Construction of Syntax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Syntax Tree: </a:t>
            </a:r>
            <a:r>
              <a:rPr lang="en-GB" dirty="0"/>
              <a:t>It's a tree representation of the source code where:</a:t>
            </a:r>
          </a:p>
          <a:p>
            <a:pPr lvl="1"/>
            <a:r>
              <a:rPr lang="en-GB" dirty="0"/>
              <a:t>Every node represents a programming construct (like an operation, a variable, a number).</a:t>
            </a:r>
          </a:p>
          <a:p>
            <a:pPr lvl="1"/>
            <a:r>
              <a:rPr lang="en-GB" dirty="0"/>
              <a:t>The children of a node represent the meaningful parts of that construct.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32385" y="3517357"/>
            <a:ext cx="2490788" cy="279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591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Construction of Syntax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We use an SDD to define how to build the tree. The key idea is to add attributes and semantic rules to the grammar.</a:t>
            </a:r>
          </a:p>
          <a:p>
            <a:r>
              <a:rPr lang="en-GB" dirty="0"/>
              <a:t>The Key Attribute: </a:t>
            </a:r>
            <a:r>
              <a:rPr lang="en-GB" b="1" dirty="0"/>
              <a:t>node</a:t>
            </a:r>
          </a:p>
          <a:p>
            <a:pPr lvl="1"/>
            <a:r>
              <a:rPr lang="en-GB" dirty="0"/>
              <a:t>This synthesized attribute holds a pointer/reference to a node in the syntax tree.</a:t>
            </a:r>
          </a:p>
          <a:p>
            <a:r>
              <a:rPr lang="en-GB" dirty="0"/>
              <a:t>The Key Functions:</a:t>
            </a:r>
          </a:p>
          <a:p>
            <a:pPr lvl="1"/>
            <a:r>
              <a:rPr lang="en-GB" b="1" dirty="0"/>
              <a:t>Leaf(</a:t>
            </a:r>
            <a:r>
              <a:rPr lang="en-GB" b="1" dirty="0" err="1"/>
              <a:t>num</a:t>
            </a:r>
            <a:r>
              <a:rPr lang="en-GB" b="1" dirty="0"/>
              <a:t>) or Leaf(id): </a:t>
            </a:r>
            <a:r>
              <a:rPr lang="en-GB" dirty="0"/>
              <a:t>Creates a leaf node for a number or identifier.</a:t>
            </a:r>
          </a:p>
          <a:p>
            <a:pPr lvl="1"/>
            <a:r>
              <a:rPr lang="en-GB" b="1" dirty="0"/>
              <a:t>Node(op, child1, child2): </a:t>
            </a:r>
            <a:r>
              <a:rPr lang="en-GB" dirty="0"/>
              <a:t>Creates an internal node with an operator and pointers to its children (the nodes for its operands).</a:t>
            </a:r>
          </a:p>
        </p:txBody>
      </p:sp>
    </p:spTree>
    <p:extLst>
      <p:ext uri="{BB962C8B-B14F-4D97-AF65-F5344CB8AC3E}">
        <p14:creationId xmlns:p14="http://schemas.microsoft.com/office/powerpoint/2010/main" val="39012414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Building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Two constructor functions to create nodes:</a:t>
            </a:r>
          </a:p>
          <a:p>
            <a:endParaRPr lang="en-GB" dirty="0"/>
          </a:p>
          <a:p>
            <a:r>
              <a:rPr lang="en-GB" b="1" dirty="0"/>
              <a:t>1. Leaf(op, </a:t>
            </a:r>
            <a:r>
              <a:rPr lang="en-GB" b="1" dirty="0" err="1"/>
              <a:t>val</a:t>
            </a:r>
            <a:r>
              <a:rPr lang="en-GB" b="1" dirty="0"/>
              <a:t>) - </a:t>
            </a:r>
            <a:r>
              <a:rPr lang="en-GB" dirty="0"/>
              <a:t>For Leaf Nodes </a:t>
            </a:r>
          </a:p>
          <a:p>
            <a:pPr lvl="1"/>
            <a:r>
              <a:rPr lang="en-GB" b="1" dirty="0"/>
              <a:t>Use Case: </a:t>
            </a:r>
            <a:r>
              <a:rPr lang="en-GB" dirty="0"/>
              <a:t>Creates nodes for the most basic elements—the leaves of the tree.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What it represents: </a:t>
            </a:r>
            <a:r>
              <a:rPr lang="en-GB" dirty="0"/>
              <a:t>Identifiers (variable names like a, count), numbers (like 5, 42), and other literal values.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What's inside: </a:t>
            </a:r>
          </a:p>
          <a:p>
            <a:pPr lvl="2"/>
            <a:r>
              <a:rPr lang="en-GB" dirty="0"/>
              <a:t>An </a:t>
            </a:r>
            <a:r>
              <a:rPr lang="en-GB" b="1" dirty="0"/>
              <a:t>op</a:t>
            </a:r>
            <a:r>
              <a:rPr lang="en-GB" dirty="0"/>
              <a:t> field: A label indicating the type (e.g., id for identifier, </a:t>
            </a:r>
            <a:r>
              <a:rPr lang="en-GB" dirty="0" err="1"/>
              <a:t>num</a:t>
            </a:r>
            <a:r>
              <a:rPr lang="en-GB" dirty="0"/>
              <a:t> for number).</a:t>
            </a:r>
          </a:p>
          <a:p>
            <a:pPr lvl="2"/>
            <a:r>
              <a:rPr lang="en-GB" dirty="0"/>
              <a:t>A </a:t>
            </a:r>
            <a:r>
              <a:rPr lang="en-GB" dirty="0" err="1"/>
              <a:t>val</a:t>
            </a:r>
            <a:r>
              <a:rPr lang="en-GB" dirty="0"/>
              <a:t> field: The actual lexical value (the text "a" or the number 42).</a:t>
            </a:r>
          </a:p>
          <a:p>
            <a:pPr lvl="2"/>
            <a:r>
              <a:rPr lang="en-GB" dirty="0"/>
              <a:t>Creates nodes for: a, b, 10, "hello"</a:t>
            </a:r>
          </a:p>
        </p:txBody>
      </p:sp>
    </p:spTree>
    <p:extLst>
      <p:ext uri="{BB962C8B-B14F-4D97-AF65-F5344CB8AC3E}">
        <p14:creationId xmlns:p14="http://schemas.microsoft.com/office/powerpoint/2010/main" val="2414111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Building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Two constructor functions to create nodes:</a:t>
            </a:r>
            <a:endParaRPr lang="en-GB" b="1" dirty="0"/>
          </a:p>
          <a:p>
            <a:r>
              <a:rPr lang="en-GB" b="1" dirty="0"/>
              <a:t>2. Node(op, c₁, c₂, ..., cₖ) </a:t>
            </a:r>
            <a:r>
              <a:rPr lang="en-GB" dirty="0"/>
              <a:t>- For Interior Nodes (The Operations)</a:t>
            </a:r>
          </a:p>
          <a:p>
            <a:endParaRPr lang="en-GB" b="1" dirty="0"/>
          </a:p>
          <a:p>
            <a:pPr lvl="1"/>
            <a:r>
              <a:rPr lang="en-GB" b="1" dirty="0"/>
              <a:t>Use Case: </a:t>
            </a:r>
            <a:r>
              <a:rPr lang="en-GB" dirty="0"/>
              <a:t>Creates nodes for operations that combine other nodes.</a:t>
            </a:r>
          </a:p>
          <a:p>
            <a:pPr lvl="1"/>
            <a:r>
              <a:rPr lang="en-GB" b="1" dirty="0"/>
              <a:t>What it represents: </a:t>
            </a:r>
            <a:r>
              <a:rPr lang="en-GB" dirty="0"/>
              <a:t>Operators like +, -, *, /, or other constructs like function calls.</a:t>
            </a:r>
          </a:p>
          <a:p>
            <a:pPr lvl="1"/>
            <a:r>
              <a:rPr lang="en-GB" b="1" dirty="0"/>
              <a:t>What's inside:</a:t>
            </a:r>
            <a:endParaRPr lang="en-GB" dirty="0"/>
          </a:p>
          <a:p>
            <a:pPr lvl="2"/>
            <a:r>
              <a:rPr lang="en-GB" dirty="0"/>
              <a:t>An op field: The label of the operator (e.g., +, *, call).</a:t>
            </a:r>
          </a:p>
          <a:p>
            <a:pPr lvl="2"/>
            <a:r>
              <a:rPr lang="en-GB" dirty="0"/>
              <a:t>k child fields: Pointers/references to the syntax tree nodes of its operands (c₁, c₂, etc.).</a:t>
            </a:r>
          </a:p>
        </p:txBody>
      </p:sp>
    </p:spTree>
    <p:extLst>
      <p:ext uri="{BB962C8B-B14F-4D97-AF65-F5344CB8AC3E}">
        <p14:creationId xmlns:p14="http://schemas.microsoft.com/office/powerpoint/2010/main" val="26125349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Examples: S-Attributed SDD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763" y="1560058"/>
            <a:ext cx="9082095" cy="413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7881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15" y="179955"/>
            <a:ext cx="6067425" cy="5010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610" y="4218101"/>
            <a:ext cx="6315075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0403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6851148"/>
              </p:ext>
            </p:extLst>
          </p:nvPr>
        </p:nvGraphicFramePr>
        <p:xfrm>
          <a:off x="838200" y="2142014"/>
          <a:ext cx="10515600" cy="3718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23108">
                  <a:extLst>
                    <a:ext uri="{9D8B030D-6E8A-4147-A177-3AD203B41FA5}">
                      <a16:colId xmlns:a16="http://schemas.microsoft.com/office/drawing/2014/main" val="1344868892"/>
                    </a:ext>
                  </a:extLst>
                </a:gridCol>
                <a:gridCol w="5792492">
                  <a:extLst>
                    <a:ext uri="{9D8B030D-6E8A-4147-A177-3AD203B41FA5}">
                      <a16:colId xmlns:a16="http://schemas.microsoft.com/office/drawing/2014/main" val="26552119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</a:rPr>
                        <a:t>Production (CFG)</a:t>
                      </a:r>
                      <a:endParaRPr lang="en-GB" b="1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effectLst/>
                        </a:rPr>
                        <a:t>Semantic Rules (SDD)</a:t>
                      </a:r>
                      <a:endParaRPr lang="en-GB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819464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E→E1+T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 err="1">
                          <a:effectLst/>
                        </a:rPr>
                        <a:t>E.node</a:t>
                      </a:r>
                      <a:r>
                        <a:rPr lang="en-GB" dirty="0">
                          <a:effectLst/>
                        </a:rPr>
                        <a:t> = Node('+', </a:t>
                      </a:r>
                      <a:r>
                        <a:rPr lang="en-GB" dirty="0" err="1">
                          <a:effectLst/>
                        </a:rPr>
                        <a:t>E₁.node</a:t>
                      </a:r>
                      <a:r>
                        <a:rPr lang="en-GB" dirty="0">
                          <a:effectLst/>
                        </a:rPr>
                        <a:t>, </a:t>
                      </a:r>
                      <a:r>
                        <a:rPr lang="en-GB" dirty="0" err="1">
                          <a:effectLst/>
                        </a:rPr>
                        <a:t>T.node</a:t>
                      </a:r>
                      <a:r>
                        <a:rPr lang="en-GB" dirty="0">
                          <a:effectLst/>
                        </a:rPr>
                        <a:t>)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67563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E→T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E.node = T.node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322227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T→T1∗F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T.node = Node('*', T₁.node, F.node)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94374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T→F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 err="1">
                          <a:effectLst/>
                        </a:rPr>
                        <a:t>T.node</a:t>
                      </a:r>
                      <a:r>
                        <a:rPr lang="en-GB" dirty="0">
                          <a:effectLst/>
                        </a:rPr>
                        <a:t> = </a:t>
                      </a:r>
                      <a:r>
                        <a:rPr lang="en-GB" dirty="0" err="1">
                          <a:effectLst/>
                        </a:rPr>
                        <a:t>F.node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722198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F→(E)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F.node = E.node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66999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 err="1">
                          <a:effectLst/>
                        </a:rPr>
                        <a:t>F→id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F.node = Leaf(id.lexeme)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740274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 err="1">
                          <a:effectLst/>
                        </a:rPr>
                        <a:t>F→num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 err="1">
                          <a:effectLst/>
                        </a:rPr>
                        <a:t>F.node</a:t>
                      </a:r>
                      <a:r>
                        <a:rPr lang="en-GB" dirty="0">
                          <a:effectLst/>
                        </a:rPr>
                        <a:t> = Leaf(</a:t>
                      </a:r>
                      <a:r>
                        <a:rPr lang="en-GB" dirty="0" err="1">
                          <a:effectLst/>
                        </a:rPr>
                        <a:t>num.value</a:t>
                      </a:r>
                      <a:r>
                        <a:rPr lang="en-GB" dirty="0">
                          <a:effectLst/>
                        </a:rPr>
                        <a:t>)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301100402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Examples: S-Attributed SDD (For Bottom-Up Parsing)</a:t>
            </a:r>
          </a:p>
        </p:txBody>
      </p:sp>
    </p:spTree>
    <p:extLst>
      <p:ext uri="{BB962C8B-B14F-4D97-AF65-F5344CB8AC3E}">
        <p14:creationId xmlns:p14="http://schemas.microsoft.com/office/powerpoint/2010/main" val="6153769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Building Syntax tree for a + b * c: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above Grammar &amp; Syntax Rules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944" y="2323674"/>
            <a:ext cx="9107942" cy="398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379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428" y="158296"/>
            <a:ext cx="10515600" cy="1325563"/>
          </a:xfrm>
        </p:spPr>
        <p:txBody>
          <a:bodyPr/>
          <a:lstStyle/>
          <a:p>
            <a:r>
              <a:rPr lang="en-GB" dirty="0"/>
              <a:t>Examples: L-Attributed SDD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789"/>
          <a:stretch/>
        </p:blipFill>
        <p:spPr>
          <a:xfrm>
            <a:off x="1994126" y="1164771"/>
            <a:ext cx="7813903" cy="534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81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1930"/>
          <a:stretch/>
        </p:blipFill>
        <p:spPr>
          <a:xfrm>
            <a:off x="1758723" y="1415143"/>
            <a:ext cx="8484735" cy="419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4630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 Directed Translation Schemes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syntax-directed translation scheme (SDT) is a context free grammar with program fragments embedded within production bodies. </a:t>
            </a:r>
          </a:p>
          <a:p>
            <a:r>
              <a:rPr lang="en-GB" dirty="0"/>
              <a:t>The program fragments are called semantic actions and can appear at any position within a production body. </a:t>
            </a:r>
          </a:p>
          <a:p>
            <a:r>
              <a:rPr lang="en-GB" dirty="0"/>
              <a:t>we place curly braces around actions. if braces are needed as grammar symbols, then we quote them.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11972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SDTs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Any SDT can be implemented by first building a parse tree and then performing the actions in a left-to-right depth-first order; that is, during a pre-order traversal. </a:t>
            </a:r>
          </a:p>
          <a:p>
            <a:r>
              <a:rPr lang="en-GB" dirty="0"/>
              <a:t>Typically, SDT's are implemented during parsing, without building a parse tree</a:t>
            </a:r>
          </a:p>
          <a:p>
            <a:r>
              <a:rPr lang="en-GB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688669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SDT Classes for Parser Integration: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LR-</a:t>
            </a:r>
            <a:r>
              <a:rPr lang="en-GB" dirty="0" err="1"/>
              <a:t>Parsable</a:t>
            </a:r>
            <a:r>
              <a:rPr lang="en-GB" dirty="0"/>
              <a:t> Grammars with S-Attributed SDDs:</a:t>
            </a:r>
          </a:p>
          <a:p>
            <a:pPr marL="0" indent="0">
              <a:buNone/>
            </a:pPr>
            <a:endParaRPr lang="en-GB" dirty="0"/>
          </a:p>
          <a:p>
            <a:pPr lvl="1"/>
            <a:r>
              <a:rPr lang="en-GB" dirty="0"/>
              <a:t>Actions placed at end of productions.</a:t>
            </a:r>
          </a:p>
          <a:p>
            <a:pPr lvl="1"/>
            <a:r>
              <a:rPr lang="en-GB" dirty="0"/>
              <a:t>Execute during reduction in bottom-up parsing.</a:t>
            </a:r>
          </a:p>
          <a:p>
            <a:endParaRPr lang="en-GB" dirty="0"/>
          </a:p>
          <a:p>
            <a:r>
              <a:rPr lang="en-GB" dirty="0"/>
              <a:t>LL-</a:t>
            </a:r>
            <a:r>
              <a:rPr lang="en-GB" dirty="0" err="1"/>
              <a:t>Parsable</a:t>
            </a:r>
            <a:r>
              <a:rPr lang="en-GB" dirty="0"/>
              <a:t> Grammars with L-Attributed SDDs:</a:t>
            </a:r>
          </a:p>
          <a:p>
            <a:pPr lvl="1"/>
            <a:r>
              <a:rPr lang="en-GB" dirty="0"/>
              <a:t>Actions can be embedded inside productions.</a:t>
            </a:r>
          </a:p>
          <a:p>
            <a:pPr lvl="1"/>
            <a:r>
              <a:rPr lang="en-GB" dirty="0"/>
              <a:t>Execute during top-down parsing when symbols to their left are matched.</a:t>
            </a:r>
          </a:p>
        </p:txBody>
      </p:sp>
    </p:spTree>
    <p:extLst>
      <p:ext uri="{BB962C8B-B14F-4D97-AF65-F5344CB8AC3E}">
        <p14:creationId xmlns:p14="http://schemas.microsoft.com/office/powerpoint/2010/main" val="42043365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Postfix SDTs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Syntax-Directed Translation Scheme where all semantic actions are placed at the end of grammar productions.</a:t>
            </a:r>
          </a:p>
          <a:p>
            <a:r>
              <a:rPr lang="en-GB" dirty="0"/>
              <a:t>Used when:</a:t>
            </a:r>
          </a:p>
          <a:p>
            <a:pPr lvl="1"/>
            <a:r>
              <a:rPr lang="en-GB" dirty="0"/>
              <a:t>Parsing is bottom-up (LR parsing)</a:t>
            </a:r>
          </a:p>
          <a:p>
            <a:pPr lvl="1"/>
            <a:r>
              <a:rPr lang="en-GB" dirty="0"/>
              <a:t>The SDD is S-attributed (all attributes are synthesized)</a:t>
            </a:r>
          </a:p>
          <a:p>
            <a:pPr lvl="1"/>
            <a:r>
              <a:rPr lang="en-GB" dirty="0"/>
              <a:t>Actions execute when the parser reduces the production body to its head.</a:t>
            </a:r>
          </a:p>
          <a:p>
            <a:pPr marL="457200" lvl="1" indent="0">
              <a:buNone/>
            </a:pPr>
            <a:endParaRPr lang="en-GB" b="1" dirty="0"/>
          </a:p>
          <a:p>
            <a:pPr marL="457200" lvl="1" indent="0">
              <a:buNone/>
            </a:pPr>
            <a:r>
              <a:rPr lang="en-GB" b="1" dirty="0"/>
              <a:t>Example Idea:</a:t>
            </a:r>
            <a:br>
              <a:rPr lang="en-GB" dirty="0"/>
            </a:br>
            <a:r>
              <a:rPr lang="en-GB" dirty="0"/>
              <a:t>For production:</a:t>
            </a:r>
            <a:br>
              <a:rPr lang="en-GB" dirty="0"/>
            </a:br>
            <a:r>
              <a:rPr lang="en-GB" dirty="0"/>
              <a:t>A→XYZ→</a:t>
            </a:r>
            <a:r>
              <a:rPr lang="en-GB" i="1" dirty="0"/>
              <a:t>XYZ</a:t>
            </a:r>
            <a:r>
              <a:rPr lang="en-GB" dirty="0"/>
              <a:t> { </a:t>
            </a:r>
            <a:r>
              <a:rPr lang="en-GB" i="1" dirty="0"/>
              <a:t>action</a:t>
            </a:r>
            <a:r>
              <a:rPr lang="en-GB" dirty="0"/>
              <a:t> }</a:t>
            </a:r>
            <a:br>
              <a:rPr lang="en-GB" dirty="0"/>
            </a:br>
            <a:r>
              <a:rPr lang="en-GB" dirty="0"/>
              <a:t>The </a:t>
            </a:r>
            <a:r>
              <a:rPr lang="en-GB" i="1" dirty="0"/>
              <a:t>action</a:t>
            </a:r>
            <a:r>
              <a:rPr lang="en-GB" dirty="0"/>
              <a:t> runs exactly when XYZ is reduced to A.</a:t>
            </a:r>
          </a:p>
        </p:txBody>
      </p:sp>
    </p:spTree>
    <p:extLst>
      <p:ext uri="{BB962C8B-B14F-4D97-AF65-F5344CB8AC3E}">
        <p14:creationId xmlns:p14="http://schemas.microsoft.com/office/powerpoint/2010/main" val="27167138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Desk Calculator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1118"/>
          </a:xfrm>
        </p:spPr>
        <p:txBody>
          <a:bodyPr>
            <a:normAutofit lnSpcReduction="10000"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Each action </a:t>
            </a:r>
            <a:r>
              <a:rPr lang="en-GB" b="1" dirty="0"/>
              <a:t>computes values (synthesized attributes)</a:t>
            </a:r>
            <a:r>
              <a:rPr lang="en-GB" dirty="0"/>
              <a:t> when reduction happens.</a:t>
            </a:r>
          </a:p>
          <a:p>
            <a:r>
              <a:rPr lang="en-GB" dirty="0"/>
              <a:t>At the final reduction </a:t>
            </a:r>
            <a:r>
              <a:rPr lang="en-GB" dirty="0" err="1"/>
              <a:t>L→</a:t>
            </a:r>
            <a:r>
              <a:rPr lang="en-GB" i="1" dirty="0" err="1"/>
              <a:t>En</a:t>
            </a:r>
            <a:r>
              <a:rPr lang="en-GB" dirty="0"/>
              <a:t>, the result </a:t>
            </a:r>
            <a:r>
              <a:rPr lang="en-GB" dirty="0" err="1"/>
              <a:t>E.val</a:t>
            </a:r>
            <a:r>
              <a:rPr lang="en-GB" dirty="0"/>
              <a:t> is printed.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044" y="1027906"/>
            <a:ext cx="7440386" cy="370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9592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It Works in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307" y="1540501"/>
            <a:ext cx="5521779" cy="492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724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Parser-Stack Implementation of Postfix SDTs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bottom-up (LR) parsing, we can store attributes directly on the parser stack alongside grammar symbols.</a:t>
            </a:r>
          </a:p>
          <a:p>
            <a:r>
              <a:rPr lang="en-GB" dirty="0"/>
              <a:t>Each stack entry = (grammar symbol or parser state, attribute value).</a:t>
            </a:r>
          </a:p>
          <a:p>
            <a:r>
              <a:rPr lang="en-GB" dirty="0"/>
              <a:t>When a reduction happens, we compute new attributes for the head using attributes from body symbols on the stack.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28119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571" y="2019413"/>
            <a:ext cx="7913914" cy="375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640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5D381-A0AA-70AD-F37E-6FB54123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58955-6D2C-E7B9-D44B-7910BAE53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14C4DE-226B-F0CD-08AE-B99D37E4B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98" y="449402"/>
            <a:ext cx="10753804" cy="564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486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573B-32FC-DBB0-34B9-A71A2DF9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F57F6-8BC0-61E2-28EC-3B5B35970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5B33E5-1EC7-674D-0356-ABB788F04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702" y="299357"/>
            <a:ext cx="6414258" cy="587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908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Assume:</a:t>
            </a:r>
          </a:p>
          <a:p>
            <a:pPr lvl="1"/>
            <a:r>
              <a:rPr lang="en-GB" sz="2000" dirty="0"/>
              <a:t>Stack array stack[], top = index of top.</a:t>
            </a:r>
          </a:p>
          <a:p>
            <a:pPr lvl="1"/>
            <a:r>
              <a:rPr lang="en-GB" sz="2000" dirty="0"/>
              <a:t>Each record has .</a:t>
            </a:r>
            <a:r>
              <a:rPr lang="en-GB" sz="2000" dirty="0" err="1"/>
              <a:t>val</a:t>
            </a:r>
            <a:r>
              <a:rPr lang="en-GB" sz="2000" dirty="0"/>
              <a:t> = synthesized attribute value.</a:t>
            </a:r>
          </a:p>
          <a:p>
            <a:pPr lvl="1"/>
            <a:endParaRPr lang="en-GB" sz="2000" dirty="0"/>
          </a:p>
          <a:p>
            <a:r>
              <a:rPr lang="fr-FR" sz="2400" dirty="0"/>
              <a:t>For production E→E1+T</a:t>
            </a:r>
          </a:p>
          <a:p>
            <a:pPr lvl="1"/>
            <a:r>
              <a:rPr lang="en-GB" sz="2000" dirty="0"/>
              <a:t>E1.val is at stack[top−2].</a:t>
            </a:r>
            <a:r>
              <a:rPr lang="en-GB" sz="2000" dirty="0" err="1"/>
              <a:t>val</a:t>
            </a:r>
            <a:endParaRPr lang="en-GB" sz="2000" dirty="0"/>
          </a:p>
          <a:p>
            <a:pPr lvl="1"/>
            <a:r>
              <a:rPr lang="en-GB" sz="2000" dirty="0"/>
              <a:t>After computing      </a:t>
            </a:r>
            <a:r>
              <a:rPr lang="en-GB" sz="2000" dirty="0" err="1"/>
              <a:t>E.val</a:t>
            </a:r>
            <a:r>
              <a:rPr lang="en-GB" sz="2000" dirty="0"/>
              <a:t>=E1.val+T.val</a:t>
            </a:r>
          </a:p>
          <a:p>
            <a:pPr lvl="1"/>
            <a:r>
              <a:rPr lang="en-GB" sz="2000" dirty="0"/>
              <a:t>​we pop 2 symbols (remove + and T), so stack[top−2] becomes the new top, holding 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 Indexing in Practice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4" y="5103619"/>
            <a:ext cx="8258175" cy="107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3268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Examples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2050" y="1920081"/>
            <a:ext cx="8001000" cy="369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0763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90D90-8A0D-D1DC-8C34-088CA79B3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SDT’s with actions inside productions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34205-DE6A-8F3A-DCDF-6C66756C4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EF2537-152F-D53A-887D-82E2D6175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14" y="1690688"/>
            <a:ext cx="11303171" cy="457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1855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07AF-DD0B-7544-DCB8-2A00099EA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54267-AB58-DF10-B485-623786333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EA8B9-B327-0B70-C74E-7DC6105F6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07048"/>
            <a:ext cx="10838623" cy="566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0057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38C1-2565-327C-64F5-1F23B5010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It is problematic SDT?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6CFE0-0F24-2FD9-A513-EC9F0BBED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grammar in </a:t>
            </a:r>
            <a:r>
              <a:rPr lang="en-US" b="1" dirty="0"/>
              <a:t>Figure 5.21</a:t>
            </a:r>
            <a:r>
              <a:rPr lang="en-US" dirty="0"/>
              <a:t> tries to print expressions in </a:t>
            </a:r>
            <a:r>
              <a:rPr lang="en-US" b="1" dirty="0"/>
              <a:t>prefix form</a:t>
            </a:r>
            <a:r>
              <a:rPr lang="en-US" dirty="0"/>
              <a:t> (e.g., + 2 3 instead of 2 + 3). Productions like:</a:t>
            </a:r>
          </a:p>
          <a:p>
            <a:r>
              <a:rPr lang="en-US" dirty="0"/>
              <a:t>force the parser to print '+' or '*' </a:t>
            </a:r>
            <a:r>
              <a:rPr lang="en-US" b="1" dirty="0"/>
              <a:t>before</a:t>
            </a:r>
            <a:r>
              <a:rPr lang="en-US" dirty="0"/>
              <a:t> it</a:t>
            </a:r>
            <a:br>
              <a:rPr lang="en-US" dirty="0"/>
            </a:br>
            <a:r>
              <a:rPr lang="en-US" dirty="0"/>
              <a:t> knows if the operator actually appears in </a:t>
            </a:r>
            <a:br>
              <a:rPr lang="en-US" dirty="0"/>
            </a:br>
            <a:r>
              <a:rPr lang="en-US" dirty="0"/>
              <a:t>the input for that production.</a:t>
            </a:r>
          </a:p>
          <a:p>
            <a:r>
              <a:rPr lang="en-US" b="1" dirty="0"/>
              <a:t>Why It Fails</a:t>
            </a:r>
            <a:endParaRPr lang="en-US" dirty="0"/>
          </a:p>
          <a:p>
            <a:pPr lvl="1"/>
            <a:r>
              <a:rPr lang="en-US" dirty="0"/>
              <a:t>In </a:t>
            </a:r>
            <a:r>
              <a:rPr lang="en-US" b="1" dirty="0"/>
              <a:t>top-down</a:t>
            </a:r>
            <a:r>
              <a:rPr lang="en-US" dirty="0"/>
              <a:t> parsing: The action print('+') happens immediately when we choose the E → E + T production, but the input might actually be just T (no plus).</a:t>
            </a:r>
          </a:p>
          <a:p>
            <a:pPr lvl="1"/>
            <a:r>
              <a:rPr lang="en-US" dirty="0"/>
              <a:t>In </a:t>
            </a:r>
            <a:r>
              <a:rPr lang="en-US" b="1" dirty="0"/>
              <a:t>bottom-up</a:t>
            </a:r>
            <a:r>
              <a:rPr lang="en-US" dirty="0"/>
              <a:t> parsing: Using marker </a:t>
            </a:r>
            <a:r>
              <a:rPr lang="en-US" dirty="0" err="1"/>
              <a:t>nonterminals</a:t>
            </a:r>
            <a:r>
              <a:rPr lang="en-US" dirty="0"/>
              <a:t> (like M → ε for actions) causes </a:t>
            </a:r>
            <a:r>
              <a:rPr lang="en-US" b="1" dirty="0"/>
              <a:t>shift/reduce conflicts</a:t>
            </a:r>
            <a:r>
              <a:rPr lang="en-US" dirty="0"/>
              <a:t> because the parser can’t decide whether to reduce an empty action or shift the next token.</a:t>
            </a:r>
          </a:p>
          <a:p>
            <a:endParaRPr lang="en-US" dirty="0"/>
          </a:p>
          <a:p>
            <a:endParaRPr lang="en-US" dirty="0"/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B27E4-7363-C50C-AB27-22A3DBE10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691" y="2718117"/>
            <a:ext cx="4321870" cy="100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940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0E5C-F3C9-3FB0-6A58-8D6F48F6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EDC89-B095-3C2F-15A6-5B047613C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Input = 3</a:t>
            </a:r>
          </a:p>
          <a:p>
            <a:r>
              <a:rPr lang="en-US" dirty="0"/>
              <a:t>The grammar expects L → E n, and E could go to E + T or T.</a:t>
            </a:r>
            <a:br>
              <a:rPr lang="en-US" dirty="0"/>
            </a:br>
            <a:r>
              <a:rPr lang="en-US" dirty="0"/>
              <a:t>If it incorrectly picks E → {print('+')} E + T, it prints + but then finds no + in the input — wrong output and possible parse failure.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344437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8A10F-8527-ACFE-25D8-FBA5E41A8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SDT can be implemented as follows: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44E48A-2FA6-7F92-9E0B-CFDF827F8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199" y="1529176"/>
            <a:ext cx="10841133" cy="424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2678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E2727-92BD-CD59-EAF3-0E8798306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6B775-7E3C-05CC-10AC-EB4B495A4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1E2279-96E9-97FC-708C-49094CBB3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780" y="556876"/>
            <a:ext cx="9362440" cy="574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410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EA165-4C76-549B-2AA3-A936E64FB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Eliminating Left Recursion for SDT’s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61CFA-6B27-002F-896F-DFFB4BA44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5A690C-5660-A709-3A8C-AC782E788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332" y="1825625"/>
            <a:ext cx="2271342" cy="4756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978140-C513-F633-683B-6DF78B594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332" y="2301248"/>
            <a:ext cx="2377022" cy="7801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64AD6E-AF37-0B13-3736-1BDC639C0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13" y="1490344"/>
            <a:ext cx="8905097" cy="483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015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6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300"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Infix VS Postfix Notation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2" name="Google Shape;1032;p16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/>
          <a:p>
            <a:pPr marL="237061" indent="-50799">
              <a:spcBef>
                <a:spcPts val="0"/>
              </a:spcBef>
              <a:buClr>
                <a:schemeClr val="dk1"/>
              </a:buClr>
              <a:buSzPts val="2100"/>
              <a:buNone/>
            </a:pPr>
            <a:endParaRPr b="1"/>
          </a:p>
          <a:p>
            <a:pPr marL="237061" indent="-228594">
              <a:spcBef>
                <a:spcPts val="1067"/>
              </a:spcBef>
              <a:buClr>
                <a:schemeClr val="dk1"/>
              </a:buClr>
              <a:buSzPts val="2100"/>
            </a:pPr>
            <a:r>
              <a:rPr lang="en" b="1"/>
              <a:t>Infix</a:t>
            </a:r>
            <a:r>
              <a:rPr lang="en"/>
              <a:t> expressions are readable and solvable by humans. We can easily distinguish the order of operators, and also can use the parenthesis to solve that part first during solving mathematical expressions.</a:t>
            </a:r>
            <a:endParaRPr/>
          </a:p>
          <a:p>
            <a:pPr marL="237061" indent="-50799">
              <a:spcBef>
                <a:spcPts val="1067"/>
              </a:spcBef>
              <a:buClr>
                <a:schemeClr val="dk1"/>
              </a:buClr>
              <a:buSzPts val="2100"/>
              <a:buNone/>
            </a:pPr>
            <a:endParaRPr/>
          </a:p>
          <a:p>
            <a:pPr marL="237061" indent="-228594">
              <a:spcBef>
                <a:spcPts val="1067"/>
              </a:spcBef>
              <a:buClr>
                <a:schemeClr val="dk1"/>
              </a:buClr>
              <a:buSzPts val="2100"/>
            </a:pPr>
            <a:r>
              <a:rPr lang="en"/>
              <a:t>The computer cannot differentiate the operators and parenthesis easily, that's why </a:t>
            </a:r>
            <a:r>
              <a:rPr lang="en" b="1"/>
              <a:t>postfix conversion</a:t>
            </a:r>
            <a:r>
              <a:rPr lang="en"/>
              <a:t> is needed.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60277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300"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Postfix Notation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38" name="Google Shape;1038;p16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995488"/>
            <a:ext cx="10001200" cy="350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88636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1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300"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Postfix Notation (Example)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4" name="Google Shape;1044;p16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/>
          <a:p>
            <a:pPr marL="237061" indent="-237061">
              <a:spcBef>
                <a:spcPts val="0"/>
              </a:spcBef>
              <a:buClr>
                <a:srgbClr val="FF0000"/>
              </a:buClr>
              <a:buSzPts val="1800"/>
            </a:pPr>
            <a:r>
              <a:rPr lang="en" sz="2400" dirty="0">
                <a:solidFill>
                  <a:srgbClr val="FF0000"/>
                </a:solidFill>
              </a:rPr>
              <a:t>E = E</a:t>
            </a:r>
            <a:r>
              <a:rPr lang="en" sz="2400" baseline="-25000" dirty="0">
                <a:solidFill>
                  <a:srgbClr val="FF0000"/>
                </a:solidFill>
              </a:rPr>
              <a:t>1</a:t>
            </a:r>
            <a:r>
              <a:rPr lang="en" sz="2400" dirty="0">
                <a:solidFill>
                  <a:srgbClr val="FF0000"/>
                </a:solidFill>
              </a:rPr>
              <a:t> </a:t>
            </a:r>
            <a:r>
              <a:rPr lang="en" sz="2400" b="1" dirty="0"/>
              <a:t>op</a:t>
            </a:r>
            <a:r>
              <a:rPr lang="en" sz="2400" dirty="0">
                <a:solidFill>
                  <a:srgbClr val="FF0000"/>
                </a:solidFill>
              </a:rPr>
              <a:t> E</a:t>
            </a:r>
            <a:r>
              <a:rPr lang="en" sz="2400" baseline="-25000" dirty="0">
                <a:solidFill>
                  <a:srgbClr val="FF0000"/>
                </a:solidFill>
              </a:rPr>
              <a:t>2</a:t>
            </a:r>
            <a:r>
              <a:rPr lang="en" sz="2400" dirty="0">
                <a:solidFill>
                  <a:srgbClr val="FF0000"/>
                </a:solidFill>
              </a:rPr>
              <a:t>   </a:t>
            </a:r>
            <a:r>
              <a:rPr lang="en" sz="2400" dirty="0"/>
              <a:t>postfix will be </a:t>
            </a:r>
            <a:r>
              <a:rPr lang="en" sz="2400" dirty="0">
                <a:solidFill>
                  <a:srgbClr val="FF0000"/>
                </a:solidFill>
              </a:rPr>
              <a:t>E = É</a:t>
            </a:r>
            <a:r>
              <a:rPr lang="en" sz="2400" baseline="-25000" dirty="0">
                <a:solidFill>
                  <a:srgbClr val="FF0000"/>
                </a:solidFill>
              </a:rPr>
              <a:t>1</a:t>
            </a:r>
            <a:r>
              <a:rPr lang="en" sz="2400" dirty="0">
                <a:solidFill>
                  <a:srgbClr val="FF0000"/>
                </a:solidFill>
              </a:rPr>
              <a:t> É</a:t>
            </a:r>
            <a:r>
              <a:rPr lang="en" sz="2400" baseline="-25000" dirty="0">
                <a:solidFill>
                  <a:srgbClr val="FF0000"/>
                </a:solidFill>
              </a:rPr>
              <a:t>2</a:t>
            </a:r>
            <a:r>
              <a:rPr lang="en" sz="2400" dirty="0">
                <a:solidFill>
                  <a:srgbClr val="FF0000"/>
                </a:solidFill>
              </a:rPr>
              <a:t> </a:t>
            </a:r>
            <a:r>
              <a:rPr lang="en" sz="2400" b="1" dirty="0"/>
              <a:t>op</a:t>
            </a:r>
            <a:endParaRPr dirty="0"/>
          </a:p>
          <a:p>
            <a:pPr marL="237061" indent="-84665">
              <a:spcBef>
                <a:spcPts val="1067"/>
              </a:spcBef>
              <a:buClr>
                <a:schemeClr val="dk1"/>
              </a:buClr>
              <a:buSzPts val="1800"/>
              <a:buNone/>
            </a:pPr>
            <a:endParaRPr sz="2400" b="1" dirty="0"/>
          </a:p>
          <a:p>
            <a:pPr marL="237061" indent="-237061">
              <a:spcBef>
                <a:spcPts val="1067"/>
              </a:spcBef>
              <a:buClr>
                <a:schemeClr val="dk1"/>
              </a:buClr>
              <a:buSzPts val="1800"/>
            </a:pPr>
            <a:r>
              <a:rPr lang="en" sz="2400" b="1" dirty="0"/>
              <a:t>(</a:t>
            </a:r>
            <a:r>
              <a:rPr lang="en" sz="2400" b="1" dirty="0">
                <a:solidFill>
                  <a:srgbClr val="FF0000"/>
                </a:solidFill>
              </a:rPr>
              <a:t>9</a:t>
            </a:r>
            <a:r>
              <a:rPr lang="en" sz="2400" b="1" dirty="0"/>
              <a:t>-</a:t>
            </a:r>
            <a:r>
              <a:rPr lang="en" sz="2400" b="1" dirty="0">
                <a:solidFill>
                  <a:srgbClr val="FF0000"/>
                </a:solidFill>
              </a:rPr>
              <a:t>5</a:t>
            </a:r>
            <a:r>
              <a:rPr lang="en" sz="2400" b="1" dirty="0"/>
              <a:t>)+</a:t>
            </a:r>
            <a:r>
              <a:rPr lang="en" sz="2400" b="1" dirty="0">
                <a:solidFill>
                  <a:srgbClr val="FF0000"/>
                </a:solidFill>
              </a:rPr>
              <a:t>2 </a:t>
            </a:r>
            <a:r>
              <a:rPr lang="en" sz="2400" dirty="0"/>
              <a:t>postfix will be </a:t>
            </a:r>
            <a:r>
              <a:rPr lang="en" sz="2400" b="1" dirty="0">
                <a:solidFill>
                  <a:srgbClr val="FF0000"/>
                </a:solidFill>
              </a:rPr>
              <a:t>95</a:t>
            </a:r>
            <a:r>
              <a:rPr lang="en" sz="2400" b="1" dirty="0"/>
              <a:t>-</a:t>
            </a:r>
            <a:r>
              <a:rPr lang="en" sz="2400" b="1" dirty="0">
                <a:solidFill>
                  <a:srgbClr val="FF0000"/>
                </a:solidFill>
              </a:rPr>
              <a:t>2</a:t>
            </a:r>
            <a:r>
              <a:rPr lang="en" sz="2400" b="1" dirty="0"/>
              <a:t>+</a:t>
            </a:r>
            <a:endParaRPr dirty="0"/>
          </a:p>
          <a:p>
            <a:pPr marL="694249" lvl="1" indent="-245527">
              <a:spcBef>
                <a:spcPts val="533"/>
              </a:spcBef>
              <a:buClr>
                <a:schemeClr val="dk1"/>
              </a:buClr>
              <a:buSzPts val="1700"/>
            </a:pPr>
            <a:r>
              <a:rPr lang="en" sz="2267" dirty="0"/>
              <a:t>Parentheses are not needed in postfix conversion</a:t>
            </a:r>
            <a:endParaRPr dirty="0"/>
          </a:p>
          <a:p>
            <a:pPr marL="237061" indent="-84665">
              <a:spcBef>
                <a:spcPts val="1067"/>
              </a:spcBef>
              <a:buClr>
                <a:schemeClr val="dk1"/>
              </a:buClr>
              <a:buSzPts val="1800"/>
              <a:buNone/>
            </a:pPr>
            <a:endParaRPr sz="2400" dirty="0"/>
          </a:p>
          <a:p>
            <a:pPr marL="237061" indent="-237061">
              <a:spcBef>
                <a:spcPts val="1067"/>
              </a:spcBef>
              <a:buClr>
                <a:srgbClr val="FF0000"/>
              </a:buClr>
              <a:buSzPts val="1800"/>
            </a:pPr>
            <a:r>
              <a:rPr lang="en" sz="2400" b="1" dirty="0">
                <a:solidFill>
                  <a:srgbClr val="FF0000"/>
                </a:solidFill>
              </a:rPr>
              <a:t>9</a:t>
            </a:r>
            <a:r>
              <a:rPr lang="en" sz="2400" b="1" dirty="0"/>
              <a:t>-</a:t>
            </a:r>
            <a:r>
              <a:rPr lang="en" sz="2400" b="1" dirty="0">
                <a:solidFill>
                  <a:srgbClr val="FF0000"/>
                </a:solidFill>
              </a:rPr>
              <a:t>5</a:t>
            </a:r>
            <a:r>
              <a:rPr lang="en" sz="2400" b="1" dirty="0"/>
              <a:t>+</a:t>
            </a:r>
            <a:r>
              <a:rPr lang="en" sz="2400" b="1" dirty="0">
                <a:solidFill>
                  <a:srgbClr val="FF0000"/>
                </a:solidFill>
              </a:rPr>
              <a:t>2</a:t>
            </a:r>
            <a:r>
              <a:rPr lang="en" sz="2400" dirty="0"/>
              <a:t> postfix will be </a:t>
            </a:r>
            <a:r>
              <a:rPr lang="en" sz="2400" b="1" dirty="0">
                <a:solidFill>
                  <a:srgbClr val="FF0000"/>
                </a:solidFill>
              </a:rPr>
              <a:t>952</a:t>
            </a:r>
            <a:r>
              <a:rPr lang="en" sz="2400" b="1" dirty="0"/>
              <a:t>-+</a:t>
            </a:r>
            <a:endParaRPr dirty="0"/>
          </a:p>
          <a:p>
            <a:pPr marL="237061" indent="-237061">
              <a:spcBef>
                <a:spcPts val="1067"/>
              </a:spcBef>
              <a:buClr>
                <a:srgbClr val="FF0000"/>
              </a:buClr>
              <a:buSzPts val="1800"/>
            </a:pPr>
            <a:r>
              <a:rPr lang="en" sz="2400" dirty="0">
                <a:solidFill>
                  <a:srgbClr val="FF0000"/>
                </a:solidFill>
              </a:rPr>
              <a:t>952</a:t>
            </a:r>
            <a:r>
              <a:rPr lang="en" sz="2400" dirty="0"/>
              <a:t>+-</a:t>
            </a:r>
            <a:r>
              <a:rPr lang="en" sz="2400" dirty="0">
                <a:solidFill>
                  <a:srgbClr val="FF0000"/>
                </a:solidFill>
              </a:rPr>
              <a:t>3</a:t>
            </a:r>
            <a:r>
              <a:rPr lang="en" sz="2400" dirty="0"/>
              <a:t>*</a:t>
            </a:r>
            <a:r>
              <a:rPr lang="en" sz="2400" dirty="0">
                <a:solidFill>
                  <a:srgbClr val="FF0000"/>
                </a:solidFill>
              </a:rPr>
              <a:t> </a:t>
            </a:r>
            <a:endParaRPr dirty="0"/>
          </a:p>
          <a:p>
            <a:pPr marL="694249" lvl="1" indent="-245527">
              <a:spcBef>
                <a:spcPts val="533"/>
              </a:spcBef>
              <a:buClr>
                <a:schemeClr val="dk1"/>
              </a:buClr>
              <a:buSzPts val="1700"/>
            </a:pPr>
            <a:r>
              <a:rPr lang="en" sz="2267" dirty="0"/>
              <a:t>Scan from left, first we face + sign, solve 52+ will be 7</a:t>
            </a:r>
            <a:endParaRPr dirty="0"/>
          </a:p>
          <a:p>
            <a:pPr marL="694249" lvl="1" indent="-245527">
              <a:spcBef>
                <a:spcPts val="533"/>
              </a:spcBef>
              <a:buClr>
                <a:schemeClr val="dk1"/>
              </a:buClr>
              <a:buSzPts val="1700"/>
            </a:pPr>
            <a:r>
              <a:rPr lang="en" sz="2267" dirty="0"/>
              <a:t>Now 97-3*, first we face – sign, solve 97- will be 2</a:t>
            </a:r>
            <a:endParaRPr dirty="0"/>
          </a:p>
          <a:p>
            <a:pPr marL="694249" lvl="1" indent="-245527">
              <a:spcBef>
                <a:spcPts val="533"/>
              </a:spcBef>
              <a:buClr>
                <a:schemeClr val="dk1"/>
              </a:buClr>
              <a:buSzPts val="1700"/>
            </a:pPr>
            <a:r>
              <a:rPr lang="en" sz="2267" dirty="0"/>
              <a:t>Now 23* solve it as 6</a:t>
            </a:r>
            <a:endParaRPr dirty="0"/>
          </a:p>
          <a:p>
            <a:pPr marL="237061" indent="-84665">
              <a:spcBef>
                <a:spcPts val="1067"/>
              </a:spcBef>
              <a:buClr>
                <a:schemeClr val="dk1"/>
              </a:buClr>
              <a:buSzPts val="1800"/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0120701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300"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Convert into Postfix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50" name="Google Shape;1050;p168"/>
          <p:cNvGraphicFramePr/>
          <p:nvPr/>
        </p:nvGraphicFramePr>
        <p:xfrm>
          <a:off x="838200" y="2629695"/>
          <a:ext cx="10515600" cy="15393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47">
                <a:tc>
                  <a:txBody>
                    <a:bodyPr/>
                    <a:lstStyle/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" sz="3200" u="none" strike="noStrike" cap="none"/>
                        <a:t>A * B + C / D</a:t>
                      </a:r>
                      <a:endParaRPr sz="15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4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4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51" name="Google Shape;1051;p168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br>
              <a:rPr lang="en"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114511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1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300"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Convert into Postfix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57" name="Google Shape;1057;p169"/>
          <p:cNvGraphicFramePr/>
          <p:nvPr/>
        </p:nvGraphicFramePr>
        <p:xfrm>
          <a:off x="838200" y="2679571"/>
          <a:ext cx="10515600" cy="15393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67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47"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" sz="3200"/>
                        <a:t>A * B + C / D</a:t>
                      </a:r>
                      <a:endParaRPr sz="15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47"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" sz="3200"/>
                        <a:t>A * (B + C) / D</a:t>
                      </a:r>
                      <a:endParaRPr sz="15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4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58" name="Google Shape;1058;p169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br>
              <a:rPr lang="en"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52969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300"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Convert into Postfix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64" name="Google Shape;1064;p170"/>
          <p:cNvGraphicFramePr/>
          <p:nvPr/>
        </p:nvGraphicFramePr>
        <p:xfrm>
          <a:off x="838200" y="2629695"/>
          <a:ext cx="10515600" cy="173744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13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47"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" sz="3200"/>
                        <a:t>A * B + C / D</a:t>
                      </a:r>
                      <a:endParaRPr sz="15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47"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" sz="3200"/>
                        <a:t>A * (B + C) / D</a:t>
                      </a:r>
                      <a:endParaRPr sz="15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47"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" sz="3200"/>
                        <a:t>A * (B + C / D)</a:t>
                      </a:r>
                      <a:endParaRPr sz="15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65" name="Google Shape;1065;p170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br>
              <a:rPr lang="en"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25481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7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300"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Convert into Postfix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71" name="Google Shape;1071;p171"/>
          <p:cNvGraphicFramePr/>
          <p:nvPr/>
        </p:nvGraphicFramePr>
        <p:xfrm>
          <a:off x="2295041" y="2660691"/>
          <a:ext cx="6941967" cy="187626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5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7967">
                <a:tc>
                  <a:txBody>
                    <a:bodyPr/>
                    <a:lstStyle/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" sz="3200"/>
                        <a:t>A * B + C / D</a:t>
                      </a:r>
                      <a:endParaRPr sz="15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/>
                        <a:t>A B * C D / +</a:t>
                      </a:r>
                      <a:endParaRPr sz="15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47">
                <a:tc>
                  <a:txBody>
                    <a:bodyPr/>
                    <a:lstStyle/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" sz="3200"/>
                        <a:t>A * (B + C) / D</a:t>
                      </a:r>
                      <a:endParaRPr sz="15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/>
                        <a:t>A B C + * D /</a:t>
                      </a:r>
                      <a:endParaRPr sz="15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47">
                <a:tc>
                  <a:txBody>
                    <a:bodyPr/>
                    <a:lstStyle/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" sz="3200"/>
                        <a:t>A * (B + C / D)</a:t>
                      </a:r>
                      <a:endParaRPr sz="15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/>
                        <a:t>A B C D / + *</a:t>
                      </a:r>
                      <a:endParaRPr sz="1500"/>
                    </a:p>
                  </a:txBody>
                  <a:tcPr marL="91467" marR="91467" marT="45733" marB="457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72" name="Google Shape;1072;p171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br>
              <a:rPr lang="en"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84993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1C038-9F56-57E2-9F8B-4E8E3F2F3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Infix to Prefix Expressions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819B3-9F78-4A6B-9365-0B8737803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Input: </a:t>
            </a:r>
            <a:r>
              <a:rPr lang="en-US" dirty="0"/>
              <a:t>s</a:t>
            </a:r>
            <a:r>
              <a:rPr lang="en-US" b="1" dirty="0"/>
              <a:t> </a:t>
            </a:r>
            <a:r>
              <a:rPr lang="en-US" dirty="0"/>
              <a:t>=</a:t>
            </a:r>
            <a:r>
              <a:rPr lang="en-US" b="1" dirty="0"/>
              <a:t> </a:t>
            </a:r>
            <a:r>
              <a:rPr lang="en-US" dirty="0"/>
              <a:t>a*(</a:t>
            </a:r>
            <a:r>
              <a:rPr lang="en-US" dirty="0" err="1"/>
              <a:t>b+c</a:t>
            </a:r>
            <a:r>
              <a:rPr lang="en-US" dirty="0"/>
              <a:t>)/d</a:t>
            </a:r>
          </a:p>
          <a:p>
            <a:r>
              <a:rPr lang="en-US" b="1" dirty="0"/>
              <a:t>Output: </a:t>
            </a:r>
            <a:r>
              <a:rPr lang="en-US" dirty="0"/>
              <a:t>/*</a:t>
            </a:r>
            <a:r>
              <a:rPr lang="en-US" dirty="0" err="1"/>
              <a:t>a+bcd</a:t>
            </a:r>
            <a:br>
              <a:rPr lang="en-US" b="1" dirty="0"/>
            </a:br>
            <a:r>
              <a:rPr lang="en-US" b="1" dirty="0"/>
              <a:t>Explanation: </a:t>
            </a:r>
          </a:p>
          <a:p>
            <a:r>
              <a:rPr lang="en-US" dirty="0"/>
              <a:t>The infix expression is a*(</a:t>
            </a:r>
            <a:r>
              <a:rPr lang="en-US" dirty="0" err="1"/>
              <a:t>b+c</a:t>
            </a:r>
            <a:r>
              <a:rPr lang="en-US" dirty="0"/>
              <a:t>)/d. First, inside the brackets, b + c becomes +</a:t>
            </a:r>
            <a:r>
              <a:rPr lang="en-US" dirty="0" err="1"/>
              <a:t>bc</a:t>
            </a:r>
            <a:r>
              <a:rPr lang="en-US" dirty="0"/>
              <a:t>. Now the expression looks like a*(+</a:t>
            </a:r>
            <a:r>
              <a:rPr lang="en-US" dirty="0" err="1"/>
              <a:t>bc</a:t>
            </a:r>
            <a:r>
              <a:rPr lang="en-US" dirty="0"/>
              <a:t>)/d. Next, multiply a with (+</a:t>
            </a:r>
            <a:r>
              <a:rPr lang="en-US" dirty="0" err="1"/>
              <a:t>bc</a:t>
            </a:r>
            <a:r>
              <a:rPr lang="en-US" dirty="0"/>
              <a:t>), so it becomes *</a:t>
            </a:r>
            <a:r>
              <a:rPr lang="en-US" dirty="0" err="1"/>
              <a:t>a+bc</a:t>
            </a:r>
            <a:r>
              <a:rPr lang="en-US" dirty="0"/>
              <a:t>. Finally, divide this result by d, so it becomes /*</a:t>
            </a:r>
            <a:r>
              <a:rPr lang="en-US" dirty="0" err="1"/>
              <a:t>a+bcd</a:t>
            </a:r>
            <a:r>
              <a:rPr lang="en-US" dirty="0"/>
              <a:t>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178368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E6BA8-05C9-D6C3-7F4A-D413B4D4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Infix to Prefix Expressions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D3800-915F-EF4E-DE08-B7EDCC1DC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Input: </a:t>
            </a:r>
            <a:r>
              <a:rPr lang="en-US" dirty="0"/>
              <a:t>s = </a:t>
            </a:r>
            <a:r>
              <a:rPr lang="en-US" b="1" dirty="0"/>
              <a:t>(a-b/c)*(a/k-l)</a:t>
            </a:r>
            <a:br>
              <a:rPr lang="en-US" dirty="0"/>
            </a:br>
            <a:r>
              <a:rPr lang="en-US" b="1" dirty="0"/>
              <a:t>Output:</a:t>
            </a:r>
            <a:r>
              <a:rPr lang="en-US" dirty="0"/>
              <a:t> *-a/</a:t>
            </a:r>
            <a:r>
              <a:rPr lang="en-US" dirty="0" err="1"/>
              <a:t>bc</a:t>
            </a:r>
            <a:r>
              <a:rPr lang="en-US" dirty="0"/>
              <a:t>-/</a:t>
            </a:r>
            <a:r>
              <a:rPr lang="en-US" dirty="0" err="1"/>
              <a:t>akl</a:t>
            </a:r>
            <a:endParaRPr lang="en-US" dirty="0"/>
          </a:p>
          <a:p>
            <a:br>
              <a:rPr lang="en-US" dirty="0"/>
            </a:br>
            <a:r>
              <a:rPr lang="en-US" b="1" dirty="0"/>
              <a:t>Explanation: </a:t>
            </a:r>
          </a:p>
          <a:p>
            <a:r>
              <a:rPr lang="en-US" dirty="0"/>
              <a:t>The infix expression is (a-b/c)*(a/k-l). First, inside the brackets,</a:t>
            </a:r>
            <a:r>
              <a:rPr lang="en-US" b="1" dirty="0"/>
              <a:t> b/c </a:t>
            </a:r>
            <a:r>
              <a:rPr lang="en-US" dirty="0"/>
              <a:t>becomes </a:t>
            </a:r>
            <a:r>
              <a:rPr lang="en-US" b="1" dirty="0"/>
              <a:t>/</a:t>
            </a:r>
            <a:r>
              <a:rPr lang="en-US" b="1" dirty="0" err="1"/>
              <a:t>bc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/>
              <a:t>a/k </a:t>
            </a:r>
            <a:r>
              <a:rPr lang="en-US" dirty="0"/>
              <a:t>becomes </a:t>
            </a:r>
            <a:r>
              <a:rPr lang="en-US" b="1" dirty="0"/>
              <a:t>/</a:t>
            </a:r>
            <a:r>
              <a:rPr lang="en-US" b="1" dirty="0" err="1"/>
              <a:t>ak</a:t>
            </a:r>
            <a:r>
              <a:rPr lang="en-US" b="1" dirty="0"/>
              <a:t>.</a:t>
            </a:r>
          </a:p>
          <a:p>
            <a:r>
              <a:rPr lang="en-US" dirty="0"/>
              <a:t>Now the expression looks like (a-/</a:t>
            </a:r>
            <a:r>
              <a:rPr lang="en-US" dirty="0" err="1"/>
              <a:t>bc</a:t>
            </a:r>
            <a:r>
              <a:rPr lang="en-US" dirty="0"/>
              <a:t>) * (/</a:t>
            </a:r>
            <a:r>
              <a:rPr lang="en-US" dirty="0" err="1"/>
              <a:t>ak</a:t>
            </a:r>
            <a:r>
              <a:rPr lang="en-US" dirty="0"/>
              <a:t>-l).</a:t>
            </a:r>
          </a:p>
          <a:p>
            <a:r>
              <a:rPr lang="en-US" dirty="0"/>
              <a:t>Next, handle the subtractions: a-/</a:t>
            </a:r>
            <a:r>
              <a:rPr lang="en-US" dirty="0" err="1"/>
              <a:t>bc</a:t>
            </a:r>
            <a:r>
              <a:rPr lang="en-US" dirty="0"/>
              <a:t> becomes -a/</a:t>
            </a:r>
            <a:r>
              <a:rPr lang="en-US" dirty="0" err="1"/>
              <a:t>bc</a:t>
            </a:r>
            <a:r>
              <a:rPr lang="en-US" dirty="0"/>
              <a:t>, and /</a:t>
            </a:r>
            <a:r>
              <a:rPr lang="en-US" dirty="0" err="1"/>
              <a:t>ak</a:t>
            </a:r>
            <a:r>
              <a:rPr lang="en-US" dirty="0"/>
              <a:t>-l becomes -/</a:t>
            </a:r>
            <a:r>
              <a:rPr lang="en-US" dirty="0" err="1"/>
              <a:t>akl</a:t>
            </a:r>
            <a:r>
              <a:rPr lang="en-US" dirty="0"/>
              <a:t>. Finally, multiply the two results: (-a/</a:t>
            </a:r>
            <a:r>
              <a:rPr lang="en-US" dirty="0" err="1"/>
              <a:t>bc</a:t>
            </a:r>
            <a:r>
              <a:rPr lang="en-US" dirty="0"/>
              <a:t> * -/</a:t>
            </a:r>
            <a:r>
              <a:rPr lang="en-US" dirty="0" err="1"/>
              <a:t>akl</a:t>
            </a:r>
            <a:r>
              <a:rPr lang="en-US" dirty="0"/>
              <a:t>) becomes *-a/</a:t>
            </a:r>
            <a:r>
              <a:rPr lang="en-US" dirty="0" err="1"/>
              <a:t>bc</a:t>
            </a:r>
            <a:r>
              <a:rPr lang="en-US" dirty="0"/>
              <a:t>-/</a:t>
            </a:r>
            <a:r>
              <a:rPr lang="en-US" dirty="0" err="1"/>
              <a:t>akl</a:t>
            </a:r>
            <a:r>
              <a:rPr lang="en-US" dirty="0"/>
              <a:t>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586629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DFD47-18B7-3368-D0D1-0148B330D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 These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EA40-6E11-4F20-E71A-D173F5D05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(A + B) * (C - D)</a:t>
            </a:r>
          </a:p>
          <a:p>
            <a:r>
              <a:rPr lang="en-US" dirty="0"/>
              <a:t> a * (b + c) / d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8370280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r>
              <a:rPr lang="en-GB" dirty="0"/>
              <a:t>Compilers: Principles, Techniques, and Tools 2nd Edition</a:t>
            </a:r>
            <a:br>
              <a:rPr lang="en-GB" dirty="0"/>
            </a:br>
            <a:r>
              <a:rPr lang="en-GB" dirty="0"/>
              <a:t> by Alfred </a:t>
            </a:r>
            <a:r>
              <a:rPr lang="en-GB" dirty="0" err="1"/>
              <a:t>Aho</a:t>
            </a:r>
            <a:r>
              <a:rPr lang="en-GB" dirty="0"/>
              <a:t> , Jeffrey Ullman, Ravi </a:t>
            </a:r>
            <a:r>
              <a:rPr lang="en-GB" dirty="0" err="1"/>
              <a:t>Sethi</a:t>
            </a:r>
            <a:r>
              <a:rPr lang="en-GB" dirty="0"/>
              <a:t>, Monica Lam</a:t>
            </a:r>
          </a:p>
          <a:p>
            <a:endParaRPr lang="en-GB" dirty="0"/>
          </a:p>
          <a:p>
            <a:r>
              <a:rPr lang="en-GB" dirty="0"/>
              <a:t>Introduction to Compilers and Language Design | Second Edition | </a:t>
            </a:r>
            <a:r>
              <a:rPr lang="en-GB" dirty="0" err="1"/>
              <a:t>Prof.</a:t>
            </a:r>
            <a:r>
              <a:rPr lang="en-GB" dirty="0"/>
              <a:t> Douglas </a:t>
            </a:r>
            <a:r>
              <a:rPr lang="en-GB" dirty="0" err="1"/>
              <a:t>Thain</a:t>
            </a:r>
            <a:r>
              <a:rPr lang="en-GB" dirty="0"/>
              <a:t> - University of Notre Dame 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4787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25946</TotalTime>
  <Words>3741</Words>
  <Application>Microsoft Office PowerPoint</Application>
  <PresentationFormat>Widescreen</PresentationFormat>
  <Paragraphs>347</Paragraphs>
  <Slides>74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0" baseType="lpstr">
      <vt:lpstr>Arial</vt:lpstr>
      <vt:lpstr>Calibri</vt:lpstr>
      <vt:lpstr>Calibri Light</vt:lpstr>
      <vt:lpstr>Cambria Math</vt:lpstr>
      <vt:lpstr>quote-cjk-patch</vt:lpstr>
      <vt:lpstr>Office Theme</vt:lpstr>
      <vt:lpstr>Compiler Construction</vt:lpstr>
      <vt:lpstr>Week 9:</vt:lpstr>
      <vt:lpstr>Semantic Analysis</vt:lpstr>
      <vt:lpstr>Core Functions of Semantic Analysis</vt:lpstr>
      <vt:lpstr>The role of the symbol table</vt:lpstr>
      <vt:lpstr>Semantic errors vs. syntax errors</vt:lpstr>
      <vt:lpstr>Working of Semantic Analysis Phase</vt:lpstr>
      <vt:lpstr>Syntax Directed Definition (the What) </vt:lpstr>
      <vt:lpstr>Attributes of SDD (The Carriers)</vt:lpstr>
      <vt:lpstr>Two Key Types of Attributes</vt:lpstr>
      <vt:lpstr>Synthesized Attributes</vt:lpstr>
      <vt:lpstr>Synthesized Attribute Examples</vt:lpstr>
      <vt:lpstr> Inherited Attributes</vt:lpstr>
      <vt:lpstr> Inherited Attributes Example</vt:lpstr>
      <vt:lpstr> Inherited Attributes Example</vt:lpstr>
      <vt:lpstr>Circular Dependency of Inherited &amp; Synthesized Attributes</vt:lpstr>
      <vt:lpstr>Annotated Parse Tree Examples 1:</vt:lpstr>
      <vt:lpstr>Annotated Parse Tree Examples 2:</vt:lpstr>
      <vt:lpstr>PowerPoint Presentation</vt:lpstr>
      <vt:lpstr>PowerPoint Presentation</vt:lpstr>
      <vt:lpstr>PowerPoint Presentation</vt:lpstr>
      <vt:lpstr>Dependency Graph</vt:lpstr>
      <vt:lpstr>PowerPoint Presentation</vt:lpstr>
      <vt:lpstr>PowerPoint Presentation</vt:lpstr>
      <vt:lpstr>S-Attributes</vt:lpstr>
      <vt:lpstr>S-Attribute Example</vt:lpstr>
      <vt:lpstr>L-Attributed</vt:lpstr>
      <vt:lpstr>Examples oF L-Attribute</vt:lpstr>
      <vt:lpstr>S-Attribute Rules</vt:lpstr>
      <vt:lpstr>L-Attribute Rules</vt:lpstr>
      <vt:lpstr>PowerPoint Presentation</vt:lpstr>
      <vt:lpstr>Solution:</vt:lpstr>
      <vt:lpstr>PowerPoint Presentation</vt:lpstr>
      <vt:lpstr>Syntax Directed Translation Applications</vt:lpstr>
      <vt:lpstr>Construction of Syntax Trees</vt:lpstr>
      <vt:lpstr>Construction of Syntax Trees</vt:lpstr>
      <vt:lpstr>The Building Blocks</vt:lpstr>
      <vt:lpstr>The Building Blocks</vt:lpstr>
      <vt:lpstr>Examples: S-Attributed SDD</vt:lpstr>
      <vt:lpstr>PowerPoint Presentation</vt:lpstr>
      <vt:lpstr>Examples: S-Attributed SDD (For Bottom-Up Parsing)</vt:lpstr>
      <vt:lpstr>Building Syntax tree for a + b * c:</vt:lpstr>
      <vt:lpstr>Examples: L-Attributed SDD</vt:lpstr>
      <vt:lpstr>PowerPoint Presentation</vt:lpstr>
      <vt:lpstr>Syntax Directed Translation Schemes</vt:lpstr>
      <vt:lpstr>SDTs Implementation</vt:lpstr>
      <vt:lpstr>SDT Classes for Parser Integration:</vt:lpstr>
      <vt:lpstr>Postfix SDTs</vt:lpstr>
      <vt:lpstr>Desk Calculator Example</vt:lpstr>
      <vt:lpstr>How It Works in Parsing</vt:lpstr>
      <vt:lpstr>Parser-Stack Implementation of Postfix SDTs</vt:lpstr>
      <vt:lpstr>Example</vt:lpstr>
      <vt:lpstr>PowerPoint Presentation</vt:lpstr>
      <vt:lpstr>PowerPoint Presentation</vt:lpstr>
      <vt:lpstr>Stack Indexing in Practice</vt:lpstr>
      <vt:lpstr>More Examples</vt:lpstr>
      <vt:lpstr>SDT’s with actions inside productions</vt:lpstr>
      <vt:lpstr>PowerPoint Presentation</vt:lpstr>
      <vt:lpstr>Why It is problematic SDT?</vt:lpstr>
      <vt:lpstr>Simple Example</vt:lpstr>
      <vt:lpstr>Any SDT can be implemented as follows:</vt:lpstr>
      <vt:lpstr>PowerPoint Presentation</vt:lpstr>
      <vt:lpstr>Eliminating Left Recursion for SDT’s</vt:lpstr>
      <vt:lpstr>Infix VS Postfix Notation</vt:lpstr>
      <vt:lpstr>Postfix Notation</vt:lpstr>
      <vt:lpstr>Postfix Notation (Example)</vt:lpstr>
      <vt:lpstr>Convert into Postfix</vt:lpstr>
      <vt:lpstr>Convert into Postfix</vt:lpstr>
      <vt:lpstr>Convert into Postfix</vt:lpstr>
      <vt:lpstr>Convert into Postfix</vt:lpstr>
      <vt:lpstr>Infix to Prefix Expressions</vt:lpstr>
      <vt:lpstr>Infix to Prefix Expressions</vt:lpstr>
      <vt:lpstr>Try These</vt:lpstr>
      <vt:lpstr>Reference: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Construction</dc:title>
  <dc:creator>Zufiqar Ali</dc:creator>
  <cp:lastModifiedBy>Tesla Laptops</cp:lastModifiedBy>
  <cp:revision>1614</cp:revision>
  <dcterms:created xsi:type="dcterms:W3CDTF">2025-08-08T09:42:33Z</dcterms:created>
  <dcterms:modified xsi:type="dcterms:W3CDTF">2026-04-21T05:56:06Z</dcterms:modified>
</cp:coreProperties>
</file>