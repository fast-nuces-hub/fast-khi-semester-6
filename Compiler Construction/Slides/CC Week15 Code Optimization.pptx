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56" r:id="rId3"/>
    <p:sldId id="258" r:id="rId4"/>
    <p:sldId id="312" r:id="rId5"/>
    <p:sldId id="313" r:id="rId6"/>
    <p:sldId id="314" r:id="rId7"/>
    <p:sldId id="315" r:id="rId8"/>
    <p:sldId id="316" r:id="rId9"/>
    <p:sldId id="317" r:id="rId10"/>
    <p:sldId id="318" r:id="rId11"/>
    <p:sldId id="319" r:id="rId12"/>
    <p:sldId id="320" r:id="rId13"/>
    <p:sldId id="321" r:id="rId14"/>
    <p:sldId id="332" r:id="rId15"/>
    <p:sldId id="322" r:id="rId16"/>
    <p:sldId id="323" r:id="rId17"/>
    <p:sldId id="324" r:id="rId18"/>
    <p:sldId id="325" r:id="rId19"/>
    <p:sldId id="326" r:id="rId20"/>
    <p:sldId id="327" r:id="rId21"/>
    <p:sldId id="328" r:id="rId22"/>
    <p:sldId id="329" r:id="rId23"/>
    <p:sldId id="330" r:id="rId24"/>
    <p:sldId id="331" r:id="rId25"/>
    <p:sldId id="333" r:id="rId26"/>
    <p:sldId id="310" r:id="rId27"/>
    <p:sldId id="290" r:id="rId2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020"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AA42E8-4780-4BC2-AF35-2340AC82208F}" type="datetimeFigureOut">
              <a:rPr lang="en-US" smtClean="0"/>
              <a:t>5/7/2026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008718-F271-459F-AEBA-D315249C88F9}" type="slidenum">
              <a:rPr lang="en-US" smtClean="0"/>
              <a:t>‹#›</a:t>
            </a:fld>
            <a:endParaRPr lang="en-US"/>
          </a:p>
        </p:txBody>
      </p:sp>
    </p:spTree>
    <p:extLst>
      <p:ext uri="{BB962C8B-B14F-4D97-AF65-F5344CB8AC3E}">
        <p14:creationId xmlns:p14="http://schemas.microsoft.com/office/powerpoint/2010/main" val="2406170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1BD8411-2C30-4A6C-ACCA-70820AEA0F2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774528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D8411-2C30-4A6C-ACCA-70820AEA0F2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89615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BD8411-2C30-4A6C-ACCA-70820AEA0F2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836772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1BD8411-2C30-4A6C-ACCA-70820AEA0F2E}"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422566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BD8411-2C30-4A6C-ACCA-70820AEA0F2E}"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1543717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BD8411-2C30-4A6C-ACCA-70820AEA0F2E}"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1430153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BD8411-2C30-4A6C-ACCA-70820AEA0F2E}"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262945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BD8411-2C30-4A6C-ACCA-70820AEA0F2E}"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90420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BD8411-2C30-4A6C-ACCA-70820AEA0F2E}"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600881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D8411-2C30-4A6C-ACCA-70820AEA0F2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53701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D8411-2C30-4A6C-ACCA-70820AEA0F2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6038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a:spLocks noChangeAspect="1"/>
          </p:cNvSpPr>
          <p:nvPr userDrawn="1"/>
        </p:nvSpPr>
        <p:spPr>
          <a:xfrm>
            <a:off x="268288" y="230787"/>
            <a:ext cx="8607425" cy="46819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1BD8411-2C30-4A6C-ACCA-70820AEA0F2E}" type="datetimeFigureOut">
              <a:rPr lang="en-US" smtClean="0"/>
              <a:t>5/7/2026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33643B3-06AC-48C4-9ABA-65AE50456005}" type="slidenum">
              <a:rPr lang="en-US" smtClean="0"/>
              <a:t>‹#›</a:t>
            </a:fld>
            <a:endParaRPr lang="en-US"/>
          </a:p>
        </p:txBody>
      </p:sp>
    </p:spTree>
    <p:extLst>
      <p:ext uri="{BB962C8B-B14F-4D97-AF65-F5344CB8AC3E}">
        <p14:creationId xmlns:p14="http://schemas.microsoft.com/office/powerpoint/2010/main" val="469595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0.png"/><Relationship Id="rId1" Type="http://schemas.openxmlformats.org/officeDocument/2006/relationships/slideLayout" Target="../slideLayouts/slideLayout2.xml"/><Relationship Id="rId5" Type="http://schemas.microsoft.com/office/2007/relationships/hdphoto" Target="../media/hdphoto7.wdp"/><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0" y="590550"/>
            <a:ext cx="4058335" cy="3943350"/>
          </a:xfrm>
        </p:spPr>
      </p:pic>
    </p:spTree>
    <p:extLst>
      <p:ext uri="{BB962C8B-B14F-4D97-AF65-F5344CB8AC3E}">
        <p14:creationId xmlns:p14="http://schemas.microsoft.com/office/powerpoint/2010/main" val="359817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Compiler Constructions</a:t>
            </a:r>
          </a:p>
        </p:txBody>
      </p:sp>
      <p:sp>
        <p:nvSpPr>
          <p:cNvPr id="3" name="Subtitle 2"/>
          <p:cNvSpPr>
            <a:spLocks noGrp="1"/>
          </p:cNvSpPr>
          <p:nvPr>
            <p:ph type="subTitle" idx="1"/>
          </p:nvPr>
        </p:nvSpPr>
        <p:spPr/>
        <p:txBody>
          <a:bodyPr>
            <a:normAutofit/>
          </a:bodyPr>
          <a:lstStyle/>
          <a:p>
            <a:r>
              <a:rPr lang="en-US" sz="1800" dirty="0" err="1"/>
              <a:t>Zulfiqar</a:t>
            </a:r>
            <a:r>
              <a:rPr lang="en-US" sz="1800" dirty="0"/>
              <a:t> Ali</a:t>
            </a:r>
          </a:p>
          <a:p>
            <a:r>
              <a:rPr lang="en-US" sz="1800" dirty="0"/>
              <a:t>FAST NUCES</a:t>
            </a:r>
          </a:p>
        </p:txBody>
      </p:sp>
    </p:spTree>
    <p:extLst>
      <p:ext uri="{BB962C8B-B14F-4D97-AF65-F5344CB8AC3E}">
        <p14:creationId xmlns:p14="http://schemas.microsoft.com/office/powerpoint/2010/main" val="3957433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Week 15 – Code Optimization</a:t>
            </a:r>
          </a:p>
        </p:txBody>
      </p:sp>
      <p:sp>
        <p:nvSpPr>
          <p:cNvPr id="3" name="Content Placeholder 2"/>
          <p:cNvSpPr>
            <a:spLocks noGrp="1"/>
          </p:cNvSpPr>
          <p:nvPr>
            <p:ph idx="1"/>
          </p:nvPr>
        </p:nvSpPr>
        <p:spPr/>
        <p:txBody>
          <a:bodyPr>
            <a:normAutofit/>
          </a:bodyPr>
          <a:lstStyle/>
          <a:p>
            <a:r>
              <a:rPr lang="en-US" dirty="0"/>
              <a:t>Intermediate Code Optimization</a:t>
            </a:r>
          </a:p>
          <a:p>
            <a:endParaRPr lang="en-US" dirty="0"/>
          </a:p>
        </p:txBody>
      </p:sp>
    </p:spTree>
    <p:extLst>
      <p:ext uri="{BB962C8B-B14F-4D97-AF65-F5344CB8AC3E}">
        <p14:creationId xmlns:p14="http://schemas.microsoft.com/office/powerpoint/2010/main" val="1519035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Code Optimization:</a:t>
            </a:r>
          </a:p>
        </p:txBody>
      </p:sp>
      <p:sp>
        <p:nvSpPr>
          <p:cNvPr id="3" name="Content Placeholder 2"/>
          <p:cNvSpPr>
            <a:spLocks noGrp="1"/>
          </p:cNvSpPr>
          <p:nvPr>
            <p:ph idx="1"/>
          </p:nvPr>
        </p:nvSpPr>
        <p:spPr/>
        <p:txBody>
          <a:bodyPr>
            <a:normAutofit fontScale="70000" lnSpcReduction="20000"/>
          </a:bodyPr>
          <a:lstStyle/>
          <a:p>
            <a:r>
              <a:rPr lang="en-US" dirty="0"/>
              <a:t>The optimization process can be broadly classified into two types:</a:t>
            </a:r>
          </a:p>
          <a:p>
            <a:pPr lvl="1"/>
            <a:r>
              <a:rPr lang="en-US" b="1" dirty="0"/>
              <a:t>Machine Independent Optimization:</a:t>
            </a:r>
            <a:r>
              <a:rPr lang="en-US" dirty="0"/>
              <a:t> This code optimization phase attempts to improve the </a:t>
            </a:r>
            <a:r>
              <a:rPr lang="en-US" b="1" dirty="0"/>
              <a:t>intermediate code</a:t>
            </a:r>
            <a:r>
              <a:rPr lang="en-US" dirty="0"/>
              <a:t> to get a better target code as the output. The part of the intermediate code which is transformed here does not involve any CPU registers or absolute memory locations.</a:t>
            </a:r>
          </a:p>
          <a:p>
            <a:pPr lvl="1"/>
            <a:endParaRPr lang="en-US" dirty="0"/>
          </a:p>
          <a:p>
            <a:pPr lvl="1"/>
            <a:r>
              <a:rPr lang="en-US" b="1" dirty="0"/>
              <a:t>Machine Dependent Optimization:</a:t>
            </a:r>
            <a:r>
              <a:rPr lang="en-US" dirty="0"/>
              <a:t> Machine-dependent optimization is done after the </a:t>
            </a:r>
            <a:r>
              <a:rPr lang="en-US" b="1" dirty="0"/>
              <a:t>target code</a:t>
            </a:r>
            <a:r>
              <a:rPr lang="en-US" dirty="0"/>
              <a:t> has been generated and when the code is transformed according to the target machine architecture. It involves CPU registers and may have absolute memory references rather than relative references. Machine-dependent optimizers put efforts to take maximum </a:t>
            </a:r>
            <a:r>
              <a:rPr lang="en-US" b="1" dirty="0"/>
              <a:t>advantage</a:t>
            </a:r>
            <a:r>
              <a:rPr lang="en-US" dirty="0"/>
              <a:t> of the memory hierarchy.</a:t>
            </a:r>
          </a:p>
          <a:p>
            <a:endParaRPr lang="en-US" dirty="0"/>
          </a:p>
        </p:txBody>
      </p:sp>
    </p:spTree>
    <p:extLst>
      <p:ext uri="{BB962C8B-B14F-4D97-AF65-F5344CB8AC3E}">
        <p14:creationId xmlns:p14="http://schemas.microsoft.com/office/powerpoint/2010/main" val="193277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Different ways of Code Optimization</a:t>
            </a:r>
          </a:p>
        </p:txBody>
      </p:sp>
      <p:sp>
        <p:nvSpPr>
          <p:cNvPr id="3" name="Content Placeholder 2"/>
          <p:cNvSpPr>
            <a:spLocks noGrp="1"/>
          </p:cNvSpPr>
          <p:nvPr>
            <p:ph idx="1"/>
          </p:nvPr>
        </p:nvSpPr>
        <p:spPr>
          <a:xfrm>
            <a:off x="457200" y="1047750"/>
            <a:ext cx="8229600" cy="3810000"/>
          </a:xfrm>
        </p:spPr>
        <p:txBody>
          <a:bodyPr>
            <a:normAutofit fontScale="62500" lnSpcReduction="20000"/>
          </a:bodyPr>
          <a:lstStyle/>
          <a:p>
            <a:r>
              <a:rPr lang="en-US" dirty="0"/>
              <a:t>Compile Time Evaluation</a:t>
            </a:r>
          </a:p>
          <a:p>
            <a:pPr lvl="1"/>
            <a:r>
              <a:rPr lang="en-US" dirty="0"/>
              <a:t>Variable Propagation</a:t>
            </a:r>
          </a:p>
          <a:p>
            <a:pPr lvl="1"/>
            <a:r>
              <a:rPr lang="en-US" dirty="0"/>
              <a:t>Constant Propagation:</a:t>
            </a:r>
          </a:p>
          <a:p>
            <a:pPr lvl="1"/>
            <a:r>
              <a:rPr lang="en-US" dirty="0"/>
              <a:t>Constant Folding</a:t>
            </a:r>
          </a:p>
          <a:p>
            <a:pPr lvl="1"/>
            <a:r>
              <a:rPr lang="en-US" dirty="0"/>
              <a:t>Copy Propagation</a:t>
            </a:r>
          </a:p>
          <a:p>
            <a:r>
              <a:rPr lang="en-US" dirty="0"/>
              <a:t>Common Sub Expression Elimination</a:t>
            </a:r>
          </a:p>
          <a:p>
            <a:r>
              <a:rPr lang="en-US" dirty="0"/>
              <a:t>Dead Code Elimination</a:t>
            </a:r>
          </a:p>
          <a:p>
            <a:r>
              <a:rPr lang="en-US" dirty="0"/>
              <a:t>Unreachable Code Elimination</a:t>
            </a:r>
          </a:p>
          <a:p>
            <a:r>
              <a:rPr lang="en-US" dirty="0"/>
              <a:t>Function </a:t>
            </a:r>
            <a:r>
              <a:rPr lang="en-US" dirty="0" err="1"/>
              <a:t>Inlining</a:t>
            </a:r>
            <a:endParaRPr lang="en-US" dirty="0"/>
          </a:p>
          <a:p>
            <a:r>
              <a:rPr lang="en-US" dirty="0"/>
              <a:t>Function Cloning</a:t>
            </a:r>
          </a:p>
          <a:p>
            <a:r>
              <a:rPr lang="en-US" dirty="0"/>
              <a:t>Strength Reduction</a:t>
            </a:r>
          </a:p>
          <a:p>
            <a:r>
              <a:rPr lang="en-US" dirty="0"/>
              <a:t>Loop Optimization Techniques</a:t>
            </a:r>
          </a:p>
          <a:p>
            <a:endParaRPr lang="en-US" dirty="0"/>
          </a:p>
        </p:txBody>
      </p:sp>
    </p:spTree>
    <p:extLst>
      <p:ext uri="{BB962C8B-B14F-4D97-AF65-F5344CB8AC3E}">
        <p14:creationId xmlns:p14="http://schemas.microsoft.com/office/powerpoint/2010/main" val="309968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Compile Time Evaluation</a:t>
            </a:r>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314451" y="1373452"/>
            <a:ext cx="5119688" cy="1415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8783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Variable Propagation</a:t>
            </a:r>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428750"/>
            <a:ext cx="4110038" cy="295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6421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Constant Propagation:</a:t>
            </a:r>
          </a:p>
        </p:txBody>
      </p:sp>
      <p:sp>
        <p:nvSpPr>
          <p:cNvPr id="3" name="Content Placeholder 2"/>
          <p:cNvSpPr>
            <a:spLocks noGrp="1"/>
          </p:cNvSpPr>
          <p:nvPr>
            <p:ph idx="1"/>
          </p:nvPr>
        </p:nvSpPr>
        <p:spPr/>
        <p:txBody>
          <a:bodyPr>
            <a:normAutofit/>
          </a:bodyPr>
          <a:lstStyle/>
          <a:p>
            <a:r>
              <a:rPr lang="en-US" sz="2400" dirty="0"/>
              <a:t>If the value of a variable is a constant, then replace the variable with the constant. The variable may not always be a constant.</a:t>
            </a:r>
          </a:p>
          <a:p>
            <a:endParaRPr lang="en-US" sz="2400" dirty="0"/>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143000" y="2343150"/>
            <a:ext cx="6858000" cy="226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0985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Constant Folding</a:t>
            </a:r>
          </a:p>
        </p:txBody>
      </p:sp>
      <p:sp>
        <p:nvSpPr>
          <p:cNvPr id="3" name="Content Placeholder 2"/>
          <p:cNvSpPr>
            <a:spLocks noGrp="1"/>
          </p:cNvSpPr>
          <p:nvPr>
            <p:ph idx="1"/>
          </p:nvPr>
        </p:nvSpPr>
        <p:spPr/>
        <p:txBody>
          <a:bodyPr>
            <a:normAutofit/>
          </a:bodyPr>
          <a:lstStyle/>
          <a:p>
            <a:r>
              <a:rPr lang="en-US" sz="2800" dirty="0"/>
              <a:t>Consider an expression : a = b op c and the values b and c are constants, then the value of a can be computed at compile time.</a:t>
            </a:r>
          </a:p>
          <a:p>
            <a:endParaRPr lang="en-US" sz="2800" dirty="0"/>
          </a:p>
        </p:txBody>
      </p:sp>
      <p:pic>
        <p:nvPicPr>
          <p:cNvPr id="409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90600" y="2600323"/>
            <a:ext cx="7203613"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3819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Copy Propagation</a:t>
            </a:r>
            <a:endParaRPr lang="en-US" dirty="0"/>
          </a:p>
        </p:txBody>
      </p:sp>
      <p:sp>
        <p:nvSpPr>
          <p:cNvPr id="3" name="Content Placeholder 2"/>
          <p:cNvSpPr>
            <a:spLocks noGrp="1"/>
          </p:cNvSpPr>
          <p:nvPr>
            <p:ph idx="1"/>
          </p:nvPr>
        </p:nvSpPr>
        <p:spPr/>
        <p:txBody>
          <a:bodyPr>
            <a:normAutofit/>
          </a:bodyPr>
          <a:lstStyle/>
          <a:p>
            <a:r>
              <a:rPr lang="en-US" sz="2400" dirty="0"/>
              <a:t> It is extension of constant propagation.</a:t>
            </a:r>
          </a:p>
          <a:p>
            <a:r>
              <a:rPr lang="en-US" sz="2400" dirty="0"/>
              <a:t> After a is assigned to x, use a to replace x till a is assigned again to another variable or value or expression.</a:t>
            </a:r>
          </a:p>
          <a:p>
            <a:r>
              <a:rPr lang="en-US" sz="2400" dirty="0"/>
              <a:t>It helps in reducing the compile time as it reduces copying.</a:t>
            </a:r>
          </a:p>
          <a:p>
            <a:endParaRPr lang="en-US" sz="2400" dirty="0"/>
          </a:p>
        </p:txBody>
      </p:sp>
      <p:pic>
        <p:nvPicPr>
          <p:cNvPr id="512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905000" y="2952750"/>
            <a:ext cx="3621852"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7371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Sub Expression Elimination</a:t>
            </a:r>
          </a:p>
        </p:txBody>
      </p:sp>
      <p:sp>
        <p:nvSpPr>
          <p:cNvPr id="3" name="Content Placeholder 2"/>
          <p:cNvSpPr>
            <a:spLocks noGrp="1"/>
          </p:cNvSpPr>
          <p:nvPr>
            <p:ph idx="1"/>
          </p:nvPr>
        </p:nvSpPr>
        <p:spPr/>
        <p:txBody>
          <a:bodyPr/>
          <a:lstStyle/>
          <a:p>
            <a:r>
              <a:rPr lang="en-US" dirty="0"/>
              <a:t>In the following example, a*b and x*b is a common sub expression.</a:t>
            </a:r>
          </a:p>
          <a:p>
            <a:endParaRPr lang="en-US" dirty="0"/>
          </a:p>
        </p:txBody>
      </p:sp>
      <p:pic>
        <p:nvPicPr>
          <p:cNvPr id="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133600" y="2419350"/>
            <a:ext cx="3621852"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2513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 Code Elimination</a:t>
            </a:r>
          </a:p>
        </p:txBody>
      </p:sp>
      <p:sp>
        <p:nvSpPr>
          <p:cNvPr id="3" name="Content Placeholder 2"/>
          <p:cNvSpPr>
            <a:spLocks noGrp="1"/>
          </p:cNvSpPr>
          <p:nvPr>
            <p:ph idx="1"/>
          </p:nvPr>
        </p:nvSpPr>
        <p:spPr/>
        <p:txBody>
          <a:bodyPr>
            <a:normAutofit/>
          </a:bodyPr>
          <a:lstStyle/>
          <a:p>
            <a:r>
              <a:rPr lang="en-US" sz="2400" dirty="0"/>
              <a:t>The statements of the code which either never executes or are unreachable or their output is never used are eliminated.</a:t>
            </a:r>
          </a:p>
          <a:p>
            <a:r>
              <a:rPr lang="en-US" sz="2400" dirty="0"/>
              <a:t>In order to find the dead variables, a data flow analysis should be done.</a:t>
            </a:r>
          </a:p>
          <a:p>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3105519931"/>
              </p:ext>
            </p:extLst>
          </p:nvPr>
        </p:nvGraphicFramePr>
        <p:xfrm>
          <a:off x="762000" y="2952750"/>
          <a:ext cx="7406640" cy="1737360"/>
        </p:xfrm>
        <a:graphic>
          <a:graphicData uri="http://schemas.openxmlformats.org/drawingml/2006/table">
            <a:tbl>
              <a:tblPr/>
              <a:tblGrid>
                <a:gridCol w="3851071">
                  <a:extLst>
                    <a:ext uri="{9D8B030D-6E8A-4147-A177-3AD203B41FA5}">
                      <a16:colId xmlns:a16="http://schemas.microsoft.com/office/drawing/2014/main" val="20000"/>
                    </a:ext>
                  </a:extLst>
                </a:gridCol>
                <a:gridCol w="3555569">
                  <a:extLst>
                    <a:ext uri="{9D8B030D-6E8A-4147-A177-3AD203B41FA5}">
                      <a16:colId xmlns:a16="http://schemas.microsoft.com/office/drawing/2014/main" val="20001"/>
                    </a:ext>
                  </a:extLst>
                </a:gridCol>
              </a:tblGrid>
              <a:tr h="0">
                <a:tc>
                  <a:txBody>
                    <a:bodyPr/>
                    <a:lstStyle/>
                    <a:p>
                      <a:pPr algn="ctr"/>
                      <a:r>
                        <a:rPr lang="en-US" sz="1200" b="1" dirty="0">
                          <a:effectLst/>
                        </a:rPr>
                        <a:t>Code Before Optimization</a:t>
                      </a:r>
                      <a:endParaRPr lang="en-US" dirty="0">
                        <a:effectLst/>
                      </a:endParaRPr>
                    </a:p>
                  </a:txBody>
                  <a:tcPr anchor="ctr">
                    <a:lnL>
                      <a:noFill/>
                    </a:lnL>
                    <a:lnR>
                      <a:noFill/>
                    </a:lnR>
                    <a:lnT>
                      <a:noFill/>
                    </a:lnT>
                    <a:lnB>
                      <a:noFill/>
                    </a:lnB>
                  </a:tcPr>
                </a:tc>
                <a:tc>
                  <a:txBody>
                    <a:bodyPr/>
                    <a:lstStyle/>
                    <a:p>
                      <a:pPr algn="ctr"/>
                      <a:r>
                        <a:rPr lang="en-US" sz="1200" b="1">
                          <a:effectLst/>
                        </a:rPr>
                        <a:t>Code After Optimization</a:t>
                      </a:r>
                      <a:endParaRPr lang="en-US">
                        <a:effectLst/>
                      </a:endParaRP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US" dirty="0">
                          <a:effectLst/>
                        </a:rPr>
                        <a:t>i = 0 ;</a:t>
                      </a:r>
                    </a:p>
                    <a:p>
                      <a:r>
                        <a:rPr lang="en-US" dirty="0">
                          <a:effectLst/>
                        </a:rPr>
                        <a:t>if (i == 1)</a:t>
                      </a:r>
                    </a:p>
                    <a:p>
                      <a:r>
                        <a:rPr lang="en-US" dirty="0">
                          <a:effectLst/>
                        </a:rPr>
                        <a:t>{</a:t>
                      </a:r>
                    </a:p>
                    <a:p>
                      <a:r>
                        <a:rPr lang="en-US" dirty="0">
                          <a:effectLst/>
                        </a:rPr>
                        <a:t>a = x + 5 ;</a:t>
                      </a:r>
                    </a:p>
                    <a:p>
                      <a:r>
                        <a:rPr lang="en-US" dirty="0">
                          <a:effectLst/>
                        </a:rPr>
                        <a:t>}</a:t>
                      </a:r>
                    </a:p>
                  </a:txBody>
                  <a:tcPr anchor="ctr">
                    <a:lnL>
                      <a:noFill/>
                    </a:lnL>
                    <a:lnR>
                      <a:noFill/>
                    </a:lnR>
                    <a:lnT>
                      <a:noFill/>
                    </a:lnT>
                    <a:lnB>
                      <a:noFill/>
                    </a:lnB>
                  </a:tcPr>
                </a:tc>
                <a:tc>
                  <a:txBody>
                    <a:bodyPr/>
                    <a:lstStyle/>
                    <a:p>
                      <a:pPr algn="ctr"/>
                      <a:r>
                        <a:rPr lang="en-US" dirty="0">
                          <a:effectLst/>
                        </a:rPr>
                        <a:t>i = 0 ;</a:t>
                      </a:r>
                    </a:p>
                  </a:txBody>
                  <a:tcPr anchor="ctr">
                    <a:lnL>
                      <a:noFill/>
                    </a:lnL>
                    <a:lnR>
                      <a:noFill/>
                    </a:lnR>
                    <a:lnT>
                      <a:noFill/>
                    </a:lnT>
                    <a:lnB>
                      <a:noFill/>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59024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Function </a:t>
            </a:r>
            <a:r>
              <a:rPr lang="en-US" b="1" dirty="0" err="1"/>
              <a:t>Inlining</a:t>
            </a:r>
            <a:r>
              <a:rPr lang="en-US" b="1" dirty="0"/>
              <a:t>: </a:t>
            </a:r>
            <a:endParaRPr lang="en-US" dirty="0"/>
          </a:p>
        </p:txBody>
      </p:sp>
      <p:sp>
        <p:nvSpPr>
          <p:cNvPr id="3" name="Content Placeholder 2"/>
          <p:cNvSpPr>
            <a:spLocks noGrp="1"/>
          </p:cNvSpPr>
          <p:nvPr>
            <p:ph idx="1"/>
          </p:nvPr>
        </p:nvSpPr>
        <p:spPr/>
        <p:txBody>
          <a:bodyPr>
            <a:normAutofit/>
          </a:bodyPr>
          <a:lstStyle/>
          <a:p>
            <a:r>
              <a:rPr lang="en-US" sz="2400" dirty="0"/>
              <a:t>Here, a function call is replaced by the body of the function itself.</a:t>
            </a:r>
          </a:p>
          <a:p>
            <a:r>
              <a:rPr lang="en-US" sz="2400" dirty="0"/>
              <a:t>This saves a lot of time in copying all the parameters, storing the return address, etc.</a:t>
            </a:r>
          </a:p>
          <a:p>
            <a:endParaRPr lang="en-US" sz="2400" dirty="0"/>
          </a:p>
        </p:txBody>
      </p:sp>
    </p:spTree>
    <p:extLst>
      <p:ext uri="{BB962C8B-B14F-4D97-AF65-F5344CB8AC3E}">
        <p14:creationId xmlns:p14="http://schemas.microsoft.com/office/powerpoint/2010/main" val="840176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315F1-45CB-40A9-8AFC-FD248864F5F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E827966-A4F7-42AE-80F9-CDA1CC92C019}"/>
              </a:ext>
            </a:extLst>
          </p:cNvPr>
          <p:cNvPicPr>
            <a:picLocks noGrp="1" noChangeAspect="1"/>
          </p:cNvPicPr>
          <p:nvPr>
            <p:ph idx="1"/>
          </p:nvPr>
        </p:nvPicPr>
        <p:blipFill>
          <a:blip r:embed="rId2"/>
          <a:stretch>
            <a:fillRect/>
          </a:stretch>
        </p:blipFill>
        <p:spPr>
          <a:xfrm>
            <a:off x="1371600" y="1200150"/>
            <a:ext cx="6019800" cy="2967336"/>
          </a:xfrm>
          <a:prstGeom prst="rect">
            <a:avLst/>
          </a:prstGeom>
        </p:spPr>
      </p:pic>
    </p:spTree>
    <p:extLst>
      <p:ext uri="{BB962C8B-B14F-4D97-AF65-F5344CB8AC3E}">
        <p14:creationId xmlns:p14="http://schemas.microsoft.com/office/powerpoint/2010/main" val="251851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Function Cloning</a:t>
            </a:r>
            <a:endParaRPr lang="en-US" dirty="0"/>
          </a:p>
        </p:txBody>
      </p:sp>
      <p:sp>
        <p:nvSpPr>
          <p:cNvPr id="3" name="Content Placeholder 2"/>
          <p:cNvSpPr>
            <a:spLocks noGrp="1"/>
          </p:cNvSpPr>
          <p:nvPr>
            <p:ph idx="1"/>
          </p:nvPr>
        </p:nvSpPr>
        <p:spPr/>
        <p:txBody>
          <a:bodyPr/>
          <a:lstStyle/>
          <a:p>
            <a:r>
              <a:rPr lang="en-US" dirty="0"/>
              <a:t>Here, specialized codes for a function are created for different calling parameters.</a:t>
            </a:r>
          </a:p>
          <a:p>
            <a:r>
              <a:rPr lang="en-US" b="1" dirty="0"/>
              <a:t>Example: </a:t>
            </a:r>
            <a:r>
              <a:rPr lang="en-US" dirty="0"/>
              <a:t>Function Overloading</a:t>
            </a:r>
          </a:p>
          <a:p>
            <a:endParaRPr lang="en-US" dirty="0"/>
          </a:p>
        </p:txBody>
      </p:sp>
    </p:spTree>
    <p:extLst>
      <p:ext uri="{BB962C8B-B14F-4D97-AF65-F5344CB8AC3E}">
        <p14:creationId xmlns:p14="http://schemas.microsoft.com/office/powerpoint/2010/main" val="2497079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Strength Reduction</a:t>
            </a:r>
          </a:p>
        </p:txBody>
      </p:sp>
      <p:sp>
        <p:nvSpPr>
          <p:cNvPr id="3" name="Content Placeholder 2"/>
          <p:cNvSpPr>
            <a:spLocks noGrp="1"/>
          </p:cNvSpPr>
          <p:nvPr>
            <p:ph idx="1"/>
          </p:nvPr>
        </p:nvSpPr>
        <p:spPr/>
        <p:txBody>
          <a:bodyPr/>
          <a:lstStyle/>
          <a:p>
            <a:r>
              <a:rPr lang="en-US" dirty="0"/>
              <a:t>Strength reduction means replacing the high strength operator with a low strength.</a:t>
            </a:r>
          </a:p>
          <a:p>
            <a:endParaRPr lang="en-US" dirty="0"/>
          </a:p>
        </p:txBody>
      </p:sp>
      <p:graphicFrame>
        <p:nvGraphicFramePr>
          <p:cNvPr id="9" name="Table 8"/>
          <p:cNvGraphicFramePr>
            <a:graphicFrameLocks noGrp="1"/>
          </p:cNvGraphicFramePr>
          <p:nvPr/>
        </p:nvGraphicFramePr>
        <p:xfrm>
          <a:off x="868680" y="2577147"/>
          <a:ext cx="7406640" cy="640080"/>
        </p:xfrm>
        <a:graphic>
          <a:graphicData uri="http://schemas.openxmlformats.org/drawingml/2006/table">
            <a:tbl>
              <a:tblPr/>
              <a:tblGrid>
                <a:gridCol w="3841848">
                  <a:extLst>
                    <a:ext uri="{9D8B030D-6E8A-4147-A177-3AD203B41FA5}">
                      <a16:colId xmlns:a16="http://schemas.microsoft.com/office/drawing/2014/main" val="20000"/>
                    </a:ext>
                  </a:extLst>
                </a:gridCol>
                <a:gridCol w="3564792">
                  <a:extLst>
                    <a:ext uri="{9D8B030D-6E8A-4147-A177-3AD203B41FA5}">
                      <a16:colId xmlns:a16="http://schemas.microsoft.com/office/drawing/2014/main" val="20001"/>
                    </a:ext>
                  </a:extLst>
                </a:gridCol>
              </a:tblGrid>
              <a:tr h="0">
                <a:tc>
                  <a:txBody>
                    <a:bodyPr/>
                    <a:lstStyle/>
                    <a:p>
                      <a:pPr algn="ctr"/>
                      <a:r>
                        <a:rPr lang="en-US" sz="1200" b="1">
                          <a:effectLst/>
                        </a:rPr>
                        <a:t>Code Before Optimization</a:t>
                      </a:r>
                      <a:endParaRPr lang="en-US">
                        <a:effectLst/>
                      </a:endParaRPr>
                    </a:p>
                  </a:txBody>
                  <a:tcPr anchor="ctr">
                    <a:lnL>
                      <a:noFill/>
                    </a:lnL>
                    <a:lnR>
                      <a:noFill/>
                    </a:lnR>
                    <a:lnT>
                      <a:noFill/>
                    </a:lnT>
                    <a:lnB>
                      <a:noFill/>
                    </a:lnB>
                  </a:tcPr>
                </a:tc>
                <a:tc>
                  <a:txBody>
                    <a:bodyPr/>
                    <a:lstStyle/>
                    <a:p>
                      <a:pPr algn="ctr"/>
                      <a:r>
                        <a:rPr lang="en-US" sz="1200" b="1">
                          <a:effectLst/>
                        </a:rPr>
                        <a:t>Code After Optimization</a:t>
                      </a:r>
                      <a:endParaRPr lang="en-US">
                        <a:effectLst/>
                      </a:endParaRP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pPr algn="ctr"/>
                      <a:r>
                        <a:rPr lang="en-US">
                          <a:effectLst/>
                        </a:rPr>
                        <a:t>B = A x 2</a:t>
                      </a:r>
                    </a:p>
                  </a:txBody>
                  <a:tcPr anchor="ctr">
                    <a:lnL>
                      <a:noFill/>
                    </a:lnL>
                    <a:lnR>
                      <a:noFill/>
                    </a:lnR>
                    <a:lnT>
                      <a:noFill/>
                    </a:lnT>
                    <a:lnB>
                      <a:noFill/>
                    </a:lnB>
                  </a:tcPr>
                </a:tc>
                <a:tc>
                  <a:txBody>
                    <a:bodyPr/>
                    <a:lstStyle/>
                    <a:p>
                      <a:pPr algn="ctr"/>
                      <a:r>
                        <a:rPr lang="en-US" dirty="0">
                          <a:effectLst/>
                        </a:rPr>
                        <a:t>B = A + A</a:t>
                      </a:r>
                    </a:p>
                  </a:txBody>
                  <a:tcPr anchor="ctr">
                    <a:lnL>
                      <a:noFill/>
                    </a:lnL>
                    <a:lnR>
                      <a:noFill/>
                    </a:lnR>
                    <a:lnT>
                      <a:noFill/>
                    </a:lnT>
                    <a:lnB>
                      <a:noFill/>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21696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Optimization Techniques </a:t>
            </a:r>
          </a:p>
        </p:txBody>
      </p:sp>
      <p:sp>
        <p:nvSpPr>
          <p:cNvPr id="3" name="Content Placeholder 2"/>
          <p:cNvSpPr>
            <a:spLocks noGrp="1"/>
          </p:cNvSpPr>
          <p:nvPr>
            <p:ph idx="1"/>
          </p:nvPr>
        </p:nvSpPr>
        <p:spPr/>
        <p:txBody>
          <a:bodyPr>
            <a:normAutofit/>
          </a:bodyPr>
          <a:lstStyle/>
          <a:p>
            <a:r>
              <a:rPr lang="en-US" sz="2400" dirty="0"/>
              <a:t>Code Motion or Frequency Reduction</a:t>
            </a:r>
          </a:p>
          <a:p>
            <a:r>
              <a:rPr lang="en-US" sz="2400" dirty="0"/>
              <a:t>The evaluation frequency of expression is reduced.</a:t>
            </a:r>
          </a:p>
          <a:p>
            <a:r>
              <a:rPr lang="en-US" sz="2400" dirty="0"/>
              <a:t>The loop invariant statements are brought out of the loop. </a:t>
            </a:r>
          </a:p>
          <a:p>
            <a:endParaRPr lang="en-US" sz="2400" dirty="0"/>
          </a:p>
        </p:txBody>
      </p:sp>
    </p:spTree>
    <p:extLst>
      <p:ext uri="{BB962C8B-B14F-4D97-AF65-F5344CB8AC3E}">
        <p14:creationId xmlns:p14="http://schemas.microsoft.com/office/powerpoint/2010/main" val="3565216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Target Code Generation</a:t>
            </a:r>
          </a:p>
        </p:txBody>
      </p:sp>
      <p:sp>
        <p:nvSpPr>
          <p:cNvPr id="3" name="Content Placeholder 2"/>
          <p:cNvSpPr>
            <a:spLocks noGrp="1"/>
          </p:cNvSpPr>
          <p:nvPr>
            <p:ph idx="1"/>
          </p:nvPr>
        </p:nvSpPr>
        <p:spPr/>
        <p:txBody>
          <a:bodyPr>
            <a:normAutofit fontScale="85000" lnSpcReduction="10000"/>
          </a:bodyPr>
          <a:lstStyle/>
          <a:p>
            <a:r>
              <a:rPr lang="en-US" b="1" dirty="0"/>
              <a:t>Target code generation </a:t>
            </a:r>
            <a:r>
              <a:rPr lang="en-US" dirty="0"/>
              <a:t>is the final Phase of Compiler.</a:t>
            </a:r>
          </a:p>
          <a:p>
            <a:pPr lvl="1"/>
            <a:r>
              <a:rPr lang="en-US" b="1" dirty="0"/>
              <a:t>Input : </a:t>
            </a:r>
            <a:r>
              <a:rPr lang="en-US" dirty="0"/>
              <a:t>Optimized Intermediate Representation.</a:t>
            </a:r>
          </a:p>
          <a:p>
            <a:pPr lvl="1"/>
            <a:r>
              <a:rPr lang="en-US" b="1" dirty="0"/>
              <a:t>Output : </a:t>
            </a:r>
            <a:r>
              <a:rPr lang="en-US" dirty="0"/>
              <a:t>Target Code.</a:t>
            </a:r>
          </a:p>
          <a:p>
            <a:pPr lvl="1"/>
            <a:r>
              <a:rPr lang="en-US" b="1" dirty="0"/>
              <a:t>Task Performed : </a:t>
            </a:r>
            <a:r>
              <a:rPr lang="en-US" dirty="0"/>
              <a:t>Register allocation methods and optimization, assembly level code.</a:t>
            </a:r>
          </a:p>
          <a:p>
            <a:pPr lvl="1"/>
            <a:r>
              <a:rPr lang="en-US" b="1" dirty="0"/>
              <a:t>Method : </a:t>
            </a:r>
            <a:r>
              <a:rPr lang="en-US" dirty="0"/>
              <a:t>Three popular strategies for register allocation and optimization.</a:t>
            </a:r>
          </a:p>
          <a:p>
            <a:pPr lvl="1"/>
            <a:r>
              <a:rPr lang="en-US" b="1" dirty="0"/>
              <a:t>Implementation : </a:t>
            </a:r>
            <a:r>
              <a:rPr lang="en-US" dirty="0"/>
              <a:t>Algorithms. </a:t>
            </a:r>
          </a:p>
        </p:txBody>
      </p:sp>
    </p:spTree>
    <p:extLst>
      <p:ext uri="{BB962C8B-B14F-4D97-AF65-F5344CB8AC3E}">
        <p14:creationId xmlns:p14="http://schemas.microsoft.com/office/powerpoint/2010/main" val="4040740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50"/>
            <a:ext cx="8229600" cy="3394472"/>
          </a:xfrm>
        </p:spPr>
        <p:txBody>
          <a:bodyPr>
            <a:normAutofit/>
          </a:bodyPr>
          <a:lstStyle/>
          <a:p>
            <a:r>
              <a:rPr lang="en-US" sz="2400" dirty="0"/>
              <a:t>Target code generation deals with assembly language to convert optimized code into machine understandable format. Target code can be machine readable code or assembly code. Each line in optimized code may map to one or more lines in machine (or) assembly code, hence there is a 1:N mapping associated with them .</a:t>
            </a:r>
          </a:p>
          <a:p>
            <a:endParaRPr lang="en-US" sz="2400" dirty="0"/>
          </a:p>
        </p:txBody>
      </p:sp>
      <p:sp>
        <p:nvSpPr>
          <p:cNvPr id="4"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3054" y="2190750"/>
            <a:ext cx="25884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2381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Computations are generally assumed to be performed on high speed memory locations, known as registers. Performing various operations on registers is efficient as registers are faster than cache memory. This feature is effectively used by compilers, However registers are not available in large amount and they are costly. Therefore we should try to use minimum number of registers to incur overall low cost.</a:t>
            </a:r>
          </a:p>
        </p:txBody>
      </p:sp>
    </p:spTree>
    <p:extLst>
      <p:ext uri="{BB962C8B-B14F-4D97-AF65-F5344CB8AC3E}">
        <p14:creationId xmlns:p14="http://schemas.microsoft.com/office/powerpoint/2010/main" val="3890601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Optimized code </a:t>
            </a:r>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85800" y="1276350"/>
            <a:ext cx="3352800" cy="3524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7952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Allocation</a:t>
            </a:r>
          </a:p>
        </p:txBody>
      </p:sp>
      <p:sp>
        <p:nvSpPr>
          <p:cNvPr id="3" name="Content Placeholder 2"/>
          <p:cNvSpPr>
            <a:spLocks noGrp="1"/>
          </p:cNvSpPr>
          <p:nvPr>
            <p:ph idx="1"/>
          </p:nvPr>
        </p:nvSpPr>
        <p:spPr/>
        <p:txBody>
          <a:bodyPr>
            <a:normAutofit/>
          </a:bodyPr>
          <a:lstStyle/>
          <a:p>
            <a:r>
              <a:rPr lang="en-US" sz="2800" dirty="0"/>
              <a:t>Register allocation is the process of assigning program variables to registers and reducing the number of swaps in and out of the registers. Movement of variables across memory is time consuming and this is the main reason why registers are used as they available within the memory and they are the fastest accessible storage location.</a:t>
            </a:r>
          </a:p>
        </p:txBody>
      </p:sp>
    </p:spTree>
    <p:extLst>
      <p:ext uri="{BB962C8B-B14F-4D97-AF65-F5344CB8AC3E}">
        <p14:creationId xmlns:p14="http://schemas.microsoft.com/office/powerpoint/2010/main" val="883611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Allocation</a:t>
            </a:r>
          </a:p>
        </p:txBody>
      </p:sp>
      <p:sp>
        <p:nvSpPr>
          <p:cNvPr id="3" name="Content Placeholder 2"/>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09600" y="1276349"/>
            <a:ext cx="1905000" cy="3557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124200" y="1268185"/>
            <a:ext cx="1447800" cy="3592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844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87111"/>
            <a:ext cx="5753100" cy="455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3515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39F0A-CDC7-4416-9C6C-7B4D75A0D5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B21BA3-C259-4B05-B58D-14ABF89D9E3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A280E63-ACBD-48D3-8002-DA1E789F683D}"/>
              </a:ext>
            </a:extLst>
          </p:cNvPr>
          <p:cNvPicPr>
            <a:picLocks noChangeAspect="1"/>
          </p:cNvPicPr>
          <p:nvPr/>
        </p:nvPicPr>
        <p:blipFill>
          <a:blip r:embed="rId2"/>
          <a:stretch>
            <a:fillRect/>
          </a:stretch>
        </p:blipFill>
        <p:spPr>
          <a:xfrm>
            <a:off x="3276600" y="302113"/>
            <a:ext cx="4419600" cy="4365609"/>
          </a:xfrm>
          <a:prstGeom prst="rect">
            <a:avLst/>
          </a:prstGeom>
        </p:spPr>
      </p:pic>
    </p:spTree>
    <p:extLst>
      <p:ext uri="{BB962C8B-B14F-4D97-AF65-F5344CB8AC3E}">
        <p14:creationId xmlns:p14="http://schemas.microsoft.com/office/powerpoint/2010/main" val="2430711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p:txBody>
          <a:bodyPr>
            <a:normAutofit/>
          </a:bodyPr>
          <a:lstStyle/>
          <a:p>
            <a:r>
              <a:rPr lang="en-US" sz="2800" dirty="0"/>
              <a:t>Compilers: Principles, Techniques, and Tools, A. V. </a:t>
            </a:r>
            <a:r>
              <a:rPr lang="en-US" sz="2800" dirty="0" err="1"/>
              <a:t>Aho</a:t>
            </a:r>
            <a:r>
              <a:rPr lang="en-US" sz="2800" dirty="0"/>
              <a:t>, R. </a:t>
            </a:r>
            <a:r>
              <a:rPr lang="en-US" sz="2800" dirty="0" err="1"/>
              <a:t>Sethi</a:t>
            </a:r>
            <a:r>
              <a:rPr lang="en-US" sz="2800" dirty="0"/>
              <a:t> and J. D. Ullman, Addison-Wesley, 2nd ed., 2006.</a:t>
            </a:r>
          </a:p>
          <a:p>
            <a:r>
              <a:rPr lang="en-US" sz="2800"/>
              <a:t>https://www.geeksforgeeks.org/target-code-generation-in-compiler-design/</a:t>
            </a:r>
            <a:endParaRPr lang="en-US" sz="2800" dirty="0"/>
          </a:p>
        </p:txBody>
      </p:sp>
    </p:spTree>
    <p:extLst>
      <p:ext uri="{BB962C8B-B14F-4D97-AF65-F5344CB8AC3E}">
        <p14:creationId xmlns:p14="http://schemas.microsoft.com/office/powerpoint/2010/main" val="3133642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lgn="ctr">
              <a:buNone/>
            </a:pPr>
            <a:r>
              <a:rPr lang="en-US" sz="11500" b="1" dirty="0"/>
              <a:t>THANK YOU</a:t>
            </a:r>
          </a:p>
        </p:txBody>
      </p:sp>
    </p:spTree>
    <p:extLst>
      <p:ext uri="{BB962C8B-B14F-4D97-AF65-F5344CB8AC3E}">
        <p14:creationId xmlns:p14="http://schemas.microsoft.com/office/powerpoint/2010/main" val="3366872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8584</TotalTime>
  <Words>775</Words>
  <Application>Microsoft Office PowerPoint</Application>
  <PresentationFormat>On-screen Show (16:9)</PresentationFormat>
  <Paragraphs>79</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Compiler Constructions</vt:lpstr>
      <vt:lpstr>Week 15 – Code Optimization</vt:lpstr>
      <vt:lpstr>Types of Code Optimization:</vt:lpstr>
      <vt:lpstr>Different ways of Code Optimization</vt:lpstr>
      <vt:lpstr>Compile Time Evaluation</vt:lpstr>
      <vt:lpstr>Variable Propagation</vt:lpstr>
      <vt:lpstr>Constant Propagation:</vt:lpstr>
      <vt:lpstr>Constant Folding</vt:lpstr>
      <vt:lpstr>Copy Propagation</vt:lpstr>
      <vt:lpstr>Common Sub Expression Elimination</vt:lpstr>
      <vt:lpstr>Dead Code Elimination</vt:lpstr>
      <vt:lpstr>Function Inlining: </vt:lpstr>
      <vt:lpstr>PowerPoint Presentation</vt:lpstr>
      <vt:lpstr>Function Cloning</vt:lpstr>
      <vt:lpstr>Strength Reduction</vt:lpstr>
      <vt:lpstr>Loop Optimization Techniques </vt:lpstr>
      <vt:lpstr>Target Code Generation</vt:lpstr>
      <vt:lpstr>PowerPoint Presentation</vt:lpstr>
      <vt:lpstr>PowerPoint Presentation</vt:lpstr>
      <vt:lpstr>Optimized code </vt:lpstr>
      <vt:lpstr>Register Allocation</vt:lpstr>
      <vt:lpstr>Register Allocation</vt:lpstr>
      <vt:lpstr>PowerPoint Presentation</vt:lpstr>
      <vt:lpstr>PowerPoint Presentation</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Mr.T</dc:creator>
  <cp:lastModifiedBy>Tesla Laptops</cp:lastModifiedBy>
  <cp:revision>1855</cp:revision>
  <dcterms:created xsi:type="dcterms:W3CDTF">2024-02-25T05:27:53Z</dcterms:created>
  <dcterms:modified xsi:type="dcterms:W3CDTF">2026-05-11T17:56:22Z</dcterms:modified>
</cp:coreProperties>
</file>