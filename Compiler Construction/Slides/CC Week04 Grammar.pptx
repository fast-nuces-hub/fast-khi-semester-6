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56" r:id="rId2"/>
    <p:sldId id="261" r:id="rId3"/>
    <p:sldId id="311" r:id="rId4"/>
    <p:sldId id="312" r:id="rId5"/>
    <p:sldId id="313" r:id="rId6"/>
    <p:sldId id="316" r:id="rId7"/>
    <p:sldId id="319" r:id="rId8"/>
    <p:sldId id="315" r:id="rId9"/>
    <p:sldId id="318" r:id="rId10"/>
    <p:sldId id="320" r:id="rId11"/>
    <p:sldId id="321" r:id="rId12"/>
    <p:sldId id="322" r:id="rId13"/>
    <p:sldId id="323" r:id="rId14"/>
    <p:sldId id="324" r:id="rId15"/>
    <p:sldId id="325" r:id="rId16"/>
    <p:sldId id="326" r:id="rId17"/>
    <p:sldId id="327" r:id="rId18"/>
    <p:sldId id="328" r:id="rId19"/>
    <p:sldId id="353" r:id="rId20"/>
    <p:sldId id="314"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81" r:id="rId43"/>
    <p:sldId id="350" r:id="rId44"/>
    <p:sldId id="351" r:id="rId45"/>
    <p:sldId id="352" r:id="rId46"/>
    <p:sldId id="355" r:id="rId47"/>
    <p:sldId id="383" r:id="rId48"/>
    <p:sldId id="382" r:id="rId49"/>
    <p:sldId id="384" r:id="rId50"/>
    <p:sldId id="385" r:id="rId51"/>
    <p:sldId id="386" r:id="rId52"/>
    <p:sldId id="387" r:id="rId53"/>
    <p:sldId id="388" r:id="rId54"/>
    <p:sldId id="389" r:id="rId55"/>
    <p:sldId id="390" r:id="rId56"/>
    <p:sldId id="391" r:id="rId57"/>
    <p:sldId id="392" r:id="rId58"/>
    <p:sldId id="393" r:id="rId59"/>
    <p:sldId id="401" r:id="rId60"/>
    <p:sldId id="402" r:id="rId61"/>
    <p:sldId id="403" r:id="rId62"/>
    <p:sldId id="404" r:id="rId63"/>
    <p:sldId id="405" r:id="rId64"/>
    <p:sldId id="406" r:id="rId65"/>
    <p:sldId id="394" r:id="rId66"/>
    <p:sldId id="395" r:id="rId67"/>
    <p:sldId id="396" r:id="rId68"/>
    <p:sldId id="397" r:id="rId69"/>
    <p:sldId id="398" r:id="rId70"/>
    <p:sldId id="399" r:id="rId71"/>
    <p:sldId id="356" r:id="rId72"/>
    <p:sldId id="357" r:id="rId73"/>
    <p:sldId id="358" r:id="rId74"/>
    <p:sldId id="359" r:id="rId75"/>
    <p:sldId id="360" r:id="rId76"/>
    <p:sldId id="317"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380" r:id="rId97"/>
    <p:sldId id="400" r:id="rId98"/>
    <p:sldId id="272"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63" d="100"/>
          <a:sy n="63" d="100"/>
        </p:scale>
        <p:origin x="7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E53E1-CEB2-494C-8775-D8A99ED827E9}" type="datetimeFigureOut">
              <a:rPr lang="en-GB" smtClean="0"/>
              <a:t>01/03/2026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7A4238-B7B9-460B-BE74-ADFB88CFFB6C}" type="slidenum">
              <a:rPr lang="en-GB" smtClean="0"/>
              <a:t>‹#›</a:t>
            </a:fld>
            <a:endParaRPr lang="en-GB"/>
          </a:p>
        </p:txBody>
      </p:sp>
    </p:spTree>
    <p:extLst>
      <p:ext uri="{BB962C8B-B14F-4D97-AF65-F5344CB8AC3E}">
        <p14:creationId xmlns:p14="http://schemas.microsoft.com/office/powerpoint/2010/main" val="40190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08718-F271-459F-AEBA-D315249C88F9}" type="slidenum">
              <a:rPr lang="en-US" smtClean="0"/>
              <a:t>14</a:t>
            </a:fld>
            <a:endParaRPr lang="en-US"/>
          </a:p>
        </p:txBody>
      </p:sp>
    </p:spTree>
    <p:extLst>
      <p:ext uri="{BB962C8B-B14F-4D97-AF65-F5344CB8AC3E}">
        <p14:creationId xmlns:p14="http://schemas.microsoft.com/office/powerpoint/2010/main" val="1954576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2716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8255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F1EA38-8D09-4040-A9B0-3F77DCDCC836}"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6580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4F1EA38-8D09-4040-A9B0-3F77DCDCC836}"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10601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4F1EA38-8D09-4040-A9B0-3F77DCDCC836}" type="datetimeFigureOut">
              <a:rPr lang="en-GB" smtClean="0"/>
              <a:t>01/03/2026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5202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4F1EA38-8D09-4040-A9B0-3F77DCDCC836}" type="datetimeFigureOut">
              <a:rPr lang="en-GB" smtClean="0"/>
              <a:t>01/03/2026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031554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F1EA38-8D09-4040-A9B0-3F77DCDCC836}" type="datetimeFigureOut">
              <a:rPr lang="en-GB" smtClean="0"/>
              <a:t>01/03/2026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34354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15616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23403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40160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9369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1EA38-8D09-4040-A9B0-3F77DCDCC836}" type="datetimeFigureOut">
              <a:rPr lang="en-GB" smtClean="0"/>
              <a:t>01/03/2026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EDA373-3783-415D-A360-F08463BF1C8E}" type="slidenum">
              <a:rPr lang="en-GB" smtClean="0"/>
              <a:t>‹#›</a:t>
            </a:fld>
            <a:endParaRPr lang="en-GB"/>
          </a:p>
        </p:txBody>
      </p:sp>
    </p:spTree>
    <p:extLst>
      <p:ext uri="{BB962C8B-B14F-4D97-AF65-F5344CB8AC3E}">
        <p14:creationId xmlns:p14="http://schemas.microsoft.com/office/powerpoint/2010/main" val="341421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ulfiqar.rafique@nu.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9.pn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Compiler Construction</a:t>
            </a:r>
          </a:p>
        </p:txBody>
      </p:sp>
      <p:sp>
        <p:nvSpPr>
          <p:cNvPr id="3" name="Subtitle 2"/>
          <p:cNvSpPr>
            <a:spLocks noGrp="1"/>
          </p:cNvSpPr>
          <p:nvPr>
            <p:ph type="subTitle" idx="1"/>
          </p:nvPr>
        </p:nvSpPr>
        <p:spPr/>
        <p:txBody>
          <a:bodyPr/>
          <a:lstStyle/>
          <a:p>
            <a:r>
              <a:rPr lang="en-GB" dirty="0"/>
              <a:t>Teacher : Zulfiqar Ali</a:t>
            </a:r>
          </a:p>
          <a:p>
            <a:r>
              <a:rPr lang="en-GB" dirty="0"/>
              <a:t>Email: </a:t>
            </a:r>
            <a:r>
              <a:rPr lang="en-GB" dirty="0">
                <a:hlinkClick r:id="rId2"/>
              </a:rPr>
              <a:t>Zulfiqar.rafique@nu.edu.pk</a:t>
            </a:r>
            <a:endParaRPr lang="en-GB" dirty="0"/>
          </a:p>
          <a:p>
            <a:r>
              <a:rPr lang="en-GB" dirty="0"/>
              <a:t>Office: No.6,Basement -1 (CS Block 1)</a:t>
            </a:r>
          </a:p>
          <a:p>
            <a:endParaRPr lang="en-GB" dirty="0"/>
          </a:p>
        </p:txBody>
      </p:sp>
    </p:spTree>
    <p:extLst>
      <p:ext uri="{BB962C8B-B14F-4D97-AF65-F5344CB8AC3E}">
        <p14:creationId xmlns:p14="http://schemas.microsoft.com/office/powerpoint/2010/main" val="408857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Week 4:</a:t>
            </a:r>
          </a:p>
        </p:txBody>
      </p:sp>
      <p:sp>
        <p:nvSpPr>
          <p:cNvPr id="3" name="Content Placeholder 2"/>
          <p:cNvSpPr>
            <a:spLocks noGrp="1"/>
          </p:cNvSpPr>
          <p:nvPr>
            <p:ph idx="1"/>
          </p:nvPr>
        </p:nvSpPr>
        <p:spPr/>
        <p:txBody>
          <a:bodyPr/>
          <a:lstStyle/>
          <a:p>
            <a:r>
              <a:rPr lang="en-US" dirty="0"/>
              <a:t>Syntax Definition</a:t>
            </a:r>
          </a:p>
          <a:p>
            <a:r>
              <a:rPr lang="en-US" dirty="0"/>
              <a:t>Definition of Grammar </a:t>
            </a:r>
          </a:p>
          <a:p>
            <a:r>
              <a:rPr lang="en-US" dirty="0"/>
              <a:t>Derivations</a:t>
            </a:r>
          </a:p>
          <a:p>
            <a:pPr lvl="1"/>
            <a:r>
              <a:rPr lang="en-US" dirty="0"/>
              <a:t>Left Derivation</a:t>
            </a:r>
          </a:p>
          <a:p>
            <a:pPr lvl="1"/>
            <a:r>
              <a:rPr lang="en-US" dirty="0"/>
              <a:t>Right Derivation</a:t>
            </a:r>
          </a:p>
          <a:p>
            <a:pPr lvl="1"/>
            <a:r>
              <a:rPr lang="en-US" dirty="0"/>
              <a:t>Tree Derivation  </a:t>
            </a:r>
          </a:p>
          <a:p>
            <a:r>
              <a:rPr lang="en-US" dirty="0"/>
              <a:t>Ambiguity</a:t>
            </a:r>
          </a:p>
          <a:p>
            <a:r>
              <a:rPr lang="en-US" dirty="0"/>
              <a:t>Prcedence issues</a:t>
            </a:r>
          </a:p>
          <a:p>
            <a:r>
              <a:rPr lang="en-US" dirty="0"/>
              <a:t>Associativity issues</a:t>
            </a:r>
          </a:p>
          <a:p>
            <a:endParaRPr lang="en-GB" dirty="0"/>
          </a:p>
        </p:txBody>
      </p:sp>
    </p:spTree>
    <p:extLst>
      <p:ext uri="{BB962C8B-B14F-4D97-AF65-F5344CB8AC3E}">
        <p14:creationId xmlns:p14="http://schemas.microsoft.com/office/powerpoint/2010/main" val="356626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26A5-3044-4F9C-928E-2FCD99879A58}"/>
              </a:ext>
            </a:extLst>
          </p:cNvPr>
          <p:cNvSpPr>
            <a:spLocks noGrp="1"/>
          </p:cNvSpPr>
          <p:nvPr>
            <p:ph type="title"/>
          </p:nvPr>
        </p:nvSpPr>
        <p:spPr/>
        <p:txBody>
          <a:bodyPr/>
          <a:lstStyle/>
          <a:p>
            <a:r>
              <a:rPr lang="en-US" dirty="0"/>
              <a:t>Syntax Definition </a:t>
            </a:r>
          </a:p>
        </p:txBody>
      </p:sp>
      <p:sp>
        <p:nvSpPr>
          <p:cNvPr id="3" name="Content Placeholder 2">
            <a:extLst>
              <a:ext uri="{FF2B5EF4-FFF2-40B4-BE49-F238E27FC236}">
                <a16:creationId xmlns:a16="http://schemas.microsoft.com/office/drawing/2014/main" id="{88EFF2BA-30F0-4BC9-8E60-9F501C76C625}"/>
              </a:ext>
            </a:extLst>
          </p:cNvPr>
          <p:cNvSpPr>
            <a:spLocks noGrp="1"/>
          </p:cNvSpPr>
          <p:nvPr>
            <p:ph idx="1"/>
          </p:nvPr>
        </p:nvSpPr>
        <p:spPr/>
        <p:txBody>
          <a:bodyPr>
            <a:normAutofit/>
          </a:bodyPr>
          <a:lstStyle/>
          <a:p>
            <a:r>
              <a:rPr lang="en-US" dirty="0"/>
              <a:t>The “Context-free grammar," or ”Grammar" for short - that is used to specify the syntax of a language.</a:t>
            </a:r>
          </a:p>
          <a:p>
            <a:r>
              <a:rPr lang="en-US" dirty="0"/>
              <a:t>A grammar naturally describes the hierarchical structure of most programming language constructs. </a:t>
            </a:r>
          </a:p>
          <a:p>
            <a:r>
              <a:rPr lang="en-US" b="1" dirty="0"/>
              <a:t>For example</a:t>
            </a:r>
            <a:r>
              <a:rPr lang="en-US" dirty="0"/>
              <a:t>, an if-else statement in Java can have the form</a:t>
            </a:r>
          </a:p>
          <a:p>
            <a:pPr marL="0" indent="0" algn="ctr">
              <a:buNone/>
            </a:pPr>
            <a:r>
              <a:rPr lang="en-US" dirty="0"/>
              <a:t>Statement -&gt;if (expr) statement else statement </a:t>
            </a:r>
          </a:p>
        </p:txBody>
      </p:sp>
    </p:spTree>
    <p:extLst>
      <p:ext uri="{BB962C8B-B14F-4D97-AF65-F5344CB8AC3E}">
        <p14:creationId xmlns:p14="http://schemas.microsoft.com/office/powerpoint/2010/main" val="6180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915D-AF63-4B45-B1F8-B7F1399204A0}"/>
              </a:ext>
            </a:extLst>
          </p:cNvPr>
          <p:cNvSpPr>
            <a:spLocks noGrp="1"/>
          </p:cNvSpPr>
          <p:nvPr>
            <p:ph type="title"/>
          </p:nvPr>
        </p:nvSpPr>
        <p:spPr>
          <a:xfrm>
            <a:off x="609600" y="274639"/>
            <a:ext cx="10972800" cy="1143000"/>
          </a:xfrm>
        </p:spPr>
        <p:txBody>
          <a:bodyPr>
            <a:noAutofit/>
          </a:bodyPr>
          <a:lstStyle/>
          <a:p>
            <a:r>
              <a:rPr lang="en-US" sz="4800" dirty="0"/>
              <a:t>if ( expression ) statement else statement </a:t>
            </a:r>
          </a:p>
        </p:txBody>
      </p:sp>
      <p:sp>
        <p:nvSpPr>
          <p:cNvPr id="3" name="Content Placeholder 2">
            <a:extLst>
              <a:ext uri="{FF2B5EF4-FFF2-40B4-BE49-F238E27FC236}">
                <a16:creationId xmlns:a16="http://schemas.microsoft.com/office/drawing/2014/main" id="{D655606E-E63C-4229-A636-8F18BCC58FDD}"/>
              </a:ext>
            </a:extLst>
          </p:cNvPr>
          <p:cNvSpPr>
            <a:spLocks noGrp="1"/>
          </p:cNvSpPr>
          <p:nvPr>
            <p:ph idx="1"/>
          </p:nvPr>
        </p:nvSpPr>
        <p:spPr/>
        <p:txBody>
          <a:bodyPr>
            <a:normAutofit/>
          </a:bodyPr>
          <a:lstStyle/>
          <a:p>
            <a:r>
              <a:rPr lang="en-US" dirty="0"/>
              <a:t>That is, an </a:t>
            </a:r>
            <a:r>
              <a:rPr lang="en-US" b="1" dirty="0"/>
              <a:t>if-else</a:t>
            </a:r>
            <a:r>
              <a:rPr lang="en-US" dirty="0"/>
              <a:t> statement is the concatenation of the keyword if, an opening parenthesis, an expression, a closing parenthesis, a statement, the keyword else, and another statement. </a:t>
            </a:r>
          </a:p>
          <a:p>
            <a:r>
              <a:rPr lang="en-US" dirty="0"/>
              <a:t>Using the variable expr to denote an expression and the variable </a:t>
            </a:r>
            <a:r>
              <a:rPr lang="en-US" dirty="0" err="1"/>
              <a:t>stmt</a:t>
            </a:r>
            <a:r>
              <a:rPr lang="en-US" dirty="0"/>
              <a:t> to denote a statement, this structuring rule can be expressed as</a:t>
            </a:r>
          </a:p>
          <a:p>
            <a:pPr marL="0" indent="0" algn="ctr">
              <a:buNone/>
            </a:pPr>
            <a:r>
              <a:rPr lang="en-US" dirty="0" err="1"/>
              <a:t>stmt</a:t>
            </a:r>
            <a:r>
              <a:rPr lang="en-US" dirty="0"/>
              <a:t> -&gt; if ( expr ) </a:t>
            </a:r>
            <a:r>
              <a:rPr lang="en-US" dirty="0" err="1"/>
              <a:t>stmt</a:t>
            </a:r>
            <a:r>
              <a:rPr lang="en-US" dirty="0"/>
              <a:t> else </a:t>
            </a:r>
            <a:r>
              <a:rPr lang="en-US" dirty="0" err="1"/>
              <a:t>stmt</a:t>
            </a:r>
            <a:endParaRPr lang="en-US" dirty="0"/>
          </a:p>
        </p:txBody>
      </p:sp>
    </p:spTree>
    <p:extLst>
      <p:ext uri="{BB962C8B-B14F-4D97-AF65-F5344CB8AC3E}">
        <p14:creationId xmlns:p14="http://schemas.microsoft.com/office/powerpoint/2010/main" val="1907951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10F77-FDB6-4BE5-9B2F-748F286FF133}"/>
              </a:ext>
            </a:extLst>
          </p:cNvPr>
          <p:cNvSpPr>
            <a:spLocks noGrp="1"/>
          </p:cNvSpPr>
          <p:nvPr>
            <p:ph type="title"/>
          </p:nvPr>
        </p:nvSpPr>
        <p:spPr/>
        <p:txBody>
          <a:bodyPr/>
          <a:lstStyle/>
          <a:p>
            <a:r>
              <a:rPr lang="en-US" dirty="0" err="1"/>
              <a:t>stmt</a:t>
            </a:r>
            <a:r>
              <a:rPr lang="en-US" dirty="0"/>
              <a:t> -&gt; if ( expr ) </a:t>
            </a:r>
            <a:r>
              <a:rPr lang="en-US" dirty="0" err="1"/>
              <a:t>stmt</a:t>
            </a:r>
            <a:r>
              <a:rPr lang="en-US" dirty="0"/>
              <a:t> else </a:t>
            </a:r>
            <a:r>
              <a:rPr lang="en-US" dirty="0" err="1"/>
              <a:t>stmt</a:t>
            </a:r>
            <a:r>
              <a:rPr lang="en-US" dirty="0"/>
              <a:t> </a:t>
            </a:r>
          </a:p>
        </p:txBody>
      </p:sp>
      <p:sp>
        <p:nvSpPr>
          <p:cNvPr id="3" name="Content Placeholder 2">
            <a:extLst>
              <a:ext uri="{FF2B5EF4-FFF2-40B4-BE49-F238E27FC236}">
                <a16:creationId xmlns:a16="http://schemas.microsoft.com/office/drawing/2014/main" id="{65642F46-73A9-44E6-A9E2-9B8A84EBF71F}"/>
              </a:ext>
            </a:extLst>
          </p:cNvPr>
          <p:cNvSpPr>
            <a:spLocks noGrp="1"/>
          </p:cNvSpPr>
          <p:nvPr>
            <p:ph idx="1"/>
          </p:nvPr>
        </p:nvSpPr>
        <p:spPr/>
        <p:txBody>
          <a:bodyPr>
            <a:normAutofit/>
          </a:bodyPr>
          <a:lstStyle/>
          <a:p>
            <a:r>
              <a:rPr lang="en-US" dirty="0"/>
              <a:t>in which the arrow may be read as </a:t>
            </a:r>
            <a:r>
              <a:rPr lang="en-US" b="1" dirty="0"/>
              <a:t>"can have the form." </a:t>
            </a:r>
            <a:r>
              <a:rPr lang="en-US" dirty="0"/>
              <a:t>Such a rule is called a production.</a:t>
            </a:r>
          </a:p>
          <a:p>
            <a:r>
              <a:rPr lang="en-US" dirty="0"/>
              <a:t>In a production, lexical elements like the keyword if and the parentheses are called terminals. Variables like expr and </a:t>
            </a:r>
            <a:r>
              <a:rPr lang="en-US" dirty="0" err="1"/>
              <a:t>stmt</a:t>
            </a:r>
            <a:r>
              <a:rPr lang="en-US" dirty="0"/>
              <a:t> represent sequences of terminals and are called non terminals. </a:t>
            </a:r>
          </a:p>
        </p:txBody>
      </p:sp>
    </p:spTree>
    <p:extLst>
      <p:ext uri="{BB962C8B-B14F-4D97-AF65-F5344CB8AC3E}">
        <p14:creationId xmlns:p14="http://schemas.microsoft.com/office/powerpoint/2010/main" val="11605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Grammar</a:t>
            </a:r>
          </a:p>
        </p:txBody>
      </p:sp>
      <p:sp>
        <p:nvSpPr>
          <p:cNvPr id="3" name="Content Placeholder 2"/>
          <p:cNvSpPr>
            <a:spLocks noGrp="1"/>
          </p:cNvSpPr>
          <p:nvPr>
            <p:ph idx="1"/>
          </p:nvPr>
        </p:nvSpPr>
        <p:spPr/>
        <p:txBody>
          <a:bodyPr>
            <a:normAutofit/>
          </a:bodyPr>
          <a:lstStyle/>
          <a:p>
            <a:r>
              <a:rPr lang="en-US" dirty="0"/>
              <a:t>We specify grammars by listing their productions, with the productions for the start symbol listed first. </a:t>
            </a:r>
          </a:p>
          <a:p>
            <a:r>
              <a:rPr lang="en-US" dirty="0"/>
              <a:t>We assume that digits, signs such as &lt; and &lt;=, and boldface strings such as while are terminals.</a:t>
            </a:r>
          </a:p>
          <a:p>
            <a:r>
              <a:rPr lang="en-US" dirty="0"/>
              <a:t>An italicized name is a, and any non italicized name or symbol may be assumed to be a terminal.</a:t>
            </a:r>
          </a:p>
          <a:p>
            <a:r>
              <a:rPr lang="en-US" dirty="0"/>
              <a:t>For notational convenience, productions with the same non terminal as the head can have their bodies grouped, with the alternative bodies separated by the symbol.</a:t>
            </a:r>
          </a:p>
          <a:p>
            <a:endParaRPr lang="en-US" dirty="0"/>
          </a:p>
        </p:txBody>
      </p:sp>
    </p:spTree>
    <p:extLst>
      <p:ext uri="{BB962C8B-B14F-4D97-AF65-F5344CB8AC3E}">
        <p14:creationId xmlns:p14="http://schemas.microsoft.com/office/powerpoint/2010/main" val="659750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8DDC-C6F3-4399-B340-A92244DF385E}"/>
              </a:ext>
            </a:extLst>
          </p:cNvPr>
          <p:cNvSpPr>
            <a:spLocks noGrp="1"/>
          </p:cNvSpPr>
          <p:nvPr>
            <p:ph type="title"/>
          </p:nvPr>
        </p:nvSpPr>
        <p:spPr/>
        <p:txBody>
          <a:bodyPr/>
          <a:lstStyle/>
          <a:p>
            <a:r>
              <a:rPr lang="en-US" dirty="0"/>
              <a:t>Regular Grammar</a:t>
            </a:r>
          </a:p>
        </p:txBody>
      </p:sp>
      <p:sp>
        <p:nvSpPr>
          <p:cNvPr id="3" name="Content Placeholder 2">
            <a:extLst>
              <a:ext uri="{FF2B5EF4-FFF2-40B4-BE49-F238E27FC236}">
                <a16:creationId xmlns:a16="http://schemas.microsoft.com/office/drawing/2014/main" id="{9AD30B05-B243-4184-968F-3ABCD82B3E75}"/>
              </a:ext>
            </a:extLst>
          </p:cNvPr>
          <p:cNvSpPr>
            <a:spLocks noGrp="1"/>
          </p:cNvSpPr>
          <p:nvPr>
            <p:ph idx="1"/>
          </p:nvPr>
        </p:nvSpPr>
        <p:spPr>
          <a:xfrm>
            <a:off x="609600" y="1417639"/>
            <a:ext cx="10972800" cy="4525963"/>
          </a:xfrm>
        </p:spPr>
        <p:txBody>
          <a:bodyPr/>
          <a:lstStyle/>
          <a:p>
            <a:r>
              <a:rPr lang="en-US" sz="3200" dirty="0"/>
              <a:t>According to Noam Chomsky there are 4 types of grammar</a:t>
            </a:r>
          </a:p>
          <a:p>
            <a:endParaRPr lang="en-US" dirty="0"/>
          </a:p>
        </p:txBody>
      </p:sp>
      <p:graphicFrame>
        <p:nvGraphicFramePr>
          <p:cNvPr id="4" name="Table 3">
            <a:extLst>
              <a:ext uri="{FF2B5EF4-FFF2-40B4-BE49-F238E27FC236}">
                <a16:creationId xmlns:a16="http://schemas.microsoft.com/office/drawing/2014/main" id="{2BE20273-5CF3-451F-9D10-E64FB1B22C75}"/>
              </a:ext>
            </a:extLst>
          </p:cNvPr>
          <p:cNvGraphicFramePr>
            <a:graphicFrameLocks noGrp="1"/>
          </p:cNvGraphicFramePr>
          <p:nvPr>
            <p:extLst>
              <p:ext uri="{D42A27DB-BD31-4B8C-83A1-F6EECF244321}">
                <p14:modId xmlns:p14="http://schemas.microsoft.com/office/powerpoint/2010/main" val="3631732820"/>
              </p:ext>
            </p:extLst>
          </p:nvPr>
        </p:nvGraphicFramePr>
        <p:xfrm>
          <a:off x="914400" y="1950401"/>
          <a:ext cx="10363200" cy="463296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413898316"/>
                    </a:ext>
                  </a:extLst>
                </a:gridCol>
                <a:gridCol w="3657600">
                  <a:extLst>
                    <a:ext uri="{9D8B030D-6E8A-4147-A177-3AD203B41FA5}">
                      <a16:colId xmlns:a16="http://schemas.microsoft.com/office/drawing/2014/main" val="893391834"/>
                    </a:ext>
                  </a:extLst>
                </a:gridCol>
                <a:gridCol w="3180080">
                  <a:extLst>
                    <a:ext uri="{9D8B030D-6E8A-4147-A177-3AD203B41FA5}">
                      <a16:colId xmlns:a16="http://schemas.microsoft.com/office/drawing/2014/main" val="2984189535"/>
                    </a:ext>
                  </a:extLst>
                </a:gridCol>
                <a:gridCol w="2001520">
                  <a:extLst>
                    <a:ext uri="{9D8B030D-6E8A-4147-A177-3AD203B41FA5}">
                      <a16:colId xmlns:a16="http://schemas.microsoft.com/office/drawing/2014/main" val="4156992571"/>
                    </a:ext>
                  </a:extLst>
                </a:gridCol>
              </a:tblGrid>
              <a:tr h="853440">
                <a:tc>
                  <a:txBody>
                    <a:bodyPr/>
                    <a:lstStyle/>
                    <a:p>
                      <a:r>
                        <a:rPr lang="en-US" sz="2400" b="1" dirty="0"/>
                        <a:t>Grammar Type</a:t>
                      </a:r>
                    </a:p>
                  </a:txBody>
                  <a:tcPr marL="121920" marR="121920" marT="60960" marB="60960"/>
                </a:tc>
                <a:tc>
                  <a:txBody>
                    <a:bodyPr/>
                    <a:lstStyle/>
                    <a:p>
                      <a:r>
                        <a:rPr lang="en-US" sz="2400" b="1" dirty="0"/>
                        <a:t>Grammar Accepted</a:t>
                      </a:r>
                    </a:p>
                  </a:txBody>
                  <a:tcPr marL="121920" marR="121920" marT="60960" marB="60960"/>
                </a:tc>
                <a:tc>
                  <a:txBody>
                    <a:bodyPr/>
                    <a:lstStyle/>
                    <a:p>
                      <a:r>
                        <a:rPr lang="en-US" sz="2400" b="1" dirty="0"/>
                        <a:t>Language Accepted</a:t>
                      </a:r>
                    </a:p>
                  </a:txBody>
                  <a:tcPr marL="121920" marR="121920" marT="60960" marB="60960"/>
                </a:tc>
                <a:tc>
                  <a:txBody>
                    <a:bodyPr/>
                    <a:lstStyle/>
                    <a:p>
                      <a:r>
                        <a:rPr lang="en-US" sz="2400" b="1" dirty="0"/>
                        <a:t>Automation</a:t>
                      </a:r>
                    </a:p>
                  </a:txBody>
                  <a:tcPr marL="121920" marR="121920" marT="60960" marB="60960"/>
                </a:tc>
                <a:extLst>
                  <a:ext uri="{0D108BD9-81ED-4DB2-BD59-A6C34878D82A}">
                    <a16:rowId xmlns:a16="http://schemas.microsoft.com/office/drawing/2014/main" val="2120972041"/>
                  </a:ext>
                </a:extLst>
              </a:tr>
              <a:tr h="853440">
                <a:tc>
                  <a:txBody>
                    <a:bodyPr/>
                    <a:lstStyle/>
                    <a:p>
                      <a:r>
                        <a:rPr lang="en-US" sz="2400" dirty="0"/>
                        <a:t>Type 0</a:t>
                      </a:r>
                    </a:p>
                  </a:txBody>
                  <a:tcPr marL="121920" marR="121920" marT="60960" marB="60960"/>
                </a:tc>
                <a:tc>
                  <a:txBody>
                    <a:bodyPr/>
                    <a:lstStyle/>
                    <a:p>
                      <a:r>
                        <a:rPr lang="en-US" sz="2400" dirty="0"/>
                        <a:t>Un Restricted Grammar</a:t>
                      </a:r>
                    </a:p>
                  </a:txBody>
                  <a:tcPr marL="121920" marR="121920" marT="60960" marB="60960"/>
                </a:tc>
                <a:tc>
                  <a:txBody>
                    <a:bodyPr/>
                    <a:lstStyle/>
                    <a:p>
                      <a:r>
                        <a:rPr lang="en-US" sz="2400" dirty="0"/>
                        <a:t>Recursively Enumerable Language</a:t>
                      </a:r>
                    </a:p>
                  </a:txBody>
                  <a:tcPr marL="121920" marR="121920" marT="60960" marB="60960"/>
                </a:tc>
                <a:tc>
                  <a:txBody>
                    <a:bodyPr/>
                    <a:lstStyle/>
                    <a:p>
                      <a:r>
                        <a:rPr lang="en-US" sz="2400" dirty="0"/>
                        <a:t>Turing Machine</a:t>
                      </a:r>
                    </a:p>
                  </a:txBody>
                  <a:tcPr marL="121920" marR="121920" marT="60960" marB="60960"/>
                </a:tc>
                <a:extLst>
                  <a:ext uri="{0D108BD9-81ED-4DB2-BD59-A6C34878D82A}">
                    <a16:rowId xmlns:a16="http://schemas.microsoft.com/office/drawing/2014/main" val="1329876323"/>
                  </a:ext>
                </a:extLst>
              </a:tr>
              <a:tr h="1219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Type 1</a:t>
                      </a:r>
                    </a:p>
                  </a:txBody>
                  <a:tcPr marL="121920" marR="121920" marT="60960" marB="60960"/>
                </a:tc>
                <a:tc>
                  <a:txBody>
                    <a:bodyPr/>
                    <a:lstStyle/>
                    <a:p>
                      <a:r>
                        <a:rPr lang="en-US" sz="2400" dirty="0"/>
                        <a:t>Context Sensitive Grammar</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Context Sensitive Language</a:t>
                      </a:r>
                    </a:p>
                  </a:txBody>
                  <a:tcPr marL="121920" marR="121920" marT="60960" marB="60960"/>
                </a:tc>
                <a:tc>
                  <a:txBody>
                    <a:bodyPr/>
                    <a:lstStyle/>
                    <a:p>
                      <a:r>
                        <a:rPr lang="en-US" sz="2400" dirty="0"/>
                        <a:t>Linear Bounded Automaton</a:t>
                      </a:r>
                    </a:p>
                  </a:txBody>
                  <a:tcPr marL="121920" marR="121920" marT="60960" marB="60960"/>
                </a:tc>
                <a:extLst>
                  <a:ext uri="{0D108BD9-81ED-4DB2-BD59-A6C34878D82A}">
                    <a16:rowId xmlns:a16="http://schemas.microsoft.com/office/drawing/2014/main" val="1209198088"/>
                  </a:ext>
                </a:extLst>
              </a:tr>
              <a:tr h="853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Type 2</a:t>
                      </a:r>
                    </a:p>
                  </a:txBody>
                  <a:tcPr marL="121920" marR="121920" marT="60960" marB="60960"/>
                </a:tc>
                <a:tc>
                  <a:txBody>
                    <a:bodyPr/>
                    <a:lstStyle/>
                    <a:p>
                      <a:r>
                        <a:rPr lang="en-US" sz="2400" dirty="0"/>
                        <a:t>Context Free Grammar</a:t>
                      </a:r>
                    </a:p>
                  </a:txBody>
                  <a:tcPr marL="121920" marR="121920" marT="60960" marB="60960"/>
                </a:tc>
                <a:tc>
                  <a:txBody>
                    <a:bodyPr/>
                    <a:lstStyle/>
                    <a:p>
                      <a:r>
                        <a:rPr lang="en-US" sz="2400" dirty="0"/>
                        <a:t>Context Free Language</a:t>
                      </a:r>
                    </a:p>
                  </a:txBody>
                  <a:tcPr marL="121920" marR="121920" marT="60960" marB="60960"/>
                </a:tc>
                <a:tc>
                  <a:txBody>
                    <a:bodyPr/>
                    <a:lstStyle/>
                    <a:p>
                      <a:r>
                        <a:rPr lang="en-US" sz="2400" dirty="0"/>
                        <a:t>Pushdown Automata</a:t>
                      </a:r>
                    </a:p>
                  </a:txBody>
                  <a:tcPr marL="121920" marR="121920" marT="60960" marB="60960"/>
                </a:tc>
                <a:extLst>
                  <a:ext uri="{0D108BD9-81ED-4DB2-BD59-A6C34878D82A}">
                    <a16:rowId xmlns:a16="http://schemas.microsoft.com/office/drawing/2014/main" val="2013888824"/>
                  </a:ext>
                </a:extLst>
              </a:tr>
              <a:tr h="853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Type 3</a:t>
                      </a:r>
                    </a:p>
                  </a:txBody>
                  <a:tcPr marL="121920" marR="121920" marT="60960" marB="60960"/>
                </a:tc>
                <a:tc>
                  <a:txBody>
                    <a:bodyPr/>
                    <a:lstStyle/>
                    <a:p>
                      <a:r>
                        <a:rPr lang="en-US" sz="2400" dirty="0"/>
                        <a:t>Regular Grammar </a:t>
                      </a:r>
                    </a:p>
                  </a:txBody>
                  <a:tcPr marL="121920" marR="121920" marT="60960" marB="60960"/>
                </a:tc>
                <a:tc>
                  <a:txBody>
                    <a:bodyPr/>
                    <a:lstStyle/>
                    <a:p>
                      <a:r>
                        <a:rPr lang="en-US" sz="2400" dirty="0"/>
                        <a:t>Regular Language</a:t>
                      </a:r>
                    </a:p>
                  </a:txBody>
                  <a:tcPr marL="121920" marR="121920" marT="60960" marB="60960"/>
                </a:tc>
                <a:tc>
                  <a:txBody>
                    <a:bodyPr/>
                    <a:lstStyle/>
                    <a:p>
                      <a:r>
                        <a:rPr lang="en-US" sz="2400" dirty="0"/>
                        <a:t>Finite Automata</a:t>
                      </a:r>
                    </a:p>
                  </a:txBody>
                  <a:tcPr marL="121920" marR="121920" marT="60960" marB="60960"/>
                </a:tc>
                <a:extLst>
                  <a:ext uri="{0D108BD9-81ED-4DB2-BD59-A6C34878D82A}">
                    <a16:rowId xmlns:a16="http://schemas.microsoft.com/office/drawing/2014/main" val="1392409549"/>
                  </a:ext>
                </a:extLst>
              </a:tr>
            </a:tbl>
          </a:graphicData>
        </a:graphic>
      </p:graphicFrame>
    </p:spTree>
    <p:extLst>
      <p:ext uri="{BB962C8B-B14F-4D97-AF65-F5344CB8AC3E}">
        <p14:creationId xmlns:p14="http://schemas.microsoft.com/office/powerpoint/2010/main" val="187796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Grammar (CFG)</a:t>
            </a:r>
          </a:p>
        </p:txBody>
      </p:sp>
      <p:sp>
        <p:nvSpPr>
          <p:cNvPr id="3" name="Content Placeholder 2"/>
          <p:cNvSpPr>
            <a:spLocks noGrp="1"/>
          </p:cNvSpPr>
          <p:nvPr>
            <p:ph idx="1"/>
          </p:nvPr>
        </p:nvSpPr>
        <p:spPr/>
        <p:txBody>
          <a:bodyPr>
            <a:normAutofit/>
          </a:bodyPr>
          <a:lstStyle/>
          <a:p>
            <a:r>
              <a:rPr lang="en-US" dirty="0"/>
              <a:t>A context-free grammar has four components</a:t>
            </a:r>
          </a:p>
          <a:p>
            <a:pPr lvl="1"/>
            <a:r>
              <a:rPr lang="en-US" dirty="0"/>
              <a:t>A set of terminal symbols (Tokens)</a:t>
            </a:r>
          </a:p>
          <a:p>
            <a:pPr lvl="1"/>
            <a:r>
              <a:rPr lang="en-US" dirty="0"/>
              <a:t>A set of non-terminals, sometimes called \syntactic variables.“</a:t>
            </a:r>
          </a:p>
          <a:p>
            <a:pPr lvl="1"/>
            <a:r>
              <a:rPr lang="en-US" dirty="0"/>
              <a:t>A set of productions composed of </a:t>
            </a:r>
          </a:p>
          <a:p>
            <a:pPr lvl="2"/>
            <a:r>
              <a:rPr lang="en-US" dirty="0"/>
              <a:t>left side: a nonterminal</a:t>
            </a:r>
          </a:p>
          <a:p>
            <a:pPr lvl="2"/>
            <a:r>
              <a:rPr lang="en-US" dirty="0"/>
              <a:t>arrow: -&gt;</a:t>
            </a:r>
          </a:p>
          <a:p>
            <a:pPr lvl="2"/>
            <a:r>
              <a:rPr lang="en-US" dirty="0"/>
              <a:t> right side: a sequence of terminals and non terminals</a:t>
            </a:r>
          </a:p>
          <a:p>
            <a:pPr lvl="1"/>
            <a:r>
              <a:rPr lang="en-US" dirty="0"/>
              <a:t>A start symbol (first production is for the start symbol)</a:t>
            </a:r>
          </a:p>
          <a:p>
            <a:r>
              <a:rPr lang="en-US" dirty="0"/>
              <a:t>Productions with the same left side can be grouped (separated by |)</a:t>
            </a:r>
          </a:p>
        </p:txBody>
      </p:sp>
    </p:spTree>
    <p:extLst>
      <p:ext uri="{BB962C8B-B14F-4D97-AF65-F5344CB8AC3E}">
        <p14:creationId xmlns:p14="http://schemas.microsoft.com/office/powerpoint/2010/main" val="2926784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67121-7E39-4DB2-9A79-0893A1FFEAB4}"/>
              </a:ext>
            </a:extLst>
          </p:cNvPr>
          <p:cNvSpPr>
            <a:spLocks noGrp="1"/>
          </p:cNvSpPr>
          <p:nvPr>
            <p:ph type="title"/>
          </p:nvPr>
        </p:nvSpPr>
        <p:spPr/>
        <p:txBody>
          <a:bodyPr/>
          <a:lstStyle/>
          <a:p>
            <a:r>
              <a:rPr lang="en-US" dirty="0"/>
              <a:t>Context Free Grammar</a:t>
            </a:r>
          </a:p>
        </p:txBody>
      </p:sp>
      <p:sp>
        <p:nvSpPr>
          <p:cNvPr id="3" name="Content Placeholder 2">
            <a:extLst>
              <a:ext uri="{FF2B5EF4-FFF2-40B4-BE49-F238E27FC236}">
                <a16:creationId xmlns:a16="http://schemas.microsoft.com/office/drawing/2014/main" id="{F6B43CCF-E5D0-4C3C-826A-513962B41644}"/>
              </a:ext>
            </a:extLst>
          </p:cNvPr>
          <p:cNvSpPr>
            <a:spLocks noGrp="1"/>
          </p:cNvSpPr>
          <p:nvPr>
            <p:ph idx="1"/>
          </p:nvPr>
        </p:nvSpPr>
        <p:spPr/>
        <p:txBody>
          <a:bodyPr>
            <a:normAutofit/>
          </a:bodyPr>
          <a:lstStyle/>
          <a:p>
            <a:r>
              <a:rPr lang="en-US" dirty="0"/>
              <a:t>Context Free Grammar is formal grammar, the syntax or structure of a formal language can be described using context-free grammar (CFG), a type of formal grammar.</a:t>
            </a:r>
          </a:p>
          <a:p>
            <a:pPr lvl="1"/>
            <a:r>
              <a:rPr lang="en-US" dirty="0"/>
              <a:t>V - It is the collection of variables or nonterminal symbols.</a:t>
            </a:r>
          </a:p>
          <a:p>
            <a:pPr lvl="1"/>
            <a:r>
              <a:rPr lang="en-US" dirty="0"/>
              <a:t>T - It is a set of terminals. </a:t>
            </a:r>
          </a:p>
          <a:p>
            <a:pPr lvl="1"/>
            <a:r>
              <a:rPr lang="en-US" dirty="0"/>
              <a:t>P - It is the production rules that consist of both terminals and non terminals.</a:t>
            </a:r>
          </a:p>
          <a:p>
            <a:pPr lvl="1"/>
            <a:r>
              <a:rPr lang="en-US" dirty="0"/>
              <a:t>S - It is the Starting symbol.</a:t>
            </a:r>
          </a:p>
        </p:txBody>
      </p:sp>
    </p:spTree>
    <p:extLst>
      <p:ext uri="{BB962C8B-B14F-4D97-AF65-F5344CB8AC3E}">
        <p14:creationId xmlns:p14="http://schemas.microsoft.com/office/powerpoint/2010/main" val="236913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B417F-A17C-491A-982E-C5CB2A91DA02}"/>
              </a:ext>
            </a:extLst>
          </p:cNvPr>
          <p:cNvSpPr>
            <a:spLocks noGrp="1"/>
          </p:cNvSpPr>
          <p:nvPr>
            <p:ph type="title"/>
          </p:nvPr>
        </p:nvSpPr>
        <p:spPr/>
        <p:txBody>
          <a:bodyPr/>
          <a:lstStyle/>
          <a:p>
            <a:r>
              <a:rPr lang="en-US" dirty="0"/>
              <a:t>Grammar</a:t>
            </a:r>
          </a:p>
        </p:txBody>
      </p:sp>
      <p:sp>
        <p:nvSpPr>
          <p:cNvPr id="3" name="Content Placeholder 2">
            <a:extLst>
              <a:ext uri="{FF2B5EF4-FFF2-40B4-BE49-F238E27FC236}">
                <a16:creationId xmlns:a16="http://schemas.microsoft.com/office/drawing/2014/main" id="{74646645-F2B8-4A2D-B2A7-35D006B251DE}"/>
              </a:ext>
            </a:extLst>
          </p:cNvPr>
          <p:cNvSpPr>
            <a:spLocks noGrp="1"/>
          </p:cNvSpPr>
          <p:nvPr>
            <p:ph idx="1"/>
          </p:nvPr>
        </p:nvSpPr>
        <p:spPr/>
        <p:txBody>
          <a:bodyPr>
            <a:normAutofit/>
          </a:bodyPr>
          <a:lstStyle/>
          <a:p>
            <a:r>
              <a:rPr lang="en-US" dirty="0"/>
              <a:t>A Grammar G can be formally described using 4 tuples		</a:t>
            </a:r>
            <a:br>
              <a:rPr lang="en-US" dirty="0"/>
            </a:br>
            <a:r>
              <a:rPr lang="en-US" dirty="0"/>
              <a:t>G=(V, T, S, P)</a:t>
            </a:r>
          </a:p>
          <a:p>
            <a:pPr lvl="1"/>
            <a:r>
              <a:rPr lang="en-US" dirty="0"/>
              <a:t>Example: G=({S,A,B), {</a:t>
            </a:r>
            <a:r>
              <a:rPr lang="en-US" dirty="0" err="1"/>
              <a:t>a,b</a:t>
            </a:r>
            <a:r>
              <a:rPr lang="en-US" dirty="0"/>
              <a:t>}, S, {S</a:t>
            </a:r>
            <a:r>
              <a:rPr lang="en-US" dirty="0">
                <a:sym typeface="Wingdings" panose="05000000000000000000" pitchFamily="2" charset="2"/>
              </a:rPr>
              <a:t>AB, </a:t>
            </a:r>
            <a:r>
              <a:rPr lang="en-US" dirty="0" err="1">
                <a:sym typeface="Wingdings" panose="05000000000000000000" pitchFamily="2" charset="2"/>
              </a:rPr>
              <a:t>Aa</a:t>
            </a:r>
            <a:r>
              <a:rPr lang="en-US" dirty="0">
                <a:sym typeface="Wingdings" panose="05000000000000000000" pitchFamily="2" charset="2"/>
              </a:rPr>
              <a:t>, </a:t>
            </a:r>
            <a:r>
              <a:rPr lang="en-US" dirty="0" err="1">
                <a:sym typeface="Wingdings" panose="05000000000000000000" pitchFamily="2" charset="2"/>
              </a:rPr>
              <a:t>Bb</a:t>
            </a:r>
            <a:r>
              <a:rPr lang="en-US" dirty="0"/>
              <a:t>})</a:t>
            </a:r>
          </a:p>
          <a:p>
            <a:pPr lvl="2"/>
            <a:r>
              <a:rPr lang="en-US" dirty="0"/>
              <a:t>Here V={S,A,B}, T={a, b}, S=S </a:t>
            </a:r>
            <a:br>
              <a:rPr lang="en-US" dirty="0"/>
            </a:br>
            <a:r>
              <a:rPr lang="en-US" dirty="0"/>
              <a:t>and P= {S</a:t>
            </a:r>
            <a:r>
              <a:rPr lang="en-US" dirty="0">
                <a:sym typeface="Wingdings" panose="05000000000000000000" pitchFamily="2" charset="2"/>
              </a:rPr>
              <a:t>AB, </a:t>
            </a:r>
            <a:r>
              <a:rPr lang="en-US" dirty="0" err="1">
                <a:sym typeface="Wingdings" panose="05000000000000000000" pitchFamily="2" charset="2"/>
              </a:rPr>
              <a:t>Aa</a:t>
            </a:r>
            <a:r>
              <a:rPr lang="en-US" dirty="0">
                <a:sym typeface="Wingdings" panose="05000000000000000000" pitchFamily="2" charset="2"/>
              </a:rPr>
              <a:t>, </a:t>
            </a:r>
            <a:r>
              <a:rPr lang="en-US" dirty="0" err="1">
                <a:sym typeface="Wingdings" panose="05000000000000000000" pitchFamily="2" charset="2"/>
              </a:rPr>
              <a:t>Bb</a:t>
            </a:r>
            <a:r>
              <a:rPr lang="en-US" dirty="0"/>
              <a:t>})</a:t>
            </a:r>
          </a:p>
          <a:p>
            <a:pPr lvl="3"/>
            <a:r>
              <a:rPr lang="en-US" dirty="0"/>
              <a:t>S-&gt;AB</a:t>
            </a:r>
          </a:p>
          <a:p>
            <a:pPr lvl="3"/>
            <a:r>
              <a:rPr lang="en-US" dirty="0"/>
              <a:t>-&gt;</a:t>
            </a:r>
            <a:r>
              <a:rPr lang="en-US" dirty="0" err="1"/>
              <a:t>aB</a:t>
            </a:r>
            <a:endParaRPr lang="en-US" dirty="0"/>
          </a:p>
          <a:p>
            <a:pPr lvl="3"/>
            <a:r>
              <a:rPr lang="en-US" dirty="0"/>
              <a:t>-&gt;ab</a:t>
            </a:r>
          </a:p>
          <a:p>
            <a:endParaRPr lang="en-US" dirty="0"/>
          </a:p>
        </p:txBody>
      </p:sp>
    </p:spTree>
    <p:extLst>
      <p:ext uri="{BB962C8B-B14F-4D97-AF65-F5344CB8AC3E}">
        <p14:creationId xmlns:p14="http://schemas.microsoft.com/office/powerpoint/2010/main" val="255443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D9B0A-9278-4A35-B7AD-090BE8FDD311}"/>
              </a:ext>
            </a:extLst>
          </p:cNvPr>
          <p:cNvSpPr>
            <a:spLocks noGrp="1"/>
          </p:cNvSpPr>
          <p:nvPr>
            <p:ph type="title"/>
          </p:nvPr>
        </p:nvSpPr>
        <p:spPr/>
        <p:txBody>
          <a:bodyPr/>
          <a:lstStyle/>
          <a:p>
            <a:r>
              <a:rPr lang="en-US" dirty="0"/>
              <a:t>Derivation of Grammar</a:t>
            </a:r>
          </a:p>
        </p:txBody>
      </p:sp>
      <p:sp>
        <p:nvSpPr>
          <p:cNvPr id="3" name="Content Placeholder 2">
            <a:extLst>
              <a:ext uri="{FF2B5EF4-FFF2-40B4-BE49-F238E27FC236}">
                <a16:creationId xmlns:a16="http://schemas.microsoft.com/office/drawing/2014/main" id="{23B8DB0F-0B14-46B9-88E9-9752B08FAF88}"/>
              </a:ext>
            </a:extLst>
          </p:cNvPr>
          <p:cNvSpPr>
            <a:spLocks noGrp="1"/>
          </p:cNvSpPr>
          <p:nvPr>
            <p:ph idx="1"/>
          </p:nvPr>
        </p:nvSpPr>
        <p:spPr/>
        <p:txBody>
          <a:bodyPr>
            <a:normAutofit/>
          </a:bodyPr>
          <a:lstStyle/>
          <a:p>
            <a:r>
              <a:rPr lang="en-US" dirty="0"/>
              <a:t>A grammar derives strings by beginning with the start symbol and repeatedly replacing a nonterminal by the body of a production for that nonterminal. The terminal strings that can be derived from the start symbol form the language defined by the grammar.</a:t>
            </a:r>
          </a:p>
          <a:p>
            <a:endParaRPr lang="en-US" dirty="0"/>
          </a:p>
        </p:txBody>
      </p:sp>
    </p:spTree>
    <p:extLst>
      <p:ext uri="{BB962C8B-B14F-4D97-AF65-F5344CB8AC3E}">
        <p14:creationId xmlns:p14="http://schemas.microsoft.com/office/powerpoint/2010/main" val="1139466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6568C-F3EA-4BEF-8CC8-3D60B42D734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B6769DE-87F3-489C-8884-7CBFC5C90154}"/>
              </a:ext>
            </a:extLst>
          </p:cNvPr>
          <p:cNvSpPr>
            <a:spLocks noGrp="1"/>
          </p:cNvSpPr>
          <p:nvPr>
            <p:ph idx="1"/>
          </p:nvPr>
        </p:nvSpPr>
        <p:spPr/>
        <p:txBody>
          <a:bodyPr/>
          <a:lstStyle/>
          <a:p>
            <a:r>
              <a:rPr lang="en-US" dirty="0"/>
              <a:t>G=({S,A}, {a, b}, S, {S-&gt;</a:t>
            </a:r>
            <a:r>
              <a:rPr lang="en-US" dirty="0" err="1"/>
              <a:t>aAb</a:t>
            </a:r>
            <a:r>
              <a:rPr lang="en-US" dirty="0"/>
              <a:t>, </a:t>
            </a:r>
            <a:r>
              <a:rPr lang="en-US" dirty="0" err="1"/>
              <a:t>aA</a:t>
            </a:r>
            <a:r>
              <a:rPr lang="en-US" dirty="0"/>
              <a:t>-&gt;</a:t>
            </a:r>
            <a:r>
              <a:rPr lang="en-US" dirty="0" err="1"/>
              <a:t>aaAb</a:t>
            </a:r>
            <a:r>
              <a:rPr lang="en-US" dirty="0"/>
              <a:t>, A-E})</a:t>
            </a:r>
          </a:p>
          <a:p>
            <a:pPr lvl="1"/>
            <a:r>
              <a:rPr lang="en-US" dirty="0"/>
              <a:t> S-&gt;</a:t>
            </a:r>
            <a:r>
              <a:rPr lang="en-US" b="1" dirty="0" err="1"/>
              <a:t>aA</a:t>
            </a:r>
            <a:r>
              <a:rPr lang="en-US" dirty="0" err="1"/>
              <a:t>b</a:t>
            </a:r>
            <a:r>
              <a:rPr lang="en-US" dirty="0"/>
              <a:t>   [S-&gt;</a:t>
            </a:r>
            <a:r>
              <a:rPr lang="en-US" dirty="0" err="1"/>
              <a:t>aAb</a:t>
            </a:r>
            <a:r>
              <a:rPr lang="en-US" dirty="0"/>
              <a:t>]</a:t>
            </a:r>
          </a:p>
          <a:p>
            <a:pPr lvl="1"/>
            <a:r>
              <a:rPr lang="en-US" dirty="0"/>
              <a:t> S-&gt;</a:t>
            </a:r>
            <a:r>
              <a:rPr lang="en-US" b="1" dirty="0" err="1"/>
              <a:t>aaAb</a:t>
            </a:r>
            <a:r>
              <a:rPr lang="en-US" dirty="0" err="1"/>
              <a:t>b</a:t>
            </a:r>
            <a:r>
              <a:rPr lang="en-US" dirty="0"/>
              <a:t> [</a:t>
            </a:r>
            <a:r>
              <a:rPr lang="en-US" dirty="0" err="1"/>
              <a:t>aA</a:t>
            </a:r>
            <a:r>
              <a:rPr lang="en-US" dirty="0"/>
              <a:t>-&gt;</a:t>
            </a:r>
            <a:r>
              <a:rPr lang="en-US" dirty="0" err="1"/>
              <a:t>aaAb</a:t>
            </a:r>
            <a:r>
              <a:rPr lang="en-US" dirty="0"/>
              <a:t>]</a:t>
            </a:r>
          </a:p>
          <a:p>
            <a:pPr lvl="1"/>
            <a:r>
              <a:rPr lang="en-US" dirty="0"/>
              <a:t>S-&gt;</a:t>
            </a:r>
            <a:r>
              <a:rPr lang="en-US" dirty="0" err="1"/>
              <a:t>aaaAbbb</a:t>
            </a:r>
            <a:r>
              <a:rPr lang="en-US" dirty="0"/>
              <a:t> [</a:t>
            </a:r>
            <a:r>
              <a:rPr lang="en-US" dirty="0" err="1"/>
              <a:t>aA</a:t>
            </a:r>
            <a:r>
              <a:rPr lang="en-US" dirty="0"/>
              <a:t>-&gt;</a:t>
            </a:r>
            <a:r>
              <a:rPr lang="en-US" dirty="0" err="1"/>
              <a:t>aaAb</a:t>
            </a:r>
            <a:r>
              <a:rPr lang="en-US" dirty="0"/>
              <a:t>]</a:t>
            </a:r>
          </a:p>
          <a:p>
            <a:pPr lvl="1"/>
            <a:r>
              <a:rPr lang="en-US" dirty="0"/>
              <a:t>S-&gt;</a:t>
            </a:r>
            <a:r>
              <a:rPr lang="en-US" dirty="0" err="1"/>
              <a:t>aaabbb</a:t>
            </a:r>
            <a:r>
              <a:rPr lang="en-US" dirty="0"/>
              <a:t> [A-&gt;E]</a:t>
            </a:r>
          </a:p>
        </p:txBody>
      </p:sp>
    </p:spTree>
    <p:extLst>
      <p:ext uri="{BB962C8B-B14F-4D97-AF65-F5344CB8AC3E}">
        <p14:creationId xmlns:p14="http://schemas.microsoft.com/office/powerpoint/2010/main" val="247609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9E7B-3DF7-4E1C-B2B3-39B803BF9351}"/>
              </a:ext>
            </a:extLst>
          </p:cNvPr>
          <p:cNvSpPr>
            <a:spLocks noGrp="1"/>
          </p:cNvSpPr>
          <p:nvPr>
            <p:ph type="title"/>
          </p:nvPr>
        </p:nvSpPr>
        <p:spPr/>
        <p:txBody>
          <a:bodyPr/>
          <a:lstStyle/>
          <a:p>
            <a:r>
              <a:rPr lang="en-US" dirty="0"/>
              <a:t>Understand with English Grammar</a:t>
            </a:r>
          </a:p>
        </p:txBody>
      </p:sp>
      <p:sp>
        <p:nvSpPr>
          <p:cNvPr id="3" name="Content Placeholder 2">
            <a:extLst>
              <a:ext uri="{FF2B5EF4-FFF2-40B4-BE49-F238E27FC236}">
                <a16:creationId xmlns:a16="http://schemas.microsoft.com/office/drawing/2014/main" id="{BF7A9B3D-C8D3-4933-BBDA-942E41D56EE1}"/>
              </a:ext>
            </a:extLst>
          </p:cNvPr>
          <p:cNvSpPr>
            <a:spLocks noGrp="1"/>
          </p:cNvSpPr>
          <p:nvPr>
            <p:ph idx="1"/>
          </p:nvPr>
        </p:nvSpPr>
        <p:spPr/>
        <p:txBody>
          <a:bodyPr/>
          <a:lstStyle/>
          <a:p>
            <a:r>
              <a:rPr lang="en-US" dirty="0"/>
              <a:t>Students are awesome</a:t>
            </a:r>
          </a:p>
          <a:p>
            <a:endParaRPr lang="en-US" dirty="0"/>
          </a:p>
          <a:p>
            <a:endParaRPr lang="en-US" dirty="0"/>
          </a:p>
          <a:p>
            <a:endParaRPr lang="en-US" dirty="0"/>
          </a:p>
        </p:txBody>
      </p:sp>
      <p:graphicFrame>
        <p:nvGraphicFramePr>
          <p:cNvPr id="4" name="Table 3">
            <a:extLst>
              <a:ext uri="{FF2B5EF4-FFF2-40B4-BE49-F238E27FC236}">
                <a16:creationId xmlns:a16="http://schemas.microsoft.com/office/drawing/2014/main" id="{3D3F0CE4-50AB-495A-A344-2B31869B4D7F}"/>
              </a:ext>
            </a:extLst>
          </p:cNvPr>
          <p:cNvGraphicFramePr>
            <a:graphicFrameLocks noGrp="1"/>
          </p:cNvGraphicFramePr>
          <p:nvPr/>
        </p:nvGraphicFramePr>
        <p:xfrm>
          <a:off x="1930400" y="2717800"/>
          <a:ext cx="8127999" cy="2966718"/>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91891132"/>
                    </a:ext>
                  </a:extLst>
                </a:gridCol>
                <a:gridCol w="2709333">
                  <a:extLst>
                    <a:ext uri="{9D8B030D-6E8A-4147-A177-3AD203B41FA5}">
                      <a16:colId xmlns:a16="http://schemas.microsoft.com/office/drawing/2014/main" val="3216909481"/>
                    </a:ext>
                  </a:extLst>
                </a:gridCol>
                <a:gridCol w="2709333">
                  <a:extLst>
                    <a:ext uri="{9D8B030D-6E8A-4147-A177-3AD203B41FA5}">
                      <a16:colId xmlns:a16="http://schemas.microsoft.com/office/drawing/2014/main" val="1050794"/>
                    </a:ext>
                  </a:extLst>
                </a:gridCol>
              </a:tblGrid>
              <a:tr h="494453">
                <a:tc>
                  <a:txBody>
                    <a:bodyPr/>
                    <a:lstStyle/>
                    <a:p>
                      <a:pPr algn="ctr"/>
                      <a:r>
                        <a:rPr lang="en-US" sz="2400" dirty="0"/>
                        <a:t>Students</a:t>
                      </a:r>
                    </a:p>
                  </a:txBody>
                  <a:tcPr marL="121920" marR="121920" marT="60960" marB="60960"/>
                </a:tc>
                <a:tc>
                  <a:txBody>
                    <a:bodyPr/>
                    <a:lstStyle/>
                    <a:p>
                      <a:pPr algn="ctr"/>
                      <a:r>
                        <a:rPr lang="en-US" sz="2400" dirty="0"/>
                        <a:t>are</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awesome</a:t>
                      </a:r>
                    </a:p>
                  </a:txBody>
                  <a:tcPr marL="121920" marR="121920" marT="60960" marB="60960"/>
                </a:tc>
                <a:extLst>
                  <a:ext uri="{0D108BD9-81ED-4DB2-BD59-A6C34878D82A}">
                    <a16:rowId xmlns:a16="http://schemas.microsoft.com/office/drawing/2014/main" val="3450021781"/>
                  </a:ext>
                </a:extLst>
              </a:tr>
              <a:tr h="494453">
                <a:tc>
                  <a:txBody>
                    <a:bodyPr/>
                    <a:lstStyle/>
                    <a:p>
                      <a:pPr algn="ctr"/>
                      <a:r>
                        <a:rPr lang="en-US" sz="2400" b="1" dirty="0"/>
                        <a:t>Noun</a:t>
                      </a:r>
                    </a:p>
                  </a:txBody>
                  <a:tcPr marL="121920" marR="121920" marT="60960" marB="60960"/>
                </a:tc>
                <a:tc>
                  <a:txBody>
                    <a:bodyPr/>
                    <a:lstStyle/>
                    <a:p>
                      <a:pPr algn="ctr"/>
                      <a:r>
                        <a:rPr lang="en-US" sz="2400" b="1" dirty="0"/>
                        <a:t>Verb</a:t>
                      </a:r>
                    </a:p>
                  </a:txBody>
                  <a:tcPr marL="121920" marR="121920" marT="60960" marB="60960"/>
                </a:tc>
                <a:tc>
                  <a:txBody>
                    <a:bodyPr/>
                    <a:lstStyle/>
                    <a:p>
                      <a:pPr algn="ctr"/>
                      <a:r>
                        <a:rPr lang="en-US" sz="2400" b="1" dirty="0"/>
                        <a:t>Adjective</a:t>
                      </a:r>
                    </a:p>
                  </a:txBody>
                  <a:tcPr marL="121920" marR="121920" marT="60960" marB="60960"/>
                </a:tc>
                <a:extLst>
                  <a:ext uri="{0D108BD9-81ED-4DB2-BD59-A6C34878D82A}">
                    <a16:rowId xmlns:a16="http://schemas.microsoft.com/office/drawing/2014/main" val="2327176400"/>
                  </a:ext>
                </a:extLst>
              </a:tr>
              <a:tr h="494453">
                <a:tc>
                  <a:txBody>
                    <a:bodyPr/>
                    <a:lstStyle/>
                    <a:p>
                      <a:pPr algn="ctr"/>
                      <a:r>
                        <a:rPr lang="en-US" sz="2400" dirty="0"/>
                        <a:t>UIT</a:t>
                      </a:r>
                    </a:p>
                  </a:txBody>
                  <a:tcPr marL="121920" marR="121920" marT="60960" marB="60960"/>
                </a:tc>
                <a:tc>
                  <a:txBody>
                    <a:bodyPr/>
                    <a:lstStyle/>
                    <a:p>
                      <a:pPr algn="ctr"/>
                      <a:r>
                        <a:rPr lang="en-US" sz="2400" dirty="0"/>
                        <a:t>Is </a:t>
                      </a:r>
                    </a:p>
                  </a:txBody>
                  <a:tcPr marL="121920" marR="121920" marT="60960" marB="60960"/>
                </a:tc>
                <a:tc>
                  <a:txBody>
                    <a:bodyPr/>
                    <a:lstStyle/>
                    <a:p>
                      <a:pPr algn="ctr"/>
                      <a:r>
                        <a:rPr lang="en-US" sz="2400" dirty="0"/>
                        <a:t>Good</a:t>
                      </a:r>
                    </a:p>
                  </a:txBody>
                  <a:tcPr marL="121920" marR="121920" marT="60960" marB="60960"/>
                </a:tc>
                <a:extLst>
                  <a:ext uri="{0D108BD9-81ED-4DB2-BD59-A6C34878D82A}">
                    <a16:rowId xmlns:a16="http://schemas.microsoft.com/office/drawing/2014/main" val="1297080024"/>
                  </a:ext>
                </a:extLst>
              </a:tr>
              <a:tr h="494453">
                <a:tc>
                  <a:txBody>
                    <a:bodyPr/>
                    <a:lstStyle/>
                    <a:p>
                      <a:endParaRPr lang="en-US" sz="2400" dirty="0"/>
                    </a:p>
                  </a:txBody>
                  <a:tcPr marL="121920" marR="121920" marT="60960" marB="60960"/>
                </a:tc>
                <a:tc gridSpan="2">
                  <a:txBody>
                    <a:bodyPr/>
                    <a:lstStyle/>
                    <a:p>
                      <a:pPr algn="ctr"/>
                      <a:r>
                        <a:rPr lang="en-US" sz="2400" dirty="0"/>
                        <a:t>Verb Phrase</a:t>
                      </a:r>
                    </a:p>
                  </a:txBody>
                  <a:tcPr marL="121920" marR="121920" marT="60960" marB="60960"/>
                </a:tc>
                <a:tc hMerge="1">
                  <a:txBody>
                    <a:bodyPr/>
                    <a:lstStyle/>
                    <a:p>
                      <a:endParaRPr lang="en-US" dirty="0"/>
                    </a:p>
                  </a:txBody>
                  <a:tcPr/>
                </a:tc>
                <a:extLst>
                  <a:ext uri="{0D108BD9-81ED-4DB2-BD59-A6C34878D82A}">
                    <a16:rowId xmlns:a16="http://schemas.microsoft.com/office/drawing/2014/main" val="299083385"/>
                  </a:ext>
                </a:extLst>
              </a:tr>
              <a:tr h="494453">
                <a:tc gridSpan="3">
                  <a:txBody>
                    <a:bodyPr/>
                    <a:lstStyle/>
                    <a:p>
                      <a:pPr algn="ctr"/>
                      <a:r>
                        <a:rPr lang="en-US" sz="2400" dirty="0"/>
                        <a:t>Sentence</a:t>
                      </a:r>
                    </a:p>
                  </a:txBody>
                  <a:tcPr marL="121920" marR="121920" marT="60960" marB="6096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219709219"/>
                  </a:ext>
                </a:extLst>
              </a:tr>
              <a:tr h="494453">
                <a:tc>
                  <a:txBody>
                    <a:bodyPr/>
                    <a:lstStyle/>
                    <a:p>
                      <a:endParaRPr lang="en-US" sz="2400"/>
                    </a:p>
                  </a:txBody>
                  <a:tcPr marL="121920" marR="121920" marT="60960" marB="60960"/>
                </a:tc>
                <a:tc>
                  <a:txBody>
                    <a:bodyPr/>
                    <a:lstStyle/>
                    <a:p>
                      <a:endParaRPr lang="en-US" sz="2400"/>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938167143"/>
                  </a:ext>
                </a:extLst>
              </a:tr>
            </a:tbl>
          </a:graphicData>
        </a:graphic>
      </p:graphicFrame>
    </p:spTree>
    <p:extLst>
      <p:ext uri="{BB962C8B-B14F-4D97-AF65-F5344CB8AC3E}">
        <p14:creationId xmlns:p14="http://schemas.microsoft.com/office/powerpoint/2010/main" val="3839574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1583-A2AC-447C-8B87-BA4E8904425A}"/>
              </a:ext>
            </a:extLst>
          </p:cNvPr>
          <p:cNvSpPr>
            <a:spLocks noGrp="1"/>
          </p:cNvSpPr>
          <p:nvPr>
            <p:ph type="title"/>
          </p:nvPr>
        </p:nvSpPr>
        <p:spPr/>
        <p:txBody>
          <a:bodyPr/>
          <a:lstStyle/>
          <a:p>
            <a:r>
              <a:rPr lang="en-US" dirty="0"/>
              <a:t>Understand with English Grammar</a:t>
            </a:r>
          </a:p>
        </p:txBody>
      </p:sp>
      <p:graphicFrame>
        <p:nvGraphicFramePr>
          <p:cNvPr id="4" name="Content Placeholder 3">
            <a:extLst>
              <a:ext uri="{FF2B5EF4-FFF2-40B4-BE49-F238E27FC236}">
                <a16:creationId xmlns:a16="http://schemas.microsoft.com/office/drawing/2014/main" id="{5AF7A1AC-1A23-4656-B7DC-18337C882EA9}"/>
              </a:ext>
            </a:extLst>
          </p:cNvPr>
          <p:cNvGraphicFramePr>
            <a:graphicFrameLocks noGrp="1"/>
          </p:cNvGraphicFramePr>
          <p:nvPr>
            <p:ph idx="1"/>
          </p:nvPr>
        </p:nvGraphicFramePr>
        <p:xfrm>
          <a:off x="609600" y="1600200"/>
          <a:ext cx="10972800" cy="223520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3729327033"/>
                    </a:ext>
                  </a:extLst>
                </a:gridCol>
                <a:gridCol w="2743200">
                  <a:extLst>
                    <a:ext uri="{9D8B030D-6E8A-4147-A177-3AD203B41FA5}">
                      <a16:colId xmlns:a16="http://schemas.microsoft.com/office/drawing/2014/main" val="17809847"/>
                    </a:ext>
                  </a:extLst>
                </a:gridCol>
                <a:gridCol w="2743200">
                  <a:extLst>
                    <a:ext uri="{9D8B030D-6E8A-4147-A177-3AD203B41FA5}">
                      <a16:colId xmlns:a16="http://schemas.microsoft.com/office/drawing/2014/main" val="482215351"/>
                    </a:ext>
                  </a:extLst>
                </a:gridCol>
                <a:gridCol w="2743200">
                  <a:extLst>
                    <a:ext uri="{9D8B030D-6E8A-4147-A177-3AD203B41FA5}">
                      <a16:colId xmlns:a16="http://schemas.microsoft.com/office/drawing/2014/main" val="1687114556"/>
                    </a:ext>
                  </a:extLst>
                </a:gridCol>
              </a:tblGrid>
              <a:tr h="447040">
                <a:tc>
                  <a:txBody>
                    <a:bodyPr/>
                    <a:lstStyle/>
                    <a:p>
                      <a:r>
                        <a:rPr lang="en-US" sz="2100" dirty="0"/>
                        <a:t>Nouns</a:t>
                      </a:r>
                    </a:p>
                  </a:txBody>
                  <a:tcPr marL="121920" marR="121920" marT="60960" marB="60960"/>
                </a:tc>
                <a:tc rowSpan="4">
                  <a:txBody>
                    <a:bodyPr/>
                    <a:lstStyle/>
                    <a:p>
                      <a:pPr algn="ctr"/>
                      <a:r>
                        <a:rPr lang="en-US" sz="2100" dirty="0"/>
                        <a:t>Variables </a:t>
                      </a:r>
                    </a:p>
                    <a:p>
                      <a:pPr algn="ctr"/>
                      <a:r>
                        <a:rPr lang="en-US" sz="2100" dirty="0"/>
                        <a:t>Or Non-Terminals</a:t>
                      </a:r>
                    </a:p>
                  </a:txBody>
                  <a:tcPr marL="121920" marR="121920" marT="60960" marB="60960"/>
                </a:tc>
                <a:tc rowSpan="4">
                  <a:txBody>
                    <a:bodyPr/>
                    <a:lstStyle/>
                    <a:p>
                      <a:r>
                        <a:rPr lang="en-US" sz="2100" dirty="0"/>
                        <a:t>Constants </a:t>
                      </a:r>
                    </a:p>
                    <a:p>
                      <a:r>
                        <a:rPr lang="en-US" sz="2100" dirty="0"/>
                        <a:t>Or </a:t>
                      </a:r>
                    </a:p>
                    <a:p>
                      <a:r>
                        <a:rPr lang="en-US" sz="2100" dirty="0"/>
                        <a:t>Terminals</a:t>
                      </a:r>
                    </a:p>
                  </a:txBody>
                  <a:tcPr marL="121920" marR="121920" marT="60960" marB="60960"/>
                </a:tc>
                <a:tc>
                  <a:txBody>
                    <a:bodyPr/>
                    <a:lstStyle/>
                    <a:p>
                      <a:r>
                        <a:rPr lang="en-US" sz="2100" dirty="0"/>
                        <a:t>Students</a:t>
                      </a:r>
                    </a:p>
                  </a:txBody>
                  <a:tcPr marL="121920" marR="121920" marT="60960" marB="60960"/>
                </a:tc>
                <a:extLst>
                  <a:ext uri="{0D108BD9-81ED-4DB2-BD59-A6C34878D82A}">
                    <a16:rowId xmlns:a16="http://schemas.microsoft.com/office/drawing/2014/main" val="2948745050"/>
                  </a:ext>
                </a:extLst>
              </a:tr>
              <a:tr h="447040">
                <a:tc>
                  <a:txBody>
                    <a:bodyPr/>
                    <a:lstStyle/>
                    <a:p>
                      <a:r>
                        <a:rPr lang="en-US" sz="2100" dirty="0"/>
                        <a:t>Adjectives</a:t>
                      </a:r>
                    </a:p>
                  </a:txBody>
                  <a:tcPr marL="121920" marR="121920" marT="60960" marB="60960"/>
                </a:tc>
                <a:tc vMerge="1">
                  <a:txBody>
                    <a:bodyPr/>
                    <a:lstStyle/>
                    <a:p>
                      <a:endParaRPr lang="en-US" dirty="0"/>
                    </a:p>
                  </a:txBody>
                  <a:tcPr/>
                </a:tc>
                <a:tc vMerge="1">
                  <a:txBody>
                    <a:bodyPr/>
                    <a:lstStyle/>
                    <a:p>
                      <a:endParaRPr lang="en-US" dirty="0"/>
                    </a:p>
                  </a:txBody>
                  <a:tcPr/>
                </a:tc>
                <a:tc>
                  <a:txBody>
                    <a:bodyPr/>
                    <a:lstStyle/>
                    <a:p>
                      <a:r>
                        <a:rPr lang="en-US" sz="2100" dirty="0"/>
                        <a:t>UIT</a:t>
                      </a:r>
                    </a:p>
                  </a:txBody>
                  <a:tcPr marL="121920" marR="121920" marT="60960" marB="60960"/>
                </a:tc>
                <a:extLst>
                  <a:ext uri="{0D108BD9-81ED-4DB2-BD59-A6C34878D82A}">
                    <a16:rowId xmlns:a16="http://schemas.microsoft.com/office/drawing/2014/main" val="2589637646"/>
                  </a:ext>
                </a:extLst>
              </a:tr>
              <a:tr h="447040">
                <a:tc>
                  <a:txBody>
                    <a:bodyPr/>
                    <a:lstStyle/>
                    <a:p>
                      <a:r>
                        <a:rPr lang="en-US" sz="2100" dirty="0"/>
                        <a:t>Verb Phrase</a:t>
                      </a:r>
                    </a:p>
                  </a:txBody>
                  <a:tcPr marL="121920" marR="121920" marT="60960" marB="60960"/>
                </a:tc>
                <a:tc vMerge="1">
                  <a:txBody>
                    <a:bodyPr/>
                    <a:lstStyle/>
                    <a:p>
                      <a:endParaRPr lang="en-US" dirty="0"/>
                    </a:p>
                  </a:txBody>
                  <a:tcPr/>
                </a:tc>
                <a:tc vMerge="1">
                  <a:txBody>
                    <a:bodyPr/>
                    <a:lstStyle/>
                    <a:p>
                      <a:endParaRPr lang="en-US" dirty="0"/>
                    </a:p>
                  </a:txBody>
                  <a:tcPr/>
                </a:tc>
                <a:tc>
                  <a:txBody>
                    <a:bodyPr/>
                    <a:lstStyle/>
                    <a:p>
                      <a:r>
                        <a:rPr lang="en-US" sz="2100" dirty="0"/>
                        <a:t>Are, is</a:t>
                      </a:r>
                    </a:p>
                  </a:txBody>
                  <a:tcPr marL="121920" marR="121920" marT="60960" marB="60960"/>
                </a:tc>
                <a:extLst>
                  <a:ext uri="{0D108BD9-81ED-4DB2-BD59-A6C34878D82A}">
                    <a16:rowId xmlns:a16="http://schemas.microsoft.com/office/drawing/2014/main" val="1907189653"/>
                  </a:ext>
                </a:extLst>
              </a:tr>
              <a:tr h="447040">
                <a:tc>
                  <a:txBody>
                    <a:bodyPr/>
                    <a:lstStyle/>
                    <a:p>
                      <a:r>
                        <a:rPr lang="en-US" sz="2100" dirty="0" err="1"/>
                        <a:t>Sentense</a:t>
                      </a:r>
                      <a:endParaRPr lang="en-US" sz="2100" dirty="0"/>
                    </a:p>
                  </a:txBody>
                  <a:tcPr marL="121920" marR="121920" marT="60960" marB="60960"/>
                </a:tc>
                <a:tc vMerge="1">
                  <a:txBody>
                    <a:bodyPr/>
                    <a:lstStyle/>
                    <a:p>
                      <a:endParaRPr lang="en-US" dirty="0"/>
                    </a:p>
                  </a:txBody>
                  <a:tcPr/>
                </a:tc>
                <a:tc vMerge="1">
                  <a:txBody>
                    <a:bodyPr/>
                    <a:lstStyle/>
                    <a:p>
                      <a:endParaRPr lang="en-US" dirty="0"/>
                    </a:p>
                  </a:txBody>
                  <a:tcPr/>
                </a:tc>
                <a:tc>
                  <a:txBody>
                    <a:bodyPr/>
                    <a:lstStyle/>
                    <a:p>
                      <a:r>
                        <a:rPr lang="en-US" sz="2100" dirty="0"/>
                        <a:t>Awesome</a:t>
                      </a:r>
                    </a:p>
                  </a:txBody>
                  <a:tcPr marL="121920" marR="121920" marT="60960" marB="60960"/>
                </a:tc>
                <a:extLst>
                  <a:ext uri="{0D108BD9-81ED-4DB2-BD59-A6C34878D82A}">
                    <a16:rowId xmlns:a16="http://schemas.microsoft.com/office/drawing/2014/main" val="392953345"/>
                  </a:ext>
                </a:extLst>
              </a:tr>
              <a:tr h="447040">
                <a:tc>
                  <a:txBody>
                    <a:bodyPr/>
                    <a:lstStyle/>
                    <a:p>
                      <a:endParaRPr lang="en-US" sz="2100"/>
                    </a:p>
                  </a:txBody>
                  <a:tcPr marL="121920" marR="121920" marT="60960" marB="60960"/>
                </a:tc>
                <a:tc>
                  <a:txBody>
                    <a:bodyPr/>
                    <a:lstStyle/>
                    <a:p>
                      <a:endParaRPr lang="en-US" sz="2100" dirty="0"/>
                    </a:p>
                  </a:txBody>
                  <a:tcPr marL="121920" marR="121920" marT="60960" marB="60960"/>
                </a:tc>
                <a:tc>
                  <a:txBody>
                    <a:bodyPr/>
                    <a:lstStyle/>
                    <a:p>
                      <a:endParaRPr lang="en-US" sz="2100" dirty="0"/>
                    </a:p>
                  </a:txBody>
                  <a:tcPr marL="121920" marR="121920" marT="60960" marB="60960"/>
                </a:tc>
                <a:tc>
                  <a:txBody>
                    <a:bodyPr/>
                    <a:lstStyle/>
                    <a:p>
                      <a:r>
                        <a:rPr lang="en-US" sz="2100" dirty="0"/>
                        <a:t>Good</a:t>
                      </a:r>
                    </a:p>
                  </a:txBody>
                  <a:tcPr marL="121920" marR="121920" marT="60960" marB="60960"/>
                </a:tc>
                <a:extLst>
                  <a:ext uri="{0D108BD9-81ED-4DB2-BD59-A6C34878D82A}">
                    <a16:rowId xmlns:a16="http://schemas.microsoft.com/office/drawing/2014/main" val="605223087"/>
                  </a:ext>
                </a:extLst>
              </a:tr>
            </a:tbl>
          </a:graphicData>
        </a:graphic>
      </p:graphicFrame>
      <p:sp>
        <p:nvSpPr>
          <p:cNvPr id="5" name="TextBox 4">
            <a:extLst>
              <a:ext uri="{FF2B5EF4-FFF2-40B4-BE49-F238E27FC236}">
                <a16:creationId xmlns:a16="http://schemas.microsoft.com/office/drawing/2014/main" id="{E480512C-58C7-46FB-A74D-9DE7DA16DE4E}"/>
              </a:ext>
            </a:extLst>
          </p:cNvPr>
          <p:cNvSpPr txBox="1"/>
          <p:nvPr/>
        </p:nvSpPr>
        <p:spPr>
          <a:xfrm>
            <a:off x="609600" y="4038600"/>
            <a:ext cx="11074400" cy="2677656"/>
          </a:xfrm>
          <a:prstGeom prst="rect">
            <a:avLst/>
          </a:prstGeom>
          <a:noFill/>
        </p:spPr>
        <p:txBody>
          <a:bodyPr wrap="square" rtlCol="0">
            <a:spAutoFit/>
          </a:bodyPr>
          <a:lstStyle/>
          <a:p>
            <a:r>
              <a:rPr lang="en-US" sz="2400" dirty="0"/>
              <a:t>S -&gt; Noun + Verb Phrase</a:t>
            </a:r>
          </a:p>
          <a:p>
            <a:r>
              <a:rPr lang="en-US" sz="2400" dirty="0"/>
              <a:t>Verb Phrase = Verb + Adjective</a:t>
            </a:r>
          </a:p>
          <a:p>
            <a:endParaRPr lang="en-US" sz="2400" dirty="0"/>
          </a:p>
          <a:p>
            <a:r>
              <a:rPr lang="en-US" sz="2400" dirty="0"/>
              <a:t>Noun-&gt; Students, UIT</a:t>
            </a:r>
          </a:p>
          <a:p>
            <a:r>
              <a:rPr lang="en-US" sz="2400" dirty="0"/>
              <a:t>Verb - &gt; is, are</a:t>
            </a:r>
          </a:p>
          <a:p>
            <a:r>
              <a:rPr lang="en-US" sz="2400" dirty="0"/>
              <a:t>Adjective -&gt; Awesome Good</a:t>
            </a:r>
          </a:p>
          <a:p>
            <a:endParaRPr lang="en-US" sz="2400" dirty="0"/>
          </a:p>
        </p:txBody>
      </p:sp>
      <p:sp>
        <p:nvSpPr>
          <p:cNvPr id="6" name="Rectangle 5">
            <a:extLst>
              <a:ext uri="{FF2B5EF4-FFF2-40B4-BE49-F238E27FC236}">
                <a16:creationId xmlns:a16="http://schemas.microsoft.com/office/drawing/2014/main" id="{F073D708-6CF1-4824-931C-641F6DE2E4FA}"/>
              </a:ext>
            </a:extLst>
          </p:cNvPr>
          <p:cNvSpPr/>
          <p:nvPr/>
        </p:nvSpPr>
        <p:spPr>
          <a:xfrm>
            <a:off x="6502400" y="4017962"/>
            <a:ext cx="4775200" cy="225583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G = (V,T,S,P)</a:t>
            </a:r>
          </a:p>
          <a:p>
            <a:pPr algn="ctr"/>
            <a:r>
              <a:rPr lang="en-US" sz="2400" dirty="0"/>
              <a:t>V= Non terminal</a:t>
            </a:r>
          </a:p>
          <a:p>
            <a:pPr algn="ctr"/>
            <a:r>
              <a:rPr lang="en-US" sz="2400" dirty="0"/>
              <a:t>T= Terminal </a:t>
            </a:r>
          </a:p>
          <a:p>
            <a:pPr algn="ctr"/>
            <a:r>
              <a:rPr lang="en-US" sz="2400" dirty="0"/>
              <a:t>P = Production Rule</a:t>
            </a:r>
          </a:p>
          <a:p>
            <a:pPr algn="ctr"/>
            <a:r>
              <a:rPr lang="en-US" sz="2400" dirty="0"/>
              <a:t>S= &lt;S&gt;</a:t>
            </a:r>
          </a:p>
        </p:txBody>
      </p:sp>
    </p:spTree>
    <p:extLst>
      <p:ext uri="{BB962C8B-B14F-4D97-AF65-F5344CB8AC3E}">
        <p14:creationId xmlns:p14="http://schemas.microsoft.com/office/powerpoint/2010/main" val="2628099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Derivations in CFG</a:t>
            </a:r>
          </a:p>
        </p:txBody>
      </p:sp>
      <p:sp>
        <p:nvSpPr>
          <p:cNvPr id="3" name="Content Placeholder 2"/>
          <p:cNvSpPr>
            <a:spLocks noGrp="1"/>
          </p:cNvSpPr>
          <p:nvPr>
            <p:ph idx="1"/>
          </p:nvPr>
        </p:nvSpPr>
        <p:spPr/>
        <p:txBody>
          <a:bodyPr>
            <a:normAutofit/>
          </a:bodyPr>
          <a:lstStyle/>
          <a:p>
            <a:r>
              <a:rPr lang="en-US" dirty="0"/>
              <a:t>A CFG 	list-&gt;</a:t>
            </a:r>
            <a:r>
              <a:rPr lang="en-US" dirty="0" err="1"/>
              <a:t>list+list</a:t>
            </a:r>
            <a:r>
              <a:rPr lang="en-US" dirty="0"/>
              <a:t> | list x list |  digit  OR</a:t>
            </a:r>
          </a:p>
          <a:p>
            <a:pPr lvl="1"/>
            <a:r>
              <a:rPr lang="en-US" dirty="0"/>
              <a:t>list-&gt;</a:t>
            </a:r>
            <a:r>
              <a:rPr lang="en-US" dirty="0" err="1"/>
              <a:t>list+list</a:t>
            </a:r>
            <a:endParaRPr lang="en-US" dirty="0"/>
          </a:p>
          <a:p>
            <a:pPr lvl="1"/>
            <a:r>
              <a:rPr lang="en-US" dirty="0"/>
              <a:t>List-&gt;list x list</a:t>
            </a:r>
          </a:p>
          <a:p>
            <a:pPr lvl="1"/>
            <a:r>
              <a:rPr lang="en-US" dirty="0"/>
              <a:t>List-&gt;digit</a:t>
            </a:r>
          </a:p>
          <a:p>
            <a:r>
              <a:rPr lang="en-US" dirty="0"/>
              <a:t>CFG has (V T P S), here </a:t>
            </a:r>
            <a:r>
              <a:rPr lang="en-US" b="1" dirty="0"/>
              <a:t>V</a:t>
            </a:r>
            <a:r>
              <a:rPr lang="en-US" dirty="0"/>
              <a:t>=list,    </a:t>
            </a:r>
            <a:r>
              <a:rPr lang="en-US" b="1" dirty="0"/>
              <a:t>T  </a:t>
            </a:r>
            <a:r>
              <a:rPr lang="en-US" dirty="0"/>
              <a:t>=+ x digit, </a:t>
            </a:r>
            <a:r>
              <a:rPr lang="en-US" b="1" dirty="0"/>
              <a:t>P</a:t>
            </a:r>
            <a:r>
              <a:rPr lang="en-US" dirty="0"/>
              <a:t> is above given rules and </a:t>
            </a:r>
            <a:r>
              <a:rPr lang="en-US" b="1" dirty="0"/>
              <a:t>S </a:t>
            </a:r>
            <a:r>
              <a:rPr lang="en-US" dirty="0"/>
              <a:t>is any string derive from the rules.</a:t>
            </a:r>
          </a:p>
          <a:p>
            <a:r>
              <a:rPr lang="en-US" dirty="0"/>
              <a:t>Digit-&gt;0-9</a:t>
            </a:r>
          </a:p>
          <a:p>
            <a:endParaRPr lang="en-US" dirty="0"/>
          </a:p>
          <a:p>
            <a:pPr lvl="1"/>
            <a:endParaRPr lang="en-US" dirty="0"/>
          </a:p>
        </p:txBody>
      </p:sp>
    </p:spTree>
    <p:extLst>
      <p:ext uri="{BB962C8B-B14F-4D97-AF65-F5344CB8AC3E}">
        <p14:creationId xmlns:p14="http://schemas.microsoft.com/office/powerpoint/2010/main" val="3970894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Derivations in CFG</a:t>
            </a:r>
          </a:p>
        </p:txBody>
      </p:sp>
      <p:sp>
        <p:nvSpPr>
          <p:cNvPr id="3" name="Content Placeholder 2"/>
          <p:cNvSpPr>
            <a:spLocks noGrp="1"/>
          </p:cNvSpPr>
          <p:nvPr>
            <p:ph idx="1"/>
          </p:nvPr>
        </p:nvSpPr>
        <p:spPr/>
        <p:txBody>
          <a:bodyPr>
            <a:normAutofit/>
          </a:bodyPr>
          <a:lstStyle/>
          <a:p>
            <a:r>
              <a:rPr lang="en-US" dirty="0"/>
              <a:t>A grammar derives strings by beginning with the start symbol and repeatedly replacing a nonterminal by the body of a production for that nonterminal. The terminal strings that can b e derived from the start symbol form the language defined by the grammar.</a:t>
            </a:r>
          </a:p>
        </p:txBody>
      </p:sp>
    </p:spTree>
    <p:extLst>
      <p:ext uri="{BB962C8B-B14F-4D97-AF65-F5344CB8AC3E}">
        <p14:creationId xmlns:p14="http://schemas.microsoft.com/office/powerpoint/2010/main" val="360165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endParaRPr lang="en-US" dirty="0"/>
          </a:p>
          <a:p>
            <a:pPr marL="0" indent="0">
              <a:buNone/>
            </a:pPr>
            <a:endParaRPr lang="en-US" dirty="0"/>
          </a:p>
          <a:p>
            <a:r>
              <a:rPr lang="en-US" sz="3200" dirty="0"/>
              <a:t>The bodies of the three productions with nonterminal list as head equivalently can b e grouped:</a:t>
            </a:r>
          </a:p>
          <a:p>
            <a:endParaRPr lang="en-US" sz="3200" dirty="0"/>
          </a:p>
          <a:p>
            <a:endParaRPr lang="en-US" sz="3200" dirty="0"/>
          </a:p>
          <a:p>
            <a:r>
              <a:rPr lang="en-US" sz="2667" dirty="0"/>
              <a:t>According to our conventions, the terminals of the grammar are the symbols</a:t>
            </a:r>
          </a:p>
          <a:p>
            <a:endParaRPr lang="en-US" sz="2667"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52143" y="1193801"/>
            <a:ext cx="707725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459135" y="4343400"/>
            <a:ext cx="742030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612920" y="5521057"/>
            <a:ext cx="5181600" cy="71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7111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609600" y="1600201"/>
            <a:ext cx="10972800" cy="4978399"/>
          </a:xfrm>
        </p:spPr>
        <p:txBody>
          <a:bodyPr>
            <a:normAutofit/>
          </a:bodyPr>
          <a:lstStyle/>
          <a:p>
            <a:r>
              <a:rPr lang="en-US" dirty="0"/>
              <a:t>Suppose we want to derive </a:t>
            </a:r>
            <a:r>
              <a:rPr lang="en-US" b="1" dirty="0"/>
              <a:t>9-5+2</a:t>
            </a:r>
            <a:r>
              <a:rPr lang="en-US" dirty="0"/>
              <a:t> from the given productions.</a:t>
            </a:r>
          </a:p>
          <a:p>
            <a:r>
              <a:rPr lang="en-US" dirty="0"/>
              <a:t>Taking the first production </a:t>
            </a:r>
            <a:r>
              <a:rPr lang="en-US" b="1" dirty="0"/>
              <a:t>List-&gt;</a:t>
            </a:r>
            <a:r>
              <a:rPr lang="en-US" b="1" dirty="0" err="1"/>
              <a:t>list+digit</a:t>
            </a:r>
            <a:r>
              <a:rPr lang="en-US" b="1" dirty="0"/>
              <a:t> </a:t>
            </a:r>
            <a:r>
              <a:rPr lang="en-US" dirty="0"/>
              <a:t>we may drive </a:t>
            </a:r>
            <a:br>
              <a:rPr lang="en-US" dirty="0"/>
            </a:br>
            <a:r>
              <a:rPr lang="en-US" b="1" dirty="0"/>
              <a:t>list-&gt;list+2</a:t>
            </a:r>
          </a:p>
          <a:p>
            <a:r>
              <a:rPr lang="en-US" dirty="0"/>
              <a:t>Now taking second product </a:t>
            </a:r>
            <a:r>
              <a:rPr lang="en-US" b="1" dirty="0"/>
              <a:t>list-digit </a:t>
            </a:r>
            <a:r>
              <a:rPr lang="en-US" dirty="0"/>
              <a:t>we may drive </a:t>
            </a:r>
            <a:br>
              <a:rPr lang="en-US" dirty="0"/>
            </a:br>
            <a:r>
              <a:rPr lang="en-US" b="1" dirty="0"/>
              <a:t>list-digit+2</a:t>
            </a:r>
          </a:p>
          <a:p>
            <a:r>
              <a:rPr lang="en-US" dirty="0"/>
              <a:t>we will replace digital with 5, we will have </a:t>
            </a:r>
            <a:r>
              <a:rPr lang="en-US" b="1" dirty="0"/>
              <a:t>list-5+2</a:t>
            </a:r>
          </a:p>
          <a:p>
            <a:r>
              <a:rPr lang="en-US" dirty="0"/>
              <a:t>Now from left most </a:t>
            </a:r>
            <a:r>
              <a:rPr lang="en-US" b="1" dirty="0"/>
              <a:t>list</a:t>
            </a:r>
            <a:r>
              <a:rPr lang="en-US" dirty="0"/>
              <a:t> we drive </a:t>
            </a:r>
            <a:r>
              <a:rPr lang="en-US" b="1" dirty="0"/>
              <a:t>digit</a:t>
            </a:r>
            <a:r>
              <a:rPr lang="en-US" dirty="0"/>
              <a:t> then we have </a:t>
            </a:r>
            <a:br>
              <a:rPr lang="en-US" dirty="0"/>
            </a:br>
            <a:r>
              <a:rPr lang="en-US" b="1" dirty="0"/>
              <a:t>digit-5+2</a:t>
            </a:r>
          </a:p>
          <a:p>
            <a:r>
              <a:rPr lang="en-US" dirty="0"/>
              <a:t>After replacing </a:t>
            </a:r>
            <a:r>
              <a:rPr lang="en-US" b="1" dirty="0"/>
              <a:t>digit</a:t>
            </a:r>
            <a:r>
              <a:rPr lang="en-US" dirty="0"/>
              <a:t> with </a:t>
            </a:r>
            <a:r>
              <a:rPr lang="en-US" b="1" dirty="0"/>
              <a:t>9</a:t>
            </a:r>
            <a:r>
              <a:rPr lang="en-US" dirty="0"/>
              <a:t>, we will have </a:t>
            </a:r>
            <a:r>
              <a:rPr lang="en-US" b="1" dirty="0"/>
              <a:t>9-5+2</a:t>
            </a:r>
          </a:p>
          <a:p>
            <a:endParaRPr lang="en-US" dirty="0"/>
          </a:p>
        </p:txBody>
      </p:sp>
      <p:pic>
        <p:nvPicPr>
          <p:cNvPr id="4"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30400" y="685800"/>
            <a:ext cx="742030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586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D200-D428-94D7-5C27-3257CB866C15}"/>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00B60E8A-0465-D2C7-4099-77423450E298}"/>
              </a:ext>
            </a:extLst>
          </p:cNvPr>
          <p:cNvSpPr>
            <a:spLocks noGrp="1"/>
          </p:cNvSpPr>
          <p:nvPr>
            <p:ph idx="1"/>
          </p:nvPr>
        </p:nvSpPr>
        <p:spPr/>
        <p:txBody>
          <a:bodyPr/>
          <a:lstStyle/>
          <a:p>
            <a:endParaRPr lang="en-US" dirty="0"/>
          </a:p>
          <a:p>
            <a:endParaRPr lang="en-US" dirty="0"/>
          </a:p>
          <a:p>
            <a:endParaRPr lang="en-PK" dirty="0"/>
          </a:p>
        </p:txBody>
      </p:sp>
      <p:pic>
        <p:nvPicPr>
          <p:cNvPr id="4" name="Picture 3">
            <a:extLst>
              <a:ext uri="{FF2B5EF4-FFF2-40B4-BE49-F238E27FC236}">
                <a16:creationId xmlns:a16="http://schemas.microsoft.com/office/drawing/2014/main" id="{839B1EF2-3FA6-A666-060A-F0A3D481972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30400" y="685800"/>
            <a:ext cx="742030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8384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Derivations</a:t>
            </a:r>
          </a:p>
        </p:txBody>
      </p:sp>
      <p:sp>
        <p:nvSpPr>
          <p:cNvPr id="3" name="Content Placeholder 2"/>
          <p:cNvSpPr>
            <a:spLocks noGrp="1"/>
          </p:cNvSpPr>
          <p:nvPr>
            <p:ph idx="1"/>
          </p:nvPr>
        </p:nvSpPr>
        <p:spPr/>
        <p:txBody>
          <a:bodyPr/>
          <a:lstStyle/>
          <a:p>
            <a:r>
              <a:rPr lang="en-US" dirty="0"/>
              <a:t>Left Most Derivation</a:t>
            </a:r>
          </a:p>
          <a:p>
            <a:r>
              <a:rPr lang="en-US" dirty="0"/>
              <a:t>Right most derivation</a:t>
            </a:r>
          </a:p>
          <a:p>
            <a:r>
              <a:rPr lang="en-US" dirty="0"/>
              <a:t>Parse tree</a:t>
            </a:r>
          </a:p>
        </p:txBody>
      </p:sp>
    </p:spTree>
    <p:extLst>
      <p:ext uri="{BB962C8B-B14F-4D97-AF65-F5344CB8AC3E}">
        <p14:creationId xmlns:p14="http://schemas.microsoft.com/office/powerpoint/2010/main" val="4096276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Left most derivation</a:t>
            </a:r>
          </a:p>
        </p:txBody>
      </p:sp>
      <p:sp>
        <p:nvSpPr>
          <p:cNvPr id="3" name="Content Placeholder 2"/>
          <p:cNvSpPr>
            <a:spLocks noGrp="1"/>
          </p:cNvSpPr>
          <p:nvPr>
            <p:ph idx="1"/>
          </p:nvPr>
        </p:nvSpPr>
        <p:spPr/>
        <p:txBody>
          <a:bodyPr/>
          <a:lstStyle/>
          <a:p>
            <a:r>
              <a:rPr lang="en-US" dirty="0"/>
              <a:t>In the leftmost derivation, the input is scanned and replaced with the production rule from left to right. So in leftmost derivation, we read the input string from left to right.</a:t>
            </a:r>
          </a:p>
        </p:txBody>
      </p:sp>
    </p:spTree>
    <p:extLst>
      <p:ext uri="{BB962C8B-B14F-4D97-AF65-F5344CB8AC3E}">
        <p14:creationId xmlns:p14="http://schemas.microsoft.com/office/powerpoint/2010/main" val="2846506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Left most derivation</a:t>
            </a:r>
          </a:p>
        </p:txBody>
      </p:sp>
      <p:sp>
        <p:nvSpPr>
          <p:cNvPr id="3" name="Content Placeholder 2"/>
          <p:cNvSpPr>
            <a:spLocks noGrp="1"/>
          </p:cNvSpPr>
          <p:nvPr>
            <p:ph idx="1"/>
          </p:nvPr>
        </p:nvSpPr>
        <p:spPr/>
        <p:txBody>
          <a:bodyPr>
            <a:normAutofit/>
          </a:bodyPr>
          <a:lstStyle/>
          <a:p>
            <a:r>
              <a:rPr lang="en-US" dirty="0"/>
              <a:t>Let derive the string </a:t>
            </a:r>
            <a:r>
              <a:rPr lang="en-US" b="1" dirty="0"/>
              <a:t>Digit + Digit x Digit </a:t>
            </a:r>
            <a:r>
              <a:rPr lang="en-US" dirty="0"/>
              <a:t>using left most derivation using the given </a:t>
            </a:r>
            <a:r>
              <a:rPr lang="en-US" dirty="0" err="1"/>
              <a:t>production.digit</a:t>
            </a:r>
            <a:r>
              <a:rPr lang="en-US" dirty="0"/>
              <a:t>-&gt;0-9</a:t>
            </a:r>
          </a:p>
          <a:p>
            <a:pPr lvl="1"/>
            <a:r>
              <a:rPr lang="en-US" dirty="0"/>
              <a:t>list-&gt;</a:t>
            </a:r>
            <a:r>
              <a:rPr lang="en-US" dirty="0" err="1"/>
              <a:t>list+list</a:t>
            </a:r>
            <a:r>
              <a:rPr lang="en-US" dirty="0"/>
              <a:t> | list x list |  digit</a:t>
            </a:r>
          </a:p>
          <a:p>
            <a:r>
              <a:rPr lang="en-US" dirty="0"/>
              <a:t>Let choose best rule first to derive above string</a:t>
            </a:r>
          </a:p>
          <a:p>
            <a:pPr lvl="1"/>
            <a:r>
              <a:rPr lang="en-US" dirty="0"/>
              <a:t>List-&gt;</a:t>
            </a:r>
            <a:r>
              <a:rPr lang="en-US" b="1" dirty="0" err="1"/>
              <a:t>list</a:t>
            </a:r>
            <a:r>
              <a:rPr lang="en-US" dirty="0" err="1"/>
              <a:t>+list</a:t>
            </a:r>
            <a:endParaRPr lang="en-US" dirty="0"/>
          </a:p>
          <a:p>
            <a:pPr lvl="1"/>
            <a:r>
              <a:rPr lang="en-US" dirty="0"/>
              <a:t>List-&gt;</a:t>
            </a:r>
            <a:r>
              <a:rPr lang="en-US" dirty="0" err="1"/>
              <a:t>digit+list</a:t>
            </a:r>
            <a:endParaRPr lang="en-US" dirty="0"/>
          </a:p>
          <a:p>
            <a:pPr lvl="1"/>
            <a:r>
              <a:rPr lang="en-US" dirty="0"/>
              <a:t>List-&gt;</a:t>
            </a:r>
            <a:r>
              <a:rPr lang="en-US" dirty="0" err="1"/>
              <a:t>digit+</a:t>
            </a:r>
            <a:r>
              <a:rPr lang="en-US" b="1" dirty="0" err="1"/>
              <a:t>list</a:t>
            </a:r>
            <a:r>
              <a:rPr lang="en-US" dirty="0"/>
              <a:t> x list</a:t>
            </a:r>
          </a:p>
          <a:p>
            <a:pPr lvl="1"/>
            <a:r>
              <a:rPr lang="en-US" dirty="0"/>
              <a:t>-list-&gt;</a:t>
            </a:r>
            <a:r>
              <a:rPr lang="en-US" dirty="0" err="1"/>
              <a:t>digit+digit</a:t>
            </a:r>
            <a:r>
              <a:rPr lang="en-US" dirty="0"/>
              <a:t> x </a:t>
            </a:r>
            <a:r>
              <a:rPr lang="en-US" b="1" dirty="0"/>
              <a:t>list</a:t>
            </a:r>
          </a:p>
          <a:p>
            <a:pPr lvl="1"/>
            <a:r>
              <a:rPr lang="en-US" dirty="0"/>
              <a:t>list&gt;-&gt;digit + digit x digit</a:t>
            </a:r>
          </a:p>
          <a:p>
            <a:pPr lvl="1"/>
            <a:endParaRPr lang="en-US" dirty="0"/>
          </a:p>
        </p:txBody>
      </p:sp>
    </p:spTree>
    <p:extLst>
      <p:ext uri="{BB962C8B-B14F-4D97-AF65-F5344CB8AC3E}">
        <p14:creationId xmlns:p14="http://schemas.microsoft.com/office/powerpoint/2010/main" val="2650440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most derivation</a:t>
            </a:r>
          </a:p>
        </p:txBody>
      </p:sp>
      <p:sp>
        <p:nvSpPr>
          <p:cNvPr id="3" name="Content Placeholder 2"/>
          <p:cNvSpPr>
            <a:spLocks noGrp="1"/>
          </p:cNvSpPr>
          <p:nvPr>
            <p:ph idx="1"/>
          </p:nvPr>
        </p:nvSpPr>
        <p:spPr/>
        <p:txBody>
          <a:bodyPr/>
          <a:lstStyle/>
          <a:p>
            <a:r>
              <a:rPr lang="en-US" dirty="0"/>
              <a:t>In rightmost derivation, the input is scanned and replaced with the production rule from right to left. So in rightmost derivation, we read the input string from right to left.</a:t>
            </a:r>
          </a:p>
        </p:txBody>
      </p:sp>
    </p:spTree>
    <p:extLst>
      <p:ext uri="{BB962C8B-B14F-4D97-AF65-F5344CB8AC3E}">
        <p14:creationId xmlns:p14="http://schemas.microsoft.com/office/powerpoint/2010/main" val="169299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Most Derivation</a:t>
            </a:r>
          </a:p>
        </p:txBody>
      </p:sp>
      <p:sp>
        <p:nvSpPr>
          <p:cNvPr id="3" name="Content Placeholder 2"/>
          <p:cNvSpPr>
            <a:spLocks noGrp="1"/>
          </p:cNvSpPr>
          <p:nvPr>
            <p:ph idx="1"/>
          </p:nvPr>
        </p:nvSpPr>
        <p:spPr/>
        <p:txBody>
          <a:bodyPr>
            <a:normAutofit/>
          </a:bodyPr>
          <a:lstStyle/>
          <a:p>
            <a:r>
              <a:rPr lang="en-US" dirty="0"/>
              <a:t>Lets derive the same string digit + digit x digit using right most with same rules.</a:t>
            </a:r>
          </a:p>
          <a:p>
            <a:pPr marL="990575" lvl="2" indent="-457189"/>
            <a:r>
              <a:rPr lang="en-US" dirty="0"/>
              <a:t>list-&gt;</a:t>
            </a:r>
            <a:r>
              <a:rPr lang="en-US" dirty="0" err="1"/>
              <a:t>list+list</a:t>
            </a:r>
            <a:r>
              <a:rPr lang="en-US" dirty="0"/>
              <a:t> | list x list |  digit</a:t>
            </a:r>
          </a:p>
          <a:p>
            <a:pPr marL="457189" lvl="1" indent="-457189"/>
            <a:r>
              <a:rPr lang="en-US" dirty="0"/>
              <a:t>Lets choose the best rule first to derive above string</a:t>
            </a:r>
          </a:p>
          <a:p>
            <a:pPr marL="990575" lvl="2" indent="-457189"/>
            <a:r>
              <a:rPr lang="en-US" dirty="0"/>
              <a:t>List -&gt; list + </a:t>
            </a:r>
            <a:r>
              <a:rPr lang="en-US" b="1" dirty="0"/>
              <a:t>list</a:t>
            </a:r>
          </a:p>
          <a:p>
            <a:pPr marL="990575" lvl="2" indent="-457189"/>
            <a:r>
              <a:rPr lang="en-US" dirty="0"/>
              <a:t>List-&gt;list + list x </a:t>
            </a:r>
            <a:r>
              <a:rPr lang="en-US" b="1" dirty="0"/>
              <a:t>list</a:t>
            </a:r>
          </a:p>
          <a:p>
            <a:pPr marL="990575" lvl="2" indent="-457189"/>
            <a:r>
              <a:rPr lang="en-US" dirty="0"/>
              <a:t>list -&gt; list + </a:t>
            </a:r>
            <a:r>
              <a:rPr lang="en-US" b="1" dirty="0"/>
              <a:t>list</a:t>
            </a:r>
            <a:r>
              <a:rPr lang="en-US" dirty="0"/>
              <a:t> x digit</a:t>
            </a:r>
          </a:p>
          <a:p>
            <a:pPr marL="990575" lvl="2" indent="-457189"/>
            <a:r>
              <a:rPr lang="en-US" dirty="0"/>
              <a:t>List -&gt; </a:t>
            </a:r>
            <a:r>
              <a:rPr lang="en-US" b="1" dirty="0"/>
              <a:t>list</a:t>
            </a:r>
            <a:r>
              <a:rPr lang="en-US" dirty="0"/>
              <a:t> + digit x digit</a:t>
            </a:r>
          </a:p>
          <a:p>
            <a:pPr marL="990575" lvl="2" indent="-457189"/>
            <a:r>
              <a:rPr lang="en-US" dirty="0"/>
              <a:t>List -&gt; digit + digit x digit </a:t>
            </a:r>
          </a:p>
          <a:p>
            <a:pPr marL="457189" lvl="1" indent="-457189"/>
            <a:endParaRPr lang="en-US" dirty="0"/>
          </a:p>
          <a:p>
            <a:endParaRPr lang="en-US" dirty="0"/>
          </a:p>
          <a:p>
            <a:endParaRPr lang="en-US" dirty="0"/>
          </a:p>
        </p:txBody>
      </p:sp>
    </p:spTree>
    <p:extLst>
      <p:ext uri="{BB962C8B-B14F-4D97-AF65-F5344CB8AC3E}">
        <p14:creationId xmlns:p14="http://schemas.microsoft.com/office/powerpoint/2010/main" val="2649726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 Tree Derivation</a:t>
            </a:r>
          </a:p>
        </p:txBody>
      </p:sp>
      <p:sp>
        <p:nvSpPr>
          <p:cNvPr id="3" name="Content Placeholder 2"/>
          <p:cNvSpPr>
            <a:spLocks noGrp="1"/>
          </p:cNvSpPr>
          <p:nvPr>
            <p:ph idx="1"/>
          </p:nvPr>
        </p:nvSpPr>
        <p:spPr/>
        <p:txBody>
          <a:bodyPr>
            <a:normAutofit/>
          </a:bodyPr>
          <a:lstStyle/>
          <a:p>
            <a:r>
              <a:rPr lang="en-US" dirty="0"/>
              <a:t>Parse tree Derivation tree is a graphical representation for the derivation of the given production rules for a given CFG. It is the simple way to show how the derivation can be done to obtain some string from a given set of production rules.</a:t>
            </a:r>
          </a:p>
          <a:p>
            <a:r>
              <a:rPr lang="en-US" dirty="0"/>
              <a:t>Parse tree follows the precedence of operators. The deepest sub-tree traversed first. So, the operator in the parent node has less precedence over the operator in the sub-tree.</a:t>
            </a:r>
          </a:p>
          <a:p>
            <a:endParaRPr lang="en-US" dirty="0"/>
          </a:p>
          <a:p>
            <a:endParaRPr lang="en-US" dirty="0"/>
          </a:p>
          <a:p>
            <a:endParaRPr lang="en-US" b="1" dirty="0"/>
          </a:p>
        </p:txBody>
      </p:sp>
    </p:spTree>
    <p:extLst>
      <p:ext uri="{BB962C8B-B14F-4D97-AF65-F5344CB8AC3E}">
        <p14:creationId xmlns:p14="http://schemas.microsoft.com/office/powerpoint/2010/main" val="285317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 Tree Derivation</a:t>
            </a:r>
          </a:p>
        </p:txBody>
      </p:sp>
      <p:sp>
        <p:nvSpPr>
          <p:cNvPr id="3" name="Content Placeholder 2"/>
          <p:cNvSpPr>
            <a:spLocks noGrp="1"/>
          </p:cNvSpPr>
          <p:nvPr>
            <p:ph idx="1"/>
          </p:nvPr>
        </p:nvSpPr>
        <p:spPr/>
        <p:txBody>
          <a:bodyPr>
            <a:normAutofit/>
          </a:bodyPr>
          <a:lstStyle/>
          <a:p>
            <a:r>
              <a:rPr lang="en-US" dirty="0"/>
              <a:t>A parse tree contains the following properties:</a:t>
            </a:r>
          </a:p>
          <a:p>
            <a:pPr lvl="1"/>
            <a:r>
              <a:rPr lang="en-US" dirty="0"/>
              <a:t>The root node is always a node indicating start symbols.</a:t>
            </a:r>
          </a:p>
          <a:p>
            <a:pPr lvl="1"/>
            <a:r>
              <a:rPr lang="en-US" dirty="0"/>
              <a:t>The derivation is read from left to right.</a:t>
            </a:r>
          </a:p>
          <a:p>
            <a:pPr lvl="1"/>
            <a:r>
              <a:rPr lang="en-US" dirty="0"/>
              <a:t>The leaf node is always terminal nodes.</a:t>
            </a:r>
          </a:p>
          <a:p>
            <a:pPr lvl="1"/>
            <a:r>
              <a:rPr lang="en-US" dirty="0"/>
              <a:t>The interior nodes are always the non-terminal nodes.</a:t>
            </a:r>
          </a:p>
          <a:p>
            <a:endParaRPr lang="en-US" dirty="0"/>
          </a:p>
        </p:txBody>
      </p:sp>
    </p:spTree>
    <p:extLst>
      <p:ext uri="{BB962C8B-B14F-4D97-AF65-F5344CB8AC3E}">
        <p14:creationId xmlns:p14="http://schemas.microsoft.com/office/powerpoint/2010/main" val="3179602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 Tree Derivation</a:t>
            </a:r>
          </a:p>
        </p:txBody>
      </p:sp>
      <p:grpSp>
        <p:nvGrpSpPr>
          <p:cNvPr id="5" name="Group 4"/>
          <p:cNvGrpSpPr/>
          <p:nvPr/>
        </p:nvGrpSpPr>
        <p:grpSpPr>
          <a:xfrm rot="5400000">
            <a:off x="7215109" y="2149466"/>
            <a:ext cx="5980747" cy="2559069"/>
            <a:chOff x="2329219" y="1734018"/>
            <a:chExt cx="4485560" cy="1919302"/>
          </a:xfrm>
        </p:grpSpPr>
        <p:sp>
          <p:nvSpPr>
            <p:cNvPr id="6" name="Freeform 5"/>
            <p:cNvSpPr/>
            <p:nvPr/>
          </p:nvSpPr>
          <p:spPr>
            <a:xfrm>
              <a:off x="2329219" y="2230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List</a:t>
              </a:r>
            </a:p>
          </p:txBody>
        </p:sp>
        <p:sp>
          <p:nvSpPr>
            <p:cNvPr id="7" name="Freeform 6"/>
            <p:cNvSpPr/>
            <p:nvPr/>
          </p:nvSpPr>
          <p:spPr>
            <a:xfrm rot="18289469">
              <a:off x="3062243" y="2177455"/>
              <a:ext cx="604210" cy="40429"/>
            </a:xfrm>
            <a:custGeom>
              <a:avLst/>
              <a:gdLst>
                <a:gd name="connsiteX0" fmla="*/ 0 w 604210"/>
                <a:gd name="connsiteY0" fmla="*/ 20214 h 40429"/>
                <a:gd name="connsiteX1" fmla="*/ 604210 w 604210"/>
                <a:gd name="connsiteY1" fmla="*/ 20214 h 40429"/>
              </a:gdLst>
              <a:ahLst/>
              <a:cxnLst>
                <a:cxn ang="0">
                  <a:pos x="connsiteX0" y="connsiteY0"/>
                </a:cxn>
                <a:cxn ang="0">
                  <a:pos x="connsiteX1" y="connsiteY1"/>
                </a:cxn>
              </a:cxnLst>
              <a:rect l="l" t="t" r="r" b="b"/>
              <a:pathLst>
                <a:path w="604210" h="40429">
                  <a:moveTo>
                    <a:pt x="0" y="20214"/>
                  </a:moveTo>
                  <a:lnTo>
                    <a:pt x="604210" y="20214"/>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399599" tIns="6812" rIns="399600" bIns="6812" numCol="1" spcCol="1270" anchor="ctr" anchorCtr="0">
              <a:noAutofit/>
            </a:bodyPr>
            <a:lstStyle/>
            <a:p>
              <a:pPr algn="ctr" defTabSz="296326">
                <a:lnSpc>
                  <a:spcPct val="90000"/>
                </a:lnSpc>
                <a:spcBef>
                  <a:spcPct val="0"/>
                </a:spcBef>
                <a:spcAft>
                  <a:spcPct val="35000"/>
                </a:spcAft>
              </a:pPr>
              <a:endParaRPr lang="en-US" sz="667"/>
            </a:p>
          </p:txBody>
        </p:sp>
        <p:sp>
          <p:nvSpPr>
            <p:cNvPr id="8" name="Freeform 7"/>
            <p:cNvSpPr/>
            <p:nvPr/>
          </p:nvSpPr>
          <p:spPr>
            <a:xfrm>
              <a:off x="3536870" y="1734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list</a:t>
              </a:r>
            </a:p>
          </p:txBody>
        </p:sp>
        <p:sp>
          <p:nvSpPr>
            <p:cNvPr id="9" name="Freeform 8"/>
            <p:cNvSpPr/>
            <p:nvPr/>
          </p:nvSpPr>
          <p:spPr>
            <a:xfrm>
              <a:off x="4399478" y="1929455"/>
              <a:ext cx="345043" cy="40429"/>
            </a:xfrm>
            <a:custGeom>
              <a:avLst/>
              <a:gdLst>
                <a:gd name="connsiteX0" fmla="*/ 0 w 345043"/>
                <a:gd name="connsiteY0" fmla="*/ 20214 h 40429"/>
                <a:gd name="connsiteX1" fmla="*/ 345043 w 345043"/>
                <a:gd name="connsiteY1" fmla="*/ 20214 h 40429"/>
              </a:gdLst>
              <a:ahLst/>
              <a:cxnLst>
                <a:cxn ang="0">
                  <a:pos x="connsiteX0" y="connsiteY0"/>
                </a:cxn>
                <a:cxn ang="0">
                  <a:pos x="connsiteX1" y="connsiteY1"/>
                </a:cxn>
              </a:cxnLst>
              <a:rect l="l" t="t" r="r" b="b"/>
              <a:pathLst>
                <a:path w="345043" h="40429">
                  <a:moveTo>
                    <a:pt x="0" y="20214"/>
                  </a:moveTo>
                  <a:lnTo>
                    <a:pt x="345043"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235460" tIns="15452" rIns="235461" bIns="15451" numCol="1" spcCol="1270" anchor="ctr" anchorCtr="0">
              <a:noAutofit/>
            </a:bodyPr>
            <a:lstStyle/>
            <a:p>
              <a:pPr algn="ctr" defTabSz="296326">
                <a:lnSpc>
                  <a:spcPct val="90000"/>
                </a:lnSpc>
                <a:spcBef>
                  <a:spcPct val="0"/>
                </a:spcBef>
                <a:spcAft>
                  <a:spcPct val="35000"/>
                </a:spcAft>
              </a:pPr>
              <a:endParaRPr lang="en-US" sz="667"/>
            </a:p>
          </p:txBody>
        </p:sp>
        <p:sp>
          <p:nvSpPr>
            <p:cNvPr id="10" name="Freeform 9"/>
            <p:cNvSpPr/>
            <p:nvPr/>
          </p:nvSpPr>
          <p:spPr>
            <a:xfrm>
              <a:off x="4744521" y="1734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digit</a:t>
              </a:r>
            </a:p>
          </p:txBody>
        </p:sp>
        <p:sp>
          <p:nvSpPr>
            <p:cNvPr id="11" name="Freeform 10"/>
            <p:cNvSpPr/>
            <p:nvPr/>
          </p:nvSpPr>
          <p:spPr>
            <a:xfrm>
              <a:off x="3191827" y="2425455"/>
              <a:ext cx="345043" cy="40429"/>
            </a:xfrm>
            <a:custGeom>
              <a:avLst/>
              <a:gdLst>
                <a:gd name="connsiteX0" fmla="*/ 0 w 345043"/>
                <a:gd name="connsiteY0" fmla="*/ 20214 h 40429"/>
                <a:gd name="connsiteX1" fmla="*/ 345043 w 345043"/>
                <a:gd name="connsiteY1" fmla="*/ 20214 h 40429"/>
              </a:gdLst>
              <a:ahLst/>
              <a:cxnLst>
                <a:cxn ang="0">
                  <a:pos x="connsiteX0" y="connsiteY0"/>
                </a:cxn>
                <a:cxn ang="0">
                  <a:pos x="connsiteX1" y="connsiteY1"/>
                </a:cxn>
              </a:cxnLst>
              <a:rect l="l" t="t" r="r" b="b"/>
              <a:pathLst>
                <a:path w="345043" h="40429">
                  <a:moveTo>
                    <a:pt x="0" y="20214"/>
                  </a:moveTo>
                  <a:lnTo>
                    <a:pt x="345043" y="20214"/>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235460" tIns="15452" rIns="235461" bIns="15451" numCol="1" spcCol="1270" anchor="ctr" anchorCtr="0">
              <a:noAutofit/>
            </a:bodyPr>
            <a:lstStyle/>
            <a:p>
              <a:pPr algn="ctr" defTabSz="296326">
                <a:lnSpc>
                  <a:spcPct val="90000"/>
                </a:lnSpc>
                <a:spcBef>
                  <a:spcPct val="0"/>
                </a:spcBef>
                <a:spcAft>
                  <a:spcPct val="35000"/>
                </a:spcAft>
              </a:pPr>
              <a:endParaRPr lang="en-US" sz="667"/>
            </a:p>
          </p:txBody>
        </p:sp>
        <p:sp>
          <p:nvSpPr>
            <p:cNvPr id="12" name="Freeform 11"/>
            <p:cNvSpPr/>
            <p:nvPr/>
          </p:nvSpPr>
          <p:spPr>
            <a:xfrm>
              <a:off x="3536870" y="2230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a:t>
              </a:r>
            </a:p>
          </p:txBody>
        </p:sp>
        <p:sp>
          <p:nvSpPr>
            <p:cNvPr id="13" name="Freeform 12"/>
            <p:cNvSpPr/>
            <p:nvPr/>
          </p:nvSpPr>
          <p:spPr>
            <a:xfrm rot="3310531">
              <a:off x="3062243" y="2673455"/>
              <a:ext cx="604210" cy="40429"/>
            </a:xfrm>
            <a:custGeom>
              <a:avLst/>
              <a:gdLst>
                <a:gd name="connsiteX0" fmla="*/ 0 w 604210"/>
                <a:gd name="connsiteY0" fmla="*/ 20214 h 40429"/>
                <a:gd name="connsiteX1" fmla="*/ 604210 w 604210"/>
                <a:gd name="connsiteY1" fmla="*/ 20214 h 40429"/>
              </a:gdLst>
              <a:ahLst/>
              <a:cxnLst>
                <a:cxn ang="0">
                  <a:pos x="connsiteX0" y="connsiteY0"/>
                </a:cxn>
                <a:cxn ang="0">
                  <a:pos x="connsiteX1" y="connsiteY1"/>
                </a:cxn>
              </a:cxnLst>
              <a:rect l="l" t="t" r="r" b="b"/>
              <a:pathLst>
                <a:path w="604210" h="40429">
                  <a:moveTo>
                    <a:pt x="0" y="20214"/>
                  </a:moveTo>
                  <a:lnTo>
                    <a:pt x="604210" y="20214"/>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399600" tIns="6812" rIns="399599" bIns="6812" numCol="1" spcCol="1270" anchor="ctr" anchorCtr="0">
              <a:noAutofit/>
            </a:bodyPr>
            <a:lstStyle/>
            <a:p>
              <a:pPr algn="ctr" defTabSz="296326">
                <a:lnSpc>
                  <a:spcPct val="90000"/>
                </a:lnSpc>
                <a:spcBef>
                  <a:spcPct val="0"/>
                </a:spcBef>
                <a:spcAft>
                  <a:spcPct val="35000"/>
                </a:spcAft>
              </a:pPr>
              <a:endParaRPr lang="en-US" sz="667"/>
            </a:p>
          </p:txBody>
        </p:sp>
        <p:sp>
          <p:nvSpPr>
            <p:cNvPr id="14" name="Freeform 13"/>
            <p:cNvSpPr/>
            <p:nvPr/>
          </p:nvSpPr>
          <p:spPr>
            <a:xfrm>
              <a:off x="3536870" y="2726017"/>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list</a:t>
              </a:r>
            </a:p>
          </p:txBody>
        </p:sp>
        <p:sp>
          <p:nvSpPr>
            <p:cNvPr id="15" name="Freeform 14"/>
            <p:cNvSpPr/>
            <p:nvPr/>
          </p:nvSpPr>
          <p:spPr>
            <a:xfrm rot="18289469">
              <a:off x="4269894" y="2673455"/>
              <a:ext cx="604210" cy="40429"/>
            </a:xfrm>
            <a:custGeom>
              <a:avLst/>
              <a:gdLst>
                <a:gd name="connsiteX0" fmla="*/ 0 w 604210"/>
                <a:gd name="connsiteY0" fmla="*/ 20214 h 40429"/>
                <a:gd name="connsiteX1" fmla="*/ 604210 w 604210"/>
                <a:gd name="connsiteY1" fmla="*/ 20214 h 40429"/>
              </a:gdLst>
              <a:ahLst/>
              <a:cxnLst>
                <a:cxn ang="0">
                  <a:pos x="connsiteX0" y="connsiteY0"/>
                </a:cxn>
                <a:cxn ang="0">
                  <a:pos x="connsiteX1" y="connsiteY1"/>
                </a:cxn>
              </a:cxnLst>
              <a:rect l="l" t="t" r="r" b="b"/>
              <a:pathLst>
                <a:path w="604210" h="40429">
                  <a:moveTo>
                    <a:pt x="0" y="20214"/>
                  </a:moveTo>
                  <a:lnTo>
                    <a:pt x="604210"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399600" tIns="6811" rIns="399600" bIns="6813" numCol="1" spcCol="1270" anchor="ctr" anchorCtr="0">
              <a:noAutofit/>
            </a:bodyPr>
            <a:lstStyle/>
            <a:p>
              <a:pPr algn="ctr" defTabSz="296326">
                <a:lnSpc>
                  <a:spcPct val="90000"/>
                </a:lnSpc>
                <a:spcBef>
                  <a:spcPct val="0"/>
                </a:spcBef>
                <a:spcAft>
                  <a:spcPct val="35000"/>
                </a:spcAft>
              </a:pPr>
              <a:endParaRPr lang="en-US" sz="667"/>
            </a:p>
          </p:txBody>
        </p:sp>
        <p:sp>
          <p:nvSpPr>
            <p:cNvPr id="16" name="Freeform 15"/>
            <p:cNvSpPr/>
            <p:nvPr/>
          </p:nvSpPr>
          <p:spPr>
            <a:xfrm>
              <a:off x="4744521" y="2230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List</a:t>
              </a:r>
            </a:p>
          </p:txBody>
        </p:sp>
        <p:sp>
          <p:nvSpPr>
            <p:cNvPr id="17" name="Freeform 16"/>
            <p:cNvSpPr/>
            <p:nvPr/>
          </p:nvSpPr>
          <p:spPr>
            <a:xfrm>
              <a:off x="5607129" y="2425455"/>
              <a:ext cx="345043" cy="40429"/>
            </a:xfrm>
            <a:custGeom>
              <a:avLst/>
              <a:gdLst>
                <a:gd name="connsiteX0" fmla="*/ 0 w 345043"/>
                <a:gd name="connsiteY0" fmla="*/ 20214 h 40429"/>
                <a:gd name="connsiteX1" fmla="*/ 345043 w 345043"/>
                <a:gd name="connsiteY1" fmla="*/ 20214 h 40429"/>
              </a:gdLst>
              <a:ahLst/>
              <a:cxnLst>
                <a:cxn ang="0">
                  <a:pos x="connsiteX0" y="connsiteY0"/>
                </a:cxn>
                <a:cxn ang="0">
                  <a:pos x="connsiteX1" y="connsiteY1"/>
                </a:cxn>
              </a:cxnLst>
              <a:rect l="l" t="t" r="r" b="b"/>
              <a:pathLst>
                <a:path w="345043" h="40429">
                  <a:moveTo>
                    <a:pt x="0" y="20214"/>
                  </a:moveTo>
                  <a:lnTo>
                    <a:pt x="345043"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235460" tIns="15452" rIns="235461" bIns="15451" numCol="1" spcCol="1270" anchor="ctr" anchorCtr="0">
              <a:noAutofit/>
            </a:bodyPr>
            <a:lstStyle/>
            <a:p>
              <a:pPr algn="ctr" defTabSz="296326">
                <a:lnSpc>
                  <a:spcPct val="90000"/>
                </a:lnSpc>
                <a:spcBef>
                  <a:spcPct val="0"/>
                </a:spcBef>
                <a:spcAft>
                  <a:spcPct val="35000"/>
                </a:spcAft>
              </a:pPr>
              <a:endParaRPr lang="en-US" sz="667"/>
            </a:p>
          </p:txBody>
        </p:sp>
        <p:sp>
          <p:nvSpPr>
            <p:cNvPr id="18" name="Freeform 17"/>
            <p:cNvSpPr/>
            <p:nvPr/>
          </p:nvSpPr>
          <p:spPr>
            <a:xfrm>
              <a:off x="5952172" y="2230018"/>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digit</a:t>
              </a:r>
            </a:p>
          </p:txBody>
        </p:sp>
        <p:sp>
          <p:nvSpPr>
            <p:cNvPr id="19" name="Freeform 18"/>
            <p:cNvSpPr/>
            <p:nvPr/>
          </p:nvSpPr>
          <p:spPr>
            <a:xfrm>
              <a:off x="4399478" y="2921454"/>
              <a:ext cx="345043" cy="40429"/>
            </a:xfrm>
            <a:custGeom>
              <a:avLst/>
              <a:gdLst>
                <a:gd name="connsiteX0" fmla="*/ 0 w 345043"/>
                <a:gd name="connsiteY0" fmla="*/ 20214 h 40429"/>
                <a:gd name="connsiteX1" fmla="*/ 345043 w 345043"/>
                <a:gd name="connsiteY1" fmla="*/ 20214 h 40429"/>
              </a:gdLst>
              <a:ahLst/>
              <a:cxnLst>
                <a:cxn ang="0">
                  <a:pos x="connsiteX0" y="connsiteY0"/>
                </a:cxn>
                <a:cxn ang="0">
                  <a:pos x="connsiteX1" y="connsiteY1"/>
                </a:cxn>
              </a:cxnLst>
              <a:rect l="l" t="t" r="r" b="b"/>
              <a:pathLst>
                <a:path w="345043" h="40429">
                  <a:moveTo>
                    <a:pt x="0" y="20214"/>
                  </a:moveTo>
                  <a:lnTo>
                    <a:pt x="345043"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235460" tIns="15452" rIns="235461" bIns="15451" numCol="1" spcCol="1270" anchor="ctr" anchorCtr="0">
              <a:noAutofit/>
            </a:bodyPr>
            <a:lstStyle/>
            <a:p>
              <a:pPr algn="ctr" defTabSz="296326">
                <a:lnSpc>
                  <a:spcPct val="90000"/>
                </a:lnSpc>
                <a:spcBef>
                  <a:spcPct val="0"/>
                </a:spcBef>
                <a:spcAft>
                  <a:spcPct val="35000"/>
                </a:spcAft>
              </a:pPr>
              <a:endParaRPr lang="en-US" sz="667"/>
            </a:p>
          </p:txBody>
        </p:sp>
        <p:sp>
          <p:nvSpPr>
            <p:cNvPr id="20" name="Freeform 19"/>
            <p:cNvSpPr/>
            <p:nvPr/>
          </p:nvSpPr>
          <p:spPr>
            <a:xfrm>
              <a:off x="4744521" y="2726017"/>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X</a:t>
              </a:r>
            </a:p>
          </p:txBody>
        </p:sp>
        <p:sp>
          <p:nvSpPr>
            <p:cNvPr id="21" name="Freeform 20"/>
            <p:cNvSpPr/>
            <p:nvPr/>
          </p:nvSpPr>
          <p:spPr>
            <a:xfrm rot="3310531">
              <a:off x="4269894" y="3169454"/>
              <a:ext cx="604210" cy="40429"/>
            </a:xfrm>
            <a:custGeom>
              <a:avLst/>
              <a:gdLst>
                <a:gd name="connsiteX0" fmla="*/ 0 w 604210"/>
                <a:gd name="connsiteY0" fmla="*/ 20214 h 40429"/>
                <a:gd name="connsiteX1" fmla="*/ 604210 w 604210"/>
                <a:gd name="connsiteY1" fmla="*/ 20214 h 40429"/>
              </a:gdLst>
              <a:ahLst/>
              <a:cxnLst>
                <a:cxn ang="0">
                  <a:pos x="connsiteX0" y="connsiteY0"/>
                </a:cxn>
                <a:cxn ang="0">
                  <a:pos x="connsiteX1" y="connsiteY1"/>
                </a:cxn>
              </a:cxnLst>
              <a:rect l="l" t="t" r="r" b="b"/>
              <a:pathLst>
                <a:path w="604210" h="40429">
                  <a:moveTo>
                    <a:pt x="0" y="20214"/>
                  </a:moveTo>
                  <a:lnTo>
                    <a:pt x="604210"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399600" tIns="6812" rIns="399599" bIns="6812" numCol="1" spcCol="1270" anchor="ctr" anchorCtr="0">
              <a:noAutofit/>
            </a:bodyPr>
            <a:lstStyle/>
            <a:p>
              <a:pPr algn="ctr" defTabSz="296326">
                <a:lnSpc>
                  <a:spcPct val="90000"/>
                </a:lnSpc>
                <a:spcBef>
                  <a:spcPct val="0"/>
                </a:spcBef>
                <a:spcAft>
                  <a:spcPct val="35000"/>
                </a:spcAft>
              </a:pPr>
              <a:endParaRPr lang="en-US" sz="667"/>
            </a:p>
          </p:txBody>
        </p:sp>
        <p:sp>
          <p:nvSpPr>
            <p:cNvPr id="22" name="Freeform 21"/>
            <p:cNvSpPr/>
            <p:nvPr/>
          </p:nvSpPr>
          <p:spPr>
            <a:xfrm>
              <a:off x="4744521" y="3222017"/>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List</a:t>
              </a:r>
            </a:p>
          </p:txBody>
        </p:sp>
        <p:sp>
          <p:nvSpPr>
            <p:cNvPr id="23" name="Freeform 22"/>
            <p:cNvSpPr/>
            <p:nvPr/>
          </p:nvSpPr>
          <p:spPr>
            <a:xfrm>
              <a:off x="5607129" y="3417454"/>
              <a:ext cx="345043" cy="40429"/>
            </a:xfrm>
            <a:custGeom>
              <a:avLst/>
              <a:gdLst>
                <a:gd name="connsiteX0" fmla="*/ 0 w 345043"/>
                <a:gd name="connsiteY0" fmla="*/ 20214 h 40429"/>
                <a:gd name="connsiteX1" fmla="*/ 345043 w 345043"/>
                <a:gd name="connsiteY1" fmla="*/ 20214 h 40429"/>
              </a:gdLst>
              <a:ahLst/>
              <a:cxnLst>
                <a:cxn ang="0">
                  <a:pos x="connsiteX0" y="connsiteY0"/>
                </a:cxn>
                <a:cxn ang="0">
                  <a:pos x="connsiteX1" y="connsiteY1"/>
                </a:cxn>
              </a:cxnLst>
              <a:rect l="l" t="t" r="r" b="b"/>
              <a:pathLst>
                <a:path w="345043" h="40429">
                  <a:moveTo>
                    <a:pt x="0" y="20214"/>
                  </a:moveTo>
                  <a:lnTo>
                    <a:pt x="345043" y="20214"/>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235460" tIns="15452" rIns="235461" bIns="15451" numCol="1" spcCol="1270" anchor="ctr" anchorCtr="0">
              <a:noAutofit/>
            </a:bodyPr>
            <a:lstStyle/>
            <a:p>
              <a:pPr algn="ctr" defTabSz="296326">
                <a:lnSpc>
                  <a:spcPct val="90000"/>
                </a:lnSpc>
                <a:spcBef>
                  <a:spcPct val="0"/>
                </a:spcBef>
                <a:spcAft>
                  <a:spcPct val="35000"/>
                </a:spcAft>
              </a:pPr>
              <a:endParaRPr lang="en-US" sz="667"/>
            </a:p>
          </p:txBody>
        </p:sp>
        <p:sp>
          <p:nvSpPr>
            <p:cNvPr id="24" name="Freeform 23"/>
            <p:cNvSpPr/>
            <p:nvPr/>
          </p:nvSpPr>
          <p:spPr>
            <a:xfrm>
              <a:off x="5952172" y="3222017"/>
              <a:ext cx="862607" cy="431303"/>
            </a:xfrm>
            <a:custGeom>
              <a:avLst/>
              <a:gdLst>
                <a:gd name="connsiteX0" fmla="*/ 0 w 862607"/>
                <a:gd name="connsiteY0" fmla="*/ 43130 h 431303"/>
                <a:gd name="connsiteX1" fmla="*/ 43130 w 862607"/>
                <a:gd name="connsiteY1" fmla="*/ 0 h 431303"/>
                <a:gd name="connsiteX2" fmla="*/ 819477 w 862607"/>
                <a:gd name="connsiteY2" fmla="*/ 0 h 431303"/>
                <a:gd name="connsiteX3" fmla="*/ 862607 w 862607"/>
                <a:gd name="connsiteY3" fmla="*/ 43130 h 431303"/>
                <a:gd name="connsiteX4" fmla="*/ 862607 w 862607"/>
                <a:gd name="connsiteY4" fmla="*/ 388173 h 431303"/>
                <a:gd name="connsiteX5" fmla="*/ 819477 w 862607"/>
                <a:gd name="connsiteY5" fmla="*/ 431303 h 431303"/>
                <a:gd name="connsiteX6" fmla="*/ 43130 w 862607"/>
                <a:gd name="connsiteY6" fmla="*/ 431303 h 431303"/>
                <a:gd name="connsiteX7" fmla="*/ 0 w 862607"/>
                <a:gd name="connsiteY7" fmla="*/ 388173 h 431303"/>
                <a:gd name="connsiteX8" fmla="*/ 0 w 862607"/>
                <a:gd name="connsiteY8" fmla="*/ 43130 h 43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2607" h="431303">
                  <a:moveTo>
                    <a:pt x="0" y="43130"/>
                  </a:moveTo>
                  <a:cubicBezTo>
                    <a:pt x="0" y="19310"/>
                    <a:pt x="19310" y="0"/>
                    <a:pt x="43130" y="0"/>
                  </a:cubicBezTo>
                  <a:lnTo>
                    <a:pt x="819477" y="0"/>
                  </a:lnTo>
                  <a:cubicBezTo>
                    <a:pt x="843297" y="0"/>
                    <a:pt x="862607" y="19310"/>
                    <a:pt x="862607" y="43130"/>
                  </a:cubicBezTo>
                  <a:lnTo>
                    <a:pt x="862607" y="388173"/>
                  </a:lnTo>
                  <a:cubicBezTo>
                    <a:pt x="862607" y="411993"/>
                    <a:pt x="843297" y="431303"/>
                    <a:pt x="819477" y="431303"/>
                  </a:cubicBezTo>
                  <a:lnTo>
                    <a:pt x="43130" y="431303"/>
                  </a:lnTo>
                  <a:cubicBezTo>
                    <a:pt x="19310" y="431303"/>
                    <a:pt x="0" y="411993"/>
                    <a:pt x="0" y="388173"/>
                  </a:cubicBezTo>
                  <a:lnTo>
                    <a:pt x="0" y="4313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8856" tIns="38856" rIns="38856" bIns="38856" numCol="1" spcCol="1270" anchor="ctr" anchorCtr="0">
              <a:noAutofit/>
            </a:bodyPr>
            <a:lstStyle/>
            <a:p>
              <a:pPr algn="ctr" defTabSz="1540895">
                <a:lnSpc>
                  <a:spcPct val="90000"/>
                </a:lnSpc>
                <a:spcBef>
                  <a:spcPct val="0"/>
                </a:spcBef>
                <a:spcAft>
                  <a:spcPct val="35000"/>
                </a:spcAft>
              </a:pPr>
              <a:r>
                <a:rPr lang="en-US" sz="3467" dirty="0"/>
                <a:t>digit</a:t>
              </a:r>
            </a:p>
          </p:txBody>
        </p:sp>
      </p:grpSp>
      <p:sp>
        <p:nvSpPr>
          <p:cNvPr id="4" name="TextBox 3">
            <a:extLst>
              <a:ext uri="{FF2B5EF4-FFF2-40B4-BE49-F238E27FC236}">
                <a16:creationId xmlns:a16="http://schemas.microsoft.com/office/drawing/2014/main" id="{777047C4-7CFA-4CA1-9F61-6B9C7E5AB746}"/>
              </a:ext>
            </a:extLst>
          </p:cNvPr>
          <p:cNvSpPr txBox="1"/>
          <p:nvPr/>
        </p:nvSpPr>
        <p:spPr>
          <a:xfrm>
            <a:off x="795915" y="1586137"/>
            <a:ext cx="6901771" cy="2308324"/>
          </a:xfrm>
          <a:prstGeom prst="rect">
            <a:avLst/>
          </a:prstGeom>
          <a:noFill/>
        </p:spPr>
        <p:txBody>
          <a:bodyPr wrap="square" rtlCol="0">
            <a:spAutoFit/>
          </a:bodyPr>
          <a:lstStyle/>
          <a:p>
            <a:r>
              <a:rPr lang="en-US" sz="2400" b="1" dirty="0"/>
              <a:t>For Example</a:t>
            </a:r>
            <a:r>
              <a:rPr lang="en-US" sz="2400" dirty="0"/>
              <a:t>: We have a grammar</a:t>
            </a:r>
          </a:p>
          <a:p>
            <a:r>
              <a:rPr lang="en-US" sz="2400" dirty="0"/>
              <a:t>list-&gt;</a:t>
            </a:r>
            <a:r>
              <a:rPr lang="en-US" sz="2400" dirty="0" err="1"/>
              <a:t>list+list</a:t>
            </a:r>
            <a:r>
              <a:rPr lang="en-US" sz="2400" dirty="0"/>
              <a:t> | list x list |  digit </a:t>
            </a:r>
          </a:p>
          <a:p>
            <a:endParaRPr lang="en-US" sz="2400" dirty="0"/>
          </a:p>
          <a:p>
            <a:r>
              <a:rPr lang="en-US" sz="2400" dirty="0"/>
              <a:t>We want to derive a string digit x digit + digit</a:t>
            </a:r>
          </a:p>
          <a:p>
            <a:endParaRPr lang="en-US" sz="2400" dirty="0"/>
          </a:p>
          <a:p>
            <a:endParaRPr lang="en-US" sz="2400" dirty="0"/>
          </a:p>
        </p:txBody>
      </p:sp>
    </p:spTree>
    <p:extLst>
      <p:ext uri="{BB962C8B-B14F-4D97-AF65-F5344CB8AC3E}">
        <p14:creationId xmlns:p14="http://schemas.microsoft.com/office/powerpoint/2010/main" val="2031133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in Derivations</a:t>
            </a:r>
          </a:p>
        </p:txBody>
      </p:sp>
      <p:sp>
        <p:nvSpPr>
          <p:cNvPr id="3" name="Content Placeholder 2"/>
          <p:cNvSpPr>
            <a:spLocks noGrp="1"/>
          </p:cNvSpPr>
          <p:nvPr>
            <p:ph idx="1"/>
          </p:nvPr>
        </p:nvSpPr>
        <p:spPr>
          <a:xfrm>
            <a:off x="609600" y="1193800"/>
            <a:ext cx="10972800" cy="5588000"/>
          </a:xfrm>
        </p:spPr>
        <p:txBody>
          <a:bodyPr>
            <a:normAutofit/>
          </a:bodyPr>
          <a:lstStyle/>
          <a:p>
            <a:r>
              <a:rPr lang="en-US" dirty="0"/>
              <a:t>We have to b e careful in talking about the structure of a string according to a grammar.</a:t>
            </a:r>
          </a:p>
          <a:p>
            <a:r>
              <a:rPr lang="en-US" dirty="0"/>
              <a:t>A grammar can have more than one parse tree generating a given string of terminals. Such a grammar is said to be ambiguous. </a:t>
            </a:r>
          </a:p>
          <a:p>
            <a:r>
              <a:rPr lang="en-US" dirty="0"/>
              <a:t>To show that a grammar is ambiguous, all we need to do is find a terminal string that is the yield of more than one parse tree. </a:t>
            </a:r>
          </a:p>
          <a:p>
            <a:r>
              <a:rPr lang="en-US" dirty="0"/>
              <a:t>Since a string with more than one parse tree usually has more than one meaning, we need to design unambiguous grammars for compiling applications, or to use ambiguous grammars with additional rules to resolve the ambiguities.</a:t>
            </a:r>
          </a:p>
        </p:txBody>
      </p:sp>
    </p:spTree>
    <p:extLst>
      <p:ext uri="{BB962C8B-B14F-4D97-AF65-F5344CB8AC3E}">
        <p14:creationId xmlns:p14="http://schemas.microsoft.com/office/powerpoint/2010/main" val="1918388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Examples</a:t>
            </a:r>
          </a:p>
        </p:txBody>
      </p:sp>
      <p:sp>
        <p:nvSpPr>
          <p:cNvPr id="3" name="Content Placeholder 2"/>
          <p:cNvSpPr>
            <a:spLocks noGrp="1"/>
          </p:cNvSpPr>
          <p:nvPr>
            <p:ph idx="1"/>
          </p:nvPr>
        </p:nvSpPr>
        <p:spPr>
          <a:xfrm>
            <a:off x="609600" y="1600201"/>
            <a:ext cx="10972800" cy="4978399"/>
          </a:xfrm>
        </p:spPr>
        <p:txBody>
          <a:bodyPr>
            <a:normAutofit/>
          </a:bodyPr>
          <a:lstStyle/>
          <a:p>
            <a:r>
              <a:rPr lang="en-US" dirty="0"/>
              <a:t>Tree in previous  slide shows that an expression like </a:t>
            </a:r>
            <a:r>
              <a:rPr lang="en-US" b="1" dirty="0"/>
              <a:t>9-5+2</a:t>
            </a:r>
            <a:r>
              <a:rPr lang="en-US" dirty="0"/>
              <a:t> has more than one parse tree with this grammar. </a:t>
            </a:r>
          </a:p>
          <a:p>
            <a:r>
              <a:rPr lang="en-US" dirty="0"/>
              <a:t>The two trees for </a:t>
            </a:r>
            <a:r>
              <a:rPr lang="en-US" b="1" dirty="0"/>
              <a:t>9-5+2</a:t>
            </a:r>
            <a:r>
              <a:rPr lang="en-US" dirty="0"/>
              <a:t> correspond to the two ways of parenthesizing the expression: </a:t>
            </a:r>
            <a:r>
              <a:rPr lang="en-US" b="1" dirty="0"/>
              <a:t>(9-5)+2 </a:t>
            </a:r>
            <a:r>
              <a:rPr lang="en-US" dirty="0"/>
              <a:t>and </a:t>
            </a:r>
            <a:r>
              <a:rPr lang="en-US" b="1" dirty="0"/>
              <a:t>9-(5+2). </a:t>
            </a:r>
          </a:p>
          <a:p>
            <a:r>
              <a:rPr lang="en-US" dirty="0"/>
              <a:t>This second </a:t>
            </a:r>
            <a:r>
              <a:rPr lang="en-US" dirty="0" err="1"/>
              <a:t>parenthesization</a:t>
            </a:r>
            <a:r>
              <a:rPr lang="en-US" dirty="0"/>
              <a:t> gives the expression the unexpected value 2 rather than the customary value 6.</a:t>
            </a:r>
          </a:p>
          <a:p>
            <a:endParaRPr lang="en-US" dirty="0"/>
          </a:p>
          <a:p>
            <a:r>
              <a:rPr lang="en-US" dirty="0"/>
              <a:t>Associativity</a:t>
            </a:r>
          </a:p>
        </p:txBody>
      </p:sp>
    </p:spTree>
    <p:extLst>
      <p:ext uri="{BB962C8B-B14F-4D97-AF65-F5344CB8AC3E}">
        <p14:creationId xmlns:p14="http://schemas.microsoft.com/office/powerpoint/2010/main" val="357600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Ambiguity Examples</a:t>
            </a:r>
          </a:p>
        </p:txBody>
      </p:sp>
      <p:sp>
        <p:nvSpPr>
          <p:cNvPr id="3" name="Content Placeholder 2"/>
          <p:cNvSpPr>
            <a:spLocks noGrp="1"/>
          </p:cNvSpPr>
          <p:nvPr>
            <p:ph idx="1"/>
          </p:nvPr>
        </p:nvSpPr>
        <p:spPr/>
        <p:txBody>
          <a:bodyPr/>
          <a:lstStyle/>
          <a:p>
            <a:r>
              <a:rPr lang="en-US" dirty="0"/>
              <a:t>Suppose we used a single nonterminal string and did not distinguish between digits and lists. Following is a rule/grammar.</a:t>
            </a:r>
          </a:p>
          <a:p>
            <a:endParaRPr lang="en-US" dirty="0"/>
          </a:p>
          <a:p>
            <a:endParaRPr lang="en-US" dirty="0"/>
          </a:p>
          <a:p>
            <a:endParaRPr lang="en-US"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89000" y="3095995"/>
            <a:ext cx="10464800" cy="523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930400" y="4056115"/>
            <a:ext cx="7721600" cy="239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0479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Associativity of Operators</a:t>
            </a:r>
          </a:p>
        </p:txBody>
      </p:sp>
      <p:sp>
        <p:nvSpPr>
          <p:cNvPr id="3" name="Content Placeholder 2"/>
          <p:cNvSpPr>
            <a:spLocks noGrp="1"/>
          </p:cNvSpPr>
          <p:nvPr>
            <p:ph idx="1"/>
          </p:nvPr>
        </p:nvSpPr>
        <p:spPr/>
        <p:txBody>
          <a:bodyPr>
            <a:normAutofit/>
          </a:bodyPr>
          <a:lstStyle/>
          <a:p>
            <a:r>
              <a:rPr lang="en-US" dirty="0"/>
              <a:t>By convention, </a:t>
            </a:r>
            <a:r>
              <a:rPr lang="en-US" b="1" dirty="0"/>
              <a:t>9+5+2 </a:t>
            </a:r>
            <a:r>
              <a:rPr lang="en-US" dirty="0"/>
              <a:t>is equivalent to </a:t>
            </a:r>
            <a:r>
              <a:rPr lang="en-US" b="1" dirty="0"/>
              <a:t>(9+5)+2 </a:t>
            </a:r>
            <a:r>
              <a:rPr lang="en-US" dirty="0"/>
              <a:t>and </a:t>
            </a:r>
            <a:r>
              <a:rPr lang="en-US" b="1" dirty="0"/>
              <a:t>9-5-2</a:t>
            </a:r>
            <a:r>
              <a:rPr lang="en-US" dirty="0"/>
              <a:t> is equivalent to </a:t>
            </a:r>
            <a:r>
              <a:rPr lang="en-US" b="1" dirty="0"/>
              <a:t>(9-5)-2. </a:t>
            </a:r>
          </a:p>
          <a:p>
            <a:r>
              <a:rPr lang="en-US" dirty="0"/>
              <a:t>When an operand like 5 has operators to its left and right, conventions are needed for deciding which operator applies to that operand.</a:t>
            </a:r>
          </a:p>
          <a:p>
            <a:r>
              <a:rPr lang="en-US" dirty="0"/>
              <a:t>We say that the operator + associates to the left, because an operand with plus signs on both sides of it belongs to the operator to its left.</a:t>
            </a:r>
          </a:p>
          <a:p>
            <a:r>
              <a:rPr lang="en-US" dirty="0"/>
              <a:t>In most programming languages the four arithmetic operators, addition, subtraction, multiplication, and division are left-associative.</a:t>
            </a:r>
          </a:p>
        </p:txBody>
      </p:sp>
    </p:spTree>
    <p:extLst>
      <p:ext uri="{BB962C8B-B14F-4D97-AF65-F5344CB8AC3E}">
        <p14:creationId xmlns:p14="http://schemas.microsoft.com/office/powerpoint/2010/main" val="1218206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Associativity of Operators</a:t>
            </a:r>
          </a:p>
        </p:txBody>
      </p:sp>
      <p:sp>
        <p:nvSpPr>
          <p:cNvPr id="3" name="Content Placeholder 2"/>
          <p:cNvSpPr>
            <a:spLocks noGrp="1"/>
          </p:cNvSpPr>
          <p:nvPr>
            <p:ph idx="1"/>
          </p:nvPr>
        </p:nvSpPr>
        <p:spPr/>
        <p:txBody>
          <a:bodyPr>
            <a:normAutofit/>
          </a:bodyPr>
          <a:lstStyle/>
          <a:p>
            <a:r>
              <a:rPr lang="en-US" sz="3200" dirty="0"/>
              <a:t>Some common operators such as exponentiation are right-associative. </a:t>
            </a:r>
          </a:p>
          <a:p>
            <a:r>
              <a:rPr lang="en-US" sz="3200" dirty="0"/>
              <a:t>As another example, the assignment operator = in C and its descendants is right-associative; that is, the expression a=b=c is treated in the same way as the expression a=(b=c).</a:t>
            </a:r>
          </a:p>
          <a:p>
            <a:r>
              <a:rPr lang="en-US" sz="3200" dirty="0"/>
              <a:t>Strings like a=b=c with a right-associative operator are generated by the following grammar.</a:t>
            </a:r>
          </a:p>
          <a:p>
            <a:endParaRPr lang="en-US" sz="3200" dirty="0"/>
          </a:p>
          <a:p>
            <a:endParaRPr lang="en-US" sz="3200" dirty="0"/>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892799" y="5257800"/>
            <a:ext cx="5691596" cy="106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5617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Associativity of Operators</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117601" y="1886139"/>
            <a:ext cx="9992377" cy="401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825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of Operators</a:t>
            </a:r>
          </a:p>
        </p:txBody>
      </p:sp>
      <p:sp>
        <p:nvSpPr>
          <p:cNvPr id="3" name="Content Placeholder 2"/>
          <p:cNvSpPr>
            <a:spLocks noGrp="1"/>
          </p:cNvSpPr>
          <p:nvPr>
            <p:ph idx="1"/>
          </p:nvPr>
        </p:nvSpPr>
        <p:spPr>
          <a:xfrm>
            <a:off x="609600" y="1600201"/>
            <a:ext cx="10972800" cy="5257799"/>
          </a:xfrm>
        </p:spPr>
        <p:txBody>
          <a:bodyPr>
            <a:normAutofit/>
          </a:bodyPr>
          <a:lstStyle/>
          <a:p>
            <a:r>
              <a:rPr lang="en-US" dirty="0"/>
              <a:t>Consider the expression 9+5*2. There are two possible interpretations of this expression: (9+5)*2 or 9+(5*2). </a:t>
            </a:r>
          </a:p>
          <a:p>
            <a:r>
              <a:rPr lang="en-US" dirty="0"/>
              <a:t>The associativity rules for + and * apply to occurrences of the same operator, so they do not resolve this ambiguity.</a:t>
            </a:r>
          </a:p>
          <a:p>
            <a:r>
              <a:rPr lang="en-US" dirty="0"/>
              <a:t>Rules defining the relative precedence of operators are needed when more than one kind of operator is present.</a:t>
            </a:r>
          </a:p>
          <a:p>
            <a:r>
              <a:rPr lang="en-US" dirty="0"/>
              <a:t>We say that * has higher precedence than + if * takes its operands before + does.</a:t>
            </a:r>
          </a:p>
        </p:txBody>
      </p:sp>
    </p:spTree>
    <p:extLst>
      <p:ext uri="{BB962C8B-B14F-4D97-AF65-F5344CB8AC3E}">
        <p14:creationId xmlns:p14="http://schemas.microsoft.com/office/powerpoint/2010/main" val="44824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of Operators</a:t>
            </a:r>
          </a:p>
        </p:txBody>
      </p:sp>
      <p:sp>
        <p:nvSpPr>
          <p:cNvPr id="3" name="Content Placeholder 2"/>
          <p:cNvSpPr>
            <a:spLocks noGrp="1"/>
          </p:cNvSpPr>
          <p:nvPr>
            <p:ph idx="1"/>
          </p:nvPr>
        </p:nvSpPr>
        <p:spPr/>
        <p:txBody>
          <a:bodyPr/>
          <a:lstStyle/>
          <a:p>
            <a:r>
              <a:rPr lang="en-US" dirty="0"/>
              <a:t>In ordinary arithmetic, multiplication and division have higher precedence than addition and subtraction.</a:t>
            </a:r>
          </a:p>
          <a:p>
            <a:r>
              <a:rPr lang="en-US" dirty="0"/>
              <a:t>Therefore, 5 is taken by * in b </a:t>
            </a:r>
            <a:r>
              <a:rPr lang="en-US" dirty="0" err="1"/>
              <a:t>oth</a:t>
            </a:r>
            <a:r>
              <a:rPr lang="en-US" dirty="0"/>
              <a:t> 9+5*2 and 9*5+2; i.e., the expressions are equivalent t 9+(5*2) and (9*5)+2, respectively.</a:t>
            </a:r>
          </a:p>
          <a:p>
            <a:endParaRPr lang="en-US" dirty="0"/>
          </a:p>
        </p:txBody>
      </p:sp>
    </p:spTree>
    <p:extLst>
      <p:ext uri="{BB962C8B-B14F-4D97-AF65-F5344CB8AC3E}">
        <p14:creationId xmlns:p14="http://schemas.microsoft.com/office/powerpoint/2010/main" val="995506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of Operators</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3851" y="1973617"/>
            <a:ext cx="7315200" cy="4115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789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p:sp>
        <p:nvSpPr>
          <p:cNvPr id="3" name="Content Placeholder 2"/>
          <p:cNvSpPr>
            <a:spLocks noGrp="1"/>
          </p:cNvSpPr>
          <p:nvPr>
            <p:ph idx="1"/>
          </p:nvPr>
        </p:nvSpPr>
        <p:spPr/>
        <p:txBody>
          <a:bodyPr/>
          <a:lstStyle/>
          <a:p>
            <a:r>
              <a:rPr lang="en-US" dirty="0"/>
              <a:t>Determine whether the following grammars are ambiguous or not</a:t>
            </a:r>
          </a:p>
          <a:p>
            <a:pPr lvl="1"/>
            <a:r>
              <a:rPr lang="en-US" b="1" dirty="0"/>
              <a:t>S-&gt; (S)| SS | E             </a:t>
            </a:r>
            <a:r>
              <a:rPr lang="en-US" dirty="0"/>
              <a:t>using the string ( )( )( ).</a:t>
            </a:r>
          </a:p>
          <a:p>
            <a:pPr lvl="1"/>
            <a:r>
              <a:rPr lang="en-US" b="1" dirty="0"/>
              <a:t>S-&gt;</a:t>
            </a:r>
            <a:r>
              <a:rPr lang="en-US" b="1" dirty="0" err="1"/>
              <a:t>SbS</a:t>
            </a:r>
            <a:r>
              <a:rPr lang="en-US" b="1" dirty="0"/>
              <a:t> | a</a:t>
            </a:r>
            <a:r>
              <a:rPr lang="en-US" dirty="0"/>
              <a:t>		 using the string </a:t>
            </a:r>
            <a:r>
              <a:rPr lang="en-US" dirty="0" err="1"/>
              <a:t>ababa</a:t>
            </a:r>
            <a:endParaRPr lang="en-US" dirty="0"/>
          </a:p>
          <a:p>
            <a:pPr lvl="1"/>
            <a:r>
              <a:rPr lang="en-US" b="1" dirty="0"/>
              <a:t>S-&gt;</a:t>
            </a:r>
            <a:r>
              <a:rPr lang="en-US" b="1" dirty="0" err="1"/>
              <a:t>aB|ab</a:t>
            </a:r>
            <a:r>
              <a:rPr lang="en-US" b="1" dirty="0"/>
              <a:t>, A-&gt;</a:t>
            </a:r>
            <a:r>
              <a:rPr lang="en-US" b="1" dirty="0" err="1"/>
              <a:t>AB|a</a:t>
            </a:r>
            <a:r>
              <a:rPr lang="en-US" b="1" dirty="0"/>
              <a:t>, B-&gt;</a:t>
            </a:r>
            <a:r>
              <a:rPr lang="en-US" b="1" dirty="0" err="1"/>
              <a:t>Abb|b</a:t>
            </a:r>
            <a:r>
              <a:rPr lang="en-US" b="1" dirty="0"/>
              <a:t>   </a:t>
            </a:r>
            <a:r>
              <a:rPr lang="en-US" dirty="0"/>
              <a:t>using string ab</a:t>
            </a:r>
          </a:p>
          <a:p>
            <a:pPr lvl="1"/>
            <a:endParaRPr lang="en-US" dirty="0"/>
          </a:p>
          <a:p>
            <a:pPr lvl="1"/>
            <a:endParaRPr lang="en-US" dirty="0"/>
          </a:p>
          <a:p>
            <a:endParaRPr lang="en-US" dirty="0"/>
          </a:p>
        </p:txBody>
      </p:sp>
    </p:spTree>
    <p:extLst>
      <p:ext uri="{BB962C8B-B14F-4D97-AF65-F5344CB8AC3E}">
        <p14:creationId xmlns:p14="http://schemas.microsoft.com/office/powerpoint/2010/main" val="3219690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Associativity solution in CFGs</a:t>
            </a:r>
          </a:p>
        </p:txBody>
      </p:sp>
      <p:sp>
        <p:nvSpPr>
          <p:cNvPr id="3" name="Content Placeholder 2"/>
          <p:cNvSpPr>
            <a:spLocks noGrp="1"/>
          </p:cNvSpPr>
          <p:nvPr>
            <p:ph idx="1"/>
          </p:nvPr>
        </p:nvSpPr>
        <p:spPr/>
        <p:txBody>
          <a:bodyPr/>
          <a:lstStyle/>
          <a:p>
            <a:r>
              <a:rPr lang="en-US" dirty="0"/>
              <a:t>Associativity issue can be resolved by restricting the Grammar.</a:t>
            </a:r>
          </a:p>
          <a:p>
            <a:r>
              <a:rPr lang="en-US" dirty="0"/>
              <a:t>Example: Consider a grammar </a:t>
            </a:r>
          </a:p>
          <a:p>
            <a:pPr lvl="1"/>
            <a:r>
              <a:rPr lang="en-US" b="1" dirty="0"/>
              <a:t>E-&gt;E+E, E-&gt;E-E, E-&gt;digit   9-5 +2</a:t>
            </a:r>
          </a:p>
          <a:p>
            <a:pPr lvl="1"/>
            <a:endParaRPr lang="en-US" b="1" dirty="0"/>
          </a:p>
          <a:p>
            <a:pPr lvl="1"/>
            <a:r>
              <a:rPr lang="en-US" b="1" dirty="0"/>
              <a:t>E-&gt; </a:t>
            </a:r>
            <a:r>
              <a:rPr lang="en-US" b="1" dirty="0" err="1"/>
              <a:t>E+digit</a:t>
            </a:r>
            <a:endParaRPr lang="en-US" b="1" dirty="0"/>
          </a:p>
          <a:p>
            <a:pPr lvl="1"/>
            <a:r>
              <a:rPr lang="en-US" b="1" dirty="0"/>
              <a:t>E-&gt;E-digit</a:t>
            </a:r>
          </a:p>
          <a:p>
            <a:pPr lvl="1"/>
            <a:r>
              <a:rPr lang="en-US" b="1" dirty="0"/>
              <a:t>E-&gt;digit</a:t>
            </a:r>
          </a:p>
          <a:p>
            <a:pPr marL="457200" lvl="1" indent="0">
              <a:buNone/>
            </a:pPr>
            <a:endParaRPr lang="en-US" b="1" dirty="0"/>
          </a:p>
        </p:txBody>
      </p:sp>
    </p:spTree>
    <p:extLst>
      <p:ext uri="{BB962C8B-B14F-4D97-AF65-F5344CB8AC3E}">
        <p14:creationId xmlns:p14="http://schemas.microsoft.com/office/powerpoint/2010/main" val="4074467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4267" dirty="0"/>
              <a:t>E-&gt;E+E, E-&gt;E-E, E-&gt;digit</a:t>
            </a:r>
          </a:p>
        </p:txBody>
      </p:sp>
      <p:sp>
        <p:nvSpPr>
          <p:cNvPr id="3" name="Content Placeholder 2"/>
          <p:cNvSpPr>
            <a:spLocks noGrp="1"/>
          </p:cNvSpPr>
          <p:nvPr>
            <p:ph idx="1"/>
          </p:nvPr>
        </p:nvSpPr>
        <p:spPr/>
        <p:txBody>
          <a:bodyPr/>
          <a:lstStyle/>
          <a:p>
            <a:r>
              <a:rPr lang="en-US" dirty="0"/>
              <a:t>For a string </a:t>
            </a:r>
            <a:r>
              <a:rPr lang="en-US" dirty="0" err="1"/>
              <a:t>digit+digit-digit</a:t>
            </a:r>
            <a:r>
              <a:rPr lang="en-US" dirty="0"/>
              <a:t> (9+4-5) we have a parse trees.</a:t>
            </a:r>
          </a:p>
          <a:p>
            <a:endParaRPr lang="en-US" dirty="0"/>
          </a:p>
        </p:txBody>
      </p:sp>
      <p:sp>
        <p:nvSpPr>
          <p:cNvPr id="8" name="Rectangle 7"/>
          <p:cNvSpPr/>
          <p:nvPr/>
        </p:nvSpPr>
        <p:spPr>
          <a:xfrm>
            <a:off x="2133601" y="4343400"/>
            <a:ext cx="689212" cy="508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grpSp>
        <p:nvGrpSpPr>
          <p:cNvPr id="58" name="Group 57"/>
          <p:cNvGrpSpPr/>
          <p:nvPr/>
        </p:nvGrpSpPr>
        <p:grpSpPr>
          <a:xfrm>
            <a:off x="834789" y="3225800"/>
            <a:ext cx="3127612" cy="2133600"/>
            <a:chOff x="626091" y="2419350"/>
            <a:chExt cx="2345709" cy="1600200"/>
          </a:xfrm>
        </p:grpSpPr>
        <p:sp>
          <p:nvSpPr>
            <p:cNvPr id="5" name="Rectangle 4"/>
            <p:cNvSpPr/>
            <p:nvPr/>
          </p:nvSpPr>
          <p:spPr>
            <a:xfrm>
              <a:off x="645994" y="2831626"/>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grpSp>
          <p:nvGrpSpPr>
            <p:cNvPr id="38" name="Group 37"/>
            <p:cNvGrpSpPr/>
            <p:nvPr/>
          </p:nvGrpSpPr>
          <p:grpSpPr>
            <a:xfrm>
              <a:off x="626091" y="2419350"/>
              <a:ext cx="2345709" cy="1600200"/>
              <a:chOff x="626091" y="2419350"/>
              <a:chExt cx="2345709" cy="1600200"/>
            </a:xfrm>
          </p:grpSpPr>
          <p:sp>
            <p:nvSpPr>
              <p:cNvPr id="10" name="Rectangle 9"/>
              <p:cNvSpPr/>
              <p:nvPr/>
            </p:nvSpPr>
            <p:spPr>
              <a:xfrm>
                <a:off x="1981200"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grpSp>
            <p:nvGrpSpPr>
              <p:cNvPr id="37" name="Group 36"/>
              <p:cNvGrpSpPr/>
              <p:nvPr/>
            </p:nvGrpSpPr>
            <p:grpSpPr>
              <a:xfrm>
                <a:off x="626091" y="2419350"/>
                <a:ext cx="2345709" cy="1600200"/>
                <a:chOff x="626091" y="2419350"/>
                <a:chExt cx="2345709" cy="1600200"/>
              </a:xfrm>
            </p:grpSpPr>
            <p:sp>
              <p:nvSpPr>
                <p:cNvPr id="4" name="Rectangle 3"/>
                <p:cNvSpPr/>
                <p:nvPr/>
              </p:nvSpPr>
              <p:spPr>
                <a:xfrm>
                  <a:off x="1162903" y="2419350"/>
                  <a:ext cx="533400"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6" name="Rectangle 5"/>
                <p:cNvSpPr/>
                <p:nvPr/>
              </p:nvSpPr>
              <p:spPr>
                <a:xfrm>
                  <a:off x="1600200" y="2827646"/>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7" name="Rectangle 6"/>
                <p:cNvSpPr/>
                <p:nvPr/>
              </p:nvSpPr>
              <p:spPr>
                <a:xfrm>
                  <a:off x="1143000" y="28003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sp>
              <p:nvSpPr>
                <p:cNvPr id="9" name="Rectangle 8"/>
                <p:cNvSpPr/>
                <p:nvPr/>
              </p:nvSpPr>
              <p:spPr>
                <a:xfrm>
                  <a:off x="2454891"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11" name="Rectangle 10"/>
                <p:cNvSpPr/>
                <p:nvPr/>
              </p:nvSpPr>
              <p:spPr>
                <a:xfrm>
                  <a:off x="626091"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9</a:t>
                  </a:r>
                </a:p>
              </p:txBody>
            </p:sp>
            <p:sp>
              <p:nvSpPr>
                <p:cNvPr id="12" name="Rectangle 11"/>
                <p:cNvSpPr/>
                <p:nvPr/>
              </p:nvSpPr>
              <p:spPr>
                <a:xfrm>
                  <a:off x="1540491" y="3638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4</a:t>
                  </a:r>
                </a:p>
              </p:txBody>
            </p:sp>
            <p:sp>
              <p:nvSpPr>
                <p:cNvPr id="13" name="Rectangle 12"/>
                <p:cNvSpPr/>
                <p:nvPr/>
              </p:nvSpPr>
              <p:spPr>
                <a:xfrm>
                  <a:off x="2454891" y="3638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5</a:t>
                  </a:r>
                </a:p>
              </p:txBody>
            </p:sp>
            <p:cxnSp>
              <p:nvCxnSpPr>
                <p:cNvPr id="15" name="Straight Connector 14"/>
                <p:cNvCxnSpPr/>
                <p:nvPr/>
              </p:nvCxnSpPr>
              <p:spPr>
                <a:xfrm>
                  <a:off x="1401454" y="2637146"/>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884545" y="2637146"/>
                  <a:ext cx="545060"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429603" y="2637146"/>
                  <a:ext cx="429051"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904448" y="3143250"/>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858654" y="3072319"/>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1858654" y="3524250"/>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flipV="1">
                  <a:off x="1894993" y="3048139"/>
                  <a:ext cx="344661" cy="3999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1858655" y="2988830"/>
                  <a:ext cx="854690" cy="45922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6" name="Straight Connector 35"/>
              <p:cNvCxnSpPr/>
              <p:nvPr/>
            </p:nvCxnSpPr>
            <p:spPr>
              <a:xfrm flipV="1">
                <a:off x="2691318" y="3486150"/>
                <a:ext cx="0" cy="304800"/>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86" name="Group 85"/>
          <p:cNvGrpSpPr/>
          <p:nvPr/>
        </p:nvGrpSpPr>
        <p:grpSpPr>
          <a:xfrm>
            <a:off x="5791200" y="3204093"/>
            <a:ext cx="2540000" cy="2256907"/>
            <a:chOff x="4343400" y="2403070"/>
            <a:chExt cx="1905000" cy="1692680"/>
          </a:xfrm>
        </p:grpSpPr>
        <p:sp>
          <p:nvSpPr>
            <p:cNvPr id="60" name="Rectangle 59"/>
            <p:cNvSpPr/>
            <p:nvPr/>
          </p:nvSpPr>
          <p:spPr>
            <a:xfrm>
              <a:off x="4772034" y="2815346"/>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cxnSp>
          <p:nvCxnSpPr>
            <p:cNvPr id="75" name="Straight Connector 74"/>
            <p:cNvCxnSpPr/>
            <p:nvPr/>
          </p:nvCxnSpPr>
          <p:spPr>
            <a:xfrm flipV="1">
              <a:off x="4591902" y="3486150"/>
              <a:ext cx="0" cy="304800"/>
            </a:xfrm>
            <a:prstGeom prst="line">
              <a:avLst/>
            </a:prstGeom>
          </p:spPr>
          <p:style>
            <a:lnRef idx="1">
              <a:schemeClr val="accent1"/>
            </a:lnRef>
            <a:fillRef idx="0">
              <a:schemeClr val="accent1"/>
            </a:fillRef>
            <a:effectRef idx="0">
              <a:schemeClr val="accent1"/>
            </a:effectRef>
            <a:fontRef idx="minor">
              <a:schemeClr val="tx1"/>
            </a:fontRef>
          </p:style>
        </p:cxnSp>
        <p:grpSp>
          <p:nvGrpSpPr>
            <p:cNvPr id="85" name="Group 84"/>
            <p:cNvGrpSpPr/>
            <p:nvPr/>
          </p:nvGrpSpPr>
          <p:grpSpPr>
            <a:xfrm>
              <a:off x="4343400" y="2403070"/>
              <a:ext cx="1905000" cy="1692680"/>
              <a:chOff x="4343400" y="2403070"/>
              <a:chExt cx="1905000" cy="1692680"/>
            </a:xfrm>
          </p:grpSpPr>
          <p:sp>
            <p:nvSpPr>
              <p:cNvPr id="62" name="Rectangle 61"/>
              <p:cNvSpPr/>
              <p:nvPr/>
            </p:nvSpPr>
            <p:spPr>
              <a:xfrm>
                <a:off x="4800600"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sp>
            <p:nvSpPr>
              <p:cNvPr id="65" name="Rectangle 64"/>
              <p:cNvSpPr/>
              <p:nvPr/>
            </p:nvSpPr>
            <p:spPr>
              <a:xfrm>
                <a:off x="5288943" y="2403070"/>
                <a:ext cx="533400"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66" name="Rectangle 65"/>
              <p:cNvSpPr/>
              <p:nvPr/>
            </p:nvSpPr>
            <p:spPr>
              <a:xfrm>
                <a:off x="5726240" y="2811366"/>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67" name="Rectangle 66"/>
              <p:cNvSpPr/>
              <p:nvPr/>
            </p:nvSpPr>
            <p:spPr>
              <a:xfrm>
                <a:off x="5269040" y="278407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sp>
            <p:nvSpPr>
              <p:cNvPr id="68" name="Rectangle 67"/>
              <p:cNvSpPr/>
              <p:nvPr/>
            </p:nvSpPr>
            <p:spPr>
              <a:xfrm>
                <a:off x="5274291"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69" name="Rectangle 68"/>
              <p:cNvSpPr/>
              <p:nvPr/>
            </p:nvSpPr>
            <p:spPr>
              <a:xfrm>
                <a:off x="4343400" y="3714750"/>
                <a:ext cx="516909" cy="381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9</a:t>
                </a:r>
              </a:p>
            </p:txBody>
          </p:sp>
          <p:sp>
            <p:nvSpPr>
              <p:cNvPr id="70" name="Rectangle 69"/>
              <p:cNvSpPr/>
              <p:nvPr/>
            </p:nvSpPr>
            <p:spPr>
              <a:xfrm>
                <a:off x="5274291" y="37147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4</a:t>
                </a:r>
              </a:p>
            </p:txBody>
          </p:sp>
          <p:sp>
            <p:nvSpPr>
              <p:cNvPr id="71" name="Rectangle 70"/>
              <p:cNvSpPr/>
              <p:nvPr/>
            </p:nvSpPr>
            <p:spPr>
              <a:xfrm>
                <a:off x="5731491"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5</a:t>
                </a:r>
              </a:p>
            </p:txBody>
          </p:sp>
          <p:cxnSp>
            <p:nvCxnSpPr>
              <p:cNvPr id="72" name="Straight Connector 71"/>
              <p:cNvCxnSpPr/>
              <p:nvPr/>
            </p:nvCxnSpPr>
            <p:spPr>
              <a:xfrm>
                <a:off x="5527494" y="2620866"/>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a:off x="5010585" y="2620866"/>
                <a:ext cx="545060"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5555643" y="2620866"/>
                <a:ext cx="429051"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5032054" y="3083195"/>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5527494" y="3497837"/>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4542145" y="3012671"/>
                <a:ext cx="438423" cy="4571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flipV="1">
                <a:off x="4967653" y="3011660"/>
                <a:ext cx="559841" cy="3763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V="1">
                <a:off x="5984694" y="3088870"/>
                <a:ext cx="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4343400" y="3257550"/>
                <a:ext cx="516909" cy="381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grpSp>
      </p:grpSp>
    </p:spTree>
    <p:extLst>
      <p:ext uri="{BB962C8B-B14F-4D97-AF65-F5344CB8AC3E}">
        <p14:creationId xmlns:p14="http://schemas.microsoft.com/office/powerpoint/2010/main" val="248490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restrict the grammar </a:t>
            </a:r>
          </a:p>
        </p:txBody>
      </p:sp>
      <p:sp>
        <p:nvSpPr>
          <p:cNvPr id="3" name="Content Placeholder 2"/>
          <p:cNvSpPr>
            <a:spLocks noGrp="1"/>
          </p:cNvSpPr>
          <p:nvPr>
            <p:ph idx="1"/>
          </p:nvPr>
        </p:nvSpPr>
        <p:spPr/>
        <p:txBody>
          <a:bodyPr/>
          <a:lstStyle/>
          <a:p>
            <a:r>
              <a:rPr lang="en-US" dirty="0"/>
              <a:t>E-&gt;E+E,         E-&gt;E-E,          E-&gt;digit</a:t>
            </a:r>
          </a:p>
          <a:p>
            <a:r>
              <a:rPr lang="en-US" b="1" dirty="0"/>
              <a:t>E-&gt;E+E </a:t>
            </a:r>
            <a:r>
              <a:rPr lang="en-US" dirty="0"/>
              <a:t>Updated to </a:t>
            </a:r>
            <a:r>
              <a:rPr lang="en-US" b="1" dirty="0"/>
              <a:t>E-&gt;</a:t>
            </a:r>
            <a:r>
              <a:rPr lang="en-US" b="1" dirty="0" err="1"/>
              <a:t>E+digit</a:t>
            </a:r>
            <a:r>
              <a:rPr lang="en-US" b="1" dirty="0"/>
              <a:t> </a:t>
            </a:r>
            <a:r>
              <a:rPr lang="en-US" dirty="0"/>
              <a:t>to enable it for left associative, because + is left assoc.. </a:t>
            </a:r>
          </a:p>
          <a:p>
            <a:r>
              <a:rPr lang="en-US" b="1" dirty="0"/>
              <a:t>E-&gt;E-E </a:t>
            </a:r>
            <a:r>
              <a:rPr lang="en-US" dirty="0"/>
              <a:t>is updated to </a:t>
            </a:r>
            <a:r>
              <a:rPr lang="en-US" b="1" dirty="0"/>
              <a:t>E-&gt;E-digit</a:t>
            </a:r>
          </a:p>
          <a:p>
            <a:r>
              <a:rPr lang="en-US" dirty="0"/>
              <a:t> </a:t>
            </a:r>
            <a:r>
              <a:rPr lang="en-US" b="1" dirty="0"/>
              <a:t>E-&gt;digit </a:t>
            </a:r>
            <a:r>
              <a:rPr lang="en-US" dirty="0"/>
              <a:t>it will remain same</a:t>
            </a:r>
            <a:endParaRPr lang="en-US" b="1" dirty="0"/>
          </a:p>
        </p:txBody>
      </p:sp>
      <p:grpSp>
        <p:nvGrpSpPr>
          <p:cNvPr id="4" name="Group 3"/>
          <p:cNvGrpSpPr/>
          <p:nvPr/>
        </p:nvGrpSpPr>
        <p:grpSpPr>
          <a:xfrm>
            <a:off x="8330342" y="3706105"/>
            <a:ext cx="2656188" cy="2256907"/>
            <a:chOff x="4343400" y="2403070"/>
            <a:chExt cx="1992141" cy="1692680"/>
          </a:xfrm>
        </p:grpSpPr>
        <p:sp>
          <p:nvSpPr>
            <p:cNvPr id="5" name="Rectangle 4"/>
            <p:cNvSpPr/>
            <p:nvPr/>
          </p:nvSpPr>
          <p:spPr>
            <a:xfrm>
              <a:off x="4772034" y="2815346"/>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cxnSp>
          <p:nvCxnSpPr>
            <p:cNvPr id="6" name="Straight Connector 5"/>
            <p:cNvCxnSpPr/>
            <p:nvPr/>
          </p:nvCxnSpPr>
          <p:spPr>
            <a:xfrm flipV="1">
              <a:off x="4591902" y="3486150"/>
              <a:ext cx="0" cy="304800"/>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a:xfrm>
              <a:off x="4343400" y="2403070"/>
              <a:ext cx="1992141" cy="1692680"/>
              <a:chOff x="4343400" y="2403070"/>
              <a:chExt cx="1992141" cy="1692680"/>
            </a:xfrm>
          </p:grpSpPr>
          <p:sp>
            <p:nvSpPr>
              <p:cNvPr id="8" name="Rectangle 7"/>
              <p:cNvSpPr/>
              <p:nvPr/>
            </p:nvSpPr>
            <p:spPr>
              <a:xfrm>
                <a:off x="4800600"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sp>
            <p:nvSpPr>
              <p:cNvPr id="9" name="Rectangle 8"/>
              <p:cNvSpPr/>
              <p:nvPr/>
            </p:nvSpPr>
            <p:spPr>
              <a:xfrm>
                <a:off x="5288943" y="2403070"/>
                <a:ext cx="533400"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sp>
            <p:nvSpPr>
              <p:cNvPr id="10" name="Rectangle 9"/>
              <p:cNvSpPr/>
              <p:nvPr/>
            </p:nvSpPr>
            <p:spPr>
              <a:xfrm>
                <a:off x="5720252" y="2851219"/>
                <a:ext cx="61528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digit</a:t>
                </a:r>
              </a:p>
            </p:txBody>
          </p:sp>
          <p:sp>
            <p:nvSpPr>
              <p:cNvPr id="11" name="Rectangle 10"/>
              <p:cNvSpPr/>
              <p:nvPr/>
            </p:nvSpPr>
            <p:spPr>
              <a:xfrm>
                <a:off x="5269040" y="278407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a:t>
                </a:r>
              </a:p>
            </p:txBody>
          </p:sp>
          <p:sp>
            <p:nvSpPr>
              <p:cNvPr id="12" name="Rectangle 11"/>
              <p:cNvSpPr/>
              <p:nvPr/>
            </p:nvSpPr>
            <p:spPr>
              <a:xfrm>
                <a:off x="5110652" y="3257550"/>
                <a:ext cx="760712"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digit</a:t>
                </a:r>
              </a:p>
            </p:txBody>
          </p:sp>
          <p:sp>
            <p:nvSpPr>
              <p:cNvPr id="13" name="Rectangle 12"/>
              <p:cNvSpPr/>
              <p:nvPr/>
            </p:nvSpPr>
            <p:spPr>
              <a:xfrm>
                <a:off x="4343400" y="3714750"/>
                <a:ext cx="516909" cy="381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9</a:t>
                </a:r>
              </a:p>
            </p:txBody>
          </p:sp>
          <p:sp>
            <p:nvSpPr>
              <p:cNvPr id="14" name="Rectangle 13"/>
              <p:cNvSpPr/>
              <p:nvPr/>
            </p:nvSpPr>
            <p:spPr>
              <a:xfrm>
                <a:off x="5274291" y="37147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4</a:t>
                </a:r>
              </a:p>
            </p:txBody>
          </p:sp>
          <p:sp>
            <p:nvSpPr>
              <p:cNvPr id="15" name="Rectangle 14"/>
              <p:cNvSpPr/>
              <p:nvPr/>
            </p:nvSpPr>
            <p:spPr>
              <a:xfrm>
                <a:off x="5731491" y="3257550"/>
                <a:ext cx="516909" cy="381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5</a:t>
                </a:r>
              </a:p>
            </p:txBody>
          </p:sp>
          <p:cxnSp>
            <p:nvCxnSpPr>
              <p:cNvPr id="16" name="Straight Connector 15"/>
              <p:cNvCxnSpPr/>
              <p:nvPr/>
            </p:nvCxnSpPr>
            <p:spPr>
              <a:xfrm>
                <a:off x="5527494" y="2620866"/>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5010585" y="2620866"/>
                <a:ext cx="545060"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555643" y="2620866"/>
                <a:ext cx="429051" cy="3537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032054" y="3083195"/>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5527494" y="3497837"/>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542145" y="3012671"/>
                <a:ext cx="438423" cy="4571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4967653" y="3011660"/>
                <a:ext cx="559841" cy="3763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5984694" y="3088870"/>
                <a:ext cx="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343400" y="3257550"/>
                <a:ext cx="516909" cy="381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solidFill>
                      <a:schemeClr val="tx1"/>
                    </a:solidFill>
                  </a:rPr>
                  <a:t>E</a:t>
                </a:r>
              </a:p>
            </p:txBody>
          </p:sp>
        </p:grpSp>
      </p:grpSp>
    </p:spTree>
    <p:extLst>
      <p:ext uri="{BB962C8B-B14F-4D97-AF65-F5344CB8AC3E}">
        <p14:creationId xmlns:p14="http://schemas.microsoft.com/office/powerpoint/2010/main" val="205264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882436" y="1960668"/>
            <a:ext cx="2438400" cy="197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Precedence solutions in CFGs</a:t>
            </a:r>
          </a:p>
        </p:txBody>
      </p:sp>
      <p:sp>
        <p:nvSpPr>
          <p:cNvPr id="3" name="Content Placeholder 2"/>
          <p:cNvSpPr>
            <a:spLocks noGrp="1"/>
          </p:cNvSpPr>
          <p:nvPr>
            <p:ph idx="1"/>
          </p:nvPr>
        </p:nvSpPr>
        <p:spPr/>
        <p:txBody>
          <a:bodyPr>
            <a:normAutofit/>
          </a:bodyPr>
          <a:lstStyle/>
          <a:p>
            <a:r>
              <a:rPr lang="en-US" sz="3733" dirty="0"/>
              <a:t>We have a grammar and a string </a:t>
            </a:r>
            <a:r>
              <a:rPr lang="en-US" sz="3733" b="1" dirty="0" err="1"/>
              <a:t>id+idxid</a:t>
            </a:r>
            <a:endParaRPr lang="en-US" sz="3733" b="1" dirty="0"/>
          </a:p>
          <a:p>
            <a:pPr marL="990575" lvl="2" indent="-457189"/>
            <a:r>
              <a:rPr lang="en-US" sz="2667" dirty="0"/>
              <a:t>E-&gt;E+E</a:t>
            </a:r>
            <a:br>
              <a:rPr lang="en-US" sz="2667" dirty="0"/>
            </a:br>
            <a:r>
              <a:rPr lang="en-US" sz="2667" dirty="0"/>
              <a:t>E-&gt;</a:t>
            </a:r>
            <a:r>
              <a:rPr lang="en-US" sz="2667" dirty="0" err="1"/>
              <a:t>ExE</a:t>
            </a:r>
            <a:br>
              <a:rPr lang="en-US" sz="2667" dirty="0"/>
            </a:br>
            <a:r>
              <a:rPr lang="en-US" sz="2667" dirty="0"/>
              <a:t>E-&gt;id</a:t>
            </a:r>
          </a:p>
          <a:p>
            <a:pPr marL="457189" lvl="1" indent="-457189"/>
            <a:r>
              <a:rPr lang="en-US" sz="3200" dirty="0"/>
              <a:t>But there are other ways to illustrate parse trees, but that will lead incorrect result.</a:t>
            </a:r>
          </a:p>
          <a:p>
            <a:pPr marL="990575" lvl="2" indent="-457189"/>
            <a:endParaRPr lang="en-US" sz="2667" dirty="0"/>
          </a:p>
          <a:p>
            <a:endParaRPr lang="en-US" sz="3733" dirty="0"/>
          </a:p>
          <a:p>
            <a:endParaRPr lang="en-US" sz="3733" dirty="0"/>
          </a:p>
        </p:txBody>
      </p:sp>
      <p:sp>
        <p:nvSpPr>
          <p:cNvPr id="4" name="Oval 3"/>
          <p:cNvSpPr/>
          <p:nvPr/>
        </p:nvSpPr>
        <p:spPr>
          <a:xfrm>
            <a:off x="5235644" y="2361930"/>
            <a:ext cx="2235200" cy="116812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Correct Parse Tree</a:t>
            </a:r>
          </a:p>
        </p:txBody>
      </p:sp>
      <p:cxnSp>
        <p:nvCxnSpPr>
          <p:cNvPr id="6" name="Straight Arrow Connector 5"/>
          <p:cNvCxnSpPr>
            <a:stCxn id="4" idx="6"/>
          </p:cNvCxnSpPr>
          <p:nvPr/>
        </p:nvCxnSpPr>
        <p:spPr>
          <a:xfrm>
            <a:off x="7470844" y="2945995"/>
            <a:ext cx="1422400" cy="1211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182045" y="4241800"/>
            <a:ext cx="2995932" cy="2064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Oval 8"/>
          <p:cNvSpPr/>
          <p:nvPr/>
        </p:nvSpPr>
        <p:spPr>
          <a:xfrm>
            <a:off x="4876800" y="4953001"/>
            <a:ext cx="2235200" cy="116812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t>Incorrect Parse Tree</a:t>
            </a:r>
          </a:p>
        </p:txBody>
      </p:sp>
      <p:cxnSp>
        <p:nvCxnSpPr>
          <p:cNvPr id="10" name="Straight Arrow Connector 9"/>
          <p:cNvCxnSpPr>
            <a:stCxn id="9" idx="6"/>
          </p:cNvCxnSpPr>
          <p:nvPr/>
        </p:nvCxnSpPr>
        <p:spPr>
          <a:xfrm>
            <a:off x="7112000" y="5537066"/>
            <a:ext cx="1422400" cy="1211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023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B987-F546-9F61-44E8-A5C5656B7CF2}"/>
              </a:ext>
            </a:extLst>
          </p:cNvPr>
          <p:cNvSpPr>
            <a:spLocks noGrp="1"/>
          </p:cNvSpPr>
          <p:nvPr>
            <p:ph type="title"/>
          </p:nvPr>
        </p:nvSpPr>
        <p:spPr/>
        <p:txBody>
          <a:bodyPr/>
          <a:lstStyle/>
          <a:p>
            <a:r>
              <a:rPr lang="en-US" dirty="0"/>
              <a:t>E-&gt;E+E | E x E | Id   5+3 x 4 +3</a:t>
            </a:r>
            <a:endParaRPr lang="en-PK" dirty="0"/>
          </a:p>
        </p:txBody>
      </p:sp>
      <p:sp>
        <p:nvSpPr>
          <p:cNvPr id="3" name="Content Placeholder 2">
            <a:extLst>
              <a:ext uri="{FF2B5EF4-FFF2-40B4-BE49-F238E27FC236}">
                <a16:creationId xmlns:a16="http://schemas.microsoft.com/office/drawing/2014/main" id="{E7344CCB-7D3E-3474-3C43-2CC274C1B3EE}"/>
              </a:ext>
            </a:extLst>
          </p:cNvPr>
          <p:cNvSpPr>
            <a:spLocks noGrp="1"/>
          </p:cNvSpPr>
          <p:nvPr>
            <p:ph idx="1"/>
          </p:nvPr>
        </p:nvSpPr>
        <p:spPr/>
        <p:txBody>
          <a:bodyPr/>
          <a:lstStyle/>
          <a:p>
            <a:r>
              <a:rPr lang="en-US" dirty="0"/>
              <a:t>E-&gt;E+T |T</a:t>
            </a:r>
          </a:p>
          <a:p>
            <a:r>
              <a:rPr lang="en-US" dirty="0"/>
              <a:t>T-&gt;</a:t>
            </a:r>
            <a:r>
              <a:rPr lang="en-US" dirty="0" err="1"/>
              <a:t>TxF</a:t>
            </a:r>
            <a:r>
              <a:rPr lang="en-US" dirty="0"/>
              <a:t> |F</a:t>
            </a:r>
          </a:p>
          <a:p>
            <a:r>
              <a:rPr lang="en-US" dirty="0"/>
              <a:t>F-&gt;Id</a:t>
            </a:r>
          </a:p>
          <a:p>
            <a:pPr marL="0" indent="0">
              <a:buNone/>
            </a:pPr>
            <a:endParaRPr lang="en-US" dirty="0"/>
          </a:p>
        </p:txBody>
      </p:sp>
    </p:spTree>
    <p:extLst>
      <p:ext uri="{BB962C8B-B14F-4D97-AF65-F5344CB8AC3E}">
        <p14:creationId xmlns:p14="http://schemas.microsoft.com/office/powerpoint/2010/main" val="2339372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solutions in CFGs</a:t>
            </a:r>
          </a:p>
        </p:txBody>
      </p:sp>
      <p:sp>
        <p:nvSpPr>
          <p:cNvPr id="3" name="Content Placeholder 2"/>
          <p:cNvSpPr>
            <a:spLocks noGrp="1"/>
          </p:cNvSpPr>
          <p:nvPr>
            <p:ph idx="1"/>
          </p:nvPr>
        </p:nvSpPr>
        <p:spPr/>
        <p:txBody>
          <a:bodyPr>
            <a:normAutofit fontScale="92500" lnSpcReduction="20000"/>
          </a:bodyPr>
          <a:lstStyle/>
          <a:p>
            <a:r>
              <a:rPr lang="en-US" sz="3733" dirty="0"/>
              <a:t>Precedence issue can be resolved by  restricting the grammar. Let restring the first rule </a:t>
            </a:r>
            <a:r>
              <a:rPr lang="en-US" sz="3733" b="1" dirty="0"/>
              <a:t>1</a:t>
            </a:r>
            <a:r>
              <a:rPr lang="en-US" sz="3733" dirty="0"/>
              <a:t>. </a:t>
            </a:r>
            <a:r>
              <a:rPr lang="en-US" sz="3733" b="1" dirty="0"/>
              <a:t>E-&gt;E+E.</a:t>
            </a:r>
          </a:p>
          <a:p>
            <a:r>
              <a:rPr lang="en-US" sz="3733" b="1" dirty="0"/>
              <a:t>1. E-&gt;E+E </a:t>
            </a:r>
            <a:r>
              <a:rPr lang="en-US" sz="3733" dirty="0"/>
              <a:t>as we know that + is left associative and has less precedence than x.so + should expand first. </a:t>
            </a:r>
          </a:p>
          <a:p>
            <a:r>
              <a:rPr lang="en-US" sz="3733" dirty="0"/>
              <a:t>To restrict it to left associative we to stop it grow from right, we will update the rule to1.  </a:t>
            </a:r>
            <a:r>
              <a:rPr lang="en-US" sz="3733" b="1" dirty="0"/>
              <a:t>E-&gt;E+T.</a:t>
            </a:r>
          </a:p>
          <a:p>
            <a:r>
              <a:rPr lang="en-US" sz="3733" dirty="0"/>
              <a:t>The 2</a:t>
            </a:r>
            <a:r>
              <a:rPr lang="en-US" sz="3733" baseline="30000" dirty="0"/>
              <a:t>nd</a:t>
            </a:r>
            <a:r>
              <a:rPr lang="en-US" sz="3733" dirty="0"/>
              <a:t> rule will be rewritten as </a:t>
            </a:r>
            <a:r>
              <a:rPr lang="en-US" sz="3733" b="1" dirty="0"/>
              <a:t>T-&gt;</a:t>
            </a:r>
            <a:r>
              <a:rPr lang="en-US" sz="3733" b="1" dirty="0" err="1"/>
              <a:t>TxT</a:t>
            </a:r>
            <a:r>
              <a:rPr lang="en-US" sz="3733" b="1" dirty="0"/>
              <a:t> </a:t>
            </a:r>
            <a:r>
              <a:rPr lang="en-US" sz="3733" dirty="0"/>
              <a:t>but x is also left, so make it left recursive, update it to </a:t>
            </a:r>
            <a:r>
              <a:rPr lang="en-US" sz="3733" b="1" dirty="0"/>
              <a:t>2. T-&gt;</a:t>
            </a:r>
            <a:r>
              <a:rPr lang="en-US" sz="3733" b="1" dirty="0" err="1"/>
              <a:t>TxF</a:t>
            </a:r>
            <a:r>
              <a:rPr lang="en-US" sz="3733" b="1" dirty="0"/>
              <a:t>.</a:t>
            </a:r>
          </a:p>
          <a:p>
            <a:r>
              <a:rPr lang="en-US" sz="3733" b="1" dirty="0"/>
              <a:t>E-&gt;E+T , T-&gt;</a:t>
            </a:r>
            <a:r>
              <a:rPr lang="en-US" sz="3733" b="1" dirty="0" err="1"/>
              <a:t>TxF</a:t>
            </a:r>
            <a:endParaRPr lang="en-US" sz="3733" b="1" dirty="0"/>
          </a:p>
        </p:txBody>
      </p:sp>
    </p:spTree>
    <p:extLst>
      <p:ext uri="{BB962C8B-B14F-4D97-AF65-F5344CB8AC3E}">
        <p14:creationId xmlns:p14="http://schemas.microsoft.com/office/powerpoint/2010/main" val="1637025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solutions in CFGs</a:t>
            </a:r>
          </a:p>
        </p:txBody>
      </p:sp>
      <p:sp>
        <p:nvSpPr>
          <p:cNvPr id="3" name="Content Placeholder 2"/>
          <p:cNvSpPr>
            <a:spLocks noGrp="1"/>
          </p:cNvSpPr>
          <p:nvPr>
            <p:ph idx="1"/>
          </p:nvPr>
        </p:nvSpPr>
        <p:spPr/>
        <p:txBody>
          <a:bodyPr/>
          <a:lstStyle/>
          <a:p>
            <a:pPr marL="457189" lvl="2" indent="-457189"/>
            <a:r>
              <a:rPr lang="en-US" dirty="0"/>
              <a:t>Remember from the Grammar </a:t>
            </a:r>
            <a:r>
              <a:rPr lang="en-US" sz="2667" b="1" dirty="0"/>
              <a:t>E-&gt;E+E | </a:t>
            </a:r>
            <a:r>
              <a:rPr lang="en-US" sz="2667" b="1" dirty="0" err="1"/>
              <a:t>ExE</a:t>
            </a:r>
            <a:r>
              <a:rPr lang="en-US" sz="2667" b="1" dirty="0"/>
              <a:t> | id </a:t>
            </a:r>
            <a:r>
              <a:rPr lang="en-US" sz="2667" dirty="0"/>
              <a:t>E is also directly giving </a:t>
            </a:r>
            <a:r>
              <a:rPr lang="en-US" sz="2667" b="1" dirty="0"/>
              <a:t>id</a:t>
            </a:r>
            <a:r>
              <a:rPr lang="en-US" sz="2667" dirty="0"/>
              <a:t>, so will update our first rule to </a:t>
            </a:r>
            <a:r>
              <a:rPr lang="en-US" sz="2667" b="1" dirty="0"/>
              <a:t>1</a:t>
            </a:r>
            <a:r>
              <a:rPr lang="en-US" sz="2667" dirty="0"/>
              <a:t>. </a:t>
            </a:r>
            <a:r>
              <a:rPr lang="en-US" sz="2667" b="1" dirty="0"/>
              <a:t>E-&gt;E+T | T.</a:t>
            </a:r>
          </a:p>
          <a:p>
            <a:pPr marL="457189" lvl="2" indent="-457189"/>
            <a:r>
              <a:rPr lang="en-US" sz="2667" dirty="0"/>
              <a:t>Third rule will be </a:t>
            </a:r>
            <a:r>
              <a:rPr lang="en-US" sz="2667" b="1" dirty="0"/>
              <a:t>F-&gt;id</a:t>
            </a:r>
          </a:p>
          <a:p>
            <a:pPr marL="457189" lvl="2" indent="-457189"/>
            <a:r>
              <a:rPr lang="en-US" sz="2667" dirty="0"/>
              <a:t>we should be able write </a:t>
            </a:r>
            <a:r>
              <a:rPr lang="en-US" sz="2667" b="1" dirty="0"/>
              <a:t>id</a:t>
            </a:r>
            <a:r>
              <a:rPr lang="en-US" sz="2667" dirty="0"/>
              <a:t> directly from </a:t>
            </a:r>
            <a:r>
              <a:rPr lang="en-US" sz="2667" b="1" dirty="0"/>
              <a:t>E</a:t>
            </a:r>
            <a:r>
              <a:rPr lang="en-US" sz="2667" dirty="0"/>
              <a:t>, so will update rule 2 </a:t>
            </a:r>
            <a:br>
              <a:rPr lang="en-US" sz="2667" dirty="0"/>
            </a:br>
            <a:r>
              <a:rPr lang="en-US" sz="2667" b="1" dirty="0"/>
              <a:t>2</a:t>
            </a:r>
            <a:r>
              <a:rPr lang="en-US" sz="2667" dirty="0"/>
              <a:t>. </a:t>
            </a:r>
            <a:r>
              <a:rPr lang="en-US" sz="2667" b="1" dirty="0"/>
              <a:t>T-&gt;</a:t>
            </a:r>
            <a:r>
              <a:rPr lang="en-US" sz="2667" b="1" dirty="0" err="1"/>
              <a:t>TxF</a:t>
            </a:r>
            <a:r>
              <a:rPr lang="en-US" sz="2667" b="1" dirty="0"/>
              <a:t> | F</a:t>
            </a:r>
          </a:p>
          <a:p>
            <a:pPr marL="457189" lvl="2" indent="-457189"/>
            <a:r>
              <a:rPr lang="en-US" sz="2667" dirty="0"/>
              <a:t>so our final all production rules are </a:t>
            </a:r>
          </a:p>
          <a:p>
            <a:pPr marL="1066773" lvl="3" indent="-457189">
              <a:buFont typeface="+mj-lt"/>
              <a:buAutoNum type="arabicPeriod"/>
            </a:pPr>
            <a:r>
              <a:rPr lang="en-US" sz="2133" b="1" dirty="0"/>
              <a:t>E-&gt;E+T | T</a:t>
            </a:r>
          </a:p>
          <a:p>
            <a:pPr marL="1066773" lvl="3" indent="-457189">
              <a:buFont typeface="+mj-lt"/>
              <a:buAutoNum type="arabicPeriod"/>
            </a:pPr>
            <a:r>
              <a:rPr lang="en-US" sz="2133" b="1" dirty="0"/>
              <a:t>T=</a:t>
            </a:r>
            <a:r>
              <a:rPr lang="en-US" sz="2133" b="1" dirty="0" err="1"/>
              <a:t>TxF</a:t>
            </a:r>
            <a:r>
              <a:rPr lang="en-US" sz="2133" b="1" dirty="0"/>
              <a:t> | F</a:t>
            </a:r>
          </a:p>
          <a:p>
            <a:pPr marL="1066773" lvl="3" indent="-457189">
              <a:buFont typeface="+mj-lt"/>
              <a:buAutoNum type="arabicPeriod"/>
            </a:pPr>
            <a:r>
              <a:rPr lang="en-US" sz="2133" b="1" dirty="0"/>
              <a:t>F-&gt; id</a:t>
            </a:r>
          </a:p>
          <a:p>
            <a:pPr marL="457189" lvl="2" indent="-457189"/>
            <a:endParaRPr lang="en-US" sz="2667" dirty="0"/>
          </a:p>
          <a:p>
            <a:endParaRPr lang="en-US" dirty="0"/>
          </a:p>
        </p:txBody>
      </p:sp>
    </p:spTree>
    <p:extLst>
      <p:ext uri="{BB962C8B-B14F-4D97-AF65-F5344CB8AC3E}">
        <p14:creationId xmlns:p14="http://schemas.microsoft.com/office/powerpoint/2010/main" val="39393977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Precedence solutions in CFGs</a:t>
            </a:r>
          </a:p>
        </p:txBody>
      </p:sp>
      <p:sp>
        <p:nvSpPr>
          <p:cNvPr id="3" name="Content Placeholder 2"/>
          <p:cNvSpPr>
            <a:spLocks noGrp="1"/>
          </p:cNvSpPr>
          <p:nvPr>
            <p:ph idx="1"/>
          </p:nvPr>
        </p:nvSpPr>
        <p:spPr/>
        <p:txBody>
          <a:bodyPr/>
          <a:lstStyle/>
          <a:p>
            <a:r>
              <a:rPr lang="en-US" dirty="0"/>
              <a:t>Lets drive the string </a:t>
            </a:r>
            <a:r>
              <a:rPr lang="en-US" dirty="0" err="1"/>
              <a:t>id+idxid</a:t>
            </a:r>
            <a:r>
              <a:rPr lang="en-US" dirty="0"/>
              <a:t>  or </a:t>
            </a:r>
            <a:r>
              <a:rPr lang="en-US" dirty="0" err="1"/>
              <a:t>n+n</a:t>
            </a:r>
            <a:r>
              <a:rPr lang="en-US" dirty="0"/>
              <a:t> x n using the rules</a:t>
            </a:r>
          </a:p>
          <a:p>
            <a:pPr marL="1066773" lvl="3" indent="-457189">
              <a:buFont typeface="+mj-lt"/>
              <a:buAutoNum type="arabicPeriod"/>
            </a:pPr>
            <a:r>
              <a:rPr lang="en-US" sz="2133" b="1" dirty="0"/>
              <a:t>E-&gt;E+T | T</a:t>
            </a:r>
          </a:p>
          <a:p>
            <a:pPr marL="1066773" lvl="3" indent="-457189">
              <a:buFont typeface="+mj-lt"/>
              <a:buAutoNum type="arabicPeriod"/>
            </a:pPr>
            <a:r>
              <a:rPr lang="en-US" sz="2133" b="1" dirty="0"/>
              <a:t>T=</a:t>
            </a:r>
            <a:r>
              <a:rPr lang="en-US" sz="2133" b="1" dirty="0" err="1"/>
              <a:t>TxF</a:t>
            </a:r>
            <a:r>
              <a:rPr lang="en-US" sz="2133" b="1" dirty="0"/>
              <a:t> | F</a:t>
            </a:r>
          </a:p>
          <a:p>
            <a:pPr marL="1066773" lvl="3" indent="-457189">
              <a:buFont typeface="+mj-lt"/>
              <a:buAutoNum type="arabicPeriod"/>
            </a:pPr>
            <a:r>
              <a:rPr lang="en-US" sz="2133" b="1" dirty="0"/>
              <a:t>F-&gt; id</a:t>
            </a:r>
          </a:p>
          <a:p>
            <a:pPr marL="1066773" lvl="3" indent="-457189">
              <a:buFont typeface="+mj-lt"/>
              <a:buAutoNum type="arabicPeriod"/>
            </a:pPr>
            <a:endParaRPr lang="en-US" sz="2133" b="1" dirty="0"/>
          </a:p>
          <a:p>
            <a:endParaRPr lang="en-US" dirty="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2616201"/>
            <a:ext cx="2641600" cy="3290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6224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Parsing</a:t>
            </a:r>
          </a:p>
        </p:txBody>
      </p:sp>
      <p:sp>
        <p:nvSpPr>
          <p:cNvPr id="3" name="Content Placeholder 2"/>
          <p:cNvSpPr>
            <a:spLocks noGrp="1"/>
          </p:cNvSpPr>
          <p:nvPr>
            <p:ph idx="1"/>
          </p:nvPr>
        </p:nvSpPr>
        <p:spPr/>
        <p:txBody>
          <a:bodyPr>
            <a:normAutofit/>
          </a:bodyPr>
          <a:lstStyle/>
          <a:p>
            <a:r>
              <a:rPr lang="en-US" dirty="0"/>
              <a:t>Parsing is the process of determining how a string of terminals can b e generated by a grammar. </a:t>
            </a:r>
          </a:p>
          <a:p>
            <a:r>
              <a:rPr lang="en-US" dirty="0"/>
              <a:t>In discussing this problem, it is helpful to think of a parse tree being constructed, even though a compiler may not construct one, in practice.</a:t>
            </a:r>
          </a:p>
          <a:p>
            <a:r>
              <a:rPr lang="en-US" dirty="0"/>
              <a:t>However, a parser must b e capable of constructing the tree in principle, or else the translation cannot b e guaranteed correct</a:t>
            </a:r>
          </a:p>
        </p:txBody>
      </p:sp>
    </p:spTree>
    <p:extLst>
      <p:ext uri="{BB962C8B-B14F-4D97-AF65-F5344CB8AC3E}">
        <p14:creationId xmlns:p14="http://schemas.microsoft.com/office/powerpoint/2010/main" val="205506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6F3FA-1314-12DD-E3EF-14CB81A1E4C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18A515E-3A70-7420-A99A-01185C637E9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F11EE141-F691-4434-004B-A37368BAB15E}"/>
              </a:ext>
            </a:extLst>
          </p:cNvPr>
          <p:cNvPicPr>
            <a:picLocks noChangeAspect="1"/>
          </p:cNvPicPr>
          <p:nvPr/>
        </p:nvPicPr>
        <p:blipFill>
          <a:blip r:embed="rId2"/>
          <a:stretch>
            <a:fillRect/>
          </a:stretch>
        </p:blipFill>
        <p:spPr>
          <a:xfrm>
            <a:off x="847068" y="681037"/>
            <a:ext cx="10524468" cy="5415915"/>
          </a:xfrm>
          <a:prstGeom prst="rect">
            <a:avLst/>
          </a:prstGeom>
        </p:spPr>
      </p:pic>
    </p:spTree>
    <p:extLst>
      <p:ext uri="{BB962C8B-B14F-4D97-AF65-F5344CB8AC3E}">
        <p14:creationId xmlns:p14="http://schemas.microsoft.com/office/powerpoint/2010/main" val="3585900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4F5AF-0FB9-5DF9-0C0B-6BEAC27F0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1DE1A-859E-F5E3-75F2-BEC3548D9353}"/>
              </a:ext>
            </a:extLst>
          </p:cNvPr>
          <p:cNvSpPr>
            <a:spLocks noGrp="1"/>
          </p:cNvSpPr>
          <p:nvPr>
            <p:ph type="title"/>
          </p:nvPr>
        </p:nvSpPr>
        <p:spPr/>
        <p:txBody>
          <a:bodyPr/>
          <a:lstStyle/>
          <a:p>
            <a:endParaRPr lang="en-US" b="1" dirty="0"/>
          </a:p>
        </p:txBody>
      </p:sp>
      <p:sp>
        <p:nvSpPr>
          <p:cNvPr id="3" name="Content Placeholder 2">
            <a:extLst>
              <a:ext uri="{FF2B5EF4-FFF2-40B4-BE49-F238E27FC236}">
                <a16:creationId xmlns:a16="http://schemas.microsoft.com/office/drawing/2014/main" id="{366035C8-CB01-4BF0-3D8F-AADC6D57A01A}"/>
              </a:ext>
            </a:extLst>
          </p:cNvPr>
          <p:cNvSpPr>
            <a:spLocks noGrp="1"/>
          </p:cNvSpPr>
          <p:nvPr>
            <p:ph idx="1"/>
          </p:nvPr>
        </p:nvSpPr>
        <p:spPr/>
        <p:txBody>
          <a:bodyPr>
            <a:normAutofit/>
          </a:bodyPr>
          <a:lstStyle/>
          <a:p>
            <a:r>
              <a:rPr lang="en-US" dirty="0"/>
              <a:t>&lt;</a:t>
            </a:r>
            <a:r>
              <a:rPr lang="en-US" dirty="0" err="1"/>
              <a:t>stmnt</a:t>
            </a:r>
            <a:r>
              <a:rPr lang="en-US" dirty="0"/>
              <a:t>&gt;-&gt; &lt;</a:t>
            </a:r>
            <a:r>
              <a:rPr lang="en-US" dirty="0" err="1"/>
              <a:t>if_stmt</a:t>
            </a:r>
            <a:r>
              <a:rPr lang="en-US" dirty="0"/>
              <a:t>&gt; | </a:t>
            </a:r>
          </a:p>
          <a:p>
            <a:r>
              <a:rPr lang="en-US" dirty="0"/>
              <a:t>&lt;</a:t>
            </a:r>
            <a:r>
              <a:rPr lang="en-US" dirty="0" err="1"/>
              <a:t>if_stmt</a:t>
            </a:r>
            <a:r>
              <a:rPr lang="en-US" dirty="0"/>
              <a:t>&gt;-&gt;if(&lt;condition&gt;)</a:t>
            </a:r>
            <a:r>
              <a:rPr lang="en-US" dirty="0" err="1"/>
              <a:t>stmnt</a:t>
            </a:r>
            <a:endParaRPr lang="en-US" dirty="0"/>
          </a:p>
          <a:p>
            <a:endParaRPr lang="en-US" dirty="0"/>
          </a:p>
        </p:txBody>
      </p:sp>
      <p:pic>
        <p:nvPicPr>
          <p:cNvPr id="5" name="Picture 4">
            <a:extLst>
              <a:ext uri="{FF2B5EF4-FFF2-40B4-BE49-F238E27FC236}">
                <a16:creationId xmlns:a16="http://schemas.microsoft.com/office/drawing/2014/main" id="{E11FFE0E-8C58-20F7-49D8-CA8681CB5485}"/>
              </a:ext>
            </a:extLst>
          </p:cNvPr>
          <p:cNvPicPr>
            <a:picLocks noChangeAspect="1"/>
          </p:cNvPicPr>
          <p:nvPr/>
        </p:nvPicPr>
        <p:blipFill>
          <a:blip r:embed="rId2"/>
          <a:stretch>
            <a:fillRect/>
          </a:stretch>
        </p:blipFill>
        <p:spPr>
          <a:xfrm>
            <a:off x="1190644" y="365125"/>
            <a:ext cx="8487559" cy="6193120"/>
          </a:xfrm>
          <a:prstGeom prst="rect">
            <a:avLst/>
          </a:prstGeom>
        </p:spPr>
      </p:pic>
    </p:spTree>
    <p:extLst>
      <p:ext uri="{BB962C8B-B14F-4D97-AF65-F5344CB8AC3E}">
        <p14:creationId xmlns:p14="http://schemas.microsoft.com/office/powerpoint/2010/main" val="599266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1056-6AE0-3901-B800-E1971AFFBE3B}"/>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A1D048E-2A25-B5CD-DCEB-C9BAEC28728A}"/>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B75A2588-4422-62C3-7D7F-513D504509C0}"/>
              </a:ext>
            </a:extLst>
          </p:cNvPr>
          <p:cNvPicPr>
            <a:picLocks noChangeAspect="1"/>
          </p:cNvPicPr>
          <p:nvPr/>
        </p:nvPicPr>
        <p:blipFill>
          <a:blip r:embed="rId2"/>
          <a:stretch>
            <a:fillRect/>
          </a:stretch>
        </p:blipFill>
        <p:spPr>
          <a:xfrm>
            <a:off x="1413360" y="365125"/>
            <a:ext cx="8157360" cy="5660390"/>
          </a:xfrm>
          <a:prstGeom prst="rect">
            <a:avLst/>
          </a:prstGeom>
        </p:spPr>
      </p:pic>
    </p:spTree>
    <p:extLst>
      <p:ext uri="{BB962C8B-B14F-4D97-AF65-F5344CB8AC3E}">
        <p14:creationId xmlns:p14="http://schemas.microsoft.com/office/powerpoint/2010/main" val="24469855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76A30-94F8-11FC-CEE5-F58A64A7DFB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EE1263E-35F5-F4C1-333D-EADA0C01EA2A}"/>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58E4F87-2528-60C3-F77F-E636FD19BBB5}"/>
              </a:ext>
            </a:extLst>
          </p:cNvPr>
          <p:cNvPicPr>
            <a:picLocks noChangeAspect="1"/>
          </p:cNvPicPr>
          <p:nvPr/>
        </p:nvPicPr>
        <p:blipFill>
          <a:blip r:embed="rId2"/>
          <a:stretch>
            <a:fillRect/>
          </a:stretch>
        </p:blipFill>
        <p:spPr>
          <a:xfrm>
            <a:off x="1446196" y="0"/>
            <a:ext cx="8681720" cy="5961007"/>
          </a:xfrm>
          <a:prstGeom prst="rect">
            <a:avLst/>
          </a:prstGeom>
        </p:spPr>
      </p:pic>
    </p:spTree>
    <p:extLst>
      <p:ext uri="{BB962C8B-B14F-4D97-AF65-F5344CB8AC3E}">
        <p14:creationId xmlns:p14="http://schemas.microsoft.com/office/powerpoint/2010/main" val="1277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26DA-E48D-08EB-0F98-7175961A6AC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2A6312D-4162-E50A-C924-319E715058B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839FE534-1CEA-42A1-F7D0-9F45DFA22CAE}"/>
              </a:ext>
            </a:extLst>
          </p:cNvPr>
          <p:cNvPicPr>
            <a:picLocks noChangeAspect="1"/>
          </p:cNvPicPr>
          <p:nvPr/>
        </p:nvPicPr>
        <p:blipFill>
          <a:blip r:embed="rId2"/>
          <a:stretch>
            <a:fillRect/>
          </a:stretch>
        </p:blipFill>
        <p:spPr>
          <a:xfrm>
            <a:off x="697564" y="219024"/>
            <a:ext cx="10389930" cy="5746199"/>
          </a:xfrm>
          <a:prstGeom prst="rect">
            <a:avLst/>
          </a:prstGeom>
        </p:spPr>
      </p:pic>
    </p:spTree>
    <p:extLst>
      <p:ext uri="{BB962C8B-B14F-4D97-AF65-F5344CB8AC3E}">
        <p14:creationId xmlns:p14="http://schemas.microsoft.com/office/powerpoint/2010/main" val="39516066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BF316-4679-9B10-09AD-EBAAFB987A2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6357EC6-A11C-94AF-B795-C1D08B17505D}"/>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A2783639-555E-4030-A2BA-9542B1E99138}"/>
              </a:ext>
            </a:extLst>
          </p:cNvPr>
          <p:cNvPicPr>
            <a:picLocks noChangeAspect="1"/>
          </p:cNvPicPr>
          <p:nvPr/>
        </p:nvPicPr>
        <p:blipFill>
          <a:blip r:embed="rId2"/>
          <a:stretch>
            <a:fillRect/>
          </a:stretch>
        </p:blipFill>
        <p:spPr>
          <a:xfrm>
            <a:off x="1597660" y="365125"/>
            <a:ext cx="8996680" cy="5961774"/>
          </a:xfrm>
          <a:prstGeom prst="rect">
            <a:avLst/>
          </a:prstGeom>
        </p:spPr>
      </p:pic>
    </p:spTree>
    <p:extLst>
      <p:ext uri="{BB962C8B-B14F-4D97-AF65-F5344CB8AC3E}">
        <p14:creationId xmlns:p14="http://schemas.microsoft.com/office/powerpoint/2010/main" val="8955581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B63F-C8C4-E353-AA0E-4C8B122C34C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2992F80-455C-2923-4A25-F0D379AF4CC9}"/>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C25AF865-C906-FA3E-7D3D-4987749331B3}"/>
              </a:ext>
            </a:extLst>
          </p:cNvPr>
          <p:cNvPicPr>
            <a:picLocks noChangeAspect="1"/>
          </p:cNvPicPr>
          <p:nvPr/>
        </p:nvPicPr>
        <p:blipFill>
          <a:blip r:embed="rId2"/>
          <a:stretch>
            <a:fillRect/>
          </a:stretch>
        </p:blipFill>
        <p:spPr>
          <a:xfrm>
            <a:off x="838200" y="464502"/>
            <a:ext cx="10483792" cy="5928995"/>
          </a:xfrm>
          <a:prstGeom prst="rect">
            <a:avLst/>
          </a:prstGeom>
        </p:spPr>
      </p:pic>
    </p:spTree>
    <p:extLst>
      <p:ext uri="{BB962C8B-B14F-4D97-AF65-F5344CB8AC3E}">
        <p14:creationId xmlns:p14="http://schemas.microsoft.com/office/powerpoint/2010/main" val="392422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6C0D5-BFB4-9A23-1FE9-867C421BC812}"/>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FB92ECE-13E0-73A7-1766-D747921BB748}"/>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B624E5C-C9AD-3A91-0D5B-0239A824C8DF}"/>
              </a:ext>
            </a:extLst>
          </p:cNvPr>
          <p:cNvPicPr>
            <a:picLocks noChangeAspect="1"/>
          </p:cNvPicPr>
          <p:nvPr/>
        </p:nvPicPr>
        <p:blipFill>
          <a:blip r:embed="rId2"/>
          <a:stretch>
            <a:fillRect/>
          </a:stretch>
        </p:blipFill>
        <p:spPr>
          <a:xfrm>
            <a:off x="693821" y="0"/>
            <a:ext cx="10517175" cy="5700395"/>
          </a:xfrm>
          <a:prstGeom prst="rect">
            <a:avLst/>
          </a:prstGeom>
        </p:spPr>
      </p:pic>
    </p:spTree>
    <p:extLst>
      <p:ext uri="{BB962C8B-B14F-4D97-AF65-F5344CB8AC3E}">
        <p14:creationId xmlns:p14="http://schemas.microsoft.com/office/powerpoint/2010/main" val="37396008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FB97D-87D1-1A6E-BB9B-EE007C0C5BD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C02FB7B-6AE8-5B78-C939-3AACFBA54831}"/>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FDF5487A-0551-8BD5-024B-071D5C7B45F8}"/>
              </a:ext>
            </a:extLst>
          </p:cNvPr>
          <p:cNvPicPr>
            <a:picLocks noChangeAspect="1"/>
          </p:cNvPicPr>
          <p:nvPr/>
        </p:nvPicPr>
        <p:blipFill>
          <a:blip r:embed="rId2"/>
          <a:stretch>
            <a:fillRect/>
          </a:stretch>
        </p:blipFill>
        <p:spPr>
          <a:xfrm>
            <a:off x="1264920" y="365125"/>
            <a:ext cx="9197607" cy="6015355"/>
          </a:xfrm>
          <a:prstGeom prst="rect">
            <a:avLst/>
          </a:prstGeom>
        </p:spPr>
      </p:pic>
    </p:spTree>
    <p:extLst>
      <p:ext uri="{BB962C8B-B14F-4D97-AF65-F5344CB8AC3E}">
        <p14:creationId xmlns:p14="http://schemas.microsoft.com/office/powerpoint/2010/main" val="2772546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FAA9A-DB0E-C55D-8578-FEABF3117C7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0807E1D-BAF5-2A96-DC35-C6EDC05460AF}"/>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BD6FAB8-7C04-E73D-E34A-5CF8D4D7750A}"/>
              </a:ext>
            </a:extLst>
          </p:cNvPr>
          <p:cNvPicPr>
            <a:picLocks noChangeAspect="1"/>
          </p:cNvPicPr>
          <p:nvPr/>
        </p:nvPicPr>
        <p:blipFill>
          <a:blip r:embed="rId2"/>
          <a:stretch>
            <a:fillRect/>
          </a:stretch>
        </p:blipFill>
        <p:spPr>
          <a:xfrm>
            <a:off x="838200" y="138977"/>
            <a:ext cx="10515600" cy="6225884"/>
          </a:xfrm>
          <a:prstGeom prst="rect">
            <a:avLst/>
          </a:prstGeom>
        </p:spPr>
      </p:pic>
    </p:spTree>
    <p:extLst>
      <p:ext uri="{BB962C8B-B14F-4D97-AF65-F5344CB8AC3E}">
        <p14:creationId xmlns:p14="http://schemas.microsoft.com/office/powerpoint/2010/main" val="7767001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0AE30-873B-8CA4-699C-291A1E17CFB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9DA9D80-E8E9-D811-3870-BCE87C0BAABF}"/>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7C152582-B609-7753-4C96-4C41CA4BF64C}"/>
              </a:ext>
            </a:extLst>
          </p:cNvPr>
          <p:cNvPicPr>
            <a:picLocks noChangeAspect="1"/>
          </p:cNvPicPr>
          <p:nvPr/>
        </p:nvPicPr>
        <p:blipFill>
          <a:blip r:embed="rId2"/>
          <a:stretch>
            <a:fillRect/>
          </a:stretch>
        </p:blipFill>
        <p:spPr>
          <a:xfrm>
            <a:off x="1392405" y="224888"/>
            <a:ext cx="9031755" cy="5952075"/>
          </a:xfrm>
          <a:prstGeom prst="rect">
            <a:avLst/>
          </a:prstGeom>
        </p:spPr>
      </p:pic>
    </p:spTree>
    <p:extLst>
      <p:ext uri="{BB962C8B-B14F-4D97-AF65-F5344CB8AC3E}">
        <p14:creationId xmlns:p14="http://schemas.microsoft.com/office/powerpoint/2010/main" val="29983113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2723-4485-A949-8633-EA7E3C0B208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AD30203F-D03D-A797-ED3C-7CE9CA568847}"/>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FDCB7203-FFC1-65CF-A8B8-F8049DC5AB36}"/>
              </a:ext>
            </a:extLst>
          </p:cNvPr>
          <p:cNvPicPr>
            <a:picLocks noChangeAspect="1"/>
          </p:cNvPicPr>
          <p:nvPr/>
        </p:nvPicPr>
        <p:blipFill>
          <a:blip r:embed="rId2"/>
          <a:stretch>
            <a:fillRect/>
          </a:stretch>
        </p:blipFill>
        <p:spPr>
          <a:xfrm>
            <a:off x="838199" y="365125"/>
            <a:ext cx="10741941" cy="6228715"/>
          </a:xfrm>
          <a:prstGeom prst="rect">
            <a:avLst/>
          </a:prstGeom>
        </p:spPr>
      </p:pic>
    </p:spTree>
    <p:extLst>
      <p:ext uri="{BB962C8B-B14F-4D97-AF65-F5344CB8AC3E}">
        <p14:creationId xmlns:p14="http://schemas.microsoft.com/office/powerpoint/2010/main" val="26501296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39AB-A077-250E-40B6-C8ECCD96B170}"/>
              </a:ext>
            </a:extLst>
          </p:cNvPr>
          <p:cNvSpPr>
            <a:spLocks noGrp="1"/>
          </p:cNvSpPr>
          <p:nvPr>
            <p:ph type="title"/>
          </p:nvPr>
        </p:nvSpPr>
        <p:spPr/>
        <p:txBody>
          <a:bodyPr/>
          <a:lstStyle/>
          <a:p>
            <a:r>
              <a:rPr lang="en-US" dirty="0"/>
              <a:t>Examples: source code- Lexical- Syntax(CFG)</a:t>
            </a:r>
            <a:endParaRPr lang="en-PK" dirty="0"/>
          </a:p>
        </p:txBody>
      </p:sp>
      <p:sp>
        <p:nvSpPr>
          <p:cNvPr id="3" name="Content Placeholder 2">
            <a:extLst>
              <a:ext uri="{FF2B5EF4-FFF2-40B4-BE49-F238E27FC236}">
                <a16:creationId xmlns:a16="http://schemas.microsoft.com/office/drawing/2014/main" id="{1C7B2E05-2600-6811-1363-0EE11CBCF61B}"/>
              </a:ext>
            </a:extLst>
          </p:cNvPr>
          <p:cNvSpPr>
            <a:spLocks noGrp="1"/>
          </p:cNvSpPr>
          <p:nvPr>
            <p:ph idx="1"/>
          </p:nvPr>
        </p:nvSpPr>
        <p:spPr/>
        <p:txBody>
          <a:bodyPr>
            <a:normAutofit fontScale="85000" lnSpcReduction="20000"/>
          </a:bodyPr>
          <a:lstStyle/>
          <a:p>
            <a:pPr latinLnBrk="1"/>
            <a:r>
              <a:rPr lang="es-ES" dirty="0" err="1"/>
              <a:t>int</a:t>
            </a:r>
            <a:r>
              <a:rPr lang="es-ES" dirty="0"/>
              <a:t> x = 10;</a:t>
            </a:r>
          </a:p>
          <a:p>
            <a:pPr latinLnBrk="1"/>
            <a:r>
              <a:rPr lang="es-ES" dirty="0" err="1"/>
              <a:t>float</a:t>
            </a:r>
            <a:r>
              <a:rPr lang="es-ES" dirty="0"/>
              <a:t> y = 5.5;</a:t>
            </a:r>
          </a:p>
          <a:p>
            <a:pPr latinLnBrk="1"/>
            <a:r>
              <a:rPr lang="es-ES" dirty="0" err="1"/>
              <a:t>if</a:t>
            </a:r>
            <a:r>
              <a:rPr lang="es-ES" dirty="0"/>
              <a:t> (x &gt; y) {</a:t>
            </a:r>
          </a:p>
          <a:p>
            <a:pPr latinLnBrk="1"/>
            <a:r>
              <a:rPr lang="es-ES" dirty="0"/>
              <a:t>    </a:t>
            </a:r>
            <a:r>
              <a:rPr lang="es-ES" dirty="0" err="1"/>
              <a:t>print</a:t>
            </a:r>
            <a:r>
              <a:rPr lang="es-ES" dirty="0"/>
              <a:t>(x);</a:t>
            </a:r>
          </a:p>
          <a:p>
            <a:pPr latinLnBrk="1"/>
            <a:r>
              <a:rPr lang="es-ES" dirty="0"/>
              <a:t>} </a:t>
            </a:r>
            <a:r>
              <a:rPr lang="es-ES" dirty="0" err="1"/>
              <a:t>else</a:t>
            </a:r>
            <a:r>
              <a:rPr lang="es-ES" dirty="0"/>
              <a:t> {</a:t>
            </a:r>
          </a:p>
          <a:p>
            <a:pPr latinLnBrk="1"/>
            <a:r>
              <a:rPr lang="es-ES" dirty="0"/>
              <a:t>    y = y * 2;</a:t>
            </a:r>
          </a:p>
          <a:p>
            <a:pPr latinLnBrk="1"/>
            <a:r>
              <a:rPr lang="es-ES" dirty="0"/>
              <a:t>    </a:t>
            </a:r>
            <a:r>
              <a:rPr lang="es-ES" dirty="0" err="1"/>
              <a:t>print</a:t>
            </a:r>
            <a:r>
              <a:rPr lang="es-ES" dirty="0"/>
              <a:t>(y);</a:t>
            </a:r>
          </a:p>
          <a:p>
            <a:pPr latinLnBrk="1"/>
            <a:r>
              <a:rPr lang="es-ES" dirty="0"/>
              <a:t>}</a:t>
            </a:r>
          </a:p>
          <a:p>
            <a:pPr latinLnBrk="1"/>
            <a:r>
              <a:rPr lang="es-ES" dirty="0" err="1"/>
              <a:t>while</a:t>
            </a:r>
            <a:r>
              <a:rPr lang="es-ES" dirty="0"/>
              <a:t> (x &lt; 20) {</a:t>
            </a:r>
          </a:p>
          <a:p>
            <a:pPr latinLnBrk="1"/>
            <a:r>
              <a:rPr lang="es-ES" dirty="0"/>
              <a:t>    x = x + 1;</a:t>
            </a:r>
          </a:p>
          <a:p>
            <a:pPr latinLnBrk="1"/>
            <a:r>
              <a:rPr lang="es-ES" dirty="0"/>
              <a:t>}</a:t>
            </a:r>
          </a:p>
          <a:p>
            <a:endParaRPr lang="en-PK" dirty="0"/>
          </a:p>
        </p:txBody>
      </p:sp>
    </p:spTree>
    <p:extLst>
      <p:ext uri="{BB962C8B-B14F-4D97-AF65-F5344CB8AC3E}">
        <p14:creationId xmlns:p14="http://schemas.microsoft.com/office/powerpoint/2010/main" val="34887746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E1F73-16D7-3AD0-EC97-A10EC3291950}"/>
              </a:ext>
            </a:extLst>
          </p:cNvPr>
          <p:cNvSpPr>
            <a:spLocks noGrp="1"/>
          </p:cNvSpPr>
          <p:nvPr>
            <p:ph type="title"/>
          </p:nvPr>
        </p:nvSpPr>
        <p:spPr/>
        <p:txBody>
          <a:bodyPr/>
          <a:lstStyle/>
          <a:p>
            <a:r>
              <a:rPr lang="en-US" dirty="0"/>
              <a:t>Token Generation - 1</a:t>
            </a:r>
            <a:endParaRPr lang="en-PK" dirty="0"/>
          </a:p>
        </p:txBody>
      </p:sp>
      <p:graphicFrame>
        <p:nvGraphicFramePr>
          <p:cNvPr id="4" name="Content Placeholder 3">
            <a:extLst>
              <a:ext uri="{FF2B5EF4-FFF2-40B4-BE49-F238E27FC236}">
                <a16:creationId xmlns:a16="http://schemas.microsoft.com/office/drawing/2014/main" id="{1BF7FA54-D20E-3130-1AC7-541EBB81B49C}"/>
              </a:ext>
            </a:extLst>
          </p:cNvPr>
          <p:cNvGraphicFramePr>
            <a:graphicFrameLocks noGrp="1"/>
          </p:cNvGraphicFramePr>
          <p:nvPr>
            <p:ph idx="1"/>
            <p:extLst>
              <p:ext uri="{D42A27DB-BD31-4B8C-83A1-F6EECF244321}">
                <p14:modId xmlns:p14="http://schemas.microsoft.com/office/powerpoint/2010/main" val="499107341"/>
              </p:ext>
            </p:extLst>
          </p:nvPr>
        </p:nvGraphicFramePr>
        <p:xfrm>
          <a:off x="710995" y="1473621"/>
          <a:ext cx="3942489" cy="4852147"/>
        </p:xfrm>
        <a:graphic>
          <a:graphicData uri="http://schemas.openxmlformats.org/drawingml/2006/table">
            <a:tbl>
              <a:tblPr/>
              <a:tblGrid>
                <a:gridCol w="1314163">
                  <a:extLst>
                    <a:ext uri="{9D8B030D-6E8A-4147-A177-3AD203B41FA5}">
                      <a16:colId xmlns:a16="http://schemas.microsoft.com/office/drawing/2014/main" val="1441116290"/>
                    </a:ext>
                  </a:extLst>
                </a:gridCol>
                <a:gridCol w="1314163">
                  <a:extLst>
                    <a:ext uri="{9D8B030D-6E8A-4147-A177-3AD203B41FA5}">
                      <a16:colId xmlns:a16="http://schemas.microsoft.com/office/drawing/2014/main" val="2635482828"/>
                    </a:ext>
                  </a:extLst>
                </a:gridCol>
                <a:gridCol w="1314163">
                  <a:extLst>
                    <a:ext uri="{9D8B030D-6E8A-4147-A177-3AD203B41FA5}">
                      <a16:colId xmlns:a16="http://schemas.microsoft.com/office/drawing/2014/main" val="4026639933"/>
                    </a:ext>
                  </a:extLst>
                </a:gridCol>
              </a:tblGrid>
              <a:tr h="702505">
                <a:tc>
                  <a:txBody>
                    <a:bodyPr/>
                    <a:lstStyle/>
                    <a:p>
                      <a:pPr algn="l">
                        <a:lnSpc>
                          <a:spcPts val="1875"/>
                        </a:lnSpc>
                        <a:buNone/>
                      </a:pPr>
                      <a:r>
                        <a:rPr lang="en-US" sz="1500" b="0">
                          <a:effectLst/>
                          <a:latin typeface="quote-cjk-patch"/>
                        </a:rPr>
                        <a:t>Lexeme</a:t>
                      </a:r>
                    </a:p>
                  </a:txBody>
                  <a:tcPr marL="75493" marR="83881" marT="52426" marB="52426" anchor="ctr">
                    <a:lnL>
                      <a:noFill/>
                    </a:lnL>
                    <a:lnR>
                      <a:noFill/>
                    </a:lnR>
                    <a:lnT>
                      <a:noFill/>
                    </a:lnT>
                    <a:lnB>
                      <a:noFill/>
                    </a:lnB>
                    <a:solidFill>
                      <a:srgbClr val="FFFFFF"/>
                    </a:solidFill>
                  </a:tcPr>
                </a:tc>
                <a:tc>
                  <a:txBody>
                    <a:bodyPr/>
                    <a:lstStyle/>
                    <a:p>
                      <a:pPr algn="l">
                        <a:lnSpc>
                          <a:spcPts val="1875"/>
                        </a:lnSpc>
                        <a:buNone/>
                      </a:pPr>
                      <a:r>
                        <a:rPr lang="en-US" sz="1500" b="0">
                          <a:effectLst/>
                          <a:latin typeface="quote-cjk-patch"/>
                        </a:rPr>
                        <a:t>Token Type</a:t>
                      </a:r>
                    </a:p>
                  </a:txBody>
                  <a:tcPr marL="83881" marR="83881" marT="52426" marB="52426" anchor="ctr">
                    <a:lnL>
                      <a:noFill/>
                    </a:lnL>
                    <a:lnR>
                      <a:noFill/>
                    </a:lnR>
                    <a:lnT>
                      <a:noFill/>
                    </a:lnT>
                    <a:lnB>
                      <a:noFill/>
                    </a:lnB>
                    <a:solidFill>
                      <a:srgbClr val="FFFFFF"/>
                    </a:solidFill>
                  </a:tcPr>
                </a:tc>
                <a:tc>
                  <a:txBody>
                    <a:bodyPr/>
                    <a:lstStyle/>
                    <a:p>
                      <a:pPr algn="l">
                        <a:lnSpc>
                          <a:spcPts val="1875"/>
                        </a:lnSpc>
                        <a:buNone/>
                      </a:pPr>
                      <a:r>
                        <a:rPr lang="en-US" sz="1500" b="0" dirty="0">
                          <a:effectLst/>
                          <a:latin typeface="quote-cjk-patch"/>
                        </a:rPr>
                        <a:t>Matches Grammar Terminal</a:t>
                      </a:r>
                    </a:p>
                  </a:txBody>
                  <a:tcPr marL="83881" marR="83881" marT="52426" marB="52426" anchor="ctr">
                    <a:lnL>
                      <a:noFill/>
                    </a:lnL>
                    <a:lnR>
                      <a:noFill/>
                    </a:lnR>
                    <a:lnT>
                      <a:noFill/>
                    </a:lnT>
                    <a:lnB>
                      <a:noFill/>
                    </a:lnB>
                    <a:solidFill>
                      <a:srgbClr val="FFFFFF"/>
                    </a:solidFill>
                  </a:tcPr>
                </a:tc>
                <a:extLst>
                  <a:ext uri="{0D108BD9-81ED-4DB2-BD59-A6C34878D82A}">
                    <a16:rowId xmlns:a16="http://schemas.microsoft.com/office/drawing/2014/main" val="765506177"/>
                  </a:ext>
                </a:extLst>
              </a:tr>
              <a:tr h="304069">
                <a:tc>
                  <a:txBody>
                    <a:bodyPr/>
                    <a:lstStyle/>
                    <a:p>
                      <a:pPr>
                        <a:lnSpc>
                          <a:spcPts val="1650"/>
                        </a:lnSpc>
                        <a:buNone/>
                      </a:pPr>
                      <a:r>
                        <a:rPr lang="en-US" sz="1500" b="0">
                          <a:effectLst/>
                          <a:latin typeface="Menlo"/>
                        </a:rPr>
                        <a:t>int</a:t>
                      </a:r>
                      <a:endParaRPr lang="en-US"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TYPE</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int</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1475066534"/>
                  </a:ext>
                </a:extLst>
              </a:tr>
              <a:tr h="304069">
                <a:tc>
                  <a:txBody>
                    <a:bodyPr/>
                    <a:lstStyle/>
                    <a:p>
                      <a:pPr>
                        <a:lnSpc>
                          <a:spcPts val="1650"/>
                        </a:lnSpc>
                        <a:buNone/>
                      </a:pPr>
                      <a:r>
                        <a:rPr lang="en-US" sz="1500" b="0">
                          <a:effectLst/>
                          <a:latin typeface="Menlo"/>
                        </a:rPr>
                        <a:t>x</a:t>
                      </a:r>
                      <a:endParaRPr lang="en-US"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IDENTIFIER</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⟨identifier⟩</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195719931"/>
                  </a:ext>
                </a:extLst>
              </a:tr>
              <a:tr h="304069">
                <a:tc>
                  <a:txBody>
                    <a:bodyPr/>
                    <a:lstStyle/>
                    <a:p>
                      <a:pPr>
                        <a:lnSpc>
                          <a:spcPts val="1650"/>
                        </a:lnSpc>
                        <a:buNone/>
                      </a:pPr>
                      <a:r>
                        <a:rPr lang="en-PK" sz="1500" b="0">
                          <a:effectLst/>
                          <a:latin typeface="Menlo"/>
                        </a:rPr>
                        <a:t>=</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ASSIGN_OP</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PK" sz="1500" b="0">
                          <a:effectLst/>
                          <a:latin typeface="Menlo"/>
                        </a:rPr>
                        <a:t>=</a:t>
                      </a:r>
                      <a:endParaRPr lang="en-PK"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981601973"/>
                  </a:ext>
                </a:extLst>
              </a:tr>
              <a:tr h="304069">
                <a:tc>
                  <a:txBody>
                    <a:bodyPr/>
                    <a:lstStyle/>
                    <a:p>
                      <a:pPr>
                        <a:lnSpc>
                          <a:spcPts val="1650"/>
                        </a:lnSpc>
                        <a:buNone/>
                      </a:pPr>
                      <a:r>
                        <a:rPr lang="en-PK" sz="1500" b="0">
                          <a:effectLst/>
                          <a:latin typeface="Menlo"/>
                        </a:rPr>
                        <a:t>10</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dirty="0">
                          <a:effectLst/>
                          <a:latin typeface="quote-cjk-patch"/>
                        </a:rPr>
                        <a:t>NUMBER</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⟨number⟩</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1496301502"/>
                  </a:ext>
                </a:extLst>
              </a:tr>
              <a:tr h="304069">
                <a:tc>
                  <a:txBody>
                    <a:bodyPr/>
                    <a:lstStyle/>
                    <a:p>
                      <a:pPr>
                        <a:lnSpc>
                          <a:spcPts val="1650"/>
                        </a:lnSpc>
                        <a:buNone/>
                      </a:pPr>
                      <a:r>
                        <a:rPr lang="en-PK" sz="1500" b="0">
                          <a:effectLst/>
                          <a:latin typeface="Menlo"/>
                        </a:rPr>
                        <a:t>;</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SEMICOLON</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PK" sz="1500" b="0">
                          <a:effectLst/>
                          <a:latin typeface="Menlo"/>
                        </a:rPr>
                        <a:t>;</a:t>
                      </a:r>
                      <a:endParaRPr lang="en-PK"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2588561425"/>
                  </a:ext>
                </a:extLst>
              </a:tr>
              <a:tr h="304069">
                <a:tc>
                  <a:txBody>
                    <a:bodyPr/>
                    <a:lstStyle/>
                    <a:p>
                      <a:pPr>
                        <a:lnSpc>
                          <a:spcPts val="1650"/>
                        </a:lnSpc>
                        <a:buNone/>
                      </a:pPr>
                      <a:r>
                        <a:rPr lang="en-US" sz="1500" b="0">
                          <a:effectLst/>
                          <a:latin typeface="Menlo"/>
                        </a:rPr>
                        <a:t>float</a:t>
                      </a:r>
                      <a:endParaRPr lang="en-US"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TYPE</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float</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820444381"/>
                  </a:ext>
                </a:extLst>
              </a:tr>
              <a:tr h="304069">
                <a:tc>
                  <a:txBody>
                    <a:bodyPr/>
                    <a:lstStyle/>
                    <a:p>
                      <a:pPr>
                        <a:lnSpc>
                          <a:spcPts val="1650"/>
                        </a:lnSpc>
                        <a:buNone/>
                      </a:pPr>
                      <a:r>
                        <a:rPr lang="en-US" sz="1500" b="0">
                          <a:effectLst/>
                          <a:latin typeface="Menlo"/>
                        </a:rPr>
                        <a:t>y</a:t>
                      </a:r>
                      <a:endParaRPr lang="en-US"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IDENTIFIER</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⟨identifier⟩</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541030021"/>
                  </a:ext>
                </a:extLst>
              </a:tr>
              <a:tr h="304069">
                <a:tc>
                  <a:txBody>
                    <a:bodyPr/>
                    <a:lstStyle/>
                    <a:p>
                      <a:pPr>
                        <a:lnSpc>
                          <a:spcPts val="1650"/>
                        </a:lnSpc>
                        <a:buNone/>
                      </a:pPr>
                      <a:r>
                        <a:rPr lang="en-PK" sz="1500" b="0">
                          <a:effectLst/>
                          <a:latin typeface="Menlo"/>
                        </a:rPr>
                        <a:t>=</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ASSIGN_OP</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PK" sz="1500" b="0">
                          <a:effectLst/>
                          <a:latin typeface="Menlo"/>
                        </a:rPr>
                        <a:t>=</a:t>
                      </a:r>
                      <a:endParaRPr lang="en-PK"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2041313510"/>
                  </a:ext>
                </a:extLst>
              </a:tr>
              <a:tr h="304069">
                <a:tc>
                  <a:txBody>
                    <a:bodyPr/>
                    <a:lstStyle/>
                    <a:p>
                      <a:pPr>
                        <a:lnSpc>
                          <a:spcPts val="1650"/>
                        </a:lnSpc>
                        <a:buNone/>
                      </a:pPr>
                      <a:r>
                        <a:rPr lang="en-PK" sz="1500" b="0">
                          <a:effectLst/>
                          <a:latin typeface="Menlo"/>
                        </a:rPr>
                        <a:t>5.5</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NUMBER</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⟨number⟩</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166136403"/>
                  </a:ext>
                </a:extLst>
              </a:tr>
              <a:tr h="304069">
                <a:tc>
                  <a:txBody>
                    <a:bodyPr/>
                    <a:lstStyle/>
                    <a:p>
                      <a:pPr>
                        <a:lnSpc>
                          <a:spcPts val="1650"/>
                        </a:lnSpc>
                        <a:buNone/>
                      </a:pPr>
                      <a:r>
                        <a:rPr lang="en-PK" sz="1500" b="0">
                          <a:effectLst/>
                          <a:latin typeface="Menlo"/>
                        </a:rPr>
                        <a:t>;</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SEMICOLON</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PK" sz="1500" b="0">
                          <a:effectLst/>
                          <a:latin typeface="Menlo"/>
                        </a:rPr>
                        <a:t>;</a:t>
                      </a:r>
                      <a:endParaRPr lang="en-PK"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3076025113"/>
                  </a:ext>
                </a:extLst>
              </a:tr>
              <a:tr h="304069">
                <a:tc>
                  <a:txBody>
                    <a:bodyPr/>
                    <a:lstStyle/>
                    <a:p>
                      <a:pPr>
                        <a:lnSpc>
                          <a:spcPts val="1650"/>
                        </a:lnSpc>
                        <a:buNone/>
                      </a:pPr>
                      <a:r>
                        <a:rPr lang="en-US" sz="1500" b="0">
                          <a:effectLst/>
                          <a:latin typeface="Menlo"/>
                        </a:rPr>
                        <a:t>if</a:t>
                      </a:r>
                      <a:endParaRPr lang="en-US"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IF_KEYWORD</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US" sz="1500" b="0">
                          <a:effectLst/>
                          <a:latin typeface="Menlo"/>
                        </a:rPr>
                        <a:t>if</a:t>
                      </a:r>
                      <a:endParaRPr lang="en-US" sz="1500" b="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2535178366"/>
                  </a:ext>
                </a:extLst>
              </a:tr>
              <a:tr h="304069">
                <a:tc>
                  <a:txBody>
                    <a:bodyPr/>
                    <a:lstStyle/>
                    <a:p>
                      <a:pPr>
                        <a:lnSpc>
                          <a:spcPts val="1650"/>
                        </a:lnSpc>
                        <a:buNone/>
                      </a:pPr>
                      <a:r>
                        <a:rPr lang="en-PK" sz="1500" b="0">
                          <a:effectLst/>
                          <a:latin typeface="Menlo"/>
                        </a:rPr>
                        <a:t>(</a:t>
                      </a:r>
                      <a:endParaRPr lang="en-PK" sz="1500" b="0">
                        <a:effectLst/>
                        <a:latin typeface="quote-cjk-patch"/>
                      </a:endParaRPr>
                    </a:p>
                  </a:txBody>
                  <a:tcPr marL="75493" marR="83881" marT="52426" marB="52426" anchor="ctr">
                    <a:lnL>
                      <a:noFill/>
                    </a:lnL>
                    <a:lnR>
                      <a:noFill/>
                    </a:lnR>
                    <a:lnT>
                      <a:noFill/>
                    </a:lnT>
                    <a:lnB>
                      <a:noFill/>
                    </a:lnB>
                    <a:solidFill>
                      <a:srgbClr val="FFFFFF"/>
                    </a:solidFill>
                  </a:tcPr>
                </a:tc>
                <a:tc>
                  <a:txBody>
                    <a:bodyPr/>
                    <a:lstStyle/>
                    <a:p>
                      <a:pPr>
                        <a:lnSpc>
                          <a:spcPts val="1875"/>
                        </a:lnSpc>
                        <a:buNone/>
                      </a:pPr>
                      <a:r>
                        <a:rPr lang="en-US" sz="1500" b="0">
                          <a:effectLst/>
                          <a:latin typeface="quote-cjk-patch"/>
                        </a:rPr>
                        <a:t>LEFT_PAREN</a:t>
                      </a:r>
                    </a:p>
                  </a:txBody>
                  <a:tcPr marL="83881" marR="83881" marT="52426" marB="52426" anchor="ctr">
                    <a:lnL>
                      <a:noFill/>
                    </a:lnL>
                    <a:lnR>
                      <a:noFill/>
                    </a:lnR>
                    <a:lnT>
                      <a:noFill/>
                    </a:lnT>
                    <a:lnB>
                      <a:noFill/>
                    </a:lnB>
                    <a:solidFill>
                      <a:srgbClr val="FFFFFF"/>
                    </a:solidFill>
                  </a:tcPr>
                </a:tc>
                <a:tc>
                  <a:txBody>
                    <a:bodyPr/>
                    <a:lstStyle/>
                    <a:p>
                      <a:pPr>
                        <a:lnSpc>
                          <a:spcPts val="1650"/>
                        </a:lnSpc>
                        <a:buNone/>
                      </a:pPr>
                      <a:r>
                        <a:rPr lang="en-PK" sz="1500" b="0" dirty="0">
                          <a:effectLst/>
                          <a:latin typeface="Menlo"/>
                        </a:rPr>
                        <a:t>(</a:t>
                      </a:r>
                      <a:endParaRPr lang="en-PK" sz="1500" b="0" dirty="0">
                        <a:effectLst/>
                        <a:latin typeface="quote-cjk-patch"/>
                      </a:endParaRPr>
                    </a:p>
                  </a:txBody>
                  <a:tcPr marL="83881" marR="75493" marT="52426" marB="52426" anchor="ctr">
                    <a:lnL>
                      <a:noFill/>
                    </a:lnL>
                    <a:lnR>
                      <a:noFill/>
                    </a:lnR>
                    <a:lnT>
                      <a:noFill/>
                    </a:lnT>
                    <a:lnB>
                      <a:noFill/>
                    </a:lnB>
                    <a:solidFill>
                      <a:srgbClr val="FFFFFF"/>
                    </a:solidFill>
                  </a:tcPr>
                </a:tc>
                <a:extLst>
                  <a:ext uri="{0D108BD9-81ED-4DB2-BD59-A6C34878D82A}">
                    <a16:rowId xmlns:a16="http://schemas.microsoft.com/office/drawing/2014/main" val="1945150924"/>
                  </a:ext>
                </a:extLst>
              </a:tr>
            </a:tbl>
          </a:graphicData>
        </a:graphic>
      </p:graphicFrame>
      <p:sp>
        <p:nvSpPr>
          <p:cNvPr id="5" name="Rectangle 1">
            <a:extLst>
              <a:ext uri="{FF2B5EF4-FFF2-40B4-BE49-F238E27FC236}">
                <a16:creationId xmlns:a16="http://schemas.microsoft.com/office/drawing/2014/main" id="{CF7D8AFE-6F2E-8152-CCF2-AC31A9C3D78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a:ln>
                  <a:noFill/>
                </a:ln>
                <a:solidFill>
                  <a:schemeClr val="tx1"/>
                </a:solidFill>
                <a:effectLst/>
                <a:latin typeface="Arial" panose="020B0604020202020204" pitchFamily="34" charset="0"/>
              </a:rPr>
            </a:br>
            <a:endParaRPr kumimoji="0" lang="en-PK" altLang="en-PK"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CB15FA0D-63F9-476C-0183-F773F8715E88}"/>
              </a:ext>
            </a:extLst>
          </p:cNvPr>
          <p:cNvGraphicFramePr>
            <a:graphicFrameLocks noGrp="1"/>
          </p:cNvGraphicFramePr>
          <p:nvPr>
            <p:extLst>
              <p:ext uri="{D42A27DB-BD31-4B8C-83A1-F6EECF244321}">
                <p14:modId xmlns:p14="http://schemas.microsoft.com/office/powerpoint/2010/main" val="3906287823"/>
              </p:ext>
            </p:extLst>
          </p:nvPr>
        </p:nvGraphicFramePr>
        <p:xfrm>
          <a:off x="7134947" y="1419901"/>
          <a:ext cx="3611706" cy="5176654"/>
        </p:xfrm>
        <a:graphic>
          <a:graphicData uri="http://schemas.openxmlformats.org/drawingml/2006/table">
            <a:tbl>
              <a:tblPr/>
              <a:tblGrid>
                <a:gridCol w="1203902">
                  <a:extLst>
                    <a:ext uri="{9D8B030D-6E8A-4147-A177-3AD203B41FA5}">
                      <a16:colId xmlns:a16="http://schemas.microsoft.com/office/drawing/2014/main" val="2403771936"/>
                    </a:ext>
                  </a:extLst>
                </a:gridCol>
                <a:gridCol w="1203902">
                  <a:extLst>
                    <a:ext uri="{9D8B030D-6E8A-4147-A177-3AD203B41FA5}">
                      <a16:colId xmlns:a16="http://schemas.microsoft.com/office/drawing/2014/main" val="1310612658"/>
                    </a:ext>
                  </a:extLst>
                </a:gridCol>
                <a:gridCol w="1203902">
                  <a:extLst>
                    <a:ext uri="{9D8B030D-6E8A-4147-A177-3AD203B41FA5}">
                      <a16:colId xmlns:a16="http://schemas.microsoft.com/office/drawing/2014/main" val="1999438344"/>
                    </a:ext>
                  </a:extLst>
                </a:gridCol>
              </a:tblGrid>
              <a:tr h="643575">
                <a:tc>
                  <a:txBody>
                    <a:bodyPr/>
                    <a:lstStyle/>
                    <a:p>
                      <a:pPr algn="l">
                        <a:lnSpc>
                          <a:spcPts val="1875"/>
                        </a:lnSpc>
                        <a:buNone/>
                      </a:pPr>
                      <a:r>
                        <a:rPr lang="en-US" sz="1400" b="0">
                          <a:effectLst/>
                          <a:latin typeface="quote-cjk-patch"/>
                        </a:rPr>
                        <a:t>Lexeme</a:t>
                      </a:r>
                    </a:p>
                  </a:txBody>
                  <a:tcPr marL="69160" marR="76845" marT="48028" marB="48028" anchor="ctr">
                    <a:lnL>
                      <a:noFill/>
                    </a:lnL>
                    <a:lnR>
                      <a:noFill/>
                    </a:lnR>
                    <a:lnT>
                      <a:noFill/>
                    </a:lnT>
                    <a:lnB>
                      <a:noFill/>
                    </a:lnB>
                    <a:solidFill>
                      <a:srgbClr val="FFFFFF"/>
                    </a:solidFill>
                  </a:tcPr>
                </a:tc>
                <a:tc>
                  <a:txBody>
                    <a:bodyPr/>
                    <a:lstStyle/>
                    <a:p>
                      <a:pPr algn="l">
                        <a:lnSpc>
                          <a:spcPts val="1875"/>
                        </a:lnSpc>
                        <a:buNone/>
                      </a:pPr>
                      <a:r>
                        <a:rPr lang="en-US" sz="1400" b="0">
                          <a:effectLst/>
                          <a:latin typeface="quote-cjk-patch"/>
                        </a:rPr>
                        <a:t>Token Type</a:t>
                      </a:r>
                    </a:p>
                  </a:txBody>
                  <a:tcPr marL="76845" marR="76845" marT="48028" marB="48028" anchor="ctr">
                    <a:lnL>
                      <a:noFill/>
                    </a:lnL>
                    <a:lnR>
                      <a:noFill/>
                    </a:lnR>
                    <a:lnT>
                      <a:noFill/>
                    </a:lnT>
                    <a:lnB>
                      <a:noFill/>
                    </a:lnB>
                    <a:solidFill>
                      <a:srgbClr val="FFFFFF"/>
                    </a:solidFill>
                  </a:tcPr>
                </a:tc>
                <a:tc>
                  <a:txBody>
                    <a:bodyPr/>
                    <a:lstStyle/>
                    <a:p>
                      <a:pPr algn="l">
                        <a:lnSpc>
                          <a:spcPts val="1875"/>
                        </a:lnSpc>
                        <a:buNone/>
                      </a:pPr>
                      <a:r>
                        <a:rPr lang="en-US" sz="1400" b="0">
                          <a:effectLst/>
                          <a:latin typeface="quote-cjk-patch"/>
                        </a:rPr>
                        <a:t>Matches Grammar Terminal</a:t>
                      </a:r>
                    </a:p>
                  </a:txBody>
                  <a:tcPr marL="76845" marR="76845" marT="48028" marB="48028" anchor="ctr">
                    <a:lnL>
                      <a:noFill/>
                    </a:lnL>
                    <a:lnR>
                      <a:noFill/>
                    </a:lnR>
                    <a:lnT>
                      <a:noFill/>
                    </a:lnT>
                    <a:lnB>
                      <a:noFill/>
                    </a:lnB>
                    <a:solidFill>
                      <a:srgbClr val="FFFFFF"/>
                    </a:solidFill>
                  </a:tcPr>
                </a:tc>
                <a:extLst>
                  <a:ext uri="{0D108BD9-81ED-4DB2-BD59-A6C34878D82A}">
                    <a16:rowId xmlns:a16="http://schemas.microsoft.com/office/drawing/2014/main" val="2067275030"/>
                  </a:ext>
                </a:extLst>
              </a:tr>
              <a:tr h="278562">
                <a:tc>
                  <a:txBody>
                    <a:bodyPr/>
                    <a:lstStyle/>
                    <a:p>
                      <a:pPr>
                        <a:lnSpc>
                          <a:spcPts val="1650"/>
                        </a:lnSpc>
                        <a:buNone/>
                      </a:pPr>
                      <a:r>
                        <a:rPr lang="en-US" sz="1400" b="0">
                          <a:effectLst/>
                          <a:latin typeface="Menlo"/>
                        </a:rPr>
                        <a:t>x</a:t>
                      </a:r>
                      <a:endParaRPr lang="en-US"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IDENTIFIER</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US" sz="1400" b="0">
                          <a:effectLst/>
                          <a:latin typeface="Menlo"/>
                        </a:rPr>
                        <a:t>⟨identifier⟩</a:t>
                      </a:r>
                      <a:endParaRPr lang="en-US"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1964087410"/>
                  </a:ext>
                </a:extLst>
              </a:tr>
              <a:tr h="278562">
                <a:tc>
                  <a:txBody>
                    <a:bodyPr/>
                    <a:lstStyle/>
                    <a:p>
                      <a:pPr>
                        <a:lnSpc>
                          <a:spcPts val="1650"/>
                        </a:lnSpc>
                        <a:buNone/>
                      </a:pPr>
                      <a:r>
                        <a:rPr lang="en-PK" sz="1400" b="0">
                          <a:effectLst/>
                          <a:latin typeface="Menlo"/>
                        </a:rPr>
                        <a:t>&gt;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RELOP</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&gt;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3352597402"/>
                  </a:ext>
                </a:extLst>
              </a:tr>
              <a:tr h="278562">
                <a:tc>
                  <a:txBody>
                    <a:bodyPr/>
                    <a:lstStyle/>
                    <a:p>
                      <a:pPr>
                        <a:lnSpc>
                          <a:spcPts val="1650"/>
                        </a:lnSpc>
                        <a:buNone/>
                      </a:pPr>
                      <a:r>
                        <a:rPr lang="en-US" sz="1400" b="0">
                          <a:effectLst/>
                          <a:latin typeface="Menlo"/>
                        </a:rPr>
                        <a:t>y</a:t>
                      </a:r>
                      <a:endParaRPr lang="en-US"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IDENTIFIER</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US" sz="1400" b="0">
                          <a:effectLst/>
                          <a:latin typeface="Menlo"/>
                        </a:rPr>
                        <a:t>⟨identifier⟩</a:t>
                      </a:r>
                      <a:endParaRPr lang="en-US"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28906568"/>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RIGHT_PAREN</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3091933283"/>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LEFT_BRACE</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2877987433"/>
                  </a:ext>
                </a:extLst>
              </a:tr>
              <a:tr h="461069">
                <a:tc>
                  <a:txBody>
                    <a:bodyPr/>
                    <a:lstStyle/>
                    <a:p>
                      <a:pPr>
                        <a:lnSpc>
                          <a:spcPts val="1650"/>
                        </a:lnSpc>
                        <a:buNone/>
                      </a:pPr>
                      <a:r>
                        <a:rPr lang="en-US" sz="1400" b="0">
                          <a:effectLst/>
                          <a:latin typeface="Menlo"/>
                        </a:rPr>
                        <a:t>print</a:t>
                      </a:r>
                      <a:endParaRPr lang="en-US"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PRINT_KEYWORD</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US" sz="1400" b="0">
                          <a:effectLst/>
                          <a:latin typeface="Menlo"/>
                        </a:rPr>
                        <a:t>print</a:t>
                      </a:r>
                      <a:endParaRPr lang="en-US"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1517899138"/>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LEFT_PAREN</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2944497762"/>
                  </a:ext>
                </a:extLst>
              </a:tr>
              <a:tr h="278562">
                <a:tc>
                  <a:txBody>
                    <a:bodyPr/>
                    <a:lstStyle/>
                    <a:p>
                      <a:pPr>
                        <a:lnSpc>
                          <a:spcPts val="1650"/>
                        </a:lnSpc>
                        <a:buNone/>
                      </a:pPr>
                      <a:r>
                        <a:rPr lang="en-US" sz="1400" b="0">
                          <a:effectLst/>
                          <a:latin typeface="Menlo"/>
                        </a:rPr>
                        <a:t>x</a:t>
                      </a:r>
                      <a:endParaRPr lang="en-US"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IDENTIFIER</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US" sz="1400" b="0" dirty="0">
                          <a:effectLst/>
                          <a:latin typeface="Menlo"/>
                        </a:rPr>
                        <a:t>⟨identifier⟩</a:t>
                      </a:r>
                      <a:endParaRPr lang="en-US" sz="1400" b="0" dirty="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4056762678"/>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RIGHT_PAREN</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1758773697"/>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SEMICOLON</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1982743694"/>
                  </a:ext>
                </a:extLst>
              </a:tr>
              <a:tr h="278562">
                <a:tc>
                  <a:txBody>
                    <a:bodyPr/>
                    <a:lstStyle/>
                    <a:p>
                      <a:pPr>
                        <a:lnSpc>
                          <a:spcPts val="1650"/>
                        </a:lnSpc>
                        <a:buNone/>
                      </a:pPr>
                      <a:r>
                        <a:rPr lang="en-PK" sz="1400" b="0">
                          <a:effectLst/>
                          <a:latin typeface="Menlo"/>
                        </a:rPr>
                        <a:t>}</a:t>
                      </a:r>
                      <a:endParaRPr lang="en-PK"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RIGHT_BRACE</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PK" sz="1400" b="0">
                          <a:effectLst/>
                          <a:latin typeface="Menlo"/>
                        </a:rPr>
                        <a:t>}</a:t>
                      </a:r>
                      <a:endParaRPr lang="en-PK" sz="1400" b="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2331348907"/>
                  </a:ext>
                </a:extLst>
              </a:tr>
              <a:tr h="461069">
                <a:tc>
                  <a:txBody>
                    <a:bodyPr/>
                    <a:lstStyle/>
                    <a:p>
                      <a:pPr>
                        <a:lnSpc>
                          <a:spcPts val="1650"/>
                        </a:lnSpc>
                        <a:buNone/>
                      </a:pPr>
                      <a:r>
                        <a:rPr lang="en-US" sz="1400" b="0">
                          <a:effectLst/>
                          <a:latin typeface="Menlo"/>
                        </a:rPr>
                        <a:t>else</a:t>
                      </a:r>
                      <a:endParaRPr lang="en-US" sz="1400" b="0">
                        <a:effectLst/>
                        <a:latin typeface="quote-cjk-patch"/>
                      </a:endParaRPr>
                    </a:p>
                  </a:txBody>
                  <a:tcPr marL="69160" marR="76845" marT="48028" marB="48028" anchor="ctr">
                    <a:lnL>
                      <a:noFill/>
                    </a:lnL>
                    <a:lnR>
                      <a:noFill/>
                    </a:lnR>
                    <a:lnT>
                      <a:noFill/>
                    </a:lnT>
                    <a:lnB>
                      <a:noFill/>
                    </a:lnB>
                    <a:solidFill>
                      <a:srgbClr val="FFFFFF"/>
                    </a:solidFill>
                  </a:tcPr>
                </a:tc>
                <a:tc>
                  <a:txBody>
                    <a:bodyPr/>
                    <a:lstStyle/>
                    <a:p>
                      <a:pPr>
                        <a:lnSpc>
                          <a:spcPts val="1875"/>
                        </a:lnSpc>
                        <a:buNone/>
                      </a:pPr>
                      <a:r>
                        <a:rPr lang="en-US" sz="1400" b="0">
                          <a:effectLst/>
                          <a:latin typeface="quote-cjk-patch"/>
                        </a:rPr>
                        <a:t>ELSE_KEYWORD</a:t>
                      </a:r>
                    </a:p>
                  </a:txBody>
                  <a:tcPr marL="76845" marR="76845" marT="48028" marB="48028" anchor="ctr">
                    <a:lnL>
                      <a:noFill/>
                    </a:lnL>
                    <a:lnR>
                      <a:noFill/>
                    </a:lnR>
                    <a:lnT>
                      <a:noFill/>
                    </a:lnT>
                    <a:lnB>
                      <a:noFill/>
                    </a:lnB>
                    <a:solidFill>
                      <a:srgbClr val="FFFFFF"/>
                    </a:solidFill>
                  </a:tcPr>
                </a:tc>
                <a:tc>
                  <a:txBody>
                    <a:bodyPr/>
                    <a:lstStyle/>
                    <a:p>
                      <a:pPr>
                        <a:lnSpc>
                          <a:spcPts val="1650"/>
                        </a:lnSpc>
                        <a:buNone/>
                      </a:pPr>
                      <a:r>
                        <a:rPr lang="en-US" sz="1400" b="0" dirty="0">
                          <a:effectLst/>
                          <a:latin typeface="Menlo"/>
                        </a:rPr>
                        <a:t>else</a:t>
                      </a:r>
                      <a:endParaRPr lang="en-US" sz="1400" b="0" dirty="0">
                        <a:effectLst/>
                        <a:latin typeface="quote-cjk-patch"/>
                      </a:endParaRPr>
                    </a:p>
                  </a:txBody>
                  <a:tcPr marL="76845" marR="69160" marT="48028" marB="48028" anchor="ctr">
                    <a:lnL>
                      <a:noFill/>
                    </a:lnL>
                    <a:lnR>
                      <a:noFill/>
                    </a:lnR>
                    <a:lnT>
                      <a:noFill/>
                    </a:lnT>
                    <a:lnB>
                      <a:noFill/>
                    </a:lnB>
                    <a:solidFill>
                      <a:srgbClr val="FFFFFF"/>
                    </a:solidFill>
                  </a:tcPr>
                </a:tc>
                <a:extLst>
                  <a:ext uri="{0D108BD9-81ED-4DB2-BD59-A6C34878D82A}">
                    <a16:rowId xmlns:a16="http://schemas.microsoft.com/office/drawing/2014/main" val="4149403655"/>
                  </a:ext>
                </a:extLst>
              </a:tr>
            </a:tbl>
          </a:graphicData>
        </a:graphic>
      </p:graphicFrame>
    </p:spTree>
    <p:extLst>
      <p:ext uri="{BB962C8B-B14F-4D97-AF65-F5344CB8AC3E}">
        <p14:creationId xmlns:p14="http://schemas.microsoft.com/office/powerpoint/2010/main" val="1609464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6B31E-6264-4648-2AA7-245F186E6F9E}"/>
              </a:ext>
            </a:extLst>
          </p:cNvPr>
          <p:cNvSpPr>
            <a:spLocks noGrp="1"/>
          </p:cNvSpPr>
          <p:nvPr>
            <p:ph type="title"/>
          </p:nvPr>
        </p:nvSpPr>
        <p:spPr/>
        <p:txBody>
          <a:bodyPr/>
          <a:lstStyle/>
          <a:p>
            <a:r>
              <a:rPr lang="en-US" dirty="0"/>
              <a:t>Token Generation - 2</a:t>
            </a:r>
            <a:endParaRPr lang="en-PK" dirty="0"/>
          </a:p>
        </p:txBody>
      </p:sp>
      <p:graphicFrame>
        <p:nvGraphicFramePr>
          <p:cNvPr id="6" name="Content Placeholder 5">
            <a:extLst>
              <a:ext uri="{FF2B5EF4-FFF2-40B4-BE49-F238E27FC236}">
                <a16:creationId xmlns:a16="http://schemas.microsoft.com/office/drawing/2014/main" id="{50C4C45A-F428-39EB-A6C7-3137424617AD}"/>
              </a:ext>
            </a:extLst>
          </p:cNvPr>
          <p:cNvGraphicFramePr>
            <a:graphicFrameLocks noGrp="1"/>
          </p:cNvGraphicFramePr>
          <p:nvPr>
            <p:ph idx="1"/>
            <p:extLst>
              <p:ext uri="{D42A27DB-BD31-4B8C-83A1-F6EECF244321}">
                <p14:modId xmlns:p14="http://schemas.microsoft.com/office/powerpoint/2010/main" val="3995190197"/>
              </p:ext>
            </p:extLst>
          </p:nvPr>
        </p:nvGraphicFramePr>
        <p:xfrm>
          <a:off x="7532093" y="1439430"/>
          <a:ext cx="3325413" cy="5418570"/>
        </p:xfrm>
        <a:graphic>
          <a:graphicData uri="http://schemas.openxmlformats.org/drawingml/2006/table">
            <a:tbl>
              <a:tblPr/>
              <a:tblGrid>
                <a:gridCol w="1108471">
                  <a:extLst>
                    <a:ext uri="{9D8B030D-6E8A-4147-A177-3AD203B41FA5}">
                      <a16:colId xmlns:a16="http://schemas.microsoft.com/office/drawing/2014/main" val="2957297672"/>
                    </a:ext>
                  </a:extLst>
                </a:gridCol>
                <a:gridCol w="1108471">
                  <a:extLst>
                    <a:ext uri="{9D8B030D-6E8A-4147-A177-3AD203B41FA5}">
                      <a16:colId xmlns:a16="http://schemas.microsoft.com/office/drawing/2014/main" val="3222433586"/>
                    </a:ext>
                  </a:extLst>
                </a:gridCol>
                <a:gridCol w="1108471">
                  <a:extLst>
                    <a:ext uri="{9D8B030D-6E8A-4147-A177-3AD203B41FA5}">
                      <a16:colId xmlns:a16="http://schemas.microsoft.com/office/drawing/2014/main" val="4231061292"/>
                    </a:ext>
                  </a:extLst>
                </a:gridCol>
              </a:tblGrid>
              <a:tr h="592560">
                <a:tc>
                  <a:txBody>
                    <a:bodyPr/>
                    <a:lstStyle/>
                    <a:p>
                      <a:pPr algn="l">
                        <a:lnSpc>
                          <a:spcPts val="1875"/>
                        </a:lnSpc>
                        <a:buNone/>
                      </a:pPr>
                      <a:r>
                        <a:rPr lang="en-US" sz="1300" b="0">
                          <a:effectLst/>
                          <a:latin typeface="quote-cjk-patch"/>
                        </a:rPr>
                        <a:t>Lexeme</a:t>
                      </a:r>
                    </a:p>
                  </a:txBody>
                  <a:tcPr marL="63678" marR="70753" marT="44221" marB="44221" anchor="ctr">
                    <a:lnL>
                      <a:noFill/>
                    </a:lnL>
                    <a:lnR>
                      <a:noFill/>
                    </a:lnR>
                    <a:lnT>
                      <a:noFill/>
                    </a:lnT>
                    <a:lnB>
                      <a:noFill/>
                    </a:lnB>
                    <a:solidFill>
                      <a:srgbClr val="FFFFFF"/>
                    </a:solidFill>
                  </a:tcPr>
                </a:tc>
                <a:tc>
                  <a:txBody>
                    <a:bodyPr/>
                    <a:lstStyle/>
                    <a:p>
                      <a:pPr algn="l">
                        <a:lnSpc>
                          <a:spcPts val="1875"/>
                        </a:lnSpc>
                        <a:buNone/>
                      </a:pPr>
                      <a:r>
                        <a:rPr lang="en-US" sz="1300" b="0">
                          <a:effectLst/>
                          <a:latin typeface="quote-cjk-patch"/>
                        </a:rPr>
                        <a:t>Token Type</a:t>
                      </a:r>
                    </a:p>
                  </a:txBody>
                  <a:tcPr marL="70753" marR="70753" marT="44221" marB="44221" anchor="ctr">
                    <a:lnL>
                      <a:noFill/>
                    </a:lnL>
                    <a:lnR>
                      <a:noFill/>
                    </a:lnR>
                    <a:lnT>
                      <a:noFill/>
                    </a:lnT>
                    <a:lnB>
                      <a:noFill/>
                    </a:lnB>
                    <a:solidFill>
                      <a:srgbClr val="FFFFFF"/>
                    </a:solidFill>
                  </a:tcPr>
                </a:tc>
                <a:tc>
                  <a:txBody>
                    <a:bodyPr/>
                    <a:lstStyle/>
                    <a:p>
                      <a:pPr algn="l">
                        <a:lnSpc>
                          <a:spcPts val="1875"/>
                        </a:lnSpc>
                        <a:buNone/>
                      </a:pPr>
                      <a:r>
                        <a:rPr lang="en-US" sz="1300" b="0">
                          <a:effectLst/>
                          <a:latin typeface="quote-cjk-patch"/>
                        </a:rPr>
                        <a:t>Matches Grammar Terminal</a:t>
                      </a:r>
                    </a:p>
                  </a:txBody>
                  <a:tcPr marL="70753" marR="70753" marT="44221" marB="44221" anchor="ctr">
                    <a:lnL>
                      <a:noFill/>
                    </a:lnL>
                    <a:lnR>
                      <a:noFill/>
                    </a:lnR>
                    <a:lnT>
                      <a:noFill/>
                    </a:lnT>
                    <a:lnB>
                      <a:noFill/>
                    </a:lnB>
                    <a:solidFill>
                      <a:srgbClr val="FFFFFF"/>
                    </a:solidFill>
                  </a:tcPr>
                </a:tc>
                <a:extLst>
                  <a:ext uri="{0D108BD9-81ED-4DB2-BD59-A6C34878D82A}">
                    <a16:rowId xmlns:a16="http://schemas.microsoft.com/office/drawing/2014/main" val="3823153462"/>
                  </a:ext>
                </a:extLst>
              </a:tr>
              <a:tr h="424521">
                <a:tc>
                  <a:txBody>
                    <a:bodyPr/>
                    <a:lstStyle/>
                    <a:p>
                      <a:pPr>
                        <a:lnSpc>
                          <a:spcPts val="1650"/>
                        </a:lnSpc>
                        <a:buNone/>
                      </a:pPr>
                      <a:r>
                        <a:rPr lang="en-US" sz="1300" b="0">
                          <a:effectLst/>
                          <a:latin typeface="Menlo"/>
                        </a:rPr>
                        <a:t>while</a:t>
                      </a:r>
                      <a:endParaRPr lang="en-US"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WHILE_KEYWORD</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while</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279440448"/>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LEFT_PAREN</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2923412926"/>
                  </a:ext>
                </a:extLst>
              </a:tr>
              <a:tr h="256481">
                <a:tc>
                  <a:txBody>
                    <a:bodyPr/>
                    <a:lstStyle/>
                    <a:p>
                      <a:pPr>
                        <a:lnSpc>
                          <a:spcPts val="1650"/>
                        </a:lnSpc>
                        <a:buNone/>
                      </a:pPr>
                      <a:r>
                        <a:rPr lang="en-US" sz="1300" b="0">
                          <a:effectLst/>
                          <a:latin typeface="Menlo"/>
                        </a:rPr>
                        <a:t>x</a:t>
                      </a:r>
                      <a:endParaRPr lang="en-US"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IDENTIFIER</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2406877308"/>
                  </a:ext>
                </a:extLst>
              </a:tr>
              <a:tr h="256481">
                <a:tc>
                  <a:txBody>
                    <a:bodyPr/>
                    <a:lstStyle/>
                    <a:p>
                      <a:pPr>
                        <a:lnSpc>
                          <a:spcPts val="1650"/>
                        </a:lnSpc>
                        <a:buNone/>
                      </a:pPr>
                      <a:r>
                        <a:rPr lang="en-PK" sz="1300" b="0">
                          <a:effectLst/>
                          <a:latin typeface="Menlo"/>
                        </a:rPr>
                        <a:t>&lt;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RELOP</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&lt;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2263764525"/>
                  </a:ext>
                </a:extLst>
              </a:tr>
              <a:tr h="256481">
                <a:tc>
                  <a:txBody>
                    <a:bodyPr/>
                    <a:lstStyle/>
                    <a:p>
                      <a:pPr>
                        <a:lnSpc>
                          <a:spcPts val="1650"/>
                        </a:lnSpc>
                        <a:buNone/>
                      </a:pPr>
                      <a:r>
                        <a:rPr lang="en-PK" sz="1300" b="0">
                          <a:effectLst/>
                          <a:latin typeface="Menlo"/>
                        </a:rPr>
                        <a:t>20</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NUMBER</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⟨number⟩</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851192362"/>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RIGHT_PAREN</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3063175847"/>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LEFT_BRACE</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229072588"/>
                  </a:ext>
                </a:extLst>
              </a:tr>
              <a:tr h="256481">
                <a:tc>
                  <a:txBody>
                    <a:bodyPr/>
                    <a:lstStyle/>
                    <a:p>
                      <a:pPr>
                        <a:lnSpc>
                          <a:spcPts val="1650"/>
                        </a:lnSpc>
                        <a:buNone/>
                      </a:pPr>
                      <a:r>
                        <a:rPr lang="en-US" sz="1300" b="0">
                          <a:effectLst/>
                          <a:latin typeface="Menlo"/>
                        </a:rPr>
                        <a:t>x</a:t>
                      </a:r>
                      <a:endParaRPr lang="en-US"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IDENTIFIER</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1970236693"/>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ASSIGN_OP</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339032869"/>
                  </a:ext>
                </a:extLst>
              </a:tr>
              <a:tr h="256481">
                <a:tc>
                  <a:txBody>
                    <a:bodyPr/>
                    <a:lstStyle/>
                    <a:p>
                      <a:pPr>
                        <a:lnSpc>
                          <a:spcPts val="1650"/>
                        </a:lnSpc>
                        <a:buNone/>
                      </a:pPr>
                      <a:r>
                        <a:rPr lang="en-US" sz="1300" b="0">
                          <a:effectLst/>
                          <a:latin typeface="Menlo"/>
                        </a:rPr>
                        <a:t>x</a:t>
                      </a:r>
                      <a:endParaRPr lang="en-US"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IDENTIFIER</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895989557"/>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PLUS_OP</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1453757340"/>
                  </a:ext>
                </a:extLst>
              </a:tr>
              <a:tr h="256481">
                <a:tc>
                  <a:txBody>
                    <a:bodyPr/>
                    <a:lstStyle/>
                    <a:p>
                      <a:pPr>
                        <a:lnSpc>
                          <a:spcPts val="1650"/>
                        </a:lnSpc>
                        <a:buNone/>
                      </a:pPr>
                      <a:r>
                        <a:rPr lang="en-PK" sz="1300" b="0">
                          <a:effectLst/>
                          <a:latin typeface="Menlo"/>
                        </a:rPr>
                        <a:t>1</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NUMBER</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⟨number⟩</a:t>
                      </a:r>
                      <a:endParaRPr lang="en-US"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3017088546"/>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SEMICOLON</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1635108908"/>
                  </a:ext>
                </a:extLst>
              </a:tr>
              <a:tr h="256481">
                <a:tc>
                  <a:txBody>
                    <a:bodyPr/>
                    <a:lstStyle/>
                    <a:p>
                      <a:pPr>
                        <a:lnSpc>
                          <a:spcPts val="1650"/>
                        </a:lnSpc>
                        <a:buNone/>
                      </a:pPr>
                      <a:r>
                        <a:rPr lang="en-PK" sz="1300" b="0">
                          <a:effectLst/>
                          <a:latin typeface="Menlo"/>
                        </a:rPr>
                        <a:t>}</a:t>
                      </a:r>
                      <a:endParaRPr lang="en-PK" sz="1300" b="0">
                        <a:effectLst/>
                        <a:latin typeface="quote-cjk-patch"/>
                      </a:endParaRPr>
                    </a:p>
                  </a:txBody>
                  <a:tcPr marL="63678" marR="70753" marT="44221" marB="4422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RIGHT_BRACE</a:t>
                      </a:r>
                    </a:p>
                  </a:txBody>
                  <a:tcPr marL="70753" marR="70753" marT="44221" marB="44221" anchor="ctr">
                    <a:lnL>
                      <a:noFill/>
                    </a:lnL>
                    <a:lnR>
                      <a:noFill/>
                    </a:lnR>
                    <a:lnT>
                      <a:noFill/>
                    </a:lnT>
                    <a:lnB>
                      <a:noFill/>
                    </a:lnB>
                    <a:solidFill>
                      <a:srgbClr val="FFFFFF"/>
                    </a:solidFill>
                  </a:tcPr>
                </a:tc>
                <a:tc>
                  <a:txBody>
                    <a:bodyPr/>
                    <a:lstStyle/>
                    <a:p>
                      <a:pPr>
                        <a:lnSpc>
                          <a:spcPts val="1650"/>
                        </a:lnSpc>
                        <a:buNone/>
                      </a:pPr>
                      <a:r>
                        <a:rPr lang="en-PK" sz="1300" b="0" dirty="0">
                          <a:effectLst/>
                          <a:latin typeface="Menlo"/>
                        </a:rPr>
                        <a:t>}</a:t>
                      </a:r>
                      <a:endParaRPr lang="en-PK" sz="1300" b="0" dirty="0">
                        <a:effectLst/>
                        <a:latin typeface="quote-cjk-patch"/>
                      </a:endParaRPr>
                    </a:p>
                  </a:txBody>
                  <a:tcPr marL="70753" marR="63678" marT="44221" marB="44221" anchor="ctr">
                    <a:lnL>
                      <a:noFill/>
                    </a:lnL>
                    <a:lnR>
                      <a:noFill/>
                    </a:lnR>
                    <a:lnT>
                      <a:noFill/>
                    </a:lnT>
                    <a:lnB>
                      <a:noFill/>
                    </a:lnB>
                    <a:solidFill>
                      <a:srgbClr val="FFFFFF"/>
                    </a:solidFill>
                  </a:tcPr>
                </a:tc>
                <a:extLst>
                  <a:ext uri="{0D108BD9-81ED-4DB2-BD59-A6C34878D82A}">
                    <a16:rowId xmlns:a16="http://schemas.microsoft.com/office/drawing/2014/main" val="1330627455"/>
                  </a:ext>
                </a:extLst>
              </a:tr>
            </a:tbl>
          </a:graphicData>
        </a:graphic>
      </p:graphicFrame>
      <p:sp>
        <p:nvSpPr>
          <p:cNvPr id="7" name="Rectangle 2">
            <a:extLst>
              <a:ext uri="{FF2B5EF4-FFF2-40B4-BE49-F238E27FC236}">
                <a16:creationId xmlns:a16="http://schemas.microsoft.com/office/drawing/2014/main" id="{DA0F0AB7-ACE5-8E69-E329-60DA28B19D0A}"/>
              </a:ext>
            </a:extLst>
          </p:cNvPr>
          <p:cNvSpPr>
            <a:spLocks noChangeArrowheads="1"/>
          </p:cNvSpPr>
          <p:nvPr/>
        </p:nvSpPr>
        <p:spPr bwMode="auto">
          <a:xfrm>
            <a:off x="3098800" y="1474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a:ln>
                  <a:noFill/>
                </a:ln>
                <a:solidFill>
                  <a:schemeClr val="tx1"/>
                </a:solidFill>
                <a:effectLst/>
                <a:latin typeface="Arial" panose="020B0604020202020204" pitchFamily="34" charset="0"/>
              </a:rPr>
            </a:br>
            <a:endParaRPr kumimoji="0" lang="en-PK" altLang="en-PK"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4F6F8A97-BFBD-23F2-9AEF-50F8B09D6E4D}"/>
              </a:ext>
            </a:extLst>
          </p:cNvPr>
          <p:cNvGraphicFramePr>
            <a:graphicFrameLocks noGrp="1"/>
          </p:cNvGraphicFramePr>
          <p:nvPr>
            <p:extLst>
              <p:ext uri="{D42A27DB-BD31-4B8C-83A1-F6EECF244321}">
                <p14:modId xmlns:p14="http://schemas.microsoft.com/office/powerpoint/2010/main" val="3089017925"/>
              </p:ext>
            </p:extLst>
          </p:nvPr>
        </p:nvGraphicFramePr>
        <p:xfrm>
          <a:off x="1910080" y="1557139"/>
          <a:ext cx="3533700" cy="5183152"/>
        </p:xfrm>
        <a:graphic>
          <a:graphicData uri="http://schemas.openxmlformats.org/drawingml/2006/table">
            <a:tbl>
              <a:tblPr/>
              <a:tblGrid>
                <a:gridCol w="1177900">
                  <a:extLst>
                    <a:ext uri="{9D8B030D-6E8A-4147-A177-3AD203B41FA5}">
                      <a16:colId xmlns:a16="http://schemas.microsoft.com/office/drawing/2014/main" val="2148178871"/>
                    </a:ext>
                  </a:extLst>
                </a:gridCol>
                <a:gridCol w="1177900">
                  <a:extLst>
                    <a:ext uri="{9D8B030D-6E8A-4147-A177-3AD203B41FA5}">
                      <a16:colId xmlns:a16="http://schemas.microsoft.com/office/drawing/2014/main" val="1602027245"/>
                    </a:ext>
                  </a:extLst>
                </a:gridCol>
                <a:gridCol w="1177900">
                  <a:extLst>
                    <a:ext uri="{9D8B030D-6E8A-4147-A177-3AD203B41FA5}">
                      <a16:colId xmlns:a16="http://schemas.microsoft.com/office/drawing/2014/main" val="3617596701"/>
                    </a:ext>
                  </a:extLst>
                </a:gridCol>
              </a:tblGrid>
              <a:tr h="629675">
                <a:tc>
                  <a:txBody>
                    <a:bodyPr/>
                    <a:lstStyle/>
                    <a:p>
                      <a:pPr algn="l">
                        <a:lnSpc>
                          <a:spcPts val="1875"/>
                        </a:lnSpc>
                        <a:buNone/>
                      </a:pPr>
                      <a:r>
                        <a:rPr lang="en-US" sz="1300" b="0">
                          <a:effectLst/>
                          <a:latin typeface="quote-cjk-patch"/>
                        </a:rPr>
                        <a:t>Lexeme</a:t>
                      </a:r>
                    </a:p>
                  </a:txBody>
                  <a:tcPr marL="67667" marR="75185" marT="46991" marB="46991" anchor="ctr">
                    <a:lnL>
                      <a:noFill/>
                    </a:lnL>
                    <a:lnR>
                      <a:noFill/>
                    </a:lnR>
                    <a:lnT>
                      <a:noFill/>
                    </a:lnT>
                    <a:lnB>
                      <a:noFill/>
                    </a:lnB>
                    <a:solidFill>
                      <a:srgbClr val="FFFFFF"/>
                    </a:solidFill>
                  </a:tcPr>
                </a:tc>
                <a:tc>
                  <a:txBody>
                    <a:bodyPr/>
                    <a:lstStyle/>
                    <a:p>
                      <a:pPr algn="l">
                        <a:lnSpc>
                          <a:spcPts val="1875"/>
                        </a:lnSpc>
                        <a:buNone/>
                      </a:pPr>
                      <a:r>
                        <a:rPr lang="en-US" sz="1300" b="0">
                          <a:effectLst/>
                          <a:latin typeface="quote-cjk-patch"/>
                        </a:rPr>
                        <a:t>Token Type</a:t>
                      </a:r>
                    </a:p>
                  </a:txBody>
                  <a:tcPr marL="75185" marR="75185" marT="46991" marB="46991" anchor="ctr">
                    <a:lnL>
                      <a:noFill/>
                    </a:lnL>
                    <a:lnR>
                      <a:noFill/>
                    </a:lnR>
                    <a:lnT>
                      <a:noFill/>
                    </a:lnT>
                    <a:lnB>
                      <a:noFill/>
                    </a:lnB>
                    <a:solidFill>
                      <a:srgbClr val="FFFFFF"/>
                    </a:solidFill>
                  </a:tcPr>
                </a:tc>
                <a:tc>
                  <a:txBody>
                    <a:bodyPr/>
                    <a:lstStyle/>
                    <a:p>
                      <a:pPr algn="l">
                        <a:lnSpc>
                          <a:spcPts val="1875"/>
                        </a:lnSpc>
                        <a:buNone/>
                      </a:pPr>
                      <a:r>
                        <a:rPr lang="en-US" sz="1300" b="0">
                          <a:effectLst/>
                          <a:latin typeface="quote-cjk-patch"/>
                        </a:rPr>
                        <a:t>Matches Grammar Terminal</a:t>
                      </a:r>
                    </a:p>
                  </a:txBody>
                  <a:tcPr marL="75185" marR="75185" marT="46991" marB="46991" anchor="ctr">
                    <a:lnL>
                      <a:noFill/>
                    </a:lnL>
                    <a:lnR>
                      <a:noFill/>
                    </a:lnR>
                    <a:lnT>
                      <a:noFill/>
                    </a:lnT>
                    <a:lnB>
                      <a:noFill/>
                    </a:lnB>
                    <a:solidFill>
                      <a:srgbClr val="FFFFFF"/>
                    </a:solidFill>
                  </a:tcPr>
                </a:tc>
                <a:extLst>
                  <a:ext uri="{0D108BD9-81ED-4DB2-BD59-A6C34878D82A}">
                    <a16:rowId xmlns:a16="http://schemas.microsoft.com/office/drawing/2014/main" val="621442748"/>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LEFT_BRACE</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2651879516"/>
                  </a:ext>
                </a:extLst>
              </a:tr>
              <a:tr h="272546">
                <a:tc>
                  <a:txBody>
                    <a:bodyPr/>
                    <a:lstStyle/>
                    <a:p>
                      <a:pPr>
                        <a:lnSpc>
                          <a:spcPts val="1650"/>
                        </a:lnSpc>
                        <a:buNone/>
                      </a:pPr>
                      <a:r>
                        <a:rPr lang="en-US" sz="1300" b="0">
                          <a:effectLst/>
                          <a:latin typeface="Menlo"/>
                        </a:rPr>
                        <a:t>y</a:t>
                      </a:r>
                      <a:endParaRPr lang="en-US"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dirty="0">
                          <a:effectLst/>
                          <a:latin typeface="quote-cjk-patch"/>
                        </a:rPr>
                        <a:t>IDENTIFIER</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3087476742"/>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ASSIGN_OP</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74328282"/>
                  </a:ext>
                </a:extLst>
              </a:tr>
              <a:tr h="214079">
                <a:tc>
                  <a:txBody>
                    <a:bodyPr/>
                    <a:lstStyle/>
                    <a:p>
                      <a:pPr>
                        <a:lnSpc>
                          <a:spcPts val="1650"/>
                        </a:lnSpc>
                        <a:buNone/>
                      </a:pPr>
                      <a:r>
                        <a:rPr lang="en-US" sz="1300" b="0">
                          <a:effectLst/>
                          <a:latin typeface="Menlo"/>
                        </a:rPr>
                        <a:t>y</a:t>
                      </a:r>
                      <a:endParaRPr lang="en-US"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IDENTIFIER</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3809124948"/>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MULT_OP</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286829202"/>
                  </a:ext>
                </a:extLst>
              </a:tr>
              <a:tr h="272546">
                <a:tc>
                  <a:txBody>
                    <a:bodyPr/>
                    <a:lstStyle/>
                    <a:p>
                      <a:pPr>
                        <a:lnSpc>
                          <a:spcPts val="1650"/>
                        </a:lnSpc>
                        <a:buNone/>
                      </a:pPr>
                      <a:r>
                        <a:rPr lang="en-PK" sz="1300" b="0">
                          <a:effectLst/>
                          <a:latin typeface="Menlo"/>
                        </a:rPr>
                        <a:t>2</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NUMBER</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⟨number⟩</a:t>
                      </a:r>
                      <a:endParaRPr lang="en-US"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460321751"/>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SEMICOLON</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1702821428"/>
                  </a:ext>
                </a:extLst>
              </a:tr>
              <a:tr h="451111">
                <a:tc>
                  <a:txBody>
                    <a:bodyPr/>
                    <a:lstStyle/>
                    <a:p>
                      <a:pPr>
                        <a:lnSpc>
                          <a:spcPts val="1650"/>
                        </a:lnSpc>
                        <a:buNone/>
                      </a:pPr>
                      <a:r>
                        <a:rPr lang="en-US" sz="1300" b="0">
                          <a:effectLst/>
                          <a:latin typeface="Menlo"/>
                        </a:rPr>
                        <a:t>print</a:t>
                      </a:r>
                      <a:endParaRPr lang="en-US"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PRINT_KEYWORD</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print</a:t>
                      </a:r>
                      <a:endParaRPr lang="en-US"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1268331709"/>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LEFT_PAREN</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3617372483"/>
                  </a:ext>
                </a:extLst>
              </a:tr>
              <a:tr h="272546">
                <a:tc>
                  <a:txBody>
                    <a:bodyPr/>
                    <a:lstStyle/>
                    <a:p>
                      <a:pPr>
                        <a:lnSpc>
                          <a:spcPts val="1650"/>
                        </a:lnSpc>
                        <a:buNone/>
                      </a:pPr>
                      <a:r>
                        <a:rPr lang="en-US" sz="1300" b="0">
                          <a:effectLst/>
                          <a:latin typeface="Menlo"/>
                        </a:rPr>
                        <a:t>y</a:t>
                      </a:r>
                      <a:endParaRPr lang="en-US"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IDENTIFIER</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US" sz="1300" b="0">
                          <a:effectLst/>
                          <a:latin typeface="Menlo"/>
                        </a:rPr>
                        <a:t>⟨identifier⟩</a:t>
                      </a:r>
                      <a:endParaRPr lang="en-US"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1457509657"/>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RIGHT_PAREN</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1642768493"/>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SEMICOLON</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a:effectLst/>
                          <a:latin typeface="Menlo"/>
                        </a:rPr>
                        <a:t>;</a:t>
                      </a:r>
                      <a:endParaRPr lang="en-PK" sz="1300" b="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1233595248"/>
                  </a:ext>
                </a:extLst>
              </a:tr>
              <a:tr h="272546">
                <a:tc>
                  <a:txBody>
                    <a:bodyPr/>
                    <a:lstStyle/>
                    <a:p>
                      <a:pPr>
                        <a:lnSpc>
                          <a:spcPts val="1650"/>
                        </a:lnSpc>
                        <a:buNone/>
                      </a:pPr>
                      <a:r>
                        <a:rPr lang="en-PK" sz="1300" b="0">
                          <a:effectLst/>
                          <a:latin typeface="Menlo"/>
                        </a:rPr>
                        <a:t>}</a:t>
                      </a:r>
                      <a:endParaRPr lang="en-PK" sz="1300" b="0">
                        <a:effectLst/>
                        <a:latin typeface="quote-cjk-patch"/>
                      </a:endParaRPr>
                    </a:p>
                  </a:txBody>
                  <a:tcPr marL="67667" marR="75185" marT="46991" marB="46991" anchor="ctr">
                    <a:lnL>
                      <a:noFill/>
                    </a:lnL>
                    <a:lnR>
                      <a:noFill/>
                    </a:lnR>
                    <a:lnT>
                      <a:noFill/>
                    </a:lnT>
                    <a:lnB>
                      <a:noFill/>
                    </a:lnB>
                    <a:solidFill>
                      <a:srgbClr val="FFFFFF"/>
                    </a:solidFill>
                  </a:tcPr>
                </a:tc>
                <a:tc>
                  <a:txBody>
                    <a:bodyPr/>
                    <a:lstStyle/>
                    <a:p>
                      <a:pPr>
                        <a:lnSpc>
                          <a:spcPts val="1875"/>
                        </a:lnSpc>
                        <a:buNone/>
                      </a:pPr>
                      <a:r>
                        <a:rPr lang="en-US" sz="1300" b="0">
                          <a:effectLst/>
                          <a:latin typeface="quote-cjk-patch"/>
                        </a:rPr>
                        <a:t>RIGHT_BRACE</a:t>
                      </a:r>
                    </a:p>
                  </a:txBody>
                  <a:tcPr marL="75185" marR="75185" marT="46991" marB="46991" anchor="ctr">
                    <a:lnL>
                      <a:noFill/>
                    </a:lnL>
                    <a:lnR>
                      <a:noFill/>
                    </a:lnR>
                    <a:lnT>
                      <a:noFill/>
                    </a:lnT>
                    <a:lnB>
                      <a:noFill/>
                    </a:lnB>
                    <a:solidFill>
                      <a:srgbClr val="FFFFFF"/>
                    </a:solidFill>
                  </a:tcPr>
                </a:tc>
                <a:tc>
                  <a:txBody>
                    <a:bodyPr/>
                    <a:lstStyle/>
                    <a:p>
                      <a:pPr>
                        <a:lnSpc>
                          <a:spcPts val="1650"/>
                        </a:lnSpc>
                        <a:buNone/>
                      </a:pPr>
                      <a:r>
                        <a:rPr lang="en-PK" sz="1300" b="0" dirty="0">
                          <a:effectLst/>
                          <a:latin typeface="Menlo"/>
                        </a:rPr>
                        <a:t>}</a:t>
                      </a:r>
                      <a:endParaRPr lang="en-PK" sz="1300" b="0" dirty="0">
                        <a:effectLst/>
                        <a:latin typeface="quote-cjk-patch"/>
                      </a:endParaRPr>
                    </a:p>
                  </a:txBody>
                  <a:tcPr marL="75185" marR="67667" marT="46991" marB="46991" anchor="ctr">
                    <a:lnL>
                      <a:noFill/>
                    </a:lnL>
                    <a:lnR>
                      <a:noFill/>
                    </a:lnR>
                    <a:lnT>
                      <a:noFill/>
                    </a:lnT>
                    <a:lnB>
                      <a:noFill/>
                    </a:lnB>
                    <a:solidFill>
                      <a:srgbClr val="FFFFFF"/>
                    </a:solidFill>
                  </a:tcPr>
                </a:tc>
                <a:extLst>
                  <a:ext uri="{0D108BD9-81ED-4DB2-BD59-A6C34878D82A}">
                    <a16:rowId xmlns:a16="http://schemas.microsoft.com/office/drawing/2014/main" val="2348234393"/>
                  </a:ext>
                </a:extLst>
              </a:tr>
            </a:tbl>
          </a:graphicData>
        </a:graphic>
      </p:graphicFrame>
    </p:spTree>
    <p:extLst>
      <p:ext uri="{BB962C8B-B14F-4D97-AF65-F5344CB8AC3E}">
        <p14:creationId xmlns:p14="http://schemas.microsoft.com/office/powerpoint/2010/main" val="36126283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4AE1-D33A-B75C-FA67-8F4BCB0206B0}"/>
              </a:ext>
            </a:extLst>
          </p:cNvPr>
          <p:cNvSpPr>
            <a:spLocks noGrp="1"/>
          </p:cNvSpPr>
          <p:nvPr>
            <p:ph type="title"/>
          </p:nvPr>
        </p:nvSpPr>
        <p:spPr/>
        <p:txBody>
          <a:bodyPr/>
          <a:lstStyle/>
          <a:p>
            <a:r>
              <a:rPr lang="en-US" dirty="0"/>
              <a:t>Implementing CFG with above tokens</a:t>
            </a:r>
            <a:br>
              <a:rPr lang="en-US" dirty="0"/>
            </a:br>
            <a:r>
              <a:rPr lang="en-US" dirty="0"/>
              <a:t>Variable Declaration</a:t>
            </a:r>
            <a:endParaRPr lang="en-PK" dirty="0"/>
          </a:p>
        </p:txBody>
      </p:sp>
      <p:sp>
        <p:nvSpPr>
          <p:cNvPr id="3" name="Content Placeholder 2">
            <a:extLst>
              <a:ext uri="{FF2B5EF4-FFF2-40B4-BE49-F238E27FC236}">
                <a16:creationId xmlns:a16="http://schemas.microsoft.com/office/drawing/2014/main" id="{E0876867-4670-5596-FFEB-CF1828C98CB7}"/>
              </a:ext>
            </a:extLst>
          </p:cNvPr>
          <p:cNvSpPr>
            <a:spLocks noGrp="1"/>
          </p:cNvSpPr>
          <p:nvPr>
            <p:ph idx="1"/>
          </p:nvPr>
        </p:nvSpPr>
        <p:spPr>
          <a:xfrm>
            <a:off x="838200" y="1856105"/>
            <a:ext cx="10515600" cy="4351338"/>
          </a:xfrm>
        </p:spPr>
        <p:txBody>
          <a:bodyPr>
            <a:normAutofit/>
          </a:bodyPr>
          <a:lstStyle/>
          <a:p>
            <a:r>
              <a:rPr lang="en-US" sz="2400" b="1" dirty="0"/>
              <a:t>Variable Declaration Parse Tree </a:t>
            </a:r>
            <a:endParaRPr lang="en-PK" sz="2400" b="1" dirty="0"/>
          </a:p>
          <a:p>
            <a:r>
              <a:rPr lang="en-US" sz="2400" b="1" dirty="0"/>
              <a:t>Source Code:</a:t>
            </a:r>
            <a:r>
              <a:rPr lang="en-US" sz="2400" dirty="0"/>
              <a:t> int x = 10;</a:t>
            </a:r>
          </a:p>
          <a:p>
            <a:r>
              <a:rPr lang="en-US" sz="2400" b="1" dirty="0"/>
              <a:t>Token Stream:</a:t>
            </a:r>
          </a:p>
          <a:p>
            <a:r>
              <a:rPr lang="en-US" sz="2400" dirty="0"/>
              <a:t>TYPE(int) → IDENTIFIER(x) → ASSIGN_OP(=) → NUMBER(10) → SEMICOLON(;)</a:t>
            </a:r>
          </a:p>
          <a:p>
            <a:endParaRPr lang="en-PK" sz="2400" dirty="0"/>
          </a:p>
        </p:txBody>
      </p:sp>
      <p:pic>
        <p:nvPicPr>
          <p:cNvPr id="5" name="Picture 4">
            <a:extLst>
              <a:ext uri="{FF2B5EF4-FFF2-40B4-BE49-F238E27FC236}">
                <a16:creationId xmlns:a16="http://schemas.microsoft.com/office/drawing/2014/main" id="{072C514C-C7F9-6FF9-1B6F-D1396C7200AB}"/>
              </a:ext>
            </a:extLst>
          </p:cNvPr>
          <p:cNvPicPr>
            <a:picLocks noChangeAspect="1"/>
          </p:cNvPicPr>
          <p:nvPr/>
        </p:nvPicPr>
        <p:blipFill>
          <a:blip r:embed="rId2"/>
          <a:stretch>
            <a:fillRect/>
          </a:stretch>
        </p:blipFill>
        <p:spPr>
          <a:xfrm>
            <a:off x="2760695" y="3860801"/>
            <a:ext cx="8359425" cy="2451100"/>
          </a:xfrm>
          <a:prstGeom prst="rect">
            <a:avLst/>
          </a:prstGeom>
        </p:spPr>
      </p:pic>
    </p:spTree>
    <p:extLst>
      <p:ext uri="{BB962C8B-B14F-4D97-AF65-F5344CB8AC3E}">
        <p14:creationId xmlns:p14="http://schemas.microsoft.com/office/powerpoint/2010/main" val="20690533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6F1FC-5DC6-9CC7-176C-6D611592732D}"/>
              </a:ext>
            </a:extLst>
          </p:cNvPr>
          <p:cNvSpPr>
            <a:spLocks noGrp="1"/>
          </p:cNvSpPr>
          <p:nvPr>
            <p:ph type="title"/>
          </p:nvPr>
        </p:nvSpPr>
        <p:spPr/>
        <p:txBody>
          <a:bodyPr/>
          <a:lstStyle/>
          <a:p>
            <a:r>
              <a:rPr lang="en-US" dirty="0"/>
              <a:t>Assignment statement</a:t>
            </a:r>
            <a:endParaRPr lang="en-PK" dirty="0"/>
          </a:p>
        </p:txBody>
      </p:sp>
      <p:sp>
        <p:nvSpPr>
          <p:cNvPr id="3" name="Content Placeholder 2">
            <a:extLst>
              <a:ext uri="{FF2B5EF4-FFF2-40B4-BE49-F238E27FC236}">
                <a16:creationId xmlns:a16="http://schemas.microsoft.com/office/drawing/2014/main" id="{01B17E76-9FDC-EB1F-63FF-2D1AE19F09D9}"/>
              </a:ext>
            </a:extLst>
          </p:cNvPr>
          <p:cNvSpPr>
            <a:spLocks noGrp="1"/>
          </p:cNvSpPr>
          <p:nvPr>
            <p:ph idx="1"/>
          </p:nvPr>
        </p:nvSpPr>
        <p:spPr/>
        <p:txBody>
          <a:bodyPr>
            <a:normAutofit/>
          </a:bodyPr>
          <a:lstStyle/>
          <a:p>
            <a:r>
              <a:rPr lang="en-US" sz="2400" b="1" dirty="0"/>
              <a:t>Source Code:</a:t>
            </a:r>
            <a:r>
              <a:rPr lang="en-US" sz="2400" dirty="0"/>
              <a:t> y = y * 2;</a:t>
            </a:r>
          </a:p>
          <a:p>
            <a:r>
              <a:rPr lang="en-US" sz="2400" b="1" dirty="0"/>
              <a:t>Token Stream:</a:t>
            </a:r>
          </a:p>
          <a:p>
            <a:r>
              <a:rPr lang="en-US" sz="2400" dirty="0"/>
              <a:t>IDENTIFIER(y) → ASSIGN_OP(=) → IDENTIFIER(y) → MULT_OP(*) → NUMBER(2) → SEMICOLON(;)</a:t>
            </a:r>
          </a:p>
          <a:p>
            <a:endParaRPr lang="en-PK" sz="2400" dirty="0"/>
          </a:p>
        </p:txBody>
      </p:sp>
      <p:pic>
        <p:nvPicPr>
          <p:cNvPr id="5" name="Picture 4">
            <a:extLst>
              <a:ext uri="{FF2B5EF4-FFF2-40B4-BE49-F238E27FC236}">
                <a16:creationId xmlns:a16="http://schemas.microsoft.com/office/drawing/2014/main" id="{8140B46F-8408-1577-DF74-6F1DCBBBD16F}"/>
              </a:ext>
            </a:extLst>
          </p:cNvPr>
          <p:cNvPicPr>
            <a:picLocks noChangeAspect="1"/>
          </p:cNvPicPr>
          <p:nvPr/>
        </p:nvPicPr>
        <p:blipFill>
          <a:blip r:embed="rId2"/>
          <a:stretch>
            <a:fillRect/>
          </a:stretch>
        </p:blipFill>
        <p:spPr>
          <a:xfrm>
            <a:off x="3486631" y="3197802"/>
            <a:ext cx="8289516" cy="3114098"/>
          </a:xfrm>
          <a:prstGeom prst="rect">
            <a:avLst/>
          </a:prstGeom>
        </p:spPr>
      </p:pic>
    </p:spTree>
    <p:extLst>
      <p:ext uri="{BB962C8B-B14F-4D97-AF65-F5344CB8AC3E}">
        <p14:creationId xmlns:p14="http://schemas.microsoft.com/office/powerpoint/2010/main" val="20560697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EF6C-7CB0-4AC1-BBC5-BB5F05E9FC46}"/>
              </a:ext>
            </a:extLst>
          </p:cNvPr>
          <p:cNvSpPr>
            <a:spLocks noGrp="1"/>
          </p:cNvSpPr>
          <p:nvPr>
            <p:ph type="title"/>
          </p:nvPr>
        </p:nvSpPr>
        <p:spPr/>
        <p:txBody>
          <a:bodyPr/>
          <a:lstStyle/>
          <a:p>
            <a:r>
              <a:rPr lang="en-US" b="1" dirty="0"/>
              <a:t>If-Else Statement </a:t>
            </a:r>
            <a:endParaRPr lang="en-PK" dirty="0"/>
          </a:p>
        </p:txBody>
      </p:sp>
      <p:sp>
        <p:nvSpPr>
          <p:cNvPr id="3" name="Content Placeholder 2">
            <a:extLst>
              <a:ext uri="{FF2B5EF4-FFF2-40B4-BE49-F238E27FC236}">
                <a16:creationId xmlns:a16="http://schemas.microsoft.com/office/drawing/2014/main" id="{AA3AD77C-30A6-8087-D3E6-E0960413A000}"/>
              </a:ext>
            </a:extLst>
          </p:cNvPr>
          <p:cNvSpPr>
            <a:spLocks noGrp="1"/>
          </p:cNvSpPr>
          <p:nvPr>
            <p:ph idx="1"/>
          </p:nvPr>
        </p:nvSpPr>
        <p:spPr>
          <a:xfrm>
            <a:off x="838200" y="1330960"/>
            <a:ext cx="10515600" cy="4846003"/>
          </a:xfrm>
        </p:spPr>
        <p:txBody>
          <a:bodyPr/>
          <a:lstStyle/>
          <a:p>
            <a:r>
              <a:rPr lang="en-US" b="1" dirty="0"/>
              <a:t>Source Code:</a:t>
            </a:r>
            <a:r>
              <a:rPr lang="en-US" dirty="0"/>
              <a:t> if (x &gt; y) { print(x); } else { y = y * 2; }</a:t>
            </a:r>
            <a:endParaRPr lang="en-PK" dirty="0"/>
          </a:p>
        </p:txBody>
      </p:sp>
      <p:pic>
        <p:nvPicPr>
          <p:cNvPr id="5" name="Picture 4">
            <a:extLst>
              <a:ext uri="{FF2B5EF4-FFF2-40B4-BE49-F238E27FC236}">
                <a16:creationId xmlns:a16="http://schemas.microsoft.com/office/drawing/2014/main" id="{672D1B27-AD10-2CC2-6FF5-F03ACAC224B1}"/>
              </a:ext>
            </a:extLst>
          </p:cNvPr>
          <p:cNvPicPr>
            <a:picLocks noChangeAspect="1"/>
          </p:cNvPicPr>
          <p:nvPr/>
        </p:nvPicPr>
        <p:blipFill>
          <a:blip r:embed="rId2"/>
          <a:stretch>
            <a:fillRect/>
          </a:stretch>
        </p:blipFill>
        <p:spPr>
          <a:xfrm>
            <a:off x="899079" y="1760326"/>
            <a:ext cx="9504761" cy="915928"/>
          </a:xfrm>
          <a:prstGeom prst="rect">
            <a:avLst/>
          </a:prstGeom>
        </p:spPr>
      </p:pic>
      <p:pic>
        <p:nvPicPr>
          <p:cNvPr id="7" name="Picture 6">
            <a:extLst>
              <a:ext uri="{FF2B5EF4-FFF2-40B4-BE49-F238E27FC236}">
                <a16:creationId xmlns:a16="http://schemas.microsoft.com/office/drawing/2014/main" id="{3A9AEA2C-FFFF-AA72-D353-A7FBD34B86DB}"/>
              </a:ext>
            </a:extLst>
          </p:cNvPr>
          <p:cNvPicPr>
            <a:picLocks noChangeAspect="1"/>
          </p:cNvPicPr>
          <p:nvPr/>
        </p:nvPicPr>
        <p:blipFill>
          <a:blip r:embed="rId3"/>
          <a:stretch>
            <a:fillRect/>
          </a:stretch>
        </p:blipFill>
        <p:spPr>
          <a:xfrm>
            <a:off x="1020308" y="2603755"/>
            <a:ext cx="6396492" cy="4065632"/>
          </a:xfrm>
          <a:prstGeom prst="rect">
            <a:avLst/>
          </a:prstGeom>
        </p:spPr>
      </p:pic>
    </p:spTree>
    <p:extLst>
      <p:ext uri="{BB962C8B-B14F-4D97-AF65-F5344CB8AC3E}">
        <p14:creationId xmlns:p14="http://schemas.microsoft.com/office/powerpoint/2010/main" val="29755050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F4F5-9A83-BBE5-8EEC-902CD77D5A1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333FD51-205C-9D4F-4B51-59E4938F376E}"/>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50625B1F-597D-ADC1-5A73-ED9326F2F8C4}"/>
              </a:ext>
            </a:extLst>
          </p:cNvPr>
          <p:cNvPicPr>
            <a:picLocks noChangeAspect="1"/>
          </p:cNvPicPr>
          <p:nvPr/>
        </p:nvPicPr>
        <p:blipFill>
          <a:blip r:embed="rId2"/>
          <a:stretch>
            <a:fillRect/>
          </a:stretch>
        </p:blipFill>
        <p:spPr>
          <a:xfrm>
            <a:off x="838200" y="365125"/>
            <a:ext cx="9311640" cy="5959090"/>
          </a:xfrm>
          <a:prstGeom prst="rect">
            <a:avLst/>
          </a:prstGeom>
        </p:spPr>
      </p:pic>
    </p:spTree>
    <p:extLst>
      <p:ext uri="{BB962C8B-B14F-4D97-AF65-F5344CB8AC3E}">
        <p14:creationId xmlns:p14="http://schemas.microsoft.com/office/powerpoint/2010/main" val="30849993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40EC-BA6B-EEBF-E934-189183948CC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E323A78-8D17-4975-75F6-9D9BC1B538CF}"/>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F694576-6ED7-4B8B-CD5E-AB3CA1415F3D}"/>
              </a:ext>
            </a:extLst>
          </p:cNvPr>
          <p:cNvPicPr>
            <a:picLocks noChangeAspect="1"/>
          </p:cNvPicPr>
          <p:nvPr/>
        </p:nvPicPr>
        <p:blipFill>
          <a:blip r:embed="rId2"/>
          <a:stretch>
            <a:fillRect/>
          </a:stretch>
        </p:blipFill>
        <p:spPr>
          <a:xfrm>
            <a:off x="1164418" y="292874"/>
            <a:ext cx="8985422" cy="6291501"/>
          </a:xfrm>
          <a:prstGeom prst="rect">
            <a:avLst/>
          </a:prstGeom>
        </p:spPr>
      </p:pic>
    </p:spTree>
    <p:extLst>
      <p:ext uri="{BB962C8B-B14F-4D97-AF65-F5344CB8AC3E}">
        <p14:creationId xmlns:p14="http://schemas.microsoft.com/office/powerpoint/2010/main" val="41875206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10AE-953B-1B9A-FC59-1E52611C024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9848A0C-0D6B-76B4-CE87-E58DD655FC37}"/>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5158530D-7D1B-0388-A3F0-0D52B314F6FE}"/>
              </a:ext>
            </a:extLst>
          </p:cNvPr>
          <p:cNvPicPr>
            <a:picLocks noChangeAspect="1"/>
          </p:cNvPicPr>
          <p:nvPr/>
        </p:nvPicPr>
        <p:blipFill>
          <a:blip r:embed="rId2"/>
          <a:stretch>
            <a:fillRect/>
          </a:stretch>
        </p:blipFill>
        <p:spPr>
          <a:xfrm>
            <a:off x="1006648" y="-45720"/>
            <a:ext cx="9182228" cy="6074396"/>
          </a:xfrm>
          <a:prstGeom prst="rect">
            <a:avLst/>
          </a:prstGeom>
        </p:spPr>
      </p:pic>
    </p:spTree>
    <p:extLst>
      <p:ext uri="{BB962C8B-B14F-4D97-AF65-F5344CB8AC3E}">
        <p14:creationId xmlns:p14="http://schemas.microsoft.com/office/powerpoint/2010/main" val="27902992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AFE4-5D7A-F2A3-FDBC-38A2B1C29DE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FB0A769-7E95-2E5D-5369-1A24297B2437}"/>
              </a:ext>
            </a:extLst>
          </p:cNvPr>
          <p:cNvSpPr>
            <a:spLocks noGrp="1"/>
          </p:cNvSpPr>
          <p:nvPr>
            <p:ph idx="1"/>
          </p:nvPr>
        </p:nvSpPr>
        <p:spPr/>
        <p:txBody>
          <a:bodyPr/>
          <a:lstStyle/>
          <a:p>
            <a:endParaRPr lang="en-PK"/>
          </a:p>
        </p:txBody>
      </p:sp>
      <p:pic>
        <p:nvPicPr>
          <p:cNvPr id="6" name="Picture 5">
            <a:extLst>
              <a:ext uri="{FF2B5EF4-FFF2-40B4-BE49-F238E27FC236}">
                <a16:creationId xmlns:a16="http://schemas.microsoft.com/office/drawing/2014/main" id="{37CEF68C-EE60-0762-CC03-425978F2A7D8}"/>
              </a:ext>
            </a:extLst>
          </p:cNvPr>
          <p:cNvPicPr>
            <a:picLocks noChangeAspect="1"/>
          </p:cNvPicPr>
          <p:nvPr/>
        </p:nvPicPr>
        <p:blipFill>
          <a:blip r:embed="rId2"/>
          <a:stretch>
            <a:fillRect/>
          </a:stretch>
        </p:blipFill>
        <p:spPr>
          <a:xfrm>
            <a:off x="1071880" y="230388"/>
            <a:ext cx="9504680" cy="6262487"/>
          </a:xfrm>
          <a:prstGeom prst="rect">
            <a:avLst/>
          </a:prstGeom>
        </p:spPr>
      </p:pic>
    </p:spTree>
    <p:extLst>
      <p:ext uri="{BB962C8B-B14F-4D97-AF65-F5344CB8AC3E}">
        <p14:creationId xmlns:p14="http://schemas.microsoft.com/office/powerpoint/2010/main" val="39449354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3E18-67E4-687C-737A-EE42F8983DC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654EFD5-2CFA-7F14-69F4-9929303DB6CE}"/>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E56FA226-3A32-5D16-79D2-1B1339A2A59C}"/>
              </a:ext>
            </a:extLst>
          </p:cNvPr>
          <p:cNvPicPr>
            <a:picLocks noChangeAspect="1"/>
          </p:cNvPicPr>
          <p:nvPr/>
        </p:nvPicPr>
        <p:blipFill>
          <a:blip r:embed="rId2"/>
          <a:stretch>
            <a:fillRect/>
          </a:stretch>
        </p:blipFill>
        <p:spPr>
          <a:xfrm>
            <a:off x="1183640" y="365125"/>
            <a:ext cx="9565640" cy="6319716"/>
          </a:xfrm>
          <a:prstGeom prst="rect">
            <a:avLst/>
          </a:prstGeom>
        </p:spPr>
      </p:pic>
    </p:spTree>
    <p:extLst>
      <p:ext uri="{BB962C8B-B14F-4D97-AF65-F5344CB8AC3E}">
        <p14:creationId xmlns:p14="http://schemas.microsoft.com/office/powerpoint/2010/main" val="9776771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F1B5-F67C-C9E0-D12F-20DA860345F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919882C-8AB7-5C15-8FD6-52CA63B6C3CB}"/>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54D00180-4A6D-AF3C-3ABF-7750CA75DD5D}"/>
              </a:ext>
            </a:extLst>
          </p:cNvPr>
          <p:cNvPicPr>
            <a:picLocks noChangeAspect="1"/>
          </p:cNvPicPr>
          <p:nvPr/>
        </p:nvPicPr>
        <p:blipFill>
          <a:blip r:embed="rId2"/>
          <a:stretch>
            <a:fillRect/>
          </a:stretch>
        </p:blipFill>
        <p:spPr>
          <a:xfrm>
            <a:off x="1582420" y="222885"/>
            <a:ext cx="9027160" cy="6091031"/>
          </a:xfrm>
          <a:prstGeom prst="rect">
            <a:avLst/>
          </a:prstGeom>
        </p:spPr>
      </p:pic>
    </p:spTree>
    <p:extLst>
      <p:ext uri="{BB962C8B-B14F-4D97-AF65-F5344CB8AC3E}">
        <p14:creationId xmlns:p14="http://schemas.microsoft.com/office/powerpoint/2010/main" val="34536865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Parsing </a:t>
            </a:r>
          </a:p>
        </p:txBody>
      </p:sp>
      <p:sp>
        <p:nvSpPr>
          <p:cNvPr id="3" name="Content Placeholder 2"/>
          <p:cNvSpPr>
            <a:spLocks noGrp="1"/>
          </p:cNvSpPr>
          <p:nvPr>
            <p:ph idx="1"/>
          </p:nvPr>
        </p:nvSpPr>
        <p:spPr/>
        <p:txBody>
          <a:bodyPr>
            <a:normAutofit/>
          </a:bodyPr>
          <a:lstStyle/>
          <a:p>
            <a:r>
              <a:rPr lang="en-US" dirty="0"/>
              <a:t>A parsing method called \recursive descent," which can be used both to parse and to implement syntax-directed translators.</a:t>
            </a:r>
          </a:p>
          <a:p>
            <a:r>
              <a:rPr lang="en-US" dirty="0"/>
              <a:t>For any context-free grammar there is a parser that takes at most </a:t>
            </a:r>
            <a:br>
              <a:rPr lang="en-US" dirty="0"/>
            </a:br>
            <a:r>
              <a:rPr lang="en-US" dirty="0"/>
              <a:t>O (n</a:t>
            </a:r>
            <a:r>
              <a:rPr lang="en-US" baseline="30000" dirty="0"/>
              <a:t>3</a:t>
            </a:r>
            <a:r>
              <a:rPr lang="en-US" dirty="0"/>
              <a:t> ) time to parse a string of n terminals. But cubic time is generally too expensive.</a:t>
            </a:r>
          </a:p>
          <a:p>
            <a:r>
              <a:rPr lang="en-US" dirty="0"/>
              <a:t>Fortunately, for real programming languages, we can generally design a grammar that can be parsed quickly.</a:t>
            </a:r>
          </a:p>
        </p:txBody>
      </p:sp>
    </p:spTree>
    <p:extLst>
      <p:ext uri="{BB962C8B-B14F-4D97-AF65-F5344CB8AC3E}">
        <p14:creationId xmlns:p14="http://schemas.microsoft.com/office/powerpoint/2010/main" val="29869803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Parsing</a:t>
            </a:r>
          </a:p>
        </p:txBody>
      </p:sp>
      <p:sp>
        <p:nvSpPr>
          <p:cNvPr id="3" name="Content Placeholder 2"/>
          <p:cNvSpPr>
            <a:spLocks noGrp="1"/>
          </p:cNvSpPr>
          <p:nvPr>
            <p:ph idx="1"/>
          </p:nvPr>
        </p:nvSpPr>
        <p:spPr/>
        <p:txBody>
          <a:bodyPr/>
          <a:lstStyle/>
          <a:p>
            <a:r>
              <a:rPr lang="en-US" dirty="0"/>
              <a:t>Most parsing methods fall into one of two classes, called the top-down and bottom-up methods. </a:t>
            </a:r>
          </a:p>
          <a:p>
            <a:r>
              <a:rPr lang="en-US" dirty="0"/>
              <a:t>These terms refer to the order in which no des in the parse tree are constructed. </a:t>
            </a:r>
          </a:p>
        </p:txBody>
      </p:sp>
    </p:spTree>
    <p:extLst>
      <p:ext uri="{BB962C8B-B14F-4D97-AF65-F5344CB8AC3E}">
        <p14:creationId xmlns:p14="http://schemas.microsoft.com/office/powerpoint/2010/main" val="37415340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 Down Parsing</a:t>
            </a:r>
          </a:p>
        </p:txBody>
      </p:sp>
      <p:sp>
        <p:nvSpPr>
          <p:cNvPr id="3" name="Content Placeholder 2"/>
          <p:cNvSpPr>
            <a:spLocks noGrp="1"/>
          </p:cNvSpPr>
          <p:nvPr>
            <p:ph idx="1"/>
          </p:nvPr>
        </p:nvSpPr>
        <p:spPr/>
        <p:txBody>
          <a:bodyPr>
            <a:normAutofit/>
          </a:bodyPr>
          <a:lstStyle/>
          <a:p>
            <a:r>
              <a:rPr lang="en-US" dirty="0"/>
              <a:t>The top–down parser starts by constructing the parse tree with a single node labeled with the start symbol. It can then build up the complete parse tree by creating the </a:t>
            </a:r>
            <a:r>
              <a:rPr lang="en-US" dirty="0" err="1"/>
              <a:t>subtrees</a:t>
            </a:r>
            <a:r>
              <a:rPr lang="en-US" dirty="0"/>
              <a:t> one by one, in a left-to-right order.</a:t>
            </a:r>
          </a:p>
          <a:p>
            <a:r>
              <a:rPr lang="en-US" dirty="0"/>
              <a:t>In building a </a:t>
            </a:r>
            <a:r>
              <a:rPr lang="en-US" dirty="0" err="1"/>
              <a:t>subtree</a:t>
            </a:r>
            <a:r>
              <a:rPr lang="en-US" dirty="0"/>
              <a:t>, the root node of that </a:t>
            </a:r>
            <a:r>
              <a:rPr lang="en-US" dirty="0" err="1"/>
              <a:t>subtree</a:t>
            </a:r>
            <a:r>
              <a:rPr lang="en-US" dirty="0"/>
              <a:t> is created and than all the sub-</a:t>
            </a:r>
            <a:r>
              <a:rPr lang="en-US" dirty="0" err="1"/>
              <a:t>subtrees</a:t>
            </a:r>
            <a:r>
              <a:rPr lang="en-US" dirty="0"/>
              <a:t> of that </a:t>
            </a:r>
            <a:r>
              <a:rPr lang="en-US" dirty="0" err="1"/>
              <a:t>subtree</a:t>
            </a:r>
            <a:r>
              <a:rPr lang="en-US" dirty="0"/>
              <a:t> are generated.</a:t>
            </a:r>
          </a:p>
          <a:p>
            <a:r>
              <a:rPr lang="en-US" dirty="0"/>
              <a:t>This is a recursive algorithm, generating the tree in pre-order (node, then its </a:t>
            </a:r>
            <a:r>
              <a:rPr lang="en-US" dirty="0" err="1"/>
              <a:t>subtrees</a:t>
            </a:r>
            <a:r>
              <a:rPr lang="en-US" dirty="0"/>
              <a:t> in a left-to-right order).</a:t>
            </a:r>
          </a:p>
        </p:txBody>
      </p:sp>
    </p:spTree>
    <p:extLst>
      <p:ext uri="{BB962C8B-B14F-4D97-AF65-F5344CB8AC3E}">
        <p14:creationId xmlns:p14="http://schemas.microsoft.com/office/powerpoint/2010/main" val="30009967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82600"/>
            <a:ext cx="10972800" cy="1143000"/>
          </a:xfrm>
        </p:spPr>
        <p:txBody>
          <a:bodyPr>
            <a:normAutofit/>
          </a:bodyPr>
          <a:lstStyle/>
          <a:p>
            <a:r>
              <a:rPr lang="en-US" dirty="0"/>
              <a:t>Parse Trees and the Leftmost Derivation</a:t>
            </a:r>
          </a:p>
        </p:txBody>
      </p:sp>
      <p:sp>
        <p:nvSpPr>
          <p:cNvPr id="3" name="Content Placeholder 2"/>
          <p:cNvSpPr>
            <a:spLocks noGrp="1"/>
          </p:cNvSpPr>
          <p:nvPr>
            <p:ph idx="1"/>
          </p:nvPr>
        </p:nvSpPr>
        <p:spPr>
          <a:xfrm>
            <a:off x="609600" y="1993900"/>
            <a:ext cx="10972800" cy="4525963"/>
          </a:xfrm>
        </p:spPr>
        <p:txBody>
          <a:bodyPr>
            <a:normAutofit/>
          </a:bodyPr>
          <a:lstStyle/>
          <a:p>
            <a:r>
              <a:rPr lang="en-US" dirty="0"/>
              <a:t>Our task is to illustrate the parsing of </a:t>
            </a:r>
            <a:r>
              <a:rPr lang="en-US" dirty="0" err="1"/>
              <a:t>x+y</a:t>
            </a:r>
            <a:r>
              <a:rPr lang="en-US" dirty="0"/>
              <a:t>*z.</a:t>
            </a:r>
          </a:p>
          <a:p>
            <a:endParaRPr lang="en-US" dirty="0"/>
          </a:p>
          <a:p>
            <a:endParaRPr lang="en-US" dirty="0"/>
          </a:p>
          <a:p>
            <a:endParaRPr lang="en-US" dirty="0"/>
          </a:p>
          <a:p>
            <a:r>
              <a:rPr lang="en-US" dirty="0"/>
              <a:t>The next step in the pre-order generation is to set up the leftmost </a:t>
            </a:r>
            <a:r>
              <a:rPr lang="en-US" dirty="0" err="1"/>
              <a:t>subnode</a:t>
            </a:r>
            <a:r>
              <a:rPr lang="en-US" dirty="0"/>
              <a:t>. </a:t>
            </a:r>
          </a:p>
          <a:p>
            <a:r>
              <a:rPr lang="en-US" dirty="0"/>
              <a:t>This is done by looking at the grammar of the language and noting that &lt;</a:t>
            </a:r>
            <a:r>
              <a:rPr lang="en-US" dirty="0" err="1"/>
              <a:t>expr</a:t>
            </a:r>
            <a:r>
              <a:rPr lang="en-US" dirty="0"/>
              <a:t>&gt; is defined as</a:t>
            </a:r>
          </a:p>
          <a:p>
            <a:r>
              <a:rPr lang="en-US" b="1" dirty="0"/>
              <a:t>&lt;</a:t>
            </a:r>
            <a:r>
              <a:rPr lang="en-US" b="1" dirty="0" err="1"/>
              <a:t>expr</a:t>
            </a:r>
            <a:r>
              <a:rPr lang="en-US" b="1" dirty="0"/>
              <a:t>&gt; ::= &lt;term&gt; | &lt;</a:t>
            </a:r>
            <a:r>
              <a:rPr lang="en-US" b="1" dirty="0" err="1"/>
              <a:t>expr</a:t>
            </a:r>
            <a:r>
              <a:rPr lang="en-US" b="1" dirty="0"/>
              <a:t>&gt; + &lt;term&gt;</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001" y="2019300"/>
            <a:ext cx="19431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1172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733" dirty="0"/>
              <a:t>Which alternative should be chosen? This turns out to be a difficult issue because of the characteristics of this grammar. We choose the </a:t>
            </a:r>
            <a:r>
              <a:rPr lang="en-US" sz="3733" b="1" dirty="0"/>
              <a:t>&lt;</a:t>
            </a:r>
            <a:r>
              <a:rPr lang="en-US" sz="3733" b="1" dirty="0" err="1"/>
              <a:t>expr</a:t>
            </a:r>
            <a:r>
              <a:rPr lang="en-US" sz="3733" b="1" dirty="0"/>
              <a:t>&gt; ::= &lt;</a:t>
            </a:r>
            <a:r>
              <a:rPr lang="en-US" sz="3733" b="1" dirty="0" err="1"/>
              <a:t>expr</a:t>
            </a:r>
            <a:r>
              <a:rPr lang="en-US" sz="3733" b="1" dirty="0"/>
              <a:t>&gt; + &lt;term&gt;.</a:t>
            </a:r>
          </a:p>
          <a:p>
            <a:endParaRPr lang="en-US"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5115" y="3429001"/>
            <a:ext cx="2984685"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5840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0"/>
            <a:ext cx="10972800" cy="4525963"/>
          </a:xfrm>
        </p:spPr>
        <p:txBody>
          <a:bodyPr>
            <a:normAutofit/>
          </a:bodyPr>
          <a:lstStyle/>
          <a:p>
            <a:r>
              <a:rPr lang="en-US" sz="3733" dirty="0"/>
              <a:t>We then have to deal with the nodes and their </a:t>
            </a:r>
            <a:r>
              <a:rPr lang="en-US" sz="3733" dirty="0" err="1"/>
              <a:t>subtrees</a:t>
            </a:r>
            <a:r>
              <a:rPr lang="en-US" sz="3733" dirty="0"/>
              <a:t> from left to right. This time we use the production </a:t>
            </a:r>
            <a:r>
              <a:rPr lang="en-US" sz="3733" b="1" dirty="0"/>
              <a:t>&lt;</a:t>
            </a:r>
            <a:r>
              <a:rPr lang="en-US" sz="3733" b="1" dirty="0" err="1"/>
              <a:t>expr</a:t>
            </a:r>
            <a:r>
              <a:rPr lang="en-US" sz="3733" b="1" dirty="0"/>
              <a:t>&gt; ::= &lt;term&gt; </a:t>
            </a:r>
            <a:r>
              <a:rPr lang="en-US" sz="3733" dirty="0"/>
              <a:t>and the tree becomes: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1451" y="2717801"/>
            <a:ext cx="3289300" cy="359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49925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685800"/>
            <a:ext cx="10972800" cy="4525963"/>
          </a:xfrm>
        </p:spPr>
        <p:txBody>
          <a:bodyPr/>
          <a:lstStyle/>
          <a:p>
            <a:r>
              <a:rPr lang="en-US" dirty="0"/>
              <a:t>The lower &lt;term&gt; node has to be tackled next. Use the production &lt;term&gt; ::= &lt;factor&gt;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0789" y="2006600"/>
            <a:ext cx="3967012"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39247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79400"/>
            <a:ext cx="10972800" cy="4525963"/>
          </a:xfrm>
        </p:spPr>
        <p:txBody>
          <a:bodyPr/>
          <a:lstStyle/>
          <a:p>
            <a:r>
              <a:rPr lang="en-US" dirty="0"/>
              <a:t>The &lt;factor&gt; node is given a single child via the production &lt;factor&gt; ::= x</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1" y="1193801"/>
            <a:ext cx="4102100" cy="473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5149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Since we have ended this branch of the tree with a terminal symbol, this symbol is matched with the input. Our input is </a:t>
            </a:r>
            <a:r>
              <a:rPr lang="en-US" dirty="0" err="1"/>
              <a:t>x+y</a:t>
            </a:r>
            <a:r>
              <a:rPr lang="en-US" dirty="0"/>
              <a:t>*z, the x is matched and the remaining input is +y*z. We then unwind from the recursion all the way back up to deal with the &lt;</a:t>
            </a:r>
            <a:r>
              <a:rPr lang="en-US" dirty="0" err="1"/>
              <a:t>expr</a:t>
            </a:r>
            <a:r>
              <a:rPr lang="en-US" dirty="0"/>
              <a:t>&gt; + &lt;term&gt; node. We have just dealt with the leftmost &lt;</a:t>
            </a:r>
            <a:r>
              <a:rPr lang="en-US" dirty="0" err="1"/>
              <a:t>expr</a:t>
            </a:r>
            <a:r>
              <a:rPr lang="en-US" dirty="0"/>
              <a:t>&gt;</a:t>
            </a:r>
          </a:p>
          <a:p>
            <a:r>
              <a:rPr lang="en-US" dirty="0"/>
              <a:t>node and its children, so we now tackle the node +. This again is matched with the input and so y*z remains. The next step is to deal with the third node &lt;term&gt;. We use the</a:t>
            </a:r>
          </a:p>
          <a:p>
            <a:r>
              <a:rPr lang="en-US" b="1" dirty="0"/>
              <a:t>&lt;term&gt; ::= &lt;term&gt; * &lt;factor&gt;</a:t>
            </a:r>
          </a:p>
        </p:txBody>
      </p:sp>
    </p:spTree>
    <p:extLst>
      <p:ext uri="{BB962C8B-B14F-4D97-AF65-F5344CB8AC3E}">
        <p14:creationId xmlns:p14="http://schemas.microsoft.com/office/powerpoint/2010/main" val="4117743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Then the tree becomes.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1" y="1600201"/>
            <a:ext cx="4254500"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80569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1"/>
            <a:ext cx="10972800" cy="5643564"/>
          </a:xfrm>
        </p:spPr>
        <p:txBody>
          <a:bodyPr/>
          <a:lstStyle/>
          <a:p>
            <a:r>
              <a:rPr lang="en-US" dirty="0"/>
              <a:t>The latest &lt;term&gt; is given the child &lt;factor&gt; from the production &lt;term&gt; ::= &lt;factor&gt;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701800"/>
            <a:ext cx="44704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8740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84201"/>
            <a:ext cx="10972800" cy="5541964"/>
          </a:xfrm>
        </p:spPr>
        <p:txBody>
          <a:bodyPr/>
          <a:lstStyle/>
          <a:p>
            <a:r>
              <a:rPr lang="en-US" dirty="0"/>
              <a:t>That &lt;factor&gt; corresponds to y. We use the production &lt;factor&gt; ::= y</a:t>
            </a:r>
          </a:p>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600200"/>
            <a:ext cx="4521200" cy="469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8110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1"/>
            <a:ext cx="4673600" cy="5643564"/>
          </a:xfrm>
        </p:spPr>
        <p:txBody>
          <a:bodyPr>
            <a:normAutofit/>
          </a:bodyPr>
          <a:lstStyle/>
          <a:p>
            <a:r>
              <a:rPr lang="en-US" dirty="0"/>
              <a:t>This y is matched with the input and the remaining input is *z. The recursion returns to the * node which again is matched with the input, resulting in just z remaining. Finally we use the production &lt;factor&gt; ::= z</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4401" y="584200"/>
            <a:ext cx="5052761" cy="538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34130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Statement Top-Down Parsing</a:t>
            </a:r>
          </a:p>
        </p:txBody>
      </p:sp>
      <p:sp>
        <p:nvSpPr>
          <p:cNvPr id="3" name="Content Placeholder 2"/>
          <p:cNvSpPr>
            <a:spLocks noGrp="1"/>
          </p:cNvSpPr>
          <p:nvPr>
            <p:ph idx="1"/>
          </p:nvPr>
        </p:nvSpPr>
        <p:spPr/>
        <p:txBody>
          <a:bodyPr>
            <a:normAutofit/>
          </a:bodyPr>
          <a:lstStyle/>
          <a:p>
            <a:r>
              <a:rPr lang="en-US" dirty="0"/>
              <a:t>The grammar in Fig. 2.16 generates a subset of the statements of C or Java. We use the bold face terminals </a:t>
            </a:r>
            <a:r>
              <a:rPr lang="en-US" b="1" dirty="0"/>
              <a:t>if</a:t>
            </a:r>
            <a:r>
              <a:rPr lang="en-US" dirty="0"/>
              <a:t> and </a:t>
            </a:r>
            <a:r>
              <a:rPr lang="en-US" b="1" dirty="0"/>
              <a:t>for</a:t>
            </a:r>
            <a:r>
              <a:rPr lang="en-US" dirty="0"/>
              <a:t> </a:t>
            </a:r>
            <a:r>
              <a:rPr lang="en-US" dirty="0" err="1"/>
              <a:t>for</a:t>
            </a:r>
            <a:r>
              <a:rPr lang="en-US" dirty="0"/>
              <a:t> the keywords \if" and \for", respectively, to emphasize that these character sequences are treated as units, i.e., as single terminal symbols. </a:t>
            </a:r>
          </a:p>
          <a:p>
            <a:r>
              <a:rPr lang="en-US" dirty="0"/>
              <a:t>Further, the terminal</a:t>
            </a:r>
            <a:r>
              <a:rPr lang="en-US" b="1" dirty="0"/>
              <a:t> </a:t>
            </a:r>
            <a:r>
              <a:rPr lang="en-US" b="1" dirty="0" err="1"/>
              <a:t>expr</a:t>
            </a:r>
            <a:r>
              <a:rPr lang="en-US" b="1" dirty="0"/>
              <a:t> </a:t>
            </a:r>
            <a:r>
              <a:rPr lang="en-US" dirty="0"/>
              <a:t>represents expressions; a more complete grammar would use a nonterminal </a:t>
            </a:r>
            <a:r>
              <a:rPr lang="en-US" b="1" dirty="0" err="1"/>
              <a:t>expr</a:t>
            </a:r>
            <a:r>
              <a:rPr lang="en-US" dirty="0"/>
              <a:t> and have productions for nonterminal </a:t>
            </a:r>
            <a:r>
              <a:rPr lang="en-US" b="1" dirty="0" err="1"/>
              <a:t>expr</a:t>
            </a:r>
            <a:r>
              <a:rPr lang="en-US" b="1" dirty="0"/>
              <a:t>. </a:t>
            </a:r>
            <a:r>
              <a:rPr lang="en-US" dirty="0"/>
              <a:t>Similarly, </a:t>
            </a:r>
            <a:r>
              <a:rPr lang="en-US" b="1" dirty="0"/>
              <a:t>other</a:t>
            </a:r>
            <a:r>
              <a:rPr lang="en-US" dirty="0"/>
              <a:t> is a terminal representing other statement constructs.</a:t>
            </a:r>
          </a:p>
        </p:txBody>
      </p:sp>
    </p:spTree>
    <p:extLst>
      <p:ext uri="{BB962C8B-B14F-4D97-AF65-F5344CB8AC3E}">
        <p14:creationId xmlns:p14="http://schemas.microsoft.com/office/powerpoint/2010/main" val="31013789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pPr marL="0" indent="0">
              <a:buNone/>
            </a:pPr>
            <a:endParaRPr lang="en-US"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163320" y="1965440"/>
            <a:ext cx="9550400" cy="3787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72471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0"/>
            <a:ext cx="10972800" cy="6197600"/>
          </a:xfrm>
        </p:spPr>
        <p:txBody>
          <a:bodyPr>
            <a:normAutofit/>
          </a:bodyPr>
          <a:lstStyle/>
          <a:p>
            <a:r>
              <a:rPr lang="en-US" dirty="0"/>
              <a:t>The top-down construction of a parse tree like the one in Fig. 2.17, is done by starting with the root, labeled with the starting nonterminal </a:t>
            </a:r>
            <a:r>
              <a:rPr lang="en-US" b="1" dirty="0" err="1"/>
              <a:t>stmt</a:t>
            </a:r>
            <a:r>
              <a:rPr lang="en-US" dirty="0"/>
              <a:t>, and repeatedly performing the following two steps.</a:t>
            </a:r>
          </a:p>
          <a:p>
            <a:pPr lvl="1"/>
            <a:r>
              <a:rPr lang="en-US" dirty="0"/>
              <a:t>At node N , labeled with nonterminal A, select one of the productions for A and construct children at N for the symbols in the production body.</a:t>
            </a:r>
          </a:p>
          <a:p>
            <a:pPr lvl="1"/>
            <a:r>
              <a:rPr lang="en-US" dirty="0"/>
              <a:t>Find the next no de at which a </a:t>
            </a:r>
            <a:r>
              <a:rPr lang="en-US" dirty="0" err="1"/>
              <a:t>subtree</a:t>
            </a:r>
            <a:r>
              <a:rPr lang="en-US" dirty="0"/>
              <a:t> is to b e constructed, typically the leftmost unexpanded nonterminal of the tree.</a:t>
            </a:r>
          </a:p>
          <a:p>
            <a:r>
              <a:rPr lang="en-US" dirty="0"/>
              <a:t>For some grammars, the above steps can be implemented during a single left-to-right scan of the input string.</a:t>
            </a:r>
          </a:p>
          <a:p>
            <a:endParaRPr lang="en-US" dirty="0"/>
          </a:p>
        </p:txBody>
      </p:sp>
    </p:spTree>
    <p:extLst>
      <p:ext uri="{BB962C8B-B14F-4D97-AF65-F5344CB8AC3E}">
        <p14:creationId xmlns:p14="http://schemas.microsoft.com/office/powerpoint/2010/main" val="9957274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90881" y="1825625"/>
            <a:ext cx="10413017"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29900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81001"/>
            <a:ext cx="10972800" cy="5745164"/>
          </a:xfrm>
        </p:spPr>
        <p:txBody>
          <a:bodyPr/>
          <a:lstStyle/>
          <a:p>
            <a:r>
              <a:rPr lang="en-US" dirty="0"/>
              <a:t>The current terminal being scanned in the input is frequently referred to as the </a:t>
            </a:r>
            <a:r>
              <a:rPr lang="en-US" dirty="0" err="1"/>
              <a:t>lookahead</a:t>
            </a:r>
            <a:r>
              <a:rPr lang="en-US" dirty="0"/>
              <a:t> symbol </a:t>
            </a:r>
            <a:r>
              <a:rPr lang="en-US" b="1" dirty="0"/>
              <a:t>(The </a:t>
            </a:r>
            <a:r>
              <a:rPr lang="en-US" b="1" dirty="0" err="1"/>
              <a:t>lookahead</a:t>
            </a:r>
            <a:r>
              <a:rPr lang="en-US" b="1" dirty="0"/>
              <a:t> symbol is simply the next terminal that we will try to match in the input )</a:t>
            </a:r>
            <a:r>
              <a:rPr lang="en-US" dirty="0"/>
              <a:t>. Initially, the </a:t>
            </a:r>
            <a:r>
              <a:rPr lang="en-US" dirty="0" err="1"/>
              <a:t>lookahead</a:t>
            </a:r>
            <a:r>
              <a:rPr lang="en-US" dirty="0"/>
              <a:t> symbol is the first, i.e., leftmost, terminal of the input string. </a:t>
            </a:r>
          </a:p>
        </p:txBody>
      </p:sp>
    </p:spTree>
    <p:extLst>
      <p:ext uri="{BB962C8B-B14F-4D97-AF65-F5344CB8AC3E}">
        <p14:creationId xmlns:p14="http://schemas.microsoft.com/office/powerpoint/2010/main" val="1846260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0972800" cy="1143000"/>
          </a:xfrm>
        </p:spPr>
        <p:txBody>
          <a:bodyPr/>
          <a:lstStyle/>
          <a:p>
            <a:r>
              <a:rPr lang="en-US" dirty="0"/>
              <a:t>Bottom Up Parsing</a:t>
            </a:r>
          </a:p>
        </p:txBody>
      </p:sp>
      <p:sp>
        <p:nvSpPr>
          <p:cNvPr id="3" name="Content Placeholder 2"/>
          <p:cNvSpPr>
            <a:spLocks noGrp="1"/>
          </p:cNvSpPr>
          <p:nvPr>
            <p:ph idx="1"/>
          </p:nvPr>
        </p:nvSpPr>
        <p:spPr>
          <a:xfrm>
            <a:off x="609600" y="1295400"/>
            <a:ext cx="10972800" cy="5384800"/>
          </a:xfrm>
        </p:spPr>
        <p:txBody>
          <a:bodyPr>
            <a:normAutofit/>
          </a:bodyPr>
          <a:lstStyle/>
          <a:p>
            <a:r>
              <a:rPr lang="en-US" dirty="0"/>
              <a:t>Bottom-up parsers, in contrast, start with the first token of the input. Their mode of operation may seem very much more intuitive than top–down parsing.</a:t>
            </a:r>
          </a:p>
          <a:p>
            <a:r>
              <a:rPr lang="en-US" dirty="0"/>
              <a:t>They repeatedly match symbols from the input with the strings on the right-hand sides of production rules,+ replacing the matched strings with the corresponding left-hand sides. This continues until, hopefully, just the starting symbol remains. </a:t>
            </a:r>
          </a:p>
          <a:p>
            <a:r>
              <a:rPr lang="en-US" dirty="0"/>
              <a:t>The correct order of matching for the bottom-up parser is defined by the right- most derivation. The bottom-up parser has to perform the rightmost derivation in reverse. This produces the canonical parse. </a:t>
            </a:r>
          </a:p>
          <a:p>
            <a:endParaRPr lang="en-US" dirty="0"/>
          </a:p>
        </p:txBody>
      </p:sp>
    </p:spTree>
    <p:extLst>
      <p:ext uri="{BB962C8B-B14F-4D97-AF65-F5344CB8AC3E}">
        <p14:creationId xmlns:p14="http://schemas.microsoft.com/office/powerpoint/2010/main" val="42237021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AD5B9-0E94-45EE-BFC3-35E2EB7A6961}"/>
              </a:ext>
            </a:extLst>
          </p:cNvPr>
          <p:cNvSpPr>
            <a:spLocks noGrp="1"/>
          </p:cNvSpPr>
          <p:nvPr>
            <p:ph type="title"/>
          </p:nvPr>
        </p:nvSpPr>
        <p:spPr/>
        <p:txBody>
          <a:bodyPr/>
          <a:lstStyle/>
          <a:p>
            <a:endParaRPr lang="en-US"/>
          </a:p>
        </p:txBody>
      </p:sp>
      <p:pic>
        <p:nvPicPr>
          <p:cNvPr id="2050" name="Picture 2" descr="Types Of Bottom Up Parsing - Design Talk">
            <a:extLst>
              <a:ext uri="{FF2B5EF4-FFF2-40B4-BE49-F238E27FC236}">
                <a16:creationId xmlns:a16="http://schemas.microsoft.com/office/drawing/2014/main" id="{A688C64E-7DD1-4DC9-A342-62A938D24780}"/>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1467"/>
          <a:stretch/>
        </p:blipFill>
        <p:spPr bwMode="auto">
          <a:xfrm>
            <a:off x="609600" y="584200"/>
            <a:ext cx="11424891" cy="56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1622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Exapmle</a:t>
            </a:r>
            <a:endParaRPr lang="en-US" dirty="0"/>
          </a:p>
        </p:txBody>
      </p:sp>
      <p:sp>
        <p:nvSpPr>
          <p:cNvPr id="3" name="Content Placeholder 2"/>
          <p:cNvSpPr>
            <a:spLocks noGrp="1"/>
          </p:cNvSpPr>
          <p:nvPr>
            <p:ph idx="1"/>
          </p:nvPr>
        </p:nvSpPr>
        <p:spPr/>
        <p:txBody>
          <a:bodyPr/>
          <a:lstStyle/>
          <a:p>
            <a:r>
              <a:rPr lang="en-US" dirty="0"/>
              <a:t>If we start with the input </a:t>
            </a:r>
            <a:r>
              <a:rPr lang="en-US" b="1" dirty="0" err="1"/>
              <a:t>x+y</a:t>
            </a:r>
            <a:r>
              <a:rPr lang="en-US" b="1" dirty="0"/>
              <a:t>*z</a:t>
            </a:r>
            <a:r>
              <a:rPr lang="en-US" dirty="0"/>
              <a:t> from using the following grammar and reverse the rightmost derivation, we can see how the bottom-up parser should operate:</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0" y="4419601"/>
            <a:ext cx="6299200" cy="1463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9483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460500" y="2108200"/>
            <a:ext cx="969995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08643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Parsing</a:t>
            </a:r>
          </a:p>
        </p:txBody>
      </p:sp>
      <p:sp>
        <p:nvSpPr>
          <p:cNvPr id="3" name="Content Placeholder 2"/>
          <p:cNvSpPr>
            <a:spLocks noGrp="1"/>
          </p:cNvSpPr>
          <p:nvPr>
            <p:ph idx="1"/>
          </p:nvPr>
        </p:nvSpPr>
        <p:spPr/>
        <p:txBody>
          <a:bodyPr>
            <a:normAutofit/>
          </a:bodyPr>
          <a:lstStyle/>
          <a:p>
            <a:r>
              <a:rPr lang="en-US" dirty="0"/>
              <a:t>The parser is mainly classified into two categories, i.e. Top-down Parser, and Bottom-up Parser. </a:t>
            </a:r>
          </a:p>
          <a:p>
            <a:pPr lvl="1"/>
            <a:r>
              <a:rPr lang="en-US" dirty="0"/>
              <a:t>Further Top-down parser is classified into 2 types: A </a:t>
            </a:r>
            <a:r>
              <a:rPr lang="en-US" b="1" dirty="0"/>
              <a:t>recursive descent parser</a:t>
            </a:r>
            <a:r>
              <a:rPr lang="en-US" dirty="0"/>
              <a:t>, and </a:t>
            </a:r>
            <a:r>
              <a:rPr lang="en-US" b="1" dirty="0"/>
              <a:t>Non-recursive descent parser.</a:t>
            </a:r>
          </a:p>
          <a:p>
            <a:pPr lvl="1"/>
            <a:r>
              <a:rPr lang="en-US" b="1" dirty="0"/>
              <a:t> </a:t>
            </a:r>
            <a:r>
              <a:rPr lang="en-US" dirty="0"/>
              <a:t>Further Bottom-up parser is classified into two types: </a:t>
            </a:r>
            <a:r>
              <a:rPr lang="en-US" b="1" dirty="0"/>
              <a:t>LR parser</a:t>
            </a:r>
            <a:r>
              <a:rPr lang="en-US" dirty="0"/>
              <a:t>, and </a:t>
            </a:r>
            <a:r>
              <a:rPr lang="en-US" b="1" dirty="0"/>
              <a:t>Operator precedence parser</a:t>
            </a:r>
            <a:r>
              <a:rPr lang="en-US" dirty="0"/>
              <a:t>. </a:t>
            </a:r>
            <a:endParaRPr lang="en-US" b="1" dirty="0"/>
          </a:p>
        </p:txBody>
      </p:sp>
    </p:spTree>
    <p:extLst>
      <p:ext uri="{BB962C8B-B14F-4D97-AF65-F5344CB8AC3E}">
        <p14:creationId xmlns:p14="http://schemas.microsoft.com/office/powerpoint/2010/main" val="6128701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AutoShape 2" descr="Parsing Types"/>
          <p:cNvSpPr>
            <a:spLocks noChangeAspect="1" noChangeArrowheads="1"/>
          </p:cNvSpPr>
          <p:nvPr/>
        </p:nvSpPr>
        <p:spPr bwMode="auto">
          <a:xfrm>
            <a:off x="84667" y="-182033"/>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601" y="914400"/>
            <a:ext cx="10082041" cy="497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97922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 Down Parser Classification</a:t>
            </a:r>
          </a:p>
        </p:txBody>
      </p:sp>
      <p:sp>
        <p:nvSpPr>
          <p:cNvPr id="3" name="Content Placeholder 2"/>
          <p:cNvSpPr>
            <a:spLocks noGrp="1"/>
          </p:cNvSpPr>
          <p:nvPr>
            <p:ph idx="1"/>
          </p:nvPr>
        </p:nvSpPr>
        <p:spPr/>
        <p:txBody>
          <a:bodyPr>
            <a:normAutofit/>
          </a:bodyPr>
          <a:lstStyle/>
          <a:p>
            <a:r>
              <a:rPr lang="en-US" dirty="0"/>
              <a:t>Recursive Descent Parsing:</a:t>
            </a:r>
          </a:p>
          <a:p>
            <a:pPr lvl="1"/>
            <a:r>
              <a:rPr lang="en-US" dirty="0"/>
              <a:t>Recursive descent parsing is a type of top-down parsing technique. This technique follows the process for every terminal and non-terminal entity. It reads the input from left to right and constructs the parse tree from right to left. As the technique works recursively, it is called recursive descent parsing.</a:t>
            </a:r>
          </a:p>
          <a:p>
            <a:r>
              <a:rPr lang="en-US" dirty="0"/>
              <a:t>Non-recursive descent parser</a:t>
            </a:r>
          </a:p>
          <a:p>
            <a:pPr lvl="1"/>
            <a:r>
              <a:rPr lang="en-US" dirty="0"/>
              <a:t> It is also known as LL(1) parser or predictive parser or without backtracking parser or dynamic parser. It uses a parsing table to generate the parse tree instead of backtracking.</a:t>
            </a:r>
          </a:p>
        </p:txBody>
      </p:sp>
    </p:spTree>
    <p:extLst>
      <p:ext uri="{BB962C8B-B14F-4D97-AF65-F5344CB8AC3E}">
        <p14:creationId xmlns:p14="http://schemas.microsoft.com/office/powerpoint/2010/main" val="7768003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Bottom-up Parsing Classification</a:t>
            </a:r>
          </a:p>
        </p:txBody>
      </p:sp>
      <p:sp>
        <p:nvSpPr>
          <p:cNvPr id="3" name="Content Placeholder 2"/>
          <p:cNvSpPr>
            <a:spLocks noGrp="1"/>
          </p:cNvSpPr>
          <p:nvPr>
            <p:ph idx="1"/>
          </p:nvPr>
        </p:nvSpPr>
        <p:spPr/>
        <p:txBody>
          <a:bodyPr>
            <a:normAutofit/>
          </a:bodyPr>
          <a:lstStyle/>
          <a:p>
            <a:r>
              <a:rPr lang="en-US" dirty="0"/>
              <a:t>Bottom-up parser is classified into two types: LR parser, and Operator precedence parser. </a:t>
            </a:r>
          </a:p>
          <a:p>
            <a:pPr lvl="1"/>
            <a:r>
              <a:rPr lang="en-US" dirty="0"/>
              <a:t>LR Parser: is the bottom-up parser that generates the parse tree for the given string by using unambiguous grammar. It follows the reverse of the rightmost derivation. </a:t>
            </a:r>
            <a:br>
              <a:rPr lang="en-US" dirty="0"/>
            </a:br>
            <a:r>
              <a:rPr lang="en-US" dirty="0"/>
              <a:t>( Types:(a)  LR(0) (b)  SLR(1) (c)  LALR(1) (d) CLR(1))</a:t>
            </a:r>
          </a:p>
          <a:p>
            <a:pPr lvl="1"/>
            <a:r>
              <a:rPr lang="en-US" b="1" dirty="0"/>
              <a:t>Operator precedence </a:t>
            </a:r>
            <a:r>
              <a:rPr lang="en-US" dirty="0"/>
              <a:t>parser generates the parse tree from given grammar and string but the only condition is two consecutive non-terminals and epsilon never appears on the right-hand side of any production. 	</a:t>
            </a:r>
          </a:p>
        </p:txBody>
      </p:sp>
    </p:spTree>
    <p:extLst>
      <p:ext uri="{BB962C8B-B14F-4D97-AF65-F5344CB8AC3E}">
        <p14:creationId xmlns:p14="http://schemas.microsoft.com/office/powerpoint/2010/main" val="12384288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3A158-E293-DAC1-7A16-E02D2D388744}"/>
              </a:ext>
            </a:extLst>
          </p:cNvPr>
          <p:cNvSpPr>
            <a:spLocks noGrp="1"/>
          </p:cNvSpPr>
          <p:nvPr>
            <p:ph type="title"/>
          </p:nvPr>
        </p:nvSpPr>
        <p:spPr/>
        <p:txBody>
          <a:bodyPr/>
          <a:lstStyle/>
          <a:p>
            <a:r>
              <a:rPr lang="en-US" b="1" dirty="0"/>
              <a:t>Home Work</a:t>
            </a:r>
            <a:endParaRPr lang="en-PK" b="1" dirty="0"/>
          </a:p>
        </p:txBody>
      </p:sp>
      <p:sp>
        <p:nvSpPr>
          <p:cNvPr id="3" name="Content Placeholder 2">
            <a:extLst>
              <a:ext uri="{FF2B5EF4-FFF2-40B4-BE49-F238E27FC236}">
                <a16:creationId xmlns:a16="http://schemas.microsoft.com/office/drawing/2014/main" id="{4C544B9E-863C-DF8B-0CD7-A50F3094AA0B}"/>
              </a:ext>
            </a:extLst>
          </p:cNvPr>
          <p:cNvSpPr>
            <a:spLocks noGrp="1"/>
          </p:cNvSpPr>
          <p:nvPr>
            <p:ph idx="1"/>
          </p:nvPr>
        </p:nvSpPr>
        <p:spPr>
          <a:xfrm>
            <a:off x="722697" y="1677704"/>
            <a:ext cx="10515600" cy="4351338"/>
          </a:xfrm>
        </p:spPr>
        <p:txBody>
          <a:bodyPr>
            <a:normAutofit fontScale="85000" lnSpcReduction="20000"/>
          </a:bodyPr>
          <a:lstStyle/>
          <a:p>
            <a:r>
              <a:rPr lang="en-US" dirty="0"/>
              <a:t>You are required to write a code which works as Initial Scanner </a:t>
            </a:r>
          </a:p>
          <a:p>
            <a:r>
              <a:rPr lang="en-US" dirty="0"/>
              <a:t>Your Lexical Analyzer must generate tokens From following type of English sentences. </a:t>
            </a:r>
            <a:br>
              <a:rPr lang="en-US" dirty="0"/>
            </a:br>
            <a:br>
              <a:rPr lang="en-US" dirty="0"/>
            </a:br>
            <a:r>
              <a:rPr lang="en-US" dirty="0"/>
              <a:t>	a. the big dog chases a small cat</a:t>
            </a:r>
            <a:br>
              <a:rPr lang="en-US" dirty="0"/>
            </a:br>
            <a:r>
              <a:rPr lang="en-US" dirty="0"/>
              <a:t>	b. a jumpy bear sees the orange apple</a:t>
            </a:r>
            <a:br>
              <a:rPr lang="en-US" dirty="0"/>
            </a:br>
            <a:r>
              <a:rPr lang="en-US" dirty="0"/>
              <a:t>	c. an itchy small cat likes the big dog</a:t>
            </a:r>
            <a:br>
              <a:rPr lang="en-US" dirty="0"/>
            </a:br>
            <a:r>
              <a:rPr lang="en-US" dirty="0"/>
              <a:t>	d. the dog hugs a jumpy bear</a:t>
            </a:r>
            <a:br>
              <a:rPr lang="en-US" dirty="0"/>
            </a:br>
            <a:r>
              <a:rPr lang="en-US" dirty="0"/>
              <a:t>	e. a big itchy jumpy orange apple chases the cat</a:t>
            </a:r>
            <a:br>
              <a:rPr lang="en-US" dirty="0"/>
            </a:br>
            <a:r>
              <a:rPr lang="en-US" dirty="0"/>
              <a:t>	f. The an a itchy bear hugs the a an jumpy dog.</a:t>
            </a:r>
          </a:p>
          <a:p>
            <a:r>
              <a:rPr lang="en-US" dirty="0"/>
              <a:t>You may have following type of Tokens</a:t>
            </a:r>
          </a:p>
          <a:p>
            <a:pPr lvl="1"/>
            <a:r>
              <a:rPr lang="en-US" dirty="0"/>
              <a:t>Det(Determiner) = {"the", "a", "an"}</a:t>
            </a:r>
            <a:br>
              <a:rPr lang="en-US" dirty="0"/>
            </a:br>
            <a:r>
              <a:rPr lang="en-US" dirty="0"/>
              <a:t>Adj = {"itchy", "jumpy", "big", "small", "orange"}</a:t>
            </a:r>
            <a:br>
              <a:rPr lang="en-US" dirty="0"/>
            </a:br>
            <a:r>
              <a:rPr lang="en-US" dirty="0"/>
              <a:t>N = {"bear", "dog", "cat", "apple", "orange"}</a:t>
            </a:r>
            <a:br>
              <a:rPr lang="en-US" dirty="0"/>
            </a:br>
            <a:r>
              <a:rPr lang="en-US" dirty="0"/>
              <a:t>V = {"hugs", "sees", "chases", "likes"}</a:t>
            </a:r>
            <a:endParaRPr lang="en-PK" dirty="0"/>
          </a:p>
        </p:txBody>
      </p:sp>
    </p:spTree>
    <p:extLst>
      <p:ext uri="{BB962C8B-B14F-4D97-AF65-F5344CB8AC3E}">
        <p14:creationId xmlns:p14="http://schemas.microsoft.com/office/powerpoint/2010/main" val="35191361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a:t>
            </a:r>
          </a:p>
        </p:txBody>
      </p:sp>
      <p:sp>
        <p:nvSpPr>
          <p:cNvPr id="3" name="Content Placeholder 2"/>
          <p:cNvSpPr>
            <a:spLocks noGrp="1"/>
          </p:cNvSpPr>
          <p:nvPr>
            <p:ph idx="1"/>
          </p:nvPr>
        </p:nvSpPr>
        <p:spPr/>
        <p:txBody>
          <a:bodyPr/>
          <a:lstStyle/>
          <a:p>
            <a:endParaRPr lang="en-GB" b="1" dirty="0"/>
          </a:p>
          <a:p>
            <a:r>
              <a:rPr lang="en-GB" dirty="0"/>
              <a:t>Compilers: Principles, Techniques, and Tools 2nd Edition</a:t>
            </a:r>
            <a:br>
              <a:rPr lang="en-GB" dirty="0"/>
            </a:br>
            <a:r>
              <a:rPr lang="en-GB" dirty="0"/>
              <a:t> by Alfred </a:t>
            </a:r>
            <a:r>
              <a:rPr lang="en-GB" dirty="0" err="1"/>
              <a:t>Aho</a:t>
            </a:r>
            <a:r>
              <a:rPr lang="en-GB" dirty="0"/>
              <a:t> , Jeffrey Ullman, Ravi </a:t>
            </a:r>
            <a:r>
              <a:rPr lang="en-GB" dirty="0" err="1"/>
              <a:t>Sethi</a:t>
            </a:r>
            <a:r>
              <a:rPr lang="en-GB" dirty="0"/>
              <a:t>, Monica Lam</a:t>
            </a:r>
          </a:p>
          <a:p>
            <a:endParaRPr lang="en-GB" dirty="0"/>
          </a:p>
          <a:p>
            <a:r>
              <a:rPr lang="en-GB" dirty="0"/>
              <a:t>Introduction to Compilers and Language Design | Second Edition | </a:t>
            </a:r>
            <a:r>
              <a:rPr lang="en-GB" dirty="0" err="1"/>
              <a:t>Prof.</a:t>
            </a:r>
            <a:r>
              <a:rPr lang="en-GB" dirty="0"/>
              <a:t> Douglas </a:t>
            </a:r>
            <a:r>
              <a:rPr lang="en-GB" dirty="0" err="1"/>
              <a:t>Thain</a:t>
            </a:r>
            <a:r>
              <a:rPr lang="en-GB" dirty="0"/>
              <a:t> - University of Notre Dame </a:t>
            </a:r>
            <a:br>
              <a:rPr lang="en-GB" dirty="0"/>
            </a:br>
            <a:endParaRPr lang="en-GB" dirty="0"/>
          </a:p>
        </p:txBody>
      </p:sp>
    </p:spTree>
    <p:extLst>
      <p:ext uri="{BB962C8B-B14F-4D97-AF65-F5344CB8AC3E}">
        <p14:creationId xmlns:p14="http://schemas.microsoft.com/office/powerpoint/2010/main" val="604787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13966</TotalTime>
  <Words>4590</Words>
  <Application>Microsoft Office PowerPoint</Application>
  <PresentationFormat>Widescreen</PresentationFormat>
  <Paragraphs>584</Paragraphs>
  <Slides>98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98</vt:i4>
      </vt:variant>
    </vt:vector>
  </HeadingPairs>
  <TitlesOfParts>
    <vt:vector size="105" baseType="lpstr">
      <vt:lpstr>Arial</vt:lpstr>
      <vt:lpstr>Calibri</vt:lpstr>
      <vt:lpstr>Calibri Light</vt:lpstr>
      <vt:lpstr>Menlo</vt:lpstr>
      <vt:lpstr>quote-cjk-patch</vt:lpstr>
      <vt:lpstr>Wingdings</vt:lpstr>
      <vt:lpstr>Office Theme</vt:lpstr>
      <vt:lpstr>Compiler Construction</vt:lpstr>
      <vt:lpstr>Week 4:</vt:lpstr>
      <vt:lpstr>Syntax Definition </vt:lpstr>
      <vt:lpstr>if ( expression ) statement else statement </vt:lpstr>
      <vt:lpstr>stmt -&gt; if ( expr ) stmt else stmt </vt:lpstr>
      <vt:lpstr>Definition of Grammar</vt:lpstr>
      <vt:lpstr>Regular Grammar</vt:lpstr>
      <vt:lpstr>Definition of Grammar (CFG)</vt:lpstr>
      <vt:lpstr>Context Free Grammar</vt:lpstr>
      <vt:lpstr>Grammar</vt:lpstr>
      <vt:lpstr>Derivation of Grammar</vt:lpstr>
      <vt:lpstr>Example</vt:lpstr>
      <vt:lpstr>Understand with English Grammar</vt:lpstr>
      <vt:lpstr>Understand with English Grammar</vt:lpstr>
      <vt:lpstr>Derivations in CFG</vt:lpstr>
      <vt:lpstr>Derivations in CFG</vt:lpstr>
      <vt:lpstr>Example</vt:lpstr>
      <vt:lpstr>PowerPoint Presentation</vt:lpstr>
      <vt:lpstr>PowerPoint Presentation</vt:lpstr>
      <vt:lpstr>Types of Derivations</vt:lpstr>
      <vt:lpstr>Left most derivation</vt:lpstr>
      <vt:lpstr>Left most derivation</vt:lpstr>
      <vt:lpstr>Right most derivation</vt:lpstr>
      <vt:lpstr>Right Most Derivation</vt:lpstr>
      <vt:lpstr>Parse Tree Derivation</vt:lpstr>
      <vt:lpstr>Parse Tree Derivation</vt:lpstr>
      <vt:lpstr>Parse Tree Derivation</vt:lpstr>
      <vt:lpstr>Ambiguity in Derivations</vt:lpstr>
      <vt:lpstr>Ambiguity Examples</vt:lpstr>
      <vt:lpstr>Ambiguity Examples</vt:lpstr>
      <vt:lpstr>Associativity of Operators</vt:lpstr>
      <vt:lpstr>Associativity of Operators</vt:lpstr>
      <vt:lpstr>Associativity of Operators</vt:lpstr>
      <vt:lpstr>Precedence of Operators</vt:lpstr>
      <vt:lpstr>Precedence of Operators</vt:lpstr>
      <vt:lpstr>Precedence of Operators</vt:lpstr>
      <vt:lpstr>Exercises</vt:lpstr>
      <vt:lpstr>Associativity solution in CFGs</vt:lpstr>
      <vt:lpstr>E-&gt;E+E, E-&gt;E-E, E-&gt;digit</vt:lpstr>
      <vt:lpstr>Lets restrict the grammar </vt:lpstr>
      <vt:lpstr>Precedence solutions in CFGs</vt:lpstr>
      <vt:lpstr>E-&gt;E+E | E x E | Id   5+3 x 4 +3</vt:lpstr>
      <vt:lpstr>Precedence solutions in CFGs</vt:lpstr>
      <vt:lpstr>Precedence solutions in CFGs</vt:lpstr>
      <vt:lpstr>Precedence solutions in CFGs</vt:lpstr>
      <vt:lpstr>Parsing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source code- Lexical- Syntax(CFG)</vt:lpstr>
      <vt:lpstr>Token Generation - 1</vt:lpstr>
      <vt:lpstr>Token Generation - 2</vt:lpstr>
      <vt:lpstr>Implementing CFG with above tokens Variable Declaration</vt:lpstr>
      <vt:lpstr>Assignment statement</vt:lpstr>
      <vt:lpstr>If-Else Statement </vt:lpstr>
      <vt:lpstr>PowerPoint Presentation</vt:lpstr>
      <vt:lpstr>PowerPoint Presentation</vt:lpstr>
      <vt:lpstr>PowerPoint Presentation</vt:lpstr>
      <vt:lpstr>PowerPoint Presentation</vt:lpstr>
      <vt:lpstr>PowerPoint Presentation</vt:lpstr>
      <vt:lpstr>PowerPoint Presentation</vt:lpstr>
      <vt:lpstr>Parsing </vt:lpstr>
      <vt:lpstr>Parsing</vt:lpstr>
      <vt:lpstr>Top Down Parsing</vt:lpstr>
      <vt:lpstr>Parse Trees and the Leftmost Derivation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 Statement Top-Down Parsing</vt:lpstr>
      <vt:lpstr>PowerPoint Presentation</vt:lpstr>
      <vt:lpstr>PowerPoint Presentation</vt:lpstr>
      <vt:lpstr>PowerPoint Presentation</vt:lpstr>
      <vt:lpstr>PowerPoint Presentation</vt:lpstr>
      <vt:lpstr>Bottom Up Parsing</vt:lpstr>
      <vt:lpstr>PowerPoint Presentation</vt:lpstr>
      <vt:lpstr>Exapmle</vt:lpstr>
      <vt:lpstr>PowerPoint Presentation</vt:lpstr>
      <vt:lpstr>Classification of Parsing</vt:lpstr>
      <vt:lpstr>PowerPoint Presentation</vt:lpstr>
      <vt:lpstr>Top Down Parser Classification</vt:lpstr>
      <vt:lpstr>Bottom-up Parsing Classification</vt:lpstr>
      <vt:lpstr>Home Work</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dc:title>
  <dc:creator>Zufiqar Ali</dc:creator>
  <cp:lastModifiedBy>Tesla Laptops</cp:lastModifiedBy>
  <cp:revision>630</cp:revision>
  <dcterms:created xsi:type="dcterms:W3CDTF">2025-08-08T09:42:33Z</dcterms:created>
  <dcterms:modified xsi:type="dcterms:W3CDTF">2026-03-01T18:22:52Z</dcterms:modified>
</cp:coreProperties>
</file>