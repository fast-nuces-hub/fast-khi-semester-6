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7" r:id="rId2"/>
    <p:sldId id="256" r:id="rId3"/>
    <p:sldId id="258" r:id="rId4"/>
    <p:sldId id="311" r:id="rId5"/>
    <p:sldId id="312" r:id="rId6"/>
    <p:sldId id="313" r:id="rId7"/>
    <p:sldId id="314" r:id="rId8"/>
    <p:sldId id="347" r:id="rId9"/>
    <p:sldId id="348" r:id="rId10"/>
    <p:sldId id="260" r:id="rId11"/>
    <p:sldId id="300" r:id="rId12"/>
    <p:sldId id="262" r:id="rId13"/>
    <p:sldId id="301" r:id="rId14"/>
    <p:sldId id="329" r:id="rId15"/>
    <p:sldId id="330" r:id="rId16"/>
    <p:sldId id="331" r:id="rId17"/>
    <p:sldId id="332" r:id="rId18"/>
    <p:sldId id="333" r:id="rId19"/>
    <p:sldId id="334" r:id="rId20"/>
    <p:sldId id="335" r:id="rId21"/>
    <p:sldId id="337" r:id="rId22"/>
    <p:sldId id="338" r:id="rId23"/>
    <p:sldId id="339" r:id="rId24"/>
    <p:sldId id="340" r:id="rId25"/>
    <p:sldId id="336" r:id="rId26"/>
    <p:sldId id="342" r:id="rId27"/>
    <p:sldId id="341" r:id="rId28"/>
    <p:sldId id="316" r:id="rId29"/>
    <p:sldId id="317" r:id="rId30"/>
    <p:sldId id="325" r:id="rId31"/>
    <p:sldId id="326" r:id="rId32"/>
    <p:sldId id="343" r:id="rId33"/>
    <p:sldId id="327" r:id="rId34"/>
    <p:sldId id="344" r:id="rId35"/>
    <p:sldId id="345" r:id="rId36"/>
    <p:sldId id="346" r:id="rId37"/>
    <p:sldId id="318" r:id="rId38"/>
    <p:sldId id="319" r:id="rId39"/>
    <p:sldId id="320" r:id="rId40"/>
    <p:sldId id="321" r:id="rId41"/>
    <p:sldId id="322" r:id="rId42"/>
    <p:sldId id="323" r:id="rId43"/>
    <p:sldId id="328" r:id="rId44"/>
    <p:sldId id="324" r:id="rId45"/>
    <p:sldId id="310" r:id="rId46"/>
    <p:sldId id="290" r:id="rId47"/>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4" autoAdjust="0"/>
    <p:restoredTop sz="94660"/>
  </p:normalViewPr>
  <p:slideViewPr>
    <p:cSldViewPr>
      <p:cViewPr>
        <p:scale>
          <a:sx n="94" d="100"/>
          <a:sy n="94" d="100"/>
        </p:scale>
        <p:origin x="620" y="-2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3AA42E8-4780-4BC2-AF35-2340AC82208F}" type="datetimeFigureOut">
              <a:rPr lang="en-US" smtClean="0"/>
              <a:t>12/2/2025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4008718-F271-459F-AEBA-D315249C88F9}" type="slidenum">
              <a:rPr lang="en-US" smtClean="0"/>
              <a:t>‹#›</a:t>
            </a:fld>
            <a:endParaRPr lang="en-US"/>
          </a:p>
        </p:txBody>
      </p:sp>
    </p:spTree>
    <p:extLst>
      <p:ext uri="{BB962C8B-B14F-4D97-AF65-F5344CB8AC3E}">
        <p14:creationId xmlns:p14="http://schemas.microsoft.com/office/powerpoint/2010/main" val="2406170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0E00DD-252D-5E1C-4B3C-081DD818D59E}"/>
              </a:ext>
            </a:extLst>
          </p:cNvPr>
          <p:cNvSpPr>
            <a:spLocks noGrp="1" noChangeArrowheads="1"/>
          </p:cNvSpPr>
          <p:nvPr>
            <p:ph type="sldNum" sz="quarter" idx="5"/>
          </p:nvPr>
        </p:nvSpPr>
        <p:spPr>
          <a:ln/>
        </p:spPr>
        <p:txBody>
          <a:bodyPr/>
          <a:lstStyle/>
          <a:p>
            <a:fld id="{50F5F0E1-7BAD-4D47-BF82-970547AFF2DE}" type="slidenum">
              <a:rPr lang="en-US" altLang="en-PK"/>
              <a:pPr/>
              <a:t>10</a:t>
            </a:fld>
            <a:endParaRPr lang="en-US" altLang="en-PK"/>
          </a:p>
        </p:txBody>
      </p:sp>
      <p:sp>
        <p:nvSpPr>
          <p:cNvPr id="74754" name="Rectangle 2">
            <a:extLst>
              <a:ext uri="{FF2B5EF4-FFF2-40B4-BE49-F238E27FC236}">
                <a16:creationId xmlns:a16="http://schemas.microsoft.com/office/drawing/2014/main" id="{31F9048A-70E0-0ABC-2BFA-CDFF78508DC2}"/>
              </a:ext>
            </a:extLst>
          </p:cNvPr>
          <p:cNvSpPr>
            <a:spLocks noGrp="1" noRot="1" noChangeAspect="1" noChangeArrowheads="1" noTextEdit="1"/>
          </p:cNvSpPr>
          <p:nvPr>
            <p:ph type="sldImg"/>
          </p:nvPr>
        </p:nvSpPr>
        <p:spPr>
          <a:ln/>
        </p:spPr>
      </p:sp>
      <p:sp>
        <p:nvSpPr>
          <p:cNvPr id="74755" name="Rectangle 3">
            <a:extLst>
              <a:ext uri="{FF2B5EF4-FFF2-40B4-BE49-F238E27FC236}">
                <a16:creationId xmlns:a16="http://schemas.microsoft.com/office/drawing/2014/main" id="{1C0172E4-E7BC-6EDA-6511-0EACD67B0277}"/>
              </a:ext>
            </a:extLst>
          </p:cNvPr>
          <p:cNvSpPr>
            <a:spLocks noGrp="1" noChangeArrowheads="1"/>
          </p:cNvSpPr>
          <p:nvPr>
            <p:ph type="body" idx="1"/>
          </p:nvPr>
        </p:nvSpPr>
        <p:spPr/>
        <p:txBody>
          <a:bodyPr/>
          <a:lstStyle/>
          <a:p>
            <a:endParaRPr lang="en-PK" altLang="en-PK"/>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BAD96B-61D8-5070-BC31-BF38E48FE610}"/>
              </a:ext>
            </a:extLst>
          </p:cNvPr>
          <p:cNvSpPr>
            <a:spLocks noGrp="1" noChangeArrowheads="1"/>
          </p:cNvSpPr>
          <p:nvPr>
            <p:ph type="sldNum" sz="quarter" idx="5"/>
          </p:nvPr>
        </p:nvSpPr>
        <p:spPr>
          <a:ln/>
        </p:spPr>
        <p:txBody>
          <a:bodyPr/>
          <a:lstStyle/>
          <a:p>
            <a:fld id="{88B401DF-0353-4863-A37E-B2543C31F3D3}" type="slidenum">
              <a:rPr lang="en-US" altLang="en-PK"/>
              <a:pPr/>
              <a:t>11</a:t>
            </a:fld>
            <a:endParaRPr lang="en-US" altLang="en-PK"/>
          </a:p>
        </p:txBody>
      </p:sp>
      <p:sp>
        <p:nvSpPr>
          <p:cNvPr id="75778" name="Rectangle 2">
            <a:extLst>
              <a:ext uri="{FF2B5EF4-FFF2-40B4-BE49-F238E27FC236}">
                <a16:creationId xmlns:a16="http://schemas.microsoft.com/office/drawing/2014/main" id="{0BB85FE9-D08C-8705-2275-BD25C3895FDB}"/>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B6665A74-E8BE-D6D0-4BE3-E62162F2512F}"/>
              </a:ext>
            </a:extLst>
          </p:cNvPr>
          <p:cNvSpPr>
            <a:spLocks noGrp="1" noChangeArrowheads="1"/>
          </p:cNvSpPr>
          <p:nvPr>
            <p:ph type="body" idx="1"/>
          </p:nvPr>
        </p:nvSpPr>
        <p:spPr/>
        <p:txBody>
          <a:bodyPr/>
          <a:lstStyle/>
          <a:p>
            <a:endParaRPr lang="en-PK" altLang="en-PK"/>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78DCDA0-8DDF-C642-A0EA-D9C05A0755DF}"/>
              </a:ext>
            </a:extLst>
          </p:cNvPr>
          <p:cNvSpPr>
            <a:spLocks noGrp="1" noChangeArrowheads="1"/>
          </p:cNvSpPr>
          <p:nvPr>
            <p:ph type="sldNum" sz="quarter" idx="5"/>
          </p:nvPr>
        </p:nvSpPr>
        <p:spPr>
          <a:ln/>
        </p:spPr>
        <p:txBody>
          <a:bodyPr/>
          <a:lstStyle/>
          <a:p>
            <a:fld id="{0C10E354-E823-49F4-8DFA-1A7B08246728}" type="slidenum">
              <a:rPr lang="en-US" altLang="en-PK"/>
              <a:pPr/>
              <a:t>12</a:t>
            </a:fld>
            <a:endParaRPr lang="en-US" altLang="en-PK"/>
          </a:p>
        </p:txBody>
      </p:sp>
      <p:sp>
        <p:nvSpPr>
          <p:cNvPr id="76802" name="Rectangle 2">
            <a:extLst>
              <a:ext uri="{FF2B5EF4-FFF2-40B4-BE49-F238E27FC236}">
                <a16:creationId xmlns:a16="http://schemas.microsoft.com/office/drawing/2014/main" id="{19C55555-59E9-D5B8-1C0C-2E82E490417F}"/>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BC96B64A-0EB7-E65B-9BF2-B0FF904FC59A}"/>
              </a:ext>
            </a:extLst>
          </p:cNvPr>
          <p:cNvSpPr>
            <a:spLocks noGrp="1" noChangeArrowheads="1"/>
          </p:cNvSpPr>
          <p:nvPr>
            <p:ph type="body" idx="1"/>
          </p:nvPr>
        </p:nvSpPr>
        <p:spPr/>
        <p:txBody>
          <a:bodyPr/>
          <a:lstStyle/>
          <a:p>
            <a:endParaRPr lang="en-PK" altLang="en-PK"/>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25C6459-DAF8-886E-0C87-0C56F485B5F0}"/>
              </a:ext>
            </a:extLst>
          </p:cNvPr>
          <p:cNvSpPr>
            <a:spLocks noGrp="1" noChangeArrowheads="1"/>
          </p:cNvSpPr>
          <p:nvPr>
            <p:ph type="sldNum" sz="quarter" idx="5"/>
          </p:nvPr>
        </p:nvSpPr>
        <p:spPr>
          <a:ln/>
        </p:spPr>
        <p:txBody>
          <a:bodyPr/>
          <a:lstStyle/>
          <a:p>
            <a:fld id="{C4144C89-8091-4170-AC86-F401892D1EC3}" type="slidenum">
              <a:rPr lang="en-US" altLang="en-PK"/>
              <a:pPr/>
              <a:t>13</a:t>
            </a:fld>
            <a:endParaRPr lang="en-US" altLang="en-PK"/>
          </a:p>
        </p:txBody>
      </p:sp>
      <p:sp>
        <p:nvSpPr>
          <p:cNvPr id="77826" name="Rectangle 2">
            <a:extLst>
              <a:ext uri="{FF2B5EF4-FFF2-40B4-BE49-F238E27FC236}">
                <a16:creationId xmlns:a16="http://schemas.microsoft.com/office/drawing/2014/main" id="{93CBCDA1-250F-563A-A794-130E4F67C98D}"/>
              </a:ext>
            </a:extLst>
          </p:cNvPr>
          <p:cNvSpPr>
            <a:spLocks noGrp="1" noRot="1" noChangeAspect="1" noChangeArrowheads="1" noTextEdit="1"/>
          </p:cNvSpPr>
          <p:nvPr>
            <p:ph type="sldImg"/>
          </p:nvPr>
        </p:nvSpPr>
        <p:spPr>
          <a:ln/>
        </p:spPr>
      </p:sp>
      <p:sp>
        <p:nvSpPr>
          <p:cNvPr id="77827" name="Rectangle 3">
            <a:extLst>
              <a:ext uri="{FF2B5EF4-FFF2-40B4-BE49-F238E27FC236}">
                <a16:creationId xmlns:a16="http://schemas.microsoft.com/office/drawing/2014/main" id="{D4D127AB-807C-6E6D-9120-005EB6CFDAD9}"/>
              </a:ext>
            </a:extLst>
          </p:cNvPr>
          <p:cNvSpPr>
            <a:spLocks noGrp="1" noChangeArrowheads="1"/>
          </p:cNvSpPr>
          <p:nvPr>
            <p:ph type="body" idx="1"/>
          </p:nvPr>
        </p:nvSpPr>
        <p:spPr/>
        <p:txBody>
          <a:bodyPr/>
          <a:lstStyle/>
          <a:p>
            <a:endParaRPr lang="en-PK" altLang="en-PK"/>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a:p>
        </p:txBody>
      </p:sp>
      <p:sp>
        <p:nvSpPr>
          <p:cNvPr id="4" name="Slide Number Placeholder 3"/>
          <p:cNvSpPr>
            <a:spLocks noGrp="1"/>
          </p:cNvSpPr>
          <p:nvPr>
            <p:ph type="sldNum" sz="quarter" idx="5"/>
          </p:nvPr>
        </p:nvSpPr>
        <p:spPr/>
        <p:txBody>
          <a:bodyPr/>
          <a:lstStyle/>
          <a:p>
            <a:fld id="{24008718-F271-459F-AEBA-D315249C88F9}" type="slidenum">
              <a:rPr lang="en-US" smtClean="0"/>
              <a:t>25</a:t>
            </a:fld>
            <a:endParaRPr lang="en-US"/>
          </a:p>
        </p:txBody>
      </p:sp>
    </p:spTree>
    <p:extLst>
      <p:ext uri="{BB962C8B-B14F-4D97-AF65-F5344CB8AC3E}">
        <p14:creationId xmlns:p14="http://schemas.microsoft.com/office/powerpoint/2010/main" val="602171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1BD8411-2C30-4A6C-ACCA-70820AEA0F2E}"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774528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D8411-2C30-4A6C-ACCA-70820AEA0F2E}"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8961524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1BD8411-2C30-4A6C-ACCA-70820AEA0F2E}"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836772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1BD8411-2C30-4A6C-ACCA-70820AEA0F2E}"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4225664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1BD8411-2C30-4A6C-ACCA-70820AEA0F2E}" type="datetimeFigureOut">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1543717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BD8411-2C30-4A6C-ACCA-70820AEA0F2E}" type="datetimeFigureOut">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14301532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BD8411-2C30-4A6C-ACCA-70820AEA0F2E}" type="datetimeFigureOut">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2629454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BD8411-2C30-4A6C-ACCA-70820AEA0F2E}"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904205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BD8411-2C30-4A6C-ACCA-70820AEA0F2E}" type="datetimeFigureOut">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600881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D8411-2C30-4A6C-ACCA-70820AEA0F2E}"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253701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1BD8411-2C30-4A6C-ACCA-70820AEA0F2E}"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3643B3-06AC-48C4-9ABA-65AE50456005}" type="slidenum">
              <a:rPr lang="en-US" smtClean="0"/>
              <a:t>‹#›</a:t>
            </a:fld>
            <a:endParaRPr lang="en-US"/>
          </a:p>
        </p:txBody>
      </p:sp>
    </p:spTree>
    <p:extLst>
      <p:ext uri="{BB962C8B-B14F-4D97-AF65-F5344CB8AC3E}">
        <p14:creationId xmlns:p14="http://schemas.microsoft.com/office/powerpoint/2010/main" val="3603805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a:spLocks noChangeAspect="1"/>
          </p:cNvSpPr>
          <p:nvPr userDrawn="1"/>
        </p:nvSpPr>
        <p:spPr>
          <a:xfrm>
            <a:off x="268288" y="230787"/>
            <a:ext cx="8607425" cy="46819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1BD8411-2C30-4A6C-ACCA-70820AEA0F2E}" type="datetimeFigureOut">
              <a:rPr lang="en-US" smtClean="0"/>
              <a:t>12/2/2025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D33643B3-06AC-48C4-9ABA-65AE50456005}" type="slidenum">
              <a:rPr lang="en-US" smtClean="0"/>
              <a:t>‹#›</a:t>
            </a:fld>
            <a:endParaRPr lang="en-US"/>
          </a:p>
        </p:txBody>
      </p:sp>
    </p:spTree>
    <p:extLst>
      <p:ext uri="{BB962C8B-B14F-4D97-AF65-F5344CB8AC3E}">
        <p14:creationId xmlns:p14="http://schemas.microsoft.com/office/powerpoint/2010/main" val="4695958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mailto:Zulfiqar.rafique@nu.edu.pk"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86000" y="590550"/>
            <a:ext cx="4058335" cy="3943350"/>
          </a:xfrm>
        </p:spPr>
      </p:pic>
    </p:spTree>
    <p:extLst>
      <p:ext uri="{BB962C8B-B14F-4D97-AF65-F5344CB8AC3E}">
        <p14:creationId xmlns:p14="http://schemas.microsoft.com/office/powerpoint/2010/main" val="359817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971550"/>
            <a:ext cx="7772400" cy="1102519"/>
          </a:xfrm>
        </p:spPr>
        <p:txBody>
          <a:bodyPr/>
          <a:lstStyle/>
          <a:p>
            <a:r>
              <a:rPr lang="en-GB" dirty="0"/>
              <a:t>Compiler Construction</a:t>
            </a:r>
          </a:p>
        </p:txBody>
      </p:sp>
      <p:sp>
        <p:nvSpPr>
          <p:cNvPr id="3" name="Subtitle 2"/>
          <p:cNvSpPr>
            <a:spLocks noGrp="1"/>
          </p:cNvSpPr>
          <p:nvPr>
            <p:ph type="subTitle" idx="1"/>
          </p:nvPr>
        </p:nvSpPr>
        <p:spPr>
          <a:xfrm>
            <a:off x="1371600" y="2419350"/>
            <a:ext cx="6400800" cy="1314450"/>
          </a:xfrm>
        </p:spPr>
        <p:txBody>
          <a:bodyPr>
            <a:normAutofit fontScale="85000" lnSpcReduction="20000"/>
          </a:bodyPr>
          <a:lstStyle/>
          <a:p>
            <a:r>
              <a:rPr lang="en-GB" dirty="0"/>
              <a:t>Teacher : Zulfiqar Ali</a:t>
            </a:r>
          </a:p>
          <a:p>
            <a:r>
              <a:rPr lang="en-GB" dirty="0"/>
              <a:t>Email: </a:t>
            </a:r>
            <a:r>
              <a:rPr lang="en-GB" dirty="0">
                <a:hlinkClick r:id="rId2"/>
              </a:rPr>
              <a:t>Zulfiqar.rafique@nu.edu.pk</a:t>
            </a:r>
            <a:endParaRPr lang="en-GB" dirty="0"/>
          </a:p>
          <a:p>
            <a:r>
              <a:rPr lang="en-GB" dirty="0"/>
              <a:t>Office: No.6,Basement -1 (CS Block 1)</a:t>
            </a:r>
          </a:p>
          <a:p>
            <a:endParaRPr lang="en-GB" dirty="0"/>
          </a:p>
        </p:txBody>
      </p:sp>
    </p:spTree>
    <p:extLst>
      <p:ext uri="{BB962C8B-B14F-4D97-AF65-F5344CB8AC3E}">
        <p14:creationId xmlns:p14="http://schemas.microsoft.com/office/powerpoint/2010/main" val="4088578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Week 12-13</a:t>
            </a:r>
          </a:p>
        </p:txBody>
      </p:sp>
      <p:sp>
        <p:nvSpPr>
          <p:cNvPr id="3" name="Content Placeholder 2"/>
          <p:cNvSpPr>
            <a:spLocks noGrp="1"/>
          </p:cNvSpPr>
          <p:nvPr>
            <p:ph idx="1"/>
          </p:nvPr>
        </p:nvSpPr>
        <p:spPr/>
        <p:txBody>
          <a:bodyPr>
            <a:normAutofit/>
          </a:bodyPr>
          <a:lstStyle/>
          <a:p>
            <a:r>
              <a:rPr lang="en-US" dirty="0"/>
              <a:t>Intermediate Code Generation</a:t>
            </a:r>
          </a:p>
          <a:p>
            <a:pPr lvl="1"/>
            <a:r>
              <a:rPr lang="en-US" dirty="0"/>
              <a:t>DAG(Directed Acyclic Graph)</a:t>
            </a:r>
          </a:p>
          <a:p>
            <a:pPr lvl="1"/>
            <a:r>
              <a:rPr lang="en-US" dirty="0"/>
              <a:t>3 Address Code</a:t>
            </a:r>
          </a:p>
          <a:p>
            <a:pPr lvl="1"/>
            <a:r>
              <a:rPr lang="en-US" dirty="0"/>
              <a:t>Syntax Tree</a:t>
            </a:r>
          </a:p>
        </p:txBody>
      </p:sp>
    </p:spTree>
    <p:extLst>
      <p:ext uri="{BB962C8B-B14F-4D97-AF65-F5344CB8AC3E}">
        <p14:creationId xmlns:p14="http://schemas.microsoft.com/office/powerpoint/2010/main" val="1519035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26565-8FF0-455B-BBC0-869E6284FA03}"/>
              </a:ext>
            </a:extLst>
          </p:cNvPr>
          <p:cNvSpPr>
            <a:spLocks noGrp="1"/>
          </p:cNvSpPr>
          <p:nvPr>
            <p:ph type="title"/>
          </p:nvPr>
        </p:nvSpPr>
        <p:spPr/>
        <p:txBody>
          <a:bodyPr/>
          <a:lstStyle/>
          <a:p>
            <a:r>
              <a:rPr lang="en-US" dirty="0"/>
              <a:t>Intermediate Code Generation</a:t>
            </a:r>
          </a:p>
        </p:txBody>
      </p:sp>
      <p:sp>
        <p:nvSpPr>
          <p:cNvPr id="3" name="Content Placeholder 2">
            <a:extLst>
              <a:ext uri="{FF2B5EF4-FFF2-40B4-BE49-F238E27FC236}">
                <a16:creationId xmlns:a16="http://schemas.microsoft.com/office/drawing/2014/main" id="{B0C83105-F3EB-4956-9102-E4310C0B4990}"/>
              </a:ext>
            </a:extLst>
          </p:cNvPr>
          <p:cNvSpPr>
            <a:spLocks noGrp="1"/>
          </p:cNvSpPr>
          <p:nvPr>
            <p:ph idx="1"/>
          </p:nvPr>
        </p:nvSpPr>
        <p:spPr/>
        <p:txBody>
          <a:bodyPr/>
          <a:lstStyle/>
          <a:p>
            <a:r>
              <a:rPr lang="en-US" dirty="0"/>
              <a:t>In the analysis-synthesis model of a compiler, the front end of a compiler translates a source program into an independent intermediate code.</a:t>
            </a:r>
          </a:p>
          <a:p>
            <a:r>
              <a:rPr lang="en-US" dirty="0"/>
              <a:t>Back end of the compiler uses this intermediate code to generate the target code</a:t>
            </a:r>
          </a:p>
          <a:p>
            <a:endParaRPr lang="en-US" dirty="0"/>
          </a:p>
        </p:txBody>
      </p:sp>
    </p:spTree>
    <p:extLst>
      <p:ext uri="{BB962C8B-B14F-4D97-AF65-F5344CB8AC3E}">
        <p14:creationId xmlns:p14="http://schemas.microsoft.com/office/powerpoint/2010/main" val="2757482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A5879-19CC-4614-90C5-9250134CE2A2}"/>
              </a:ext>
            </a:extLst>
          </p:cNvPr>
          <p:cNvSpPr>
            <a:spLocks noGrp="1"/>
          </p:cNvSpPr>
          <p:nvPr>
            <p:ph type="title"/>
          </p:nvPr>
        </p:nvSpPr>
        <p:spPr/>
        <p:txBody>
          <a:bodyPr/>
          <a:lstStyle/>
          <a:p>
            <a:r>
              <a:rPr lang="en-US" dirty="0"/>
              <a:t>What Intermediate Code</a:t>
            </a:r>
          </a:p>
        </p:txBody>
      </p:sp>
      <p:sp>
        <p:nvSpPr>
          <p:cNvPr id="3" name="Content Placeholder 2">
            <a:extLst>
              <a:ext uri="{FF2B5EF4-FFF2-40B4-BE49-F238E27FC236}">
                <a16:creationId xmlns:a16="http://schemas.microsoft.com/office/drawing/2014/main" id="{1A6602BC-09AF-40BE-8EDD-3E7A6BF21239}"/>
              </a:ext>
            </a:extLst>
          </p:cNvPr>
          <p:cNvSpPr>
            <a:spLocks noGrp="1"/>
          </p:cNvSpPr>
          <p:nvPr>
            <p:ph idx="1"/>
          </p:nvPr>
        </p:nvSpPr>
        <p:spPr/>
        <p:txBody>
          <a:bodyPr>
            <a:normAutofit fontScale="70000" lnSpcReduction="20000"/>
          </a:bodyPr>
          <a:lstStyle/>
          <a:p>
            <a:r>
              <a:rPr lang="en-US" dirty="0"/>
              <a:t>If a compiler translates the source language to its target machine language without having the option for generating intermediate code, then for each new machine, a full native compiler is required</a:t>
            </a:r>
          </a:p>
          <a:p>
            <a:r>
              <a:rPr lang="en-US" dirty="0"/>
              <a:t>Intermediate code eliminates the need of a new full compiler for every unique machine by keeping the analysis portion same for all the compilers</a:t>
            </a:r>
          </a:p>
          <a:p>
            <a:r>
              <a:rPr lang="en-US" dirty="0"/>
              <a:t>The second part of compiler, synthesis, is changed according to the target machine</a:t>
            </a:r>
          </a:p>
          <a:p>
            <a:r>
              <a:rPr lang="en-US" dirty="0"/>
              <a:t>It becomes easier to apply the source code modifications to improve code performance by applying code optimization techniques on the intermediate code</a:t>
            </a:r>
          </a:p>
        </p:txBody>
      </p:sp>
    </p:spTree>
    <p:extLst>
      <p:ext uri="{BB962C8B-B14F-4D97-AF65-F5344CB8AC3E}">
        <p14:creationId xmlns:p14="http://schemas.microsoft.com/office/powerpoint/2010/main" val="1161566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10EA-9FDE-4C3E-BFB6-98C8A1A20EFA}"/>
              </a:ext>
            </a:extLst>
          </p:cNvPr>
          <p:cNvSpPr>
            <a:spLocks noGrp="1"/>
          </p:cNvSpPr>
          <p:nvPr>
            <p:ph type="title"/>
          </p:nvPr>
        </p:nvSpPr>
        <p:spPr/>
        <p:txBody>
          <a:bodyPr/>
          <a:lstStyle/>
          <a:p>
            <a:r>
              <a:rPr lang="en-US" dirty="0"/>
              <a:t>What Intermediate Code</a:t>
            </a:r>
          </a:p>
        </p:txBody>
      </p:sp>
      <p:pic>
        <p:nvPicPr>
          <p:cNvPr id="4" name="Content Placeholder 3">
            <a:extLst>
              <a:ext uri="{FF2B5EF4-FFF2-40B4-BE49-F238E27FC236}">
                <a16:creationId xmlns:a16="http://schemas.microsoft.com/office/drawing/2014/main" id="{CE8BFD32-1802-4875-BB20-1BBF6E80B616}"/>
              </a:ext>
            </a:extLst>
          </p:cNvPr>
          <p:cNvPicPr>
            <a:picLocks noGrp="1" noChangeAspect="1"/>
          </p:cNvPicPr>
          <p:nvPr>
            <p:ph idx="1"/>
          </p:nvPr>
        </p:nvPicPr>
        <p:blipFill>
          <a:blip r:embed="rId2"/>
          <a:stretch>
            <a:fillRect/>
          </a:stretch>
        </p:blipFill>
        <p:spPr>
          <a:xfrm>
            <a:off x="2041713" y="1200150"/>
            <a:ext cx="5060574" cy="3394075"/>
          </a:xfrm>
          <a:prstGeom prst="rect">
            <a:avLst/>
          </a:prstGeom>
        </p:spPr>
      </p:pic>
    </p:spTree>
    <p:extLst>
      <p:ext uri="{BB962C8B-B14F-4D97-AF65-F5344CB8AC3E}">
        <p14:creationId xmlns:p14="http://schemas.microsoft.com/office/powerpoint/2010/main" val="3496239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C27B-BA7D-4293-B68F-FF621CE147E1}"/>
              </a:ext>
            </a:extLst>
          </p:cNvPr>
          <p:cNvSpPr>
            <a:spLocks noGrp="1"/>
          </p:cNvSpPr>
          <p:nvPr>
            <p:ph type="title"/>
          </p:nvPr>
        </p:nvSpPr>
        <p:spPr/>
        <p:txBody>
          <a:bodyPr/>
          <a:lstStyle/>
          <a:p>
            <a:r>
              <a:rPr lang="en-US" dirty="0"/>
              <a:t>Intermediate Representation</a:t>
            </a:r>
          </a:p>
        </p:txBody>
      </p:sp>
      <p:sp>
        <p:nvSpPr>
          <p:cNvPr id="3" name="Content Placeholder 2">
            <a:extLst>
              <a:ext uri="{FF2B5EF4-FFF2-40B4-BE49-F238E27FC236}">
                <a16:creationId xmlns:a16="http://schemas.microsoft.com/office/drawing/2014/main" id="{685F22A0-39FD-46D2-9730-6C3E75E75D78}"/>
              </a:ext>
            </a:extLst>
          </p:cNvPr>
          <p:cNvSpPr>
            <a:spLocks noGrp="1"/>
          </p:cNvSpPr>
          <p:nvPr>
            <p:ph idx="1"/>
          </p:nvPr>
        </p:nvSpPr>
        <p:spPr/>
        <p:txBody>
          <a:bodyPr>
            <a:normAutofit fontScale="70000" lnSpcReduction="20000"/>
          </a:bodyPr>
          <a:lstStyle/>
          <a:p>
            <a:r>
              <a:rPr lang="en-US" dirty="0"/>
              <a:t>Intermediate codes can be represented in a variety of ways and they have their own benefits</a:t>
            </a:r>
          </a:p>
          <a:p>
            <a:pPr lvl="1"/>
            <a:r>
              <a:rPr lang="en-US" b="1" dirty="0"/>
              <a:t>High Level IR - </a:t>
            </a:r>
            <a:r>
              <a:rPr lang="en-US" dirty="0"/>
              <a:t>High-level intermediate code representation is very close to the source language itself. They can be easily generated from the source code and we can easily apply code modifications to enhance performance. But for target machine optimization, it is less preferred</a:t>
            </a:r>
          </a:p>
          <a:p>
            <a:pPr lvl="1"/>
            <a:r>
              <a:rPr lang="en-US" b="1" dirty="0"/>
              <a:t>Low Level IR -</a:t>
            </a:r>
            <a:r>
              <a:rPr lang="en-US" dirty="0"/>
              <a:t>This one is close to the target machine, which makes it suitable for register and memory allocation, instruction set selection, etc. It is good for machine-dependent optimizations</a:t>
            </a:r>
          </a:p>
          <a:p>
            <a:r>
              <a:rPr lang="en-US" dirty="0"/>
              <a:t>Intermediate code can be either language specific (e.g., Byte Code for Java) or language independent (three-address code).</a:t>
            </a:r>
          </a:p>
        </p:txBody>
      </p:sp>
    </p:spTree>
    <p:extLst>
      <p:ext uri="{BB962C8B-B14F-4D97-AF65-F5344CB8AC3E}">
        <p14:creationId xmlns:p14="http://schemas.microsoft.com/office/powerpoint/2010/main" val="1029931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High Level IR</a:t>
            </a:r>
          </a:p>
        </p:txBody>
      </p:sp>
      <p:sp>
        <p:nvSpPr>
          <p:cNvPr id="3" name="Content Placeholder 2"/>
          <p:cNvSpPr>
            <a:spLocks noGrp="1"/>
          </p:cNvSpPr>
          <p:nvPr>
            <p:ph idx="1"/>
          </p:nvPr>
        </p:nvSpPr>
        <p:spPr/>
        <p:txBody>
          <a:bodyPr/>
          <a:lstStyle/>
          <a:p>
            <a:r>
              <a:rPr lang="en-GB" dirty="0"/>
              <a:t>HIR is typically an </a:t>
            </a:r>
            <a:r>
              <a:rPr lang="en-GB" b="1" dirty="0"/>
              <a:t>Abstract Syntax Tree (AST)</a:t>
            </a:r>
            <a:r>
              <a:rPr lang="en-GB" dirty="0"/>
              <a:t> which maintains the program's structure and high-level constructs.</a:t>
            </a:r>
          </a:p>
          <a:p>
            <a:endParaRPr lang="en-GB" dirty="0"/>
          </a:p>
        </p:txBody>
      </p:sp>
    </p:spTree>
    <p:extLst>
      <p:ext uri="{BB962C8B-B14F-4D97-AF65-F5344CB8AC3E}">
        <p14:creationId xmlns:p14="http://schemas.microsoft.com/office/powerpoint/2010/main" val="252697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Low Level IR</a:t>
            </a:r>
          </a:p>
        </p:txBody>
      </p:sp>
      <p:sp>
        <p:nvSpPr>
          <p:cNvPr id="3" name="Content Placeholder 2"/>
          <p:cNvSpPr>
            <a:spLocks noGrp="1"/>
          </p:cNvSpPr>
          <p:nvPr>
            <p:ph idx="1"/>
          </p:nvPr>
        </p:nvSpPr>
        <p:spPr/>
        <p:txBody>
          <a:bodyPr/>
          <a:lstStyle/>
          <a:p>
            <a:r>
              <a:rPr lang="en-GB" dirty="0"/>
              <a:t>LIR often uses</a:t>
            </a:r>
            <a:r>
              <a:rPr lang="en-GB" b="1" dirty="0"/>
              <a:t> Three-Address Code (TAC) </a:t>
            </a:r>
            <a:r>
              <a:rPr lang="en-GB" dirty="0"/>
              <a:t>or Register Transfer Language, which break down operations into simpler, machine-like instructions and use explicit jumps for control flow.</a:t>
            </a:r>
          </a:p>
        </p:txBody>
      </p:sp>
    </p:spTree>
    <p:extLst>
      <p:ext uri="{BB962C8B-B14F-4D97-AF65-F5344CB8AC3E}">
        <p14:creationId xmlns:p14="http://schemas.microsoft.com/office/powerpoint/2010/main" val="1606574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ACE7DF47-4954-CB9D-AE58-98CD97C57AB2}"/>
              </a:ext>
            </a:extLst>
          </p:cNvPr>
          <p:cNvSpPr>
            <a:spLocks noGrp="1"/>
          </p:cNvSpPr>
          <p:nvPr>
            <p:ph type="ftr" sz="quarter" idx="11"/>
          </p:nvPr>
        </p:nvSpPr>
        <p:spPr/>
        <p:txBody>
          <a:bodyPr/>
          <a:lstStyle/>
          <a:p>
            <a:r>
              <a:rPr lang="en-US" altLang="en-PK"/>
              <a:t>CS 540 GMU Spring 2009</a:t>
            </a:r>
          </a:p>
        </p:txBody>
      </p:sp>
      <p:sp>
        <p:nvSpPr>
          <p:cNvPr id="4" name="Slide Number Placeholder 5">
            <a:extLst>
              <a:ext uri="{FF2B5EF4-FFF2-40B4-BE49-F238E27FC236}">
                <a16:creationId xmlns:a16="http://schemas.microsoft.com/office/drawing/2014/main" id="{B1F5D5CB-6FCF-BAB9-6C66-5F8B4FC3BFA8}"/>
              </a:ext>
            </a:extLst>
          </p:cNvPr>
          <p:cNvSpPr>
            <a:spLocks noGrp="1"/>
          </p:cNvSpPr>
          <p:nvPr>
            <p:ph type="sldNum" sz="quarter" idx="12"/>
          </p:nvPr>
        </p:nvSpPr>
        <p:spPr/>
        <p:txBody>
          <a:bodyPr/>
          <a:lstStyle/>
          <a:p>
            <a:fld id="{637B9360-7493-49CC-8F2B-9C8623858110}" type="slidenum">
              <a:rPr lang="en-US" altLang="en-PK"/>
              <a:pPr/>
              <a:t>10</a:t>
            </a:fld>
            <a:endParaRPr lang="en-US" altLang="en-PK"/>
          </a:p>
        </p:txBody>
      </p:sp>
      <p:sp>
        <p:nvSpPr>
          <p:cNvPr id="7170" name="Rectangle 2">
            <a:extLst>
              <a:ext uri="{FF2B5EF4-FFF2-40B4-BE49-F238E27FC236}">
                <a16:creationId xmlns:a16="http://schemas.microsoft.com/office/drawing/2014/main" id="{076EE171-FF31-89AD-5EBA-9803B37A4D2D}"/>
              </a:ext>
            </a:extLst>
          </p:cNvPr>
          <p:cNvSpPr>
            <a:spLocks noGrp="1" noChangeArrowheads="1"/>
          </p:cNvSpPr>
          <p:nvPr>
            <p:ph type="title"/>
          </p:nvPr>
        </p:nvSpPr>
        <p:spPr/>
        <p:txBody>
          <a:bodyPr/>
          <a:lstStyle/>
          <a:p>
            <a:r>
              <a:rPr lang="en-US" altLang="en-PK"/>
              <a:t>Intermediate Languages Types</a:t>
            </a:r>
          </a:p>
        </p:txBody>
      </p:sp>
      <p:sp>
        <p:nvSpPr>
          <p:cNvPr id="7171" name="Rectangle 3">
            <a:extLst>
              <a:ext uri="{FF2B5EF4-FFF2-40B4-BE49-F238E27FC236}">
                <a16:creationId xmlns:a16="http://schemas.microsoft.com/office/drawing/2014/main" id="{47B78FC7-14AA-18B1-9CDE-84E32BA6AE6E}"/>
              </a:ext>
            </a:extLst>
          </p:cNvPr>
          <p:cNvSpPr>
            <a:spLocks noGrp="1" noChangeArrowheads="1"/>
          </p:cNvSpPr>
          <p:nvPr>
            <p:ph type="body" idx="1"/>
          </p:nvPr>
        </p:nvSpPr>
        <p:spPr/>
        <p:txBody>
          <a:bodyPr/>
          <a:lstStyle/>
          <a:p>
            <a:r>
              <a:rPr lang="en-US" altLang="en-PK" dirty="0"/>
              <a:t>Graphical IRs: Abstract Syntax trees, DAGs, Control Flow Graphs</a:t>
            </a:r>
          </a:p>
          <a:p>
            <a:r>
              <a:rPr lang="en-US" altLang="en-PK" dirty="0"/>
              <a:t>Linear IRs: </a:t>
            </a:r>
          </a:p>
          <a:p>
            <a:pPr lvl="1"/>
            <a:r>
              <a:rPr lang="en-US" altLang="en-PK" dirty="0"/>
              <a:t>Stack based (postfix)</a:t>
            </a:r>
          </a:p>
          <a:p>
            <a:pPr lvl="1"/>
            <a:r>
              <a:rPr lang="en-US" altLang="en-PK" dirty="0"/>
              <a:t>Three address code (quadruples)</a:t>
            </a:r>
          </a:p>
          <a:p>
            <a:pPr>
              <a:buFontTx/>
              <a:buNone/>
            </a:pPr>
            <a:endParaRPr lang="en-US" altLang="en-PK" dirty="0"/>
          </a:p>
          <a:p>
            <a:endParaRPr lang="en-US" altLang="en-PK" dirty="0"/>
          </a:p>
          <a:p>
            <a:endParaRPr lang="en-US" altLang="en-PK"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EAD812A8-8D60-6B88-C737-88E1AFFA5DDB}"/>
              </a:ext>
            </a:extLst>
          </p:cNvPr>
          <p:cNvSpPr>
            <a:spLocks noGrp="1"/>
          </p:cNvSpPr>
          <p:nvPr>
            <p:ph type="ftr" sz="quarter" idx="11"/>
          </p:nvPr>
        </p:nvSpPr>
        <p:spPr/>
        <p:txBody>
          <a:bodyPr/>
          <a:lstStyle/>
          <a:p>
            <a:r>
              <a:rPr lang="en-US" altLang="en-PK"/>
              <a:t>CS 540 GMU Spring 2009</a:t>
            </a:r>
          </a:p>
        </p:txBody>
      </p:sp>
      <p:sp>
        <p:nvSpPr>
          <p:cNvPr id="4" name="Slide Number Placeholder 5">
            <a:extLst>
              <a:ext uri="{FF2B5EF4-FFF2-40B4-BE49-F238E27FC236}">
                <a16:creationId xmlns:a16="http://schemas.microsoft.com/office/drawing/2014/main" id="{B4A65329-B7F8-5BE5-B31F-FD1708AC4499}"/>
              </a:ext>
            </a:extLst>
          </p:cNvPr>
          <p:cNvSpPr>
            <a:spLocks noGrp="1"/>
          </p:cNvSpPr>
          <p:nvPr>
            <p:ph type="sldNum" sz="quarter" idx="12"/>
          </p:nvPr>
        </p:nvSpPr>
        <p:spPr/>
        <p:txBody>
          <a:bodyPr/>
          <a:lstStyle/>
          <a:p>
            <a:fld id="{756A22DC-CAB6-4EB5-81A3-3354DF12069B}" type="slidenum">
              <a:rPr lang="en-US" altLang="en-PK"/>
              <a:pPr/>
              <a:t>11</a:t>
            </a:fld>
            <a:endParaRPr lang="en-US" altLang="en-PK"/>
          </a:p>
        </p:txBody>
      </p:sp>
      <p:sp>
        <p:nvSpPr>
          <p:cNvPr id="56322" name="Rectangle 2">
            <a:extLst>
              <a:ext uri="{FF2B5EF4-FFF2-40B4-BE49-F238E27FC236}">
                <a16:creationId xmlns:a16="http://schemas.microsoft.com/office/drawing/2014/main" id="{06E38A53-1B5C-0FD0-4780-9E302C52AEC5}"/>
              </a:ext>
            </a:extLst>
          </p:cNvPr>
          <p:cNvSpPr>
            <a:spLocks noGrp="1" noChangeArrowheads="1"/>
          </p:cNvSpPr>
          <p:nvPr>
            <p:ph type="title"/>
          </p:nvPr>
        </p:nvSpPr>
        <p:spPr/>
        <p:txBody>
          <a:bodyPr>
            <a:normAutofit/>
          </a:bodyPr>
          <a:lstStyle/>
          <a:p>
            <a:r>
              <a:rPr lang="en-US" altLang="en-PK" sz="4000" b="1" dirty="0"/>
              <a:t>Graphical IRs</a:t>
            </a:r>
          </a:p>
        </p:txBody>
      </p:sp>
      <p:sp>
        <p:nvSpPr>
          <p:cNvPr id="56323" name="Rectangle 3">
            <a:extLst>
              <a:ext uri="{FF2B5EF4-FFF2-40B4-BE49-F238E27FC236}">
                <a16:creationId xmlns:a16="http://schemas.microsoft.com/office/drawing/2014/main" id="{482A2D2E-29F8-5CBA-BFB2-909CD1C9992B}"/>
              </a:ext>
            </a:extLst>
          </p:cNvPr>
          <p:cNvSpPr>
            <a:spLocks noGrp="1" noChangeArrowheads="1"/>
          </p:cNvSpPr>
          <p:nvPr>
            <p:ph type="body" idx="1"/>
          </p:nvPr>
        </p:nvSpPr>
        <p:spPr/>
        <p:txBody>
          <a:bodyPr>
            <a:normAutofit fontScale="92500"/>
          </a:bodyPr>
          <a:lstStyle/>
          <a:p>
            <a:pPr>
              <a:lnSpc>
                <a:spcPct val="90000"/>
              </a:lnSpc>
            </a:pPr>
            <a:r>
              <a:rPr lang="en-US" altLang="en-PK" b="1" dirty="0"/>
              <a:t>Abstract Syntax Trees (AST) </a:t>
            </a:r>
            <a:r>
              <a:rPr lang="en-US" altLang="en-PK" dirty="0"/>
              <a:t>– retain essential structure of the parse tree, eliminating unneeded nodes.</a:t>
            </a:r>
          </a:p>
          <a:p>
            <a:pPr>
              <a:lnSpc>
                <a:spcPct val="90000"/>
              </a:lnSpc>
            </a:pPr>
            <a:r>
              <a:rPr lang="en-US" altLang="en-PK" b="1" dirty="0"/>
              <a:t>Directed Acyclic Graphs (DAG) </a:t>
            </a:r>
            <a:r>
              <a:rPr lang="en-US" altLang="en-PK" dirty="0"/>
              <a:t>– compacted AST to avoid duplication – smaller footprint as well</a:t>
            </a:r>
          </a:p>
          <a:p>
            <a:pPr>
              <a:lnSpc>
                <a:spcPct val="90000"/>
              </a:lnSpc>
            </a:pPr>
            <a:r>
              <a:rPr lang="en-US" altLang="en-PK" b="1" dirty="0"/>
              <a:t>Control flow graphs (CFG) </a:t>
            </a:r>
            <a:r>
              <a:rPr lang="en-US" altLang="en-PK" dirty="0"/>
              <a:t>– explicitly model control flow</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270F2F4-3D77-AA8F-1DCB-BE5BFC289E75}"/>
              </a:ext>
            </a:extLst>
          </p:cNvPr>
          <p:cNvSpPr>
            <a:spLocks noGrp="1"/>
          </p:cNvSpPr>
          <p:nvPr>
            <p:ph type="sldNum" sz="quarter" idx="12"/>
          </p:nvPr>
        </p:nvSpPr>
        <p:spPr/>
        <p:txBody>
          <a:bodyPr/>
          <a:lstStyle/>
          <a:p>
            <a:fld id="{DC8C59F0-75F4-40A5-9CEB-4E21B2D4489B}" type="slidenum">
              <a:rPr lang="en-US" altLang="en-PK"/>
              <a:pPr/>
              <a:t>12</a:t>
            </a:fld>
            <a:endParaRPr lang="en-US" altLang="en-PK"/>
          </a:p>
        </p:txBody>
      </p:sp>
      <p:sp>
        <p:nvSpPr>
          <p:cNvPr id="9218" name="Rectangle 2">
            <a:extLst>
              <a:ext uri="{FF2B5EF4-FFF2-40B4-BE49-F238E27FC236}">
                <a16:creationId xmlns:a16="http://schemas.microsoft.com/office/drawing/2014/main" id="{689607B7-2C3B-B03C-38F7-49CDEE6DCE7F}"/>
              </a:ext>
            </a:extLst>
          </p:cNvPr>
          <p:cNvSpPr>
            <a:spLocks noGrp="1" noChangeArrowheads="1"/>
          </p:cNvSpPr>
          <p:nvPr>
            <p:ph type="title"/>
          </p:nvPr>
        </p:nvSpPr>
        <p:spPr/>
        <p:txBody>
          <a:bodyPr>
            <a:normAutofit fontScale="90000"/>
          </a:bodyPr>
          <a:lstStyle/>
          <a:p>
            <a:r>
              <a:rPr lang="en-US" altLang="en-PK" sz="3000" dirty="0"/>
              <a:t>ASTs and DAGs:</a:t>
            </a:r>
            <a:br>
              <a:rPr lang="en-US" altLang="en-PK" sz="3000" dirty="0"/>
            </a:br>
            <a:r>
              <a:rPr lang="en-US" altLang="en-PK" sz="3000" dirty="0"/>
              <a:t>a := b *-c + b*-c</a:t>
            </a:r>
          </a:p>
        </p:txBody>
      </p:sp>
      <p:sp>
        <p:nvSpPr>
          <p:cNvPr id="9220" name="Text Box 4">
            <a:extLst>
              <a:ext uri="{FF2B5EF4-FFF2-40B4-BE49-F238E27FC236}">
                <a16:creationId xmlns:a16="http://schemas.microsoft.com/office/drawing/2014/main" id="{3567C4EC-F712-0084-DB57-4E44D14F1F2D}"/>
              </a:ext>
            </a:extLst>
          </p:cNvPr>
          <p:cNvSpPr txBox="1">
            <a:spLocks noChangeArrowheads="1"/>
          </p:cNvSpPr>
          <p:nvPr/>
        </p:nvSpPr>
        <p:spPr bwMode="auto">
          <a:xfrm>
            <a:off x="2527697" y="1516856"/>
            <a:ext cx="31771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21" name="Text Box 5">
            <a:extLst>
              <a:ext uri="{FF2B5EF4-FFF2-40B4-BE49-F238E27FC236}">
                <a16:creationId xmlns:a16="http://schemas.microsoft.com/office/drawing/2014/main" id="{CEAAAC25-D534-8A36-0711-BF339805960E}"/>
              </a:ext>
            </a:extLst>
          </p:cNvPr>
          <p:cNvSpPr txBox="1">
            <a:spLocks noChangeArrowheads="1"/>
          </p:cNvSpPr>
          <p:nvPr/>
        </p:nvSpPr>
        <p:spPr bwMode="auto">
          <a:xfrm>
            <a:off x="2171700" y="1943100"/>
            <a:ext cx="26802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a:t>
            </a:r>
          </a:p>
        </p:txBody>
      </p:sp>
      <p:sp>
        <p:nvSpPr>
          <p:cNvPr id="9222" name="Text Box 6">
            <a:extLst>
              <a:ext uri="{FF2B5EF4-FFF2-40B4-BE49-F238E27FC236}">
                <a16:creationId xmlns:a16="http://schemas.microsoft.com/office/drawing/2014/main" id="{BC9C4E11-4B76-ED81-D540-8A59C4E0476D}"/>
              </a:ext>
            </a:extLst>
          </p:cNvPr>
          <p:cNvSpPr txBox="1">
            <a:spLocks noChangeArrowheads="1"/>
          </p:cNvSpPr>
          <p:nvPr/>
        </p:nvSpPr>
        <p:spPr bwMode="auto">
          <a:xfrm>
            <a:off x="2857500" y="1943100"/>
            <a:ext cx="27122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23" name="Text Box 7">
            <a:extLst>
              <a:ext uri="{FF2B5EF4-FFF2-40B4-BE49-F238E27FC236}">
                <a16:creationId xmlns:a16="http://schemas.microsoft.com/office/drawing/2014/main" id="{F0E376C8-0855-50F0-11EF-7B9F5EEEED04}"/>
              </a:ext>
            </a:extLst>
          </p:cNvPr>
          <p:cNvSpPr txBox="1">
            <a:spLocks noChangeArrowheads="1"/>
          </p:cNvSpPr>
          <p:nvPr/>
        </p:nvSpPr>
        <p:spPr bwMode="auto">
          <a:xfrm>
            <a:off x="2400300" y="2400300"/>
            <a:ext cx="27122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24" name="Text Box 8">
            <a:extLst>
              <a:ext uri="{FF2B5EF4-FFF2-40B4-BE49-F238E27FC236}">
                <a16:creationId xmlns:a16="http://schemas.microsoft.com/office/drawing/2014/main" id="{884505E6-4378-3C99-91BD-444CD9A59CC8}"/>
              </a:ext>
            </a:extLst>
          </p:cNvPr>
          <p:cNvSpPr txBox="1">
            <a:spLocks noChangeArrowheads="1"/>
          </p:cNvSpPr>
          <p:nvPr/>
        </p:nvSpPr>
        <p:spPr bwMode="auto">
          <a:xfrm>
            <a:off x="3028950" y="2400300"/>
            <a:ext cx="27122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25" name="Text Box 9">
            <a:extLst>
              <a:ext uri="{FF2B5EF4-FFF2-40B4-BE49-F238E27FC236}">
                <a16:creationId xmlns:a16="http://schemas.microsoft.com/office/drawing/2014/main" id="{035C3266-F4BF-DB6A-7E8F-5A66A99477FB}"/>
              </a:ext>
            </a:extLst>
          </p:cNvPr>
          <p:cNvSpPr txBox="1">
            <a:spLocks noChangeArrowheads="1"/>
          </p:cNvSpPr>
          <p:nvPr/>
        </p:nvSpPr>
        <p:spPr bwMode="auto">
          <a:xfrm>
            <a:off x="2057400" y="2800350"/>
            <a:ext cx="27603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b</a:t>
            </a:r>
          </a:p>
        </p:txBody>
      </p:sp>
      <p:sp>
        <p:nvSpPr>
          <p:cNvPr id="9227" name="Text Box 11">
            <a:extLst>
              <a:ext uri="{FF2B5EF4-FFF2-40B4-BE49-F238E27FC236}">
                <a16:creationId xmlns:a16="http://schemas.microsoft.com/office/drawing/2014/main" id="{56A4FD2B-1A89-CE78-F034-F4F9B2895966}"/>
              </a:ext>
            </a:extLst>
          </p:cNvPr>
          <p:cNvSpPr txBox="1">
            <a:spLocks noChangeArrowheads="1"/>
          </p:cNvSpPr>
          <p:nvPr/>
        </p:nvSpPr>
        <p:spPr bwMode="auto">
          <a:xfrm>
            <a:off x="2286000" y="2800350"/>
            <a:ext cx="60465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 (uni)</a:t>
            </a:r>
          </a:p>
        </p:txBody>
      </p:sp>
      <p:sp>
        <p:nvSpPr>
          <p:cNvPr id="9228" name="Text Box 12">
            <a:extLst>
              <a:ext uri="{FF2B5EF4-FFF2-40B4-BE49-F238E27FC236}">
                <a16:creationId xmlns:a16="http://schemas.microsoft.com/office/drawing/2014/main" id="{AABF0AB2-0C4F-F13B-E94D-DB12A8EECB1A}"/>
              </a:ext>
            </a:extLst>
          </p:cNvPr>
          <p:cNvSpPr txBox="1">
            <a:spLocks noChangeArrowheads="1"/>
          </p:cNvSpPr>
          <p:nvPr/>
        </p:nvSpPr>
        <p:spPr bwMode="auto">
          <a:xfrm>
            <a:off x="3657600" y="3429000"/>
            <a:ext cx="25840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c</a:t>
            </a:r>
          </a:p>
        </p:txBody>
      </p:sp>
      <p:sp>
        <p:nvSpPr>
          <p:cNvPr id="9229" name="Text Box 13">
            <a:extLst>
              <a:ext uri="{FF2B5EF4-FFF2-40B4-BE49-F238E27FC236}">
                <a16:creationId xmlns:a16="http://schemas.microsoft.com/office/drawing/2014/main" id="{E25E3F52-4674-1782-49B3-EA482978BD56}"/>
              </a:ext>
            </a:extLst>
          </p:cNvPr>
          <p:cNvSpPr txBox="1">
            <a:spLocks noChangeArrowheads="1"/>
          </p:cNvSpPr>
          <p:nvPr/>
        </p:nvSpPr>
        <p:spPr bwMode="auto">
          <a:xfrm>
            <a:off x="5613797" y="1543050"/>
            <a:ext cx="317716"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30" name="Text Box 14">
            <a:extLst>
              <a:ext uri="{FF2B5EF4-FFF2-40B4-BE49-F238E27FC236}">
                <a16:creationId xmlns:a16="http://schemas.microsoft.com/office/drawing/2014/main" id="{841779F7-D61A-E353-7B74-B75F8AF01A3F}"/>
              </a:ext>
            </a:extLst>
          </p:cNvPr>
          <p:cNvSpPr txBox="1">
            <a:spLocks noChangeArrowheads="1"/>
          </p:cNvSpPr>
          <p:nvPr/>
        </p:nvSpPr>
        <p:spPr bwMode="auto">
          <a:xfrm>
            <a:off x="5257800" y="1943100"/>
            <a:ext cx="268022"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a:t>
            </a:r>
          </a:p>
        </p:txBody>
      </p:sp>
      <p:sp>
        <p:nvSpPr>
          <p:cNvPr id="9231" name="Text Box 15">
            <a:extLst>
              <a:ext uri="{FF2B5EF4-FFF2-40B4-BE49-F238E27FC236}">
                <a16:creationId xmlns:a16="http://schemas.microsoft.com/office/drawing/2014/main" id="{D1E7655B-2B82-420B-D202-B93494088ECF}"/>
              </a:ext>
            </a:extLst>
          </p:cNvPr>
          <p:cNvSpPr txBox="1">
            <a:spLocks noChangeArrowheads="1"/>
          </p:cNvSpPr>
          <p:nvPr/>
        </p:nvSpPr>
        <p:spPr bwMode="auto">
          <a:xfrm>
            <a:off x="6057900" y="1943100"/>
            <a:ext cx="27122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32" name="Line 16">
            <a:extLst>
              <a:ext uri="{FF2B5EF4-FFF2-40B4-BE49-F238E27FC236}">
                <a16:creationId xmlns:a16="http://schemas.microsoft.com/office/drawing/2014/main" id="{1645D730-20C7-A095-86D5-9ADC7FB0EA80}"/>
              </a:ext>
            </a:extLst>
          </p:cNvPr>
          <p:cNvSpPr>
            <a:spLocks noChangeShapeType="1"/>
          </p:cNvSpPr>
          <p:nvPr/>
        </p:nvSpPr>
        <p:spPr bwMode="auto">
          <a:xfrm flipH="1">
            <a:off x="2343150" y="18288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33" name="Line 17">
            <a:extLst>
              <a:ext uri="{FF2B5EF4-FFF2-40B4-BE49-F238E27FC236}">
                <a16:creationId xmlns:a16="http://schemas.microsoft.com/office/drawing/2014/main" id="{26472A9F-A12F-9E37-0817-F6B91AFA879A}"/>
              </a:ext>
            </a:extLst>
          </p:cNvPr>
          <p:cNvSpPr>
            <a:spLocks noChangeShapeType="1"/>
          </p:cNvSpPr>
          <p:nvPr/>
        </p:nvSpPr>
        <p:spPr bwMode="auto">
          <a:xfrm>
            <a:off x="2743200" y="1828800"/>
            <a:ext cx="17145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34" name="Line 18">
            <a:extLst>
              <a:ext uri="{FF2B5EF4-FFF2-40B4-BE49-F238E27FC236}">
                <a16:creationId xmlns:a16="http://schemas.microsoft.com/office/drawing/2014/main" id="{E5EBE14C-B377-1886-5C0C-FC8F7F8D90C4}"/>
              </a:ext>
            </a:extLst>
          </p:cNvPr>
          <p:cNvSpPr>
            <a:spLocks noChangeShapeType="1"/>
          </p:cNvSpPr>
          <p:nvPr/>
        </p:nvSpPr>
        <p:spPr bwMode="auto">
          <a:xfrm flipH="1">
            <a:off x="5486400" y="1828800"/>
            <a:ext cx="2286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35" name="Line 19">
            <a:extLst>
              <a:ext uri="{FF2B5EF4-FFF2-40B4-BE49-F238E27FC236}">
                <a16:creationId xmlns:a16="http://schemas.microsoft.com/office/drawing/2014/main" id="{10C1A1AB-5CA5-2E1A-1B62-18D492E19B5A}"/>
              </a:ext>
            </a:extLst>
          </p:cNvPr>
          <p:cNvSpPr>
            <a:spLocks noChangeShapeType="1"/>
          </p:cNvSpPr>
          <p:nvPr/>
        </p:nvSpPr>
        <p:spPr bwMode="auto">
          <a:xfrm>
            <a:off x="5829300" y="1828800"/>
            <a:ext cx="28575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36" name="Text Box 20">
            <a:extLst>
              <a:ext uri="{FF2B5EF4-FFF2-40B4-BE49-F238E27FC236}">
                <a16:creationId xmlns:a16="http://schemas.microsoft.com/office/drawing/2014/main" id="{71A0ACBA-0347-A4E7-8710-54A0DF6EF7D7}"/>
              </a:ext>
            </a:extLst>
          </p:cNvPr>
          <p:cNvSpPr txBox="1">
            <a:spLocks noChangeArrowheads="1"/>
          </p:cNvSpPr>
          <p:nvPr/>
        </p:nvSpPr>
        <p:spPr bwMode="auto">
          <a:xfrm>
            <a:off x="3314700" y="2800350"/>
            <a:ext cx="60465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 (uni)</a:t>
            </a:r>
          </a:p>
        </p:txBody>
      </p:sp>
      <p:sp>
        <p:nvSpPr>
          <p:cNvPr id="9237" name="Text Box 21">
            <a:extLst>
              <a:ext uri="{FF2B5EF4-FFF2-40B4-BE49-F238E27FC236}">
                <a16:creationId xmlns:a16="http://schemas.microsoft.com/office/drawing/2014/main" id="{B8315C92-6660-92DA-D330-1A9AA1EE38E6}"/>
              </a:ext>
            </a:extLst>
          </p:cNvPr>
          <p:cNvSpPr txBox="1">
            <a:spLocks noChangeArrowheads="1"/>
          </p:cNvSpPr>
          <p:nvPr/>
        </p:nvSpPr>
        <p:spPr bwMode="auto">
          <a:xfrm>
            <a:off x="3028950" y="2800350"/>
            <a:ext cx="27603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b</a:t>
            </a:r>
          </a:p>
        </p:txBody>
      </p:sp>
      <p:sp>
        <p:nvSpPr>
          <p:cNvPr id="9238" name="Text Box 22">
            <a:extLst>
              <a:ext uri="{FF2B5EF4-FFF2-40B4-BE49-F238E27FC236}">
                <a16:creationId xmlns:a16="http://schemas.microsoft.com/office/drawing/2014/main" id="{44CDB2F8-160E-ADE3-ED82-A5A4781615B7}"/>
              </a:ext>
            </a:extLst>
          </p:cNvPr>
          <p:cNvSpPr txBox="1">
            <a:spLocks noChangeArrowheads="1"/>
          </p:cNvSpPr>
          <p:nvPr/>
        </p:nvSpPr>
        <p:spPr bwMode="auto">
          <a:xfrm>
            <a:off x="5772150" y="2857500"/>
            <a:ext cx="27603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b</a:t>
            </a:r>
          </a:p>
        </p:txBody>
      </p:sp>
      <p:sp>
        <p:nvSpPr>
          <p:cNvPr id="9239" name="Text Box 23">
            <a:extLst>
              <a:ext uri="{FF2B5EF4-FFF2-40B4-BE49-F238E27FC236}">
                <a16:creationId xmlns:a16="http://schemas.microsoft.com/office/drawing/2014/main" id="{DBB68ED2-81BE-C905-68D6-E0F9783959F1}"/>
              </a:ext>
            </a:extLst>
          </p:cNvPr>
          <p:cNvSpPr txBox="1">
            <a:spLocks noChangeArrowheads="1"/>
          </p:cNvSpPr>
          <p:nvPr/>
        </p:nvSpPr>
        <p:spPr bwMode="auto">
          <a:xfrm>
            <a:off x="6057900" y="2457450"/>
            <a:ext cx="271228"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a:t>
            </a:r>
          </a:p>
        </p:txBody>
      </p:sp>
      <p:sp>
        <p:nvSpPr>
          <p:cNvPr id="9240" name="Text Box 24">
            <a:extLst>
              <a:ext uri="{FF2B5EF4-FFF2-40B4-BE49-F238E27FC236}">
                <a16:creationId xmlns:a16="http://schemas.microsoft.com/office/drawing/2014/main" id="{38E0B8B9-09BA-5791-4E39-98D5487F164C}"/>
              </a:ext>
            </a:extLst>
          </p:cNvPr>
          <p:cNvSpPr txBox="1">
            <a:spLocks noChangeArrowheads="1"/>
          </p:cNvSpPr>
          <p:nvPr/>
        </p:nvSpPr>
        <p:spPr bwMode="auto">
          <a:xfrm>
            <a:off x="6172200" y="2800350"/>
            <a:ext cx="604653"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 (uni)</a:t>
            </a:r>
          </a:p>
        </p:txBody>
      </p:sp>
      <p:sp>
        <p:nvSpPr>
          <p:cNvPr id="9241" name="Text Box 25">
            <a:extLst>
              <a:ext uri="{FF2B5EF4-FFF2-40B4-BE49-F238E27FC236}">
                <a16:creationId xmlns:a16="http://schemas.microsoft.com/office/drawing/2014/main" id="{5EA7DFDF-B560-3987-62D2-0EB84A576A67}"/>
              </a:ext>
            </a:extLst>
          </p:cNvPr>
          <p:cNvSpPr txBox="1">
            <a:spLocks noChangeArrowheads="1"/>
          </p:cNvSpPr>
          <p:nvPr/>
        </p:nvSpPr>
        <p:spPr bwMode="auto">
          <a:xfrm>
            <a:off x="2571750" y="3371850"/>
            <a:ext cx="25840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c</a:t>
            </a:r>
          </a:p>
        </p:txBody>
      </p:sp>
      <p:sp>
        <p:nvSpPr>
          <p:cNvPr id="9242" name="Text Box 26">
            <a:extLst>
              <a:ext uri="{FF2B5EF4-FFF2-40B4-BE49-F238E27FC236}">
                <a16:creationId xmlns:a16="http://schemas.microsoft.com/office/drawing/2014/main" id="{440849F3-667C-D3A0-5D05-E98126ED64CF}"/>
              </a:ext>
            </a:extLst>
          </p:cNvPr>
          <p:cNvSpPr txBox="1">
            <a:spLocks noChangeArrowheads="1"/>
          </p:cNvSpPr>
          <p:nvPr/>
        </p:nvSpPr>
        <p:spPr bwMode="auto">
          <a:xfrm>
            <a:off x="6515100" y="3371850"/>
            <a:ext cx="258404" cy="30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PK" sz="1350"/>
              <a:t>c</a:t>
            </a:r>
          </a:p>
        </p:txBody>
      </p:sp>
      <p:sp>
        <p:nvSpPr>
          <p:cNvPr id="9243" name="Line 27">
            <a:extLst>
              <a:ext uri="{FF2B5EF4-FFF2-40B4-BE49-F238E27FC236}">
                <a16:creationId xmlns:a16="http://schemas.microsoft.com/office/drawing/2014/main" id="{9597D5DC-467D-C5F0-C9F0-3B0E11ACA7D8}"/>
              </a:ext>
            </a:extLst>
          </p:cNvPr>
          <p:cNvSpPr>
            <a:spLocks noChangeShapeType="1"/>
          </p:cNvSpPr>
          <p:nvPr/>
        </p:nvSpPr>
        <p:spPr bwMode="auto">
          <a:xfrm flipH="1">
            <a:off x="2628900" y="2171700"/>
            <a:ext cx="28575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44" name="Line 28">
            <a:extLst>
              <a:ext uri="{FF2B5EF4-FFF2-40B4-BE49-F238E27FC236}">
                <a16:creationId xmlns:a16="http://schemas.microsoft.com/office/drawing/2014/main" id="{980B38ED-2877-5D7B-C97D-345BC0F5968D}"/>
              </a:ext>
            </a:extLst>
          </p:cNvPr>
          <p:cNvSpPr>
            <a:spLocks noChangeShapeType="1"/>
          </p:cNvSpPr>
          <p:nvPr/>
        </p:nvSpPr>
        <p:spPr bwMode="auto">
          <a:xfrm>
            <a:off x="3028950" y="2171700"/>
            <a:ext cx="11430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45" name="Line 29">
            <a:extLst>
              <a:ext uri="{FF2B5EF4-FFF2-40B4-BE49-F238E27FC236}">
                <a16:creationId xmlns:a16="http://schemas.microsoft.com/office/drawing/2014/main" id="{3CAB4E83-D333-9C5F-F81E-CFC7ED35E058}"/>
              </a:ext>
            </a:extLst>
          </p:cNvPr>
          <p:cNvSpPr>
            <a:spLocks noChangeShapeType="1"/>
          </p:cNvSpPr>
          <p:nvPr/>
        </p:nvSpPr>
        <p:spPr bwMode="auto">
          <a:xfrm flipH="1">
            <a:off x="2228850" y="2571750"/>
            <a:ext cx="28575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46" name="Line 30">
            <a:extLst>
              <a:ext uri="{FF2B5EF4-FFF2-40B4-BE49-F238E27FC236}">
                <a16:creationId xmlns:a16="http://schemas.microsoft.com/office/drawing/2014/main" id="{3D74826E-1450-8482-2611-ED74A4628296}"/>
              </a:ext>
            </a:extLst>
          </p:cNvPr>
          <p:cNvSpPr>
            <a:spLocks noChangeShapeType="1"/>
          </p:cNvSpPr>
          <p:nvPr/>
        </p:nvSpPr>
        <p:spPr bwMode="auto">
          <a:xfrm>
            <a:off x="2514600" y="2628900"/>
            <a:ext cx="1143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47" name="Line 31">
            <a:extLst>
              <a:ext uri="{FF2B5EF4-FFF2-40B4-BE49-F238E27FC236}">
                <a16:creationId xmlns:a16="http://schemas.microsoft.com/office/drawing/2014/main" id="{BA2E3DC1-5103-2893-A9AF-C54E560009C6}"/>
              </a:ext>
            </a:extLst>
          </p:cNvPr>
          <p:cNvSpPr>
            <a:spLocks noChangeShapeType="1"/>
          </p:cNvSpPr>
          <p:nvPr/>
        </p:nvSpPr>
        <p:spPr bwMode="auto">
          <a:xfrm>
            <a:off x="3143250" y="2571750"/>
            <a:ext cx="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48" name="Line 32">
            <a:extLst>
              <a:ext uri="{FF2B5EF4-FFF2-40B4-BE49-F238E27FC236}">
                <a16:creationId xmlns:a16="http://schemas.microsoft.com/office/drawing/2014/main" id="{ED377B01-F04A-BEF6-85DF-45C91F08A14C}"/>
              </a:ext>
            </a:extLst>
          </p:cNvPr>
          <p:cNvSpPr>
            <a:spLocks noChangeShapeType="1"/>
          </p:cNvSpPr>
          <p:nvPr/>
        </p:nvSpPr>
        <p:spPr bwMode="auto">
          <a:xfrm>
            <a:off x="3200400" y="2628900"/>
            <a:ext cx="40005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49" name="Line 33">
            <a:extLst>
              <a:ext uri="{FF2B5EF4-FFF2-40B4-BE49-F238E27FC236}">
                <a16:creationId xmlns:a16="http://schemas.microsoft.com/office/drawing/2014/main" id="{A6E4B9DD-869A-9AD7-B160-DF1CE3D8077E}"/>
              </a:ext>
            </a:extLst>
          </p:cNvPr>
          <p:cNvSpPr>
            <a:spLocks noChangeShapeType="1"/>
          </p:cNvSpPr>
          <p:nvPr/>
        </p:nvSpPr>
        <p:spPr bwMode="auto">
          <a:xfrm>
            <a:off x="2686050" y="3086100"/>
            <a:ext cx="0" cy="400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50" name="Line 34">
            <a:extLst>
              <a:ext uri="{FF2B5EF4-FFF2-40B4-BE49-F238E27FC236}">
                <a16:creationId xmlns:a16="http://schemas.microsoft.com/office/drawing/2014/main" id="{513BF844-C66A-911C-76B5-35535B4B5F02}"/>
              </a:ext>
            </a:extLst>
          </p:cNvPr>
          <p:cNvSpPr>
            <a:spLocks noChangeShapeType="1"/>
          </p:cNvSpPr>
          <p:nvPr/>
        </p:nvSpPr>
        <p:spPr bwMode="auto">
          <a:xfrm>
            <a:off x="3771900" y="3086100"/>
            <a:ext cx="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51" name="Line 35">
            <a:extLst>
              <a:ext uri="{FF2B5EF4-FFF2-40B4-BE49-F238E27FC236}">
                <a16:creationId xmlns:a16="http://schemas.microsoft.com/office/drawing/2014/main" id="{E8AC520C-A918-2544-34D6-694E0E4A997B}"/>
              </a:ext>
            </a:extLst>
          </p:cNvPr>
          <p:cNvSpPr>
            <a:spLocks noChangeShapeType="1"/>
          </p:cNvSpPr>
          <p:nvPr/>
        </p:nvSpPr>
        <p:spPr bwMode="auto">
          <a:xfrm>
            <a:off x="6629400" y="3086100"/>
            <a:ext cx="0" cy="4000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52" name="Line 36">
            <a:extLst>
              <a:ext uri="{FF2B5EF4-FFF2-40B4-BE49-F238E27FC236}">
                <a16:creationId xmlns:a16="http://schemas.microsoft.com/office/drawing/2014/main" id="{23385732-7F7C-202A-0424-D114136B6B9C}"/>
              </a:ext>
            </a:extLst>
          </p:cNvPr>
          <p:cNvSpPr>
            <a:spLocks noChangeShapeType="1"/>
          </p:cNvSpPr>
          <p:nvPr/>
        </p:nvSpPr>
        <p:spPr bwMode="auto">
          <a:xfrm flipH="1">
            <a:off x="5943600" y="2628900"/>
            <a:ext cx="17145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53" name="Line 37">
            <a:extLst>
              <a:ext uri="{FF2B5EF4-FFF2-40B4-BE49-F238E27FC236}">
                <a16:creationId xmlns:a16="http://schemas.microsoft.com/office/drawing/2014/main" id="{EE081EED-E563-DF1C-0F8F-B20BA16E99CC}"/>
              </a:ext>
            </a:extLst>
          </p:cNvPr>
          <p:cNvSpPr>
            <a:spLocks noChangeShapeType="1"/>
          </p:cNvSpPr>
          <p:nvPr/>
        </p:nvSpPr>
        <p:spPr bwMode="auto">
          <a:xfrm>
            <a:off x="6229350" y="2628900"/>
            <a:ext cx="285750" cy="2857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54" name="Freeform 38">
            <a:extLst>
              <a:ext uri="{FF2B5EF4-FFF2-40B4-BE49-F238E27FC236}">
                <a16:creationId xmlns:a16="http://schemas.microsoft.com/office/drawing/2014/main" id="{FAEB56D9-C299-1413-3181-CAF18A52A5E3}"/>
              </a:ext>
            </a:extLst>
          </p:cNvPr>
          <p:cNvSpPr>
            <a:spLocks/>
          </p:cNvSpPr>
          <p:nvPr/>
        </p:nvSpPr>
        <p:spPr bwMode="auto">
          <a:xfrm>
            <a:off x="5943600" y="2171700"/>
            <a:ext cx="171450" cy="400050"/>
          </a:xfrm>
          <a:custGeom>
            <a:avLst/>
            <a:gdLst>
              <a:gd name="T0" fmla="*/ 144 w 144"/>
              <a:gd name="T1" fmla="*/ 0 h 336"/>
              <a:gd name="T2" fmla="*/ 0 w 144"/>
              <a:gd name="T3" fmla="*/ 192 h 336"/>
              <a:gd name="T4" fmla="*/ 144 w 144"/>
              <a:gd name="T5" fmla="*/ 336 h 336"/>
            </a:gdLst>
            <a:ahLst/>
            <a:cxnLst>
              <a:cxn ang="0">
                <a:pos x="T0" y="T1"/>
              </a:cxn>
              <a:cxn ang="0">
                <a:pos x="T2" y="T3"/>
              </a:cxn>
              <a:cxn ang="0">
                <a:pos x="T4" y="T5"/>
              </a:cxn>
            </a:cxnLst>
            <a:rect l="0" t="0" r="r" b="b"/>
            <a:pathLst>
              <a:path w="144" h="336">
                <a:moveTo>
                  <a:pt x="144" y="0"/>
                </a:moveTo>
                <a:cubicBezTo>
                  <a:pt x="72" y="68"/>
                  <a:pt x="0" y="136"/>
                  <a:pt x="0" y="192"/>
                </a:cubicBezTo>
                <a:cubicBezTo>
                  <a:pt x="0" y="248"/>
                  <a:pt x="72" y="292"/>
                  <a:pt x="144" y="33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
        <p:nvSpPr>
          <p:cNvPr id="9255" name="Freeform 39">
            <a:extLst>
              <a:ext uri="{FF2B5EF4-FFF2-40B4-BE49-F238E27FC236}">
                <a16:creationId xmlns:a16="http://schemas.microsoft.com/office/drawing/2014/main" id="{4F75C1A7-E8C2-7B96-7432-73D15C8C9D3C}"/>
              </a:ext>
            </a:extLst>
          </p:cNvPr>
          <p:cNvSpPr>
            <a:spLocks/>
          </p:cNvSpPr>
          <p:nvPr/>
        </p:nvSpPr>
        <p:spPr bwMode="auto">
          <a:xfrm>
            <a:off x="6229350" y="2171700"/>
            <a:ext cx="171450" cy="400050"/>
          </a:xfrm>
          <a:custGeom>
            <a:avLst/>
            <a:gdLst>
              <a:gd name="T0" fmla="*/ 0 w 96"/>
              <a:gd name="T1" fmla="*/ 0 h 336"/>
              <a:gd name="T2" fmla="*/ 96 w 96"/>
              <a:gd name="T3" fmla="*/ 144 h 336"/>
              <a:gd name="T4" fmla="*/ 0 w 96"/>
              <a:gd name="T5" fmla="*/ 336 h 336"/>
            </a:gdLst>
            <a:ahLst/>
            <a:cxnLst>
              <a:cxn ang="0">
                <a:pos x="T0" y="T1"/>
              </a:cxn>
              <a:cxn ang="0">
                <a:pos x="T2" y="T3"/>
              </a:cxn>
              <a:cxn ang="0">
                <a:pos x="T4" y="T5"/>
              </a:cxn>
            </a:cxnLst>
            <a:rect l="0" t="0" r="r" b="b"/>
            <a:pathLst>
              <a:path w="96" h="336">
                <a:moveTo>
                  <a:pt x="0" y="0"/>
                </a:moveTo>
                <a:cubicBezTo>
                  <a:pt x="48" y="44"/>
                  <a:pt x="96" y="88"/>
                  <a:pt x="96" y="144"/>
                </a:cubicBezTo>
                <a:cubicBezTo>
                  <a:pt x="96" y="200"/>
                  <a:pt x="16" y="304"/>
                  <a:pt x="0" y="336"/>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PK" sz="13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6">
            <a:extLst>
              <a:ext uri="{FF2B5EF4-FFF2-40B4-BE49-F238E27FC236}">
                <a16:creationId xmlns:a16="http://schemas.microsoft.com/office/drawing/2014/main" id="{F424625D-21F9-5826-722D-6634C7F8A8B5}"/>
              </a:ext>
            </a:extLst>
          </p:cNvPr>
          <p:cNvSpPr>
            <a:spLocks noGrp="1"/>
          </p:cNvSpPr>
          <p:nvPr>
            <p:ph type="sldNum" sz="quarter" idx="12"/>
          </p:nvPr>
        </p:nvSpPr>
        <p:spPr/>
        <p:txBody>
          <a:bodyPr/>
          <a:lstStyle/>
          <a:p>
            <a:fld id="{754CA5A9-FCF2-4D04-B1B3-FFA52460A123}" type="slidenum">
              <a:rPr lang="en-US" altLang="en-PK"/>
              <a:pPr/>
              <a:t>13</a:t>
            </a:fld>
            <a:endParaRPr lang="en-US" altLang="en-PK"/>
          </a:p>
        </p:txBody>
      </p:sp>
      <p:sp>
        <p:nvSpPr>
          <p:cNvPr id="57346" name="Rectangle 2">
            <a:extLst>
              <a:ext uri="{FF2B5EF4-FFF2-40B4-BE49-F238E27FC236}">
                <a16:creationId xmlns:a16="http://schemas.microsoft.com/office/drawing/2014/main" id="{CF6998D8-6421-B371-B620-CBE66ACFC071}"/>
              </a:ext>
            </a:extLst>
          </p:cNvPr>
          <p:cNvSpPr>
            <a:spLocks noGrp="1" noChangeArrowheads="1"/>
          </p:cNvSpPr>
          <p:nvPr>
            <p:ph type="title"/>
          </p:nvPr>
        </p:nvSpPr>
        <p:spPr/>
        <p:txBody>
          <a:bodyPr/>
          <a:lstStyle/>
          <a:p>
            <a:r>
              <a:rPr lang="en-US" altLang="en-PK"/>
              <a:t>Linearized IC</a:t>
            </a:r>
          </a:p>
        </p:txBody>
      </p:sp>
      <p:sp>
        <p:nvSpPr>
          <p:cNvPr id="57347" name="Rectangle 3">
            <a:extLst>
              <a:ext uri="{FF2B5EF4-FFF2-40B4-BE49-F238E27FC236}">
                <a16:creationId xmlns:a16="http://schemas.microsoft.com/office/drawing/2014/main" id="{F5FC901A-580F-58A7-E6B4-714E65349749}"/>
              </a:ext>
            </a:extLst>
          </p:cNvPr>
          <p:cNvSpPr>
            <a:spLocks noGrp="1" noChangeArrowheads="1"/>
          </p:cNvSpPr>
          <p:nvPr>
            <p:ph type="body" sz="half" idx="1"/>
          </p:nvPr>
        </p:nvSpPr>
        <p:spPr>
          <a:xfrm>
            <a:off x="457200" y="1583532"/>
            <a:ext cx="3086100" cy="3086100"/>
          </a:xfrm>
        </p:spPr>
        <p:txBody>
          <a:bodyPr/>
          <a:lstStyle/>
          <a:p>
            <a:r>
              <a:rPr lang="en-US" altLang="en-PK" sz="2100" dirty="0"/>
              <a:t>Stack based (one address) – compact</a:t>
            </a:r>
          </a:p>
          <a:p>
            <a:pPr lvl="2">
              <a:buFontTx/>
              <a:buNone/>
            </a:pPr>
            <a:r>
              <a:rPr lang="en-US" altLang="en-PK" sz="1500" dirty="0">
                <a:latin typeface="Courier New" panose="02070309020205020404" pitchFamily="49" charset="0"/>
              </a:rPr>
              <a:t>push 2</a:t>
            </a:r>
          </a:p>
          <a:p>
            <a:pPr lvl="2">
              <a:buFontTx/>
              <a:buNone/>
            </a:pPr>
            <a:r>
              <a:rPr lang="en-US" altLang="en-PK" sz="1500" dirty="0">
                <a:latin typeface="Courier New" panose="02070309020205020404" pitchFamily="49" charset="0"/>
              </a:rPr>
              <a:t>push y</a:t>
            </a:r>
          </a:p>
          <a:p>
            <a:pPr lvl="2">
              <a:buFontTx/>
              <a:buNone/>
            </a:pPr>
            <a:r>
              <a:rPr lang="en-US" altLang="en-PK" sz="1500" dirty="0">
                <a:latin typeface="Courier New" panose="02070309020205020404" pitchFamily="49" charset="0"/>
              </a:rPr>
              <a:t>multiply</a:t>
            </a:r>
          </a:p>
          <a:p>
            <a:pPr lvl="2">
              <a:buFontTx/>
              <a:buNone/>
            </a:pPr>
            <a:r>
              <a:rPr lang="en-US" altLang="en-PK" sz="1500" dirty="0">
                <a:latin typeface="Courier New" panose="02070309020205020404" pitchFamily="49" charset="0"/>
              </a:rPr>
              <a:t>push x</a:t>
            </a:r>
          </a:p>
          <a:p>
            <a:pPr lvl="2">
              <a:buFontTx/>
              <a:buNone/>
            </a:pPr>
            <a:r>
              <a:rPr lang="en-US" altLang="en-PK" sz="1500" dirty="0">
                <a:latin typeface="Courier New" panose="02070309020205020404" pitchFamily="49" charset="0"/>
              </a:rPr>
              <a:t>subtract</a:t>
            </a:r>
          </a:p>
        </p:txBody>
      </p:sp>
      <p:sp>
        <p:nvSpPr>
          <p:cNvPr id="57348" name="Rectangle 4">
            <a:extLst>
              <a:ext uri="{FF2B5EF4-FFF2-40B4-BE49-F238E27FC236}">
                <a16:creationId xmlns:a16="http://schemas.microsoft.com/office/drawing/2014/main" id="{6D79B265-E5A8-2BB8-F1BD-43847FDBDCE0}"/>
              </a:ext>
            </a:extLst>
          </p:cNvPr>
          <p:cNvSpPr>
            <a:spLocks noGrp="1" noChangeArrowheads="1"/>
          </p:cNvSpPr>
          <p:nvPr>
            <p:ph type="body" sz="half" idx="2"/>
          </p:nvPr>
        </p:nvSpPr>
        <p:spPr>
          <a:xfrm>
            <a:off x="4343400" y="1485900"/>
            <a:ext cx="3543300" cy="3086100"/>
          </a:xfrm>
        </p:spPr>
        <p:txBody>
          <a:bodyPr/>
          <a:lstStyle/>
          <a:p>
            <a:r>
              <a:rPr lang="en-US" altLang="en-PK" sz="2100" dirty="0"/>
              <a:t>Three address (quadruples) – up to three operands, one operator</a:t>
            </a:r>
          </a:p>
          <a:p>
            <a:pPr lvl="2">
              <a:buFontTx/>
              <a:buNone/>
            </a:pPr>
            <a:r>
              <a:rPr lang="en-US" altLang="en-PK" sz="1500" dirty="0">
                <a:latin typeface="Courier New" panose="02070309020205020404" pitchFamily="49" charset="0"/>
              </a:rPr>
              <a:t>t1 &lt;- 2</a:t>
            </a:r>
          </a:p>
          <a:p>
            <a:pPr lvl="2">
              <a:buFontTx/>
              <a:buNone/>
            </a:pPr>
            <a:r>
              <a:rPr lang="en-US" altLang="en-PK" sz="1500" dirty="0">
                <a:latin typeface="Courier New" panose="02070309020205020404" pitchFamily="49" charset="0"/>
              </a:rPr>
              <a:t>t2 &lt;- y</a:t>
            </a:r>
          </a:p>
          <a:p>
            <a:pPr lvl="2">
              <a:buFontTx/>
              <a:buNone/>
            </a:pPr>
            <a:r>
              <a:rPr lang="en-US" altLang="en-PK" sz="1500" dirty="0">
                <a:latin typeface="Courier New" panose="02070309020205020404" pitchFamily="49" charset="0"/>
              </a:rPr>
              <a:t>t3 &lt;- t1 * t2</a:t>
            </a:r>
          </a:p>
          <a:p>
            <a:pPr lvl="2">
              <a:buFontTx/>
              <a:buNone/>
            </a:pPr>
            <a:r>
              <a:rPr lang="en-US" altLang="en-PK" sz="1500" dirty="0">
                <a:latin typeface="Courier New" panose="02070309020205020404" pitchFamily="49" charset="0"/>
              </a:rPr>
              <a:t>t4 &lt;- x</a:t>
            </a:r>
          </a:p>
          <a:p>
            <a:pPr lvl="2">
              <a:buFontTx/>
              <a:buNone/>
            </a:pPr>
            <a:r>
              <a:rPr lang="en-US" altLang="en-PK" sz="1500" dirty="0">
                <a:latin typeface="Courier New" panose="02070309020205020404" pitchFamily="49" charset="0"/>
              </a:rPr>
              <a:t>t5 &lt;- t4 – t1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B7733-8054-57C8-CE4C-D2DCE34DE0F7}"/>
              </a:ext>
            </a:extLst>
          </p:cNvPr>
          <p:cNvSpPr>
            <a:spLocks noGrp="1"/>
          </p:cNvSpPr>
          <p:nvPr>
            <p:ph type="title"/>
          </p:nvPr>
        </p:nvSpPr>
        <p:spPr/>
        <p:txBody>
          <a:bodyPr>
            <a:noAutofit/>
          </a:bodyPr>
          <a:lstStyle/>
          <a:p>
            <a:r>
              <a:rPr lang="en-US" sz="3600" b="1" dirty="0"/>
              <a:t>Directed Acyclic Graphs for Expressions</a:t>
            </a:r>
            <a:endParaRPr lang="en-PK" sz="3600" dirty="0"/>
          </a:p>
        </p:txBody>
      </p:sp>
      <p:sp>
        <p:nvSpPr>
          <p:cNvPr id="3" name="Content Placeholder 2">
            <a:extLst>
              <a:ext uri="{FF2B5EF4-FFF2-40B4-BE49-F238E27FC236}">
                <a16:creationId xmlns:a16="http://schemas.microsoft.com/office/drawing/2014/main" id="{F27FDB8B-1525-9612-A21E-6F0B12F9D86E}"/>
              </a:ext>
            </a:extLst>
          </p:cNvPr>
          <p:cNvSpPr>
            <a:spLocks noGrp="1"/>
          </p:cNvSpPr>
          <p:nvPr>
            <p:ph idx="1"/>
          </p:nvPr>
        </p:nvSpPr>
        <p:spPr/>
        <p:txBody>
          <a:bodyPr/>
          <a:lstStyle/>
          <a:p>
            <a:r>
              <a:rPr lang="en-US" dirty="0"/>
              <a:t>Like syntax trees, but with shared common subexpressions</a:t>
            </a:r>
          </a:p>
          <a:p>
            <a:r>
              <a:rPr lang="en-US" dirty="0"/>
              <a:t>Leaves = atomic operands</a:t>
            </a:r>
          </a:p>
          <a:p>
            <a:r>
              <a:rPr lang="en-US" dirty="0"/>
              <a:t>Interior nodes = operators</a:t>
            </a:r>
          </a:p>
          <a:p>
            <a:r>
              <a:rPr lang="en-US" dirty="0"/>
              <a:t>Key difference: Nodes can have multiple parents</a:t>
            </a:r>
          </a:p>
          <a:p>
            <a:endParaRPr lang="en-PK" dirty="0"/>
          </a:p>
        </p:txBody>
      </p:sp>
    </p:spTree>
    <p:extLst>
      <p:ext uri="{BB962C8B-B14F-4D97-AF65-F5344CB8AC3E}">
        <p14:creationId xmlns:p14="http://schemas.microsoft.com/office/powerpoint/2010/main" val="19531380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5C54C-4785-F2CE-1517-774FEE99F818}"/>
              </a:ext>
            </a:extLst>
          </p:cNvPr>
          <p:cNvSpPr>
            <a:spLocks noGrp="1"/>
          </p:cNvSpPr>
          <p:nvPr>
            <p:ph type="title"/>
          </p:nvPr>
        </p:nvSpPr>
        <p:spPr/>
        <p:txBody>
          <a:bodyPr/>
          <a:lstStyle/>
          <a:p>
            <a:r>
              <a:rPr lang="en-US" b="1" dirty="0"/>
              <a:t>Why DAGs?</a:t>
            </a:r>
            <a:endParaRPr lang="en-PK" dirty="0"/>
          </a:p>
        </p:txBody>
      </p:sp>
      <p:sp>
        <p:nvSpPr>
          <p:cNvPr id="3" name="Content Placeholder 2">
            <a:extLst>
              <a:ext uri="{FF2B5EF4-FFF2-40B4-BE49-F238E27FC236}">
                <a16:creationId xmlns:a16="http://schemas.microsoft.com/office/drawing/2014/main" id="{08EF3E0E-42AE-0DF9-1B2B-B8DF6E436C92}"/>
              </a:ext>
            </a:extLst>
          </p:cNvPr>
          <p:cNvSpPr>
            <a:spLocks noGrp="1"/>
          </p:cNvSpPr>
          <p:nvPr>
            <p:ph idx="1"/>
          </p:nvPr>
        </p:nvSpPr>
        <p:spPr/>
        <p:txBody>
          <a:bodyPr/>
          <a:lstStyle/>
          <a:p>
            <a:r>
              <a:rPr lang="en-US" dirty="0"/>
              <a:t>More succinct representation than syntax trees</a:t>
            </a:r>
          </a:p>
          <a:p>
            <a:r>
              <a:rPr lang="en-US" dirty="0"/>
              <a:t>Provides compiler with optimization clues</a:t>
            </a:r>
          </a:p>
          <a:p>
            <a:r>
              <a:rPr lang="en-US" dirty="0"/>
              <a:t>Enables efficient code generation</a:t>
            </a:r>
          </a:p>
          <a:p>
            <a:endParaRPr lang="en-PK" dirty="0"/>
          </a:p>
        </p:txBody>
      </p:sp>
    </p:spTree>
    <p:extLst>
      <p:ext uri="{BB962C8B-B14F-4D97-AF65-F5344CB8AC3E}">
        <p14:creationId xmlns:p14="http://schemas.microsoft.com/office/powerpoint/2010/main" val="295222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AA186-4F50-8CC5-96CF-8304AEC6FA43}"/>
              </a:ext>
            </a:extLst>
          </p:cNvPr>
          <p:cNvSpPr>
            <a:spLocks noGrp="1"/>
          </p:cNvSpPr>
          <p:nvPr>
            <p:ph type="title"/>
          </p:nvPr>
        </p:nvSpPr>
        <p:spPr/>
        <p:txBody>
          <a:bodyPr>
            <a:normAutofit/>
          </a:bodyPr>
          <a:lstStyle/>
          <a:p>
            <a:r>
              <a:rPr lang="en-US" b="1" dirty="0"/>
              <a:t>DAG vs Syntax Tree</a:t>
            </a:r>
            <a:endParaRPr lang="en-PK" dirty="0"/>
          </a:p>
        </p:txBody>
      </p:sp>
      <p:sp>
        <p:nvSpPr>
          <p:cNvPr id="3" name="Content Placeholder 2">
            <a:extLst>
              <a:ext uri="{FF2B5EF4-FFF2-40B4-BE49-F238E27FC236}">
                <a16:creationId xmlns:a16="http://schemas.microsoft.com/office/drawing/2014/main" id="{9972297E-3A4D-D96D-E3CF-2D0F80514EB1}"/>
              </a:ext>
            </a:extLst>
          </p:cNvPr>
          <p:cNvSpPr>
            <a:spLocks noGrp="1"/>
          </p:cNvSpPr>
          <p:nvPr>
            <p:ph idx="1"/>
          </p:nvPr>
        </p:nvSpPr>
        <p:spPr/>
        <p:txBody>
          <a:bodyPr>
            <a:normAutofit fontScale="92500" lnSpcReduction="20000"/>
          </a:bodyPr>
          <a:lstStyle/>
          <a:p>
            <a:r>
              <a:rPr lang="en-US" b="1" dirty="0"/>
              <a:t>Syntax Tree Approach</a:t>
            </a:r>
            <a:endParaRPr lang="en-US" dirty="0"/>
          </a:p>
          <a:p>
            <a:pPr lvl="1"/>
            <a:r>
              <a:rPr lang="en-US" dirty="0"/>
              <a:t>Replicates common subexpressions</a:t>
            </a:r>
          </a:p>
          <a:p>
            <a:pPr lvl="1"/>
            <a:r>
              <a:rPr lang="en-US" dirty="0"/>
              <a:t>Each occurrence gets its own subtree</a:t>
            </a:r>
          </a:p>
          <a:p>
            <a:pPr lvl="1"/>
            <a:r>
              <a:rPr lang="en-US" dirty="0"/>
              <a:t>Inefficient representation</a:t>
            </a:r>
          </a:p>
          <a:p>
            <a:r>
              <a:rPr lang="en-US" b="1" dirty="0"/>
              <a:t>DAG Approach</a:t>
            </a:r>
            <a:endParaRPr lang="en-US" dirty="0"/>
          </a:p>
          <a:p>
            <a:pPr lvl="1"/>
            <a:r>
              <a:rPr lang="en-US" dirty="0"/>
              <a:t>Shares common subexpressions</a:t>
            </a:r>
          </a:p>
          <a:p>
            <a:pPr lvl="1"/>
            <a:r>
              <a:rPr lang="en-US" dirty="0"/>
              <a:t>Single node represents multiple occurrences</a:t>
            </a:r>
          </a:p>
          <a:p>
            <a:pPr lvl="1"/>
            <a:r>
              <a:rPr lang="en-US" dirty="0"/>
              <a:t>Compact representation</a:t>
            </a:r>
          </a:p>
          <a:p>
            <a:endParaRPr lang="en-PK" dirty="0"/>
          </a:p>
        </p:txBody>
      </p:sp>
    </p:spTree>
    <p:extLst>
      <p:ext uri="{BB962C8B-B14F-4D97-AF65-F5344CB8AC3E}">
        <p14:creationId xmlns:p14="http://schemas.microsoft.com/office/powerpoint/2010/main" val="12895122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2B230-A891-7959-CB59-F65828DC2855}"/>
              </a:ext>
            </a:extLst>
          </p:cNvPr>
          <p:cNvSpPr>
            <a:spLocks noGrp="1"/>
          </p:cNvSpPr>
          <p:nvPr>
            <p:ph type="title"/>
          </p:nvPr>
        </p:nvSpPr>
        <p:spPr/>
        <p:txBody>
          <a:bodyPr/>
          <a:lstStyle/>
          <a:p>
            <a:r>
              <a:rPr lang="en-GB" dirty="0"/>
              <a:t>Visual Difference</a:t>
            </a:r>
            <a:endParaRPr lang="en-PK" dirty="0"/>
          </a:p>
        </p:txBody>
      </p:sp>
      <p:sp>
        <p:nvSpPr>
          <p:cNvPr id="3" name="Content Placeholder 2">
            <a:extLst>
              <a:ext uri="{FF2B5EF4-FFF2-40B4-BE49-F238E27FC236}">
                <a16:creationId xmlns:a16="http://schemas.microsoft.com/office/drawing/2014/main" id="{1F3FD320-55F2-055E-D3E3-D90E8D1C00F3}"/>
              </a:ext>
            </a:extLst>
          </p:cNvPr>
          <p:cNvSpPr>
            <a:spLocks noGrp="1"/>
          </p:cNvSpPr>
          <p:nvPr>
            <p:ph idx="1"/>
          </p:nvPr>
        </p:nvSpPr>
        <p:spPr/>
        <p:txBody>
          <a:bodyPr/>
          <a:lstStyle/>
          <a:p>
            <a:endParaRPr lang="en-PK" dirty="0"/>
          </a:p>
        </p:txBody>
      </p:sp>
      <p:pic>
        <p:nvPicPr>
          <p:cNvPr id="2052" name="Picture 4" descr="AJ Syllabus: Variants of Syntax Trees: DA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43" y="1859162"/>
            <a:ext cx="8477250" cy="207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39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D9630-A351-A7EF-4C56-DFF6D9CBB37C}"/>
              </a:ext>
            </a:extLst>
          </p:cNvPr>
          <p:cNvSpPr>
            <a:spLocks noGrp="1"/>
          </p:cNvSpPr>
          <p:nvPr>
            <p:ph type="title"/>
          </p:nvPr>
        </p:nvSpPr>
        <p:spPr/>
        <p:txBody>
          <a:bodyPr/>
          <a:lstStyle/>
          <a:p>
            <a:r>
              <a:rPr lang="en-GB" dirty="0"/>
              <a:t>SDD to produce Syntax Tree or DAG</a:t>
            </a:r>
            <a:endParaRPr lang="en-PK" dirty="0"/>
          </a:p>
        </p:txBody>
      </p:sp>
      <p:pic>
        <p:nvPicPr>
          <p:cNvPr id="5" name="Content Placeholder 4">
            <a:extLst>
              <a:ext uri="{FF2B5EF4-FFF2-40B4-BE49-F238E27FC236}">
                <a16:creationId xmlns:a16="http://schemas.microsoft.com/office/drawing/2014/main" id="{0EC46229-D3DA-8C4E-60A4-9E4C7216565D}"/>
              </a:ext>
            </a:extLst>
          </p:cNvPr>
          <p:cNvPicPr>
            <a:picLocks noGrp="1" noChangeAspect="1"/>
          </p:cNvPicPr>
          <p:nvPr>
            <p:ph idx="1"/>
          </p:nvPr>
        </p:nvPicPr>
        <p:blipFill>
          <a:blip r:embed="rId2"/>
          <a:stretch>
            <a:fillRect/>
          </a:stretch>
        </p:blipFill>
        <p:spPr>
          <a:xfrm>
            <a:off x="1215852" y="1363583"/>
            <a:ext cx="6712295" cy="3067208"/>
          </a:xfrm>
          <a:prstGeom prst="rect">
            <a:avLst/>
          </a:prstGeom>
        </p:spPr>
      </p:pic>
    </p:spTree>
    <p:extLst>
      <p:ext uri="{BB962C8B-B14F-4D97-AF65-F5344CB8AC3E}">
        <p14:creationId xmlns:p14="http://schemas.microsoft.com/office/powerpoint/2010/main" val="1829658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680F3-3DF3-13CC-EE6F-1324CD9CC79C}"/>
              </a:ext>
            </a:extLst>
          </p:cNvPr>
          <p:cNvSpPr>
            <a:spLocks noGrp="1"/>
          </p:cNvSpPr>
          <p:nvPr>
            <p:ph type="title"/>
          </p:nvPr>
        </p:nvSpPr>
        <p:spPr/>
        <p:txBody>
          <a:bodyPr>
            <a:normAutofit/>
          </a:bodyPr>
          <a:lstStyle/>
          <a:p>
            <a:r>
              <a:rPr lang="en-GB" dirty="0"/>
              <a:t>DAG Example</a:t>
            </a:r>
            <a:endParaRPr lang="en-PK" dirty="0"/>
          </a:p>
        </p:txBody>
      </p:sp>
      <p:sp>
        <p:nvSpPr>
          <p:cNvPr id="3" name="Content Placeholder 2">
            <a:extLst>
              <a:ext uri="{FF2B5EF4-FFF2-40B4-BE49-F238E27FC236}">
                <a16:creationId xmlns:a16="http://schemas.microsoft.com/office/drawing/2014/main" id="{C9C48EBC-D103-85F6-DB83-1554FDB3B6E6}"/>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A8D72C90-8332-1B5B-9849-A41D21662B13}"/>
              </a:ext>
            </a:extLst>
          </p:cNvPr>
          <p:cNvPicPr>
            <a:picLocks noChangeAspect="1"/>
          </p:cNvPicPr>
          <p:nvPr/>
        </p:nvPicPr>
        <p:blipFill>
          <a:blip r:embed="rId2"/>
          <a:stretch>
            <a:fillRect/>
          </a:stretch>
        </p:blipFill>
        <p:spPr>
          <a:xfrm>
            <a:off x="1066800" y="1232808"/>
            <a:ext cx="6553200" cy="3232912"/>
          </a:xfrm>
          <a:prstGeom prst="rect">
            <a:avLst/>
          </a:prstGeom>
        </p:spPr>
      </p:pic>
    </p:spTree>
    <p:extLst>
      <p:ext uri="{BB962C8B-B14F-4D97-AF65-F5344CB8AC3E}">
        <p14:creationId xmlns:p14="http://schemas.microsoft.com/office/powerpoint/2010/main" val="3445096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26ECA-6C7D-EAFA-C7B7-4D6144C143F5}"/>
              </a:ext>
            </a:extLst>
          </p:cNvPr>
          <p:cNvSpPr>
            <a:spLocks noGrp="1"/>
          </p:cNvSpPr>
          <p:nvPr>
            <p:ph type="title"/>
          </p:nvPr>
        </p:nvSpPr>
        <p:spPr/>
        <p:txBody>
          <a:bodyPr/>
          <a:lstStyle/>
          <a:p>
            <a:r>
              <a:rPr lang="en-GB" dirty="0"/>
              <a:t>Steps for construction DAG</a:t>
            </a:r>
            <a:endParaRPr lang="en-PK" dirty="0"/>
          </a:p>
        </p:txBody>
      </p:sp>
      <p:pic>
        <p:nvPicPr>
          <p:cNvPr id="5" name="Content Placeholder 4">
            <a:extLst>
              <a:ext uri="{FF2B5EF4-FFF2-40B4-BE49-F238E27FC236}">
                <a16:creationId xmlns:a16="http://schemas.microsoft.com/office/drawing/2014/main" id="{B444F675-C2ED-6B01-368B-CEAFDBD807BD}"/>
              </a:ext>
            </a:extLst>
          </p:cNvPr>
          <p:cNvPicPr>
            <a:picLocks noGrp="1" noChangeAspect="1"/>
          </p:cNvPicPr>
          <p:nvPr>
            <p:ph idx="1"/>
          </p:nvPr>
        </p:nvPicPr>
        <p:blipFill>
          <a:blip r:embed="rId2"/>
          <a:stretch>
            <a:fillRect/>
          </a:stretch>
        </p:blipFill>
        <p:spPr>
          <a:xfrm>
            <a:off x="1752600" y="984507"/>
            <a:ext cx="5703336" cy="3988393"/>
          </a:xfrm>
          <a:prstGeom prst="rect">
            <a:avLst/>
          </a:prstGeom>
        </p:spPr>
      </p:pic>
    </p:spTree>
    <p:extLst>
      <p:ext uri="{BB962C8B-B14F-4D97-AF65-F5344CB8AC3E}">
        <p14:creationId xmlns:p14="http://schemas.microsoft.com/office/powerpoint/2010/main" val="3935228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78FAE-1AB8-19A6-9F70-5B8CB284CDE3}"/>
              </a:ext>
            </a:extLst>
          </p:cNvPr>
          <p:cNvSpPr>
            <a:spLocks noGrp="1"/>
          </p:cNvSpPr>
          <p:nvPr>
            <p:ph type="title"/>
          </p:nvPr>
        </p:nvSpPr>
        <p:spPr/>
        <p:txBody>
          <a:bodyPr/>
          <a:lstStyle/>
          <a:p>
            <a:r>
              <a:rPr lang="en-GB" dirty="0"/>
              <a:t>Constructing Rules for DAG’s</a:t>
            </a:r>
            <a:endParaRPr lang="en-PK" dirty="0"/>
          </a:p>
        </p:txBody>
      </p:sp>
      <p:sp>
        <p:nvSpPr>
          <p:cNvPr id="3" name="Content Placeholder 2">
            <a:extLst>
              <a:ext uri="{FF2B5EF4-FFF2-40B4-BE49-F238E27FC236}">
                <a16:creationId xmlns:a16="http://schemas.microsoft.com/office/drawing/2014/main" id="{D8C88601-591E-B6B4-3C15-0B9926D0DAD1}"/>
              </a:ext>
            </a:extLst>
          </p:cNvPr>
          <p:cNvSpPr>
            <a:spLocks noGrp="1"/>
          </p:cNvSpPr>
          <p:nvPr>
            <p:ph idx="1"/>
          </p:nvPr>
        </p:nvSpPr>
        <p:spPr/>
        <p:txBody>
          <a:bodyPr>
            <a:normAutofit fontScale="70000" lnSpcReduction="20000"/>
          </a:bodyPr>
          <a:lstStyle/>
          <a:p>
            <a:r>
              <a:rPr lang="en-US" dirty="0"/>
              <a:t>Interior nodes always represent the operators.</a:t>
            </a:r>
          </a:p>
          <a:p>
            <a:r>
              <a:rPr lang="en-US" dirty="0"/>
              <a:t>Exterior nodes (leaf nodes) always represent the names, identifiers or constants.</a:t>
            </a:r>
          </a:p>
          <a:p>
            <a:pPr fontAlgn="base"/>
            <a:r>
              <a:rPr lang="en-US" dirty="0"/>
              <a:t>A check is made to find if there exists any node with the same value.</a:t>
            </a:r>
          </a:p>
          <a:p>
            <a:pPr fontAlgn="base"/>
            <a:r>
              <a:rPr lang="en-US" dirty="0"/>
              <a:t>A new node is created only when there does not exist any node with the same value.</a:t>
            </a:r>
          </a:p>
          <a:p>
            <a:pPr fontAlgn="base"/>
            <a:r>
              <a:rPr lang="en-US" dirty="0"/>
              <a:t>This action helps in detecting the common sub-expressions and avoiding the re-computation of the same.</a:t>
            </a:r>
          </a:p>
          <a:p>
            <a:r>
              <a:rPr lang="en-US" dirty="0"/>
              <a:t>The assignment instructions of the form x:=y are not performed unless they are necessary.</a:t>
            </a:r>
            <a:endParaRPr lang="en-PK" dirty="0"/>
          </a:p>
        </p:txBody>
      </p:sp>
    </p:spTree>
    <p:extLst>
      <p:ext uri="{BB962C8B-B14F-4D97-AF65-F5344CB8AC3E}">
        <p14:creationId xmlns:p14="http://schemas.microsoft.com/office/powerpoint/2010/main" val="1882475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FE50ECF-9814-5468-2C38-B198C91D66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1800" y="1962150"/>
            <a:ext cx="3438525" cy="260032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8EA99CE8-8423-ECC4-0496-381B333F9A94}"/>
              </a:ext>
            </a:extLst>
          </p:cNvPr>
          <p:cNvSpPr>
            <a:spLocks noGrp="1"/>
          </p:cNvSpPr>
          <p:nvPr>
            <p:ph type="title"/>
          </p:nvPr>
        </p:nvSpPr>
        <p:spPr/>
        <p:txBody>
          <a:bodyPr/>
          <a:lstStyle/>
          <a:p>
            <a:endParaRPr lang="en-PK"/>
          </a:p>
        </p:txBody>
      </p:sp>
    </p:spTree>
    <p:extLst>
      <p:ext uri="{BB962C8B-B14F-4D97-AF65-F5344CB8AC3E}">
        <p14:creationId xmlns:p14="http://schemas.microsoft.com/office/powerpoint/2010/main" val="6346615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8A8FC57C-39BC-311D-D621-CE2C18E1BBD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48000" y="1428750"/>
            <a:ext cx="2601013" cy="32766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3">
            <a:extLst>
              <a:ext uri="{FF2B5EF4-FFF2-40B4-BE49-F238E27FC236}">
                <a16:creationId xmlns:a16="http://schemas.microsoft.com/office/drawing/2014/main" id="{39CF70A1-9250-07FE-C3CB-8254FD61E5F8}"/>
              </a:ext>
            </a:extLst>
          </p:cNvPr>
          <p:cNvSpPr>
            <a:spLocks noGrp="1"/>
          </p:cNvSpPr>
          <p:nvPr>
            <p:ph type="title"/>
          </p:nvPr>
        </p:nvSpPr>
        <p:spPr/>
        <p:txBody>
          <a:bodyPr/>
          <a:lstStyle/>
          <a:p>
            <a:endParaRPr lang="en-PK"/>
          </a:p>
        </p:txBody>
      </p:sp>
    </p:spTree>
    <p:extLst>
      <p:ext uri="{BB962C8B-B14F-4D97-AF65-F5344CB8AC3E}">
        <p14:creationId xmlns:p14="http://schemas.microsoft.com/office/powerpoint/2010/main" val="36003660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C9453-FA4B-1491-8425-C37888554397}"/>
              </a:ext>
            </a:extLst>
          </p:cNvPr>
          <p:cNvSpPr>
            <a:spLocks noGrp="1"/>
          </p:cNvSpPr>
          <p:nvPr>
            <p:ph type="title"/>
          </p:nvPr>
        </p:nvSpPr>
        <p:spPr/>
        <p:txBody>
          <a:bodyPr>
            <a:normAutofit fontScale="90000"/>
          </a:bodyPr>
          <a:lstStyle/>
          <a:p>
            <a:r>
              <a:rPr lang="en-US" dirty="0"/>
              <a:t>Consider the following block and construct a DAG for it-</a:t>
            </a:r>
            <a:endParaRPr lang="en-PK" dirty="0"/>
          </a:p>
        </p:txBody>
      </p:sp>
      <p:sp>
        <p:nvSpPr>
          <p:cNvPr id="3" name="Content Placeholder 2">
            <a:extLst>
              <a:ext uri="{FF2B5EF4-FFF2-40B4-BE49-F238E27FC236}">
                <a16:creationId xmlns:a16="http://schemas.microsoft.com/office/drawing/2014/main" id="{016E3C7F-48ED-99A1-5F1E-B8DA2B843C4E}"/>
              </a:ext>
            </a:extLst>
          </p:cNvPr>
          <p:cNvSpPr>
            <a:spLocks noGrp="1"/>
          </p:cNvSpPr>
          <p:nvPr>
            <p:ph idx="1"/>
          </p:nvPr>
        </p:nvSpPr>
        <p:spPr/>
        <p:txBody>
          <a:bodyPr>
            <a:normAutofit lnSpcReduction="10000"/>
          </a:bodyPr>
          <a:lstStyle/>
          <a:p>
            <a:pPr fontAlgn="base"/>
            <a:r>
              <a:rPr lang="pt-BR" dirty="0"/>
              <a:t>(1) a = b x c</a:t>
            </a:r>
          </a:p>
          <a:p>
            <a:pPr fontAlgn="base"/>
            <a:r>
              <a:rPr lang="pt-BR" dirty="0"/>
              <a:t>(2) d = b</a:t>
            </a:r>
          </a:p>
          <a:p>
            <a:pPr fontAlgn="base"/>
            <a:r>
              <a:rPr lang="pt-BR" dirty="0"/>
              <a:t>(3) e = d x c</a:t>
            </a:r>
          </a:p>
          <a:p>
            <a:pPr fontAlgn="base"/>
            <a:r>
              <a:rPr lang="pt-BR" dirty="0"/>
              <a:t>(4) b = e</a:t>
            </a:r>
          </a:p>
          <a:p>
            <a:pPr fontAlgn="base"/>
            <a:r>
              <a:rPr lang="pt-BR" dirty="0"/>
              <a:t>(5) f = b + c</a:t>
            </a:r>
          </a:p>
          <a:p>
            <a:pPr fontAlgn="base"/>
            <a:r>
              <a:rPr lang="pt-BR" dirty="0"/>
              <a:t>(6) g = f + d</a:t>
            </a:r>
          </a:p>
          <a:p>
            <a:endParaRPr lang="en-PK" dirty="0"/>
          </a:p>
        </p:txBody>
      </p:sp>
      <p:pic>
        <p:nvPicPr>
          <p:cNvPr id="11266" name="Picture 2">
            <a:extLst>
              <a:ext uri="{FF2B5EF4-FFF2-40B4-BE49-F238E27FC236}">
                <a16:creationId xmlns:a16="http://schemas.microsoft.com/office/drawing/2014/main" id="{4F244FC6-627E-64B5-34E3-03A19612F9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1182546"/>
            <a:ext cx="3805238" cy="3412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7955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0967D-22E8-0234-1F29-191E88172200}"/>
              </a:ext>
            </a:extLst>
          </p:cNvPr>
          <p:cNvSpPr>
            <a:spLocks noGrp="1"/>
          </p:cNvSpPr>
          <p:nvPr>
            <p:ph type="title"/>
          </p:nvPr>
        </p:nvSpPr>
        <p:spPr/>
        <p:txBody>
          <a:bodyPr>
            <a:noAutofit/>
          </a:bodyPr>
          <a:lstStyle/>
          <a:p>
            <a:endParaRPr lang="en-PK" sz="3600" dirty="0"/>
          </a:p>
        </p:txBody>
      </p:sp>
      <p:pic>
        <p:nvPicPr>
          <p:cNvPr id="5" name="Content Placeholder 4">
            <a:extLst>
              <a:ext uri="{FF2B5EF4-FFF2-40B4-BE49-F238E27FC236}">
                <a16:creationId xmlns:a16="http://schemas.microsoft.com/office/drawing/2014/main" id="{86C99E95-E707-0912-13A3-3ABF7B5FA1DA}"/>
              </a:ext>
            </a:extLst>
          </p:cNvPr>
          <p:cNvPicPr>
            <a:picLocks noGrp="1" noChangeAspect="1"/>
          </p:cNvPicPr>
          <p:nvPr>
            <p:ph idx="1"/>
          </p:nvPr>
        </p:nvPicPr>
        <p:blipFill>
          <a:blip r:embed="rId3"/>
          <a:stretch>
            <a:fillRect/>
          </a:stretch>
        </p:blipFill>
        <p:spPr>
          <a:xfrm>
            <a:off x="304800" y="1200150"/>
            <a:ext cx="8445260" cy="1371600"/>
          </a:xfrm>
          <a:prstGeom prst="rect">
            <a:avLst/>
          </a:prstGeom>
        </p:spPr>
      </p:pic>
    </p:spTree>
    <p:extLst>
      <p:ext uri="{BB962C8B-B14F-4D97-AF65-F5344CB8AC3E}">
        <p14:creationId xmlns:p14="http://schemas.microsoft.com/office/powerpoint/2010/main" val="398701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22031-8329-1AAC-EBFF-EA8B67EA1383}"/>
              </a:ext>
            </a:extLst>
          </p:cNvPr>
          <p:cNvSpPr>
            <a:spLocks noGrp="1"/>
          </p:cNvSpPr>
          <p:nvPr>
            <p:ph type="title"/>
          </p:nvPr>
        </p:nvSpPr>
        <p:spPr/>
        <p:txBody>
          <a:bodyPr>
            <a:normAutofit fontScale="90000"/>
          </a:bodyPr>
          <a:lstStyle/>
          <a:p>
            <a:r>
              <a:rPr lang="en-GB" dirty="0"/>
              <a:t>Value Number Method for Constructing DAG’s</a:t>
            </a:r>
            <a:endParaRPr lang="en-PK" dirty="0"/>
          </a:p>
        </p:txBody>
      </p:sp>
      <p:sp>
        <p:nvSpPr>
          <p:cNvPr id="3" name="Content Placeholder 2">
            <a:extLst>
              <a:ext uri="{FF2B5EF4-FFF2-40B4-BE49-F238E27FC236}">
                <a16:creationId xmlns:a16="http://schemas.microsoft.com/office/drawing/2014/main" id="{CC9859F5-5699-DC15-23EB-6A9EF9D39D01}"/>
              </a:ext>
            </a:extLst>
          </p:cNvPr>
          <p:cNvSpPr>
            <a:spLocks noGrp="1"/>
          </p:cNvSpPr>
          <p:nvPr>
            <p:ph idx="1"/>
          </p:nvPr>
        </p:nvSpPr>
        <p:spPr/>
        <p:txBody>
          <a:bodyPr/>
          <a:lstStyle/>
          <a:p>
            <a:r>
              <a:rPr lang="en-US" dirty="0"/>
              <a:t>Efficient technique for constructing DAGs</a:t>
            </a:r>
          </a:p>
          <a:p>
            <a:r>
              <a:rPr lang="en-US" dirty="0"/>
              <a:t>Assigns unique "value numbers" to distinct expressions</a:t>
            </a:r>
          </a:p>
          <a:p>
            <a:r>
              <a:rPr lang="en-US" dirty="0"/>
              <a:t>Enables quick identification of common subexpressions</a:t>
            </a:r>
          </a:p>
          <a:p>
            <a:r>
              <a:rPr lang="en-US" dirty="0"/>
              <a:t>Widely used in compiler optimization</a:t>
            </a:r>
          </a:p>
          <a:p>
            <a:endParaRPr lang="en-PK" dirty="0"/>
          </a:p>
        </p:txBody>
      </p:sp>
    </p:spTree>
    <p:extLst>
      <p:ext uri="{BB962C8B-B14F-4D97-AF65-F5344CB8AC3E}">
        <p14:creationId xmlns:p14="http://schemas.microsoft.com/office/powerpoint/2010/main" val="3523102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9D08F-ACC3-14A8-3DD0-2E73EE19F71D}"/>
              </a:ext>
            </a:extLst>
          </p:cNvPr>
          <p:cNvSpPr>
            <a:spLocks noGrp="1"/>
          </p:cNvSpPr>
          <p:nvPr>
            <p:ph type="title"/>
          </p:nvPr>
        </p:nvSpPr>
        <p:spPr/>
        <p:txBody>
          <a:bodyPr/>
          <a:lstStyle/>
          <a:p>
            <a:r>
              <a:rPr lang="en-GB" dirty="0"/>
              <a:t>Applications of DAG in Compiler</a:t>
            </a:r>
            <a:endParaRPr lang="en-PK" dirty="0"/>
          </a:p>
        </p:txBody>
      </p:sp>
      <p:sp>
        <p:nvSpPr>
          <p:cNvPr id="3" name="Content Placeholder 2">
            <a:extLst>
              <a:ext uri="{FF2B5EF4-FFF2-40B4-BE49-F238E27FC236}">
                <a16:creationId xmlns:a16="http://schemas.microsoft.com/office/drawing/2014/main" id="{E783101B-D276-0210-56D9-D1954D79FDF0}"/>
              </a:ext>
            </a:extLst>
          </p:cNvPr>
          <p:cNvSpPr>
            <a:spLocks noGrp="1"/>
          </p:cNvSpPr>
          <p:nvPr>
            <p:ph idx="1"/>
          </p:nvPr>
        </p:nvSpPr>
        <p:spPr/>
        <p:txBody>
          <a:bodyPr>
            <a:normAutofit fontScale="92500"/>
          </a:bodyPr>
          <a:lstStyle/>
          <a:p>
            <a:r>
              <a:rPr lang="en-US" b="1" dirty="0"/>
              <a:t>Code optimization:</a:t>
            </a:r>
            <a:r>
              <a:rPr lang="en-US" dirty="0"/>
              <a:t> DAGs identify and eliminate redundant computations, also known as common sub-expressions, to make code more efficient.</a:t>
            </a:r>
          </a:p>
          <a:p>
            <a:r>
              <a:rPr lang="en-US" b="1" dirty="0"/>
              <a:t>Code generation:</a:t>
            </a:r>
            <a:r>
              <a:rPr lang="en-US" dirty="0"/>
              <a:t> They assist in generating efficient machine code by representing intermediate code and helping with tasks like register allocation</a:t>
            </a:r>
          </a:p>
          <a:p>
            <a:endParaRPr lang="en-PK" dirty="0"/>
          </a:p>
        </p:txBody>
      </p:sp>
    </p:spTree>
    <p:extLst>
      <p:ext uri="{BB962C8B-B14F-4D97-AF65-F5344CB8AC3E}">
        <p14:creationId xmlns:p14="http://schemas.microsoft.com/office/powerpoint/2010/main" val="5468096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D755D-7DE5-484F-9591-C3621F017FB6}"/>
              </a:ext>
            </a:extLst>
          </p:cNvPr>
          <p:cNvSpPr>
            <a:spLocks noGrp="1"/>
          </p:cNvSpPr>
          <p:nvPr>
            <p:ph type="title"/>
          </p:nvPr>
        </p:nvSpPr>
        <p:spPr/>
        <p:txBody>
          <a:bodyPr/>
          <a:lstStyle/>
          <a:p>
            <a:r>
              <a:rPr lang="en-US" dirty="0"/>
              <a:t>Three-Address Code</a:t>
            </a:r>
          </a:p>
        </p:txBody>
      </p:sp>
      <p:sp>
        <p:nvSpPr>
          <p:cNvPr id="3" name="Content Placeholder 2">
            <a:extLst>
              <a:ext uri="{FF2B5EF4-FFF2-40B4-BE49-F238E27FC236}">
                <a16:creationId xmlns:a16="http://schemas.microsoft.com/office/drawing/2014/main" id="{9BD36E33-9226-49EF-9120-3E01B4AE9AF8}"/>
              </a:ext>
            </a:extLst>
          </p:cNvPr>
          <p:cNvSpPr>
            <a:spLocks noGrp="1"/>
          </p:cNvSpPr>
          <p:nvPr>
            <p:ph idx="1"/>
          </p:nvPr>
        </p:nvSpPr>
        <p:spPr>
          <a:xfrm>
            <a:off x="457200" y="1063229"/>
            <a:ext cx="8229600" cy="3394472"/>
          </a:xfrm>
        </p:spPr>
        <p:txBody>
          <a:bodyPr>
            <a:normAutofit fontScale="85000" lnSpcReduction="10000"/>
          </a:bodyPr>
          <a:lstStyle/>
          <a:p>
            <a:r>
              <a:rPr lang="en-US" dirty="0"/>
              <a:t>Instructions are very simple : LHS is the target and the RHS has at most two sources and one operator.</a:t>
            </a:r>
          </a:p>
          <a:p>
            <a:r>
              <a:rPr lang="en-US" dirty="0"/>
              <a:t>RHS sources can be either variables or constants.</a:t>
            </a:r>
          </a:p>
          <a:p>
            <a:r>
              <a:rPr lang="en-US" dirty="0"/>
              <a:t>Examples: a = b + c, x = -y, if a &gt; b </a:t>
            </a:r>
            <a:r>
              <a:rPr lang="en-US" dirty="0" err="1"/>
              <a:t>Goto</a:t>
            </a:r>
            <a:r>
              <a:rPr lang="en-US" dirty="0"/>
              <a:t> L1</a:t>
            </a:r>
          </a:p>
          <a:p>
            <a:r>
              <a:rPr lang="en-US" dirty="0"/>
              <a:t>Three-address code is a generic form and can be implemented as quadruples, triples, indirect triples.</a:t>
            </a:r>
          </a:p>
          <a:p>
            <a:r>
              <a:rPr lang="en-US" b="1" dirty="0"/>
              <a:t>Example: </a:t>
            </a:r>
            <a:r>
              <a:rPr lang="en-US" dirty="0"/>
              <a:t>The three-address code for (</a:t>
            </a:r>
            <a:r>
              <a:rPr lang="en-US" dirty="0" err="1"/>
              <a:t>a+b</a:t>
            </a:r>
            <a:r>
              <a:rPr lang="en-US" dirty="0"/>
              <a:t>*c)- (d/(b*c)) is below.</a:t>
            </a:r>
          </a:p>
        </p:txBody>
      </p:sp>
    </p:spTree>
    <p:extLst>
      <p:ext uri="{BB962C8B-B14F-4D97-AF65-F5344CB8AC3E}">
        <p14:creationId xmlns:p14="http://schemas.microsoft.com/office/powerpoint/2010/main" val="2500859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79B5A-EE1A-4896-B0F9-E50B93D1B9AD}"/>
              </a:ext>
            </a:extLst>
          </p:cNvPr>
          <p:cNvSpPr>
            <a:spLocks noGrp="1"/>
          </p:cNvSpPr>
          <p:nvPr>
            <p:ph type="title"/>
          </p:nvPr>
        </p:nvSpPr>
        <p:spPr/>
        <p:txBody>
          <a:bodyPr/>
          <a:lstStyle/>
          <a:p>
            <a:r>
              <a:rPr lang="en-US" dirty="0"/>
              <a:t>IR Code is Made From</a:t>
            </a:r>
          </a:p>
        </p:txBody>
      </p:sp>
      <p:pic>
        <p:nvPicPr>
          <p:cNvPr id="4" name="Content Placeholder 3">
            <a:extLst>
              <a:ext uri="{FF2B5EF4-FFF2-40B4-BE49-F238E27FC236}">
                <a16:creationId xmlns:a16="http://schemas.microsoft.com/office/drawing/2014/main" id="{619A59D5-49C4-4AA4-9201-C1EB145365A4}"/>
              </a:ext>
            </a:extLst>
          </p:cNvPr>
          <p:cNvPicPr>
            <a:picLocks noGrp="1" noChangeAspect="1"/>
          </p:cNvPicPr>
          <p:nvPr>
            <p:ph idx="1"/>
          </p:nvPr>
        </p:nvPicPr>
        <p:blipFill>
          <a:blip r:embed="rId2"/>
          <a:stretch>
            <a:fillRect/>
          </a:stretch>
        </p:blipFill>
        <p:spPr>
          <a:xfrm>
            <a:off x="1752600" y="971550"/>
            <a:ext cx="5257800" cy="3856966"/>
          </a:xfrm>
          <a:prstGeom prst="rect">
            <a:avLst/>
          </a:prstGeom>
        </p:spPr>
      </p:pic>
    </p:spTree>
    <p:extLst>
      <p:ext uri="{BB962C8B-B14F-4D97-AF65-F5344CB8AC3E}">
        <p14:creationId xmlns:p14="http://schemas.microsoft.com/office/powerpoint/2010/main" val="29326596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EEF22-E6DC-4FDD-9652-7D98A2CE95FD}"/>
              </a:ext>
            </a:extLst>
          </p:cNvPr>
          <p:cNvSpPr>
            <a:spLocks noGrp="1"/>
          </p:cNvSpPr>
          <p:nvPr>
            <p:ph type="title"/>
          </p:nvPr>
        </p:nvSpPr>
        <p:spPr/>
        <p:txBody>
          <a:bodyPr>
            <a:normAutofit/>
          </a:bodyPr>
          <a:lstStyle/>
          <a:p>
            <a:r>
              <a:rPr lang="en-US" dirty="0"/>
              <a:t>General Form-3 Address Code</a:t>
            </a:r>
          </a:p>
        </p:txBody>
      </p:sp>
      <p:sp>
        <p:nvSpPr>
          <p:cNvPr id="3" name="Content Placeholder 2">
            <a:extLst>
              <a:ext uri="{FF2B5EF4-FFF2-40B4-BE49-F238E27FC236}">
                <a16:creationId xmlns:a16="http://schemas.microsoft.com/office/drawing/2014/main" id="{C08406B6-5B0E-49F8-BB18-3301D3844420}"/>
              </a:ext>
            </a:extLst>
          </p:cNvPr>
          <p:cNvSpPr>
            <a:spLocks noGrp="1"/>
          </p:cNvSpPr>
          <p:nvPr>
            <p:ph idx="1"/>
          </p:nvPr>
        </p:nvSpPr>
        <p:spPr/>
        <p:txBody>
          <a:bodyPr>
            <a:normAutofit/>
          </a:bodyPr>
          <a:lstStyle/>
          <a:p>
            <a:r>
              <a:rPr lang="en-US" dirty="0"/>
              <a:t>In general, Three Address instructions are </a:t>
            </a:r>
            <a:r>
              <a:rPr lang="en-US" dirty="0" err="1"/>
              <a:t>repressented</a:t>
            </a:r>
            <a:r>
              <a:rPr lang="en-US" dirty="0"/>
              <a:t> as-	</a:t>
            </a:r>
            <a:r>
              <a:rPr lang="en-US" b="1" dirty="0"/>
              <a:t>a = b op c</a:t>
            </a:r>
          </a:p>
          <a:p>
            <a:r>
              <a:rPr lang="en-US" dirty="0"/>
              <a:t>Here, a, b and c are the operands.</a:t>
            </a:r>
          </a:p>
          <a:p>
            <a:pPr lvl="1"/>
            <a:r>
              <a:rPr lang="en-US" dirty="0"/>
              <a:t>Operands may be constants, names, or compiler generated temporaries.</a:t>
            </a:r>
          </a:p>
          <a:p>
            <a:pPr lvl="1"/>
            <a:r>
              <a:rPr lang="en-US" dirty="0"/>
              <a:t>op represents the operator.</a:t>
            </a:r>
          </a:p>
          <a:p>
            <a:endParaRPr lang="en-US" b="1" dirty="0"/>
          </a:p>
          <a:p>
            <a:endParaRPr lang="en-US" dirty="0"/>
          </a:p>
        </p:txBody>
      </p:sp>
    </p:spTree>
    <p:extLst>
      <p:ext uri="{BB962C8B-B14F-4D97-AF65-F5344CB8AC3E}">
        <p14:creationId xmlns:p14="http://schemas.microsoft.com/office/powerpoint/2010/main" val="26128610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3E18-B134-493C-990E-7CE8AD93D7CE}"/>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2883BFE5-5585-4888-95E5-3E7303CC573E}"/>
              </a:ext>
            </a:extLst>
          </p:cNvPr>
          <p:cNvSpPr>
            <a:spLocks noGrp="1"/>
          </p:cNvSpPr>
          <p:nvPr>
            <p:ph idx="1"/>
          </p:nvPr>
        </p:nvSpPr>
        <p:spPr/>
        <p:txBody>
          <a:bodyPr>
            <a:normAutofit fontScale="85000" lnSpcReduction="20000"/>
          </a:bodyPr>
          <a:lstStyle/>
          <a:p>
            <a:r>
              <a:rPr lang="en-US" dirty="0"/>
              <a:t>Write Three Address Code for the following expression-       a = b + c + d</a:t>
            </a:r>
          </a:p>
          <a:p>
            <a:endParaRPr lang="en-US" dirty="0"/>
          </a:p>
          <a:p>
            <a:r>
              <a:rPr lang="en-US" dirty="0"/>
              <a:t>Three Address Code for the given expression is-</a:t>
            </a:r>
          </a:p>
          <a:p>
            <a:endParaRPr lang="en-US" dirty="0"/>
          </a:p>
          <a:p>
            <a:r>
              <a:rPr lang="en-US" dirty="0"/>
              <a:t>T1 = b + c</a:t>
            </a:r>
          </a:p>
          <a:p>
            <a:r>
              <a:rPr lang="en-US" dirty="0"/>
              <a:t>T2 = T1 + d</a:t>
            </a:r>
          </a:p>
          <a:p>
            <a:r>
              <a:rPr lang="en-US" dirty="0"/>
              <a:t>a = T2</a:t>
            </a:r>
          </a:p>
        </p:txBody>
      </p:sp>
    </p:spTree>
    <p:extLst>
      <p:ext uri="{BB962C8B-B14F-4D97-AF65-F5344CB8AC3E}">
        <p14:creationId xmlns:p14="http://schemas.microsoft.com/office/powerpoint/2010/main" val="29005528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6D1B0-E5FF-711D-6561-9C28A31BBE7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E2FCBA9C-3593-2944-94FC-A155194DDBC6}"/>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8629FECD-340D-4CDB-41AE-6D1BF4533C50}"/>
              </a:ext>
            </a:extLst>
          </p:cNvPr>
          <p:cNvPicPr>
            <a:picLocks noChangeAspect="1"/>
          </p:cNvPicPr>
          <p:nvPr/>
        </p:nvPicPr>
        <p:blipFill>
          <a:blip r:embed="rId2"/>
          <a:stretch>
            <a:fillRect/>
          </a:stretch>
        </p:blipFill>
        <p:spPr>
          <a:xfrm>
            <a:off x="762000" y="222308"/>
            <a:ext cx="7924800" cy="4520385"/>
          </a:xfrm>
          <a:prstGeom prst="rect">
            <a:avLst/>
          </a:prstGeom>
        </p:spPr>
      </p:pic>
    </p:spTree>
    <p:extLst>
      <p:ext uri="{BB962C8B-B14F-4D97-AF65-F5344CB8AC3E}">
        <p14:creationId xmlns:p14="http://schemas.microsoft.com/office/powerpoint/2010/main" val="39498238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F4105-398F-4CF6-992E-07F1549A4986}"/>
              </a:ext>
            </a:extLst>
          </p:cNvPr>
          <p:cNvSpPr>
            <a:spLocks noGrp="1"/>
          </p:cNvSpPr>
          <p:nvPr>
            <p:ph type="title"/>
          </p:nvPr>
        </p:nvSpPr>
        <p:spPr/>
        <p:txBody>
          <a:bodyPr>
            <a:noAutofit/>
          </a:bodyPr>
          <a:lstStyle/>
          <a:p>
            <a:r>
              <a:rPr lang="en-US" sz="3600" b="1" dirty="0"/>
              <a:t>Common Three Address Instruction Forms</a:t>
            </a:r>
          </a:p>
        </p:txBody>
      </p:sp>
      <p:sp>
        <p:nvSpPr>
          <p:cNvPr id="3" name="Content Placeholder 2">
            <a:extLst>
              <a:ext uri="{FF2B5EF4-FFF2-40B4-BE49-F238E27FC236}">
                <a16:creationId xmlns:a16="http://schemas.microsoft.com/office/drawing/2014/main" id="{CC8600D0-76DB-48A4-88AE-7247DDA3FF30}"/>
              </a:ext>
            </a:extLst>
          </p:cNvPr>
          <p:cNvSpPr>
            <a:spLocks noGrp="1"/>
          </p:cNvSpPr>
          <p:nvPr>
            <p:ph idx="1"/>
          </p:nvPr>
        </p:nvSpPr>
        <p:spPr/>
        <p:txBody>
          <a:bodyPr>
            <a:normAutofit lnSpcReduction="10000"/>
          </a:bodyPr>
          <a:lstStyle/>
          <a:p>
            <a:r>
              <a:rPr lang="en-US" dirty="0"/>
              <a:t>The common forms of Three Address instructions are</a:t>
            </a:r>
          </a:p>
          <a:p>
            <a:pPr lvl="1"/>
            <a:r>
              <a:rPr lang="en-US" dirty="0"/>
              <a:t>Assignment Statement   (</a:t>
            </a:r>
            <a:r>
              <a:rPr lang="nl-NL" b="1" dirty="0"/>
              <a:t>x = y op z and x = op y</a:t>
            </a:r>
            <a:r>
              <a:rPr lang="en-US" dirty="0"/>
              <a:t>)</a:t>
            </a:r>
          </a:p>
          <a:p>
            <a:pPr lvl="1"/>
            <a:r>
              <a:rPr lang="en-US" dirty="0"/>
              <a:t>Copy Statement	(</a:t>
            </a:r>
            <a:r>
              <a:rPr lang="en-US" b="1" dirty="0"/>
              <a:t>x = y</a:t>
            </a:r>
            <a:r>
              <a:rPr lang="en-US" dirty="0"/>
              <a:t>)</a:t>
            </a:r>
          </a:p>
          <a:p>
            <a:pPr lvl="1"/>
            <a:r>
              <a:rPr lang="en-US" dirty="0"/>
              <a:t>Conditional Jump	(</a:t>
            </a:r>
            <a:r>
              <a:rPr lang="en-US" b="1" dirty="0"/>
              <a:t>If x </a:t>
            </a:r>
            <a:r>
              <a:rPr lang="en-US" b="1" dirty="0" err="1"/>
              <a:t>relop</a:t>
            </a:r>
            <a:r>
              <a:rPr lang="en-US" b="1" dirty="0"/>
              <a:t> y </a:t>
            </a:r>
            <a:r>
              <a:rPr lang="en-US" b="1" dirty="0" err="1"/>
              <a:t>Goto</a:t>
            </a:r>
            <a:r>
              <a:rPr lang="en-US" b="1" dirty="0"/>
              <a:t> X</a:t>
            </a:r>
            <a:r>
              <a:rPr lang="en-US" dirty="0"/>
              <a:t>)</a:t>
            </a:r>
          </a:p>
          <a:p>
            <a:pPr lvl="1"/>
            <a:r>
              <a:rPr lang="en-US" dirty="0"/>
              <a:t>Unconditional Jump (</a:t>
            </a:r>
            <a:r>
              <a:rPr lang="en-US" b="1" dirty="0" err="1"/>
              <a:t>Goto</a:t>
            </a:r>
            <a:r>
              <a:rPr lang="en-US" b="1" dirty="0"/>
              <a:t> X</a:t>
            </a:r>
            <a:r>
              <a:rPr lang="en-US" dirty="0"/>
              <a:t>)</a:t>
            </a:r>
          </a:p>
          <a:p>
            <a:pPr lvl="1"/>
            <a:r>
              <a:rPr lang="en-US" dirty="0"/>
              <a:t>Procedure Call-	(</a:t>
            </a:r>
            <a:r>
              <a:rPr lang="en-US" b="1" dirty="0"/>
              <a:t>param x call p return y</a:t>
            </a:r>
            <a:r>
              <a:rPr lang="en-US" dirty="0"/>
              <a:t>)</a:t>
            </a:r>
          </a:p>
        </p:txBody>
      </p:sp>
    </p:spTree>
    <p:extLst>
      <p:ext uri="{BB962C8B-B14F-4D97-AF65-F5344CB8AC3E}">
        <p14:creationId xmlns:p14="http://schemas.microsoft.com/office/powerpoint/2010/main" val="13698310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2C230-3095-0321-149F-7E6ADB602D3E}"/>
              </a:ext>
            </a:extLst>
          </p:cNvPr>
          <p:cNvSpPr>
            <a:spLocks noGrp="1"/>
          </p:cNvSpPr>
          <p:nvPr>
            <p:ph type="title"/>
          </p:nvPr>
        </p:nvSpPr>
        <p:spPr/>
        <p:txBody>
          <a:bodyPr/>
          <a:lstStyle/>
          <a:p>
            <a:r>
              <a:rPr lang="en-GB" dirty="0"/>
              <a:t>3 Address Code Examples</a:t>
            </a:r>
            <a:endParaRPr lang="en-PK" dirty="0"/>
          </a:p>
        </p:txBody>
      </p:sp>
      <p:sp>
        <p:nvSpPr>
          <p:cNvPr id="3" name="Content Placeholder 2">
            <a:extLst>
              <a:ext uri="{FF2B5EF4-FFF2-40B4-BE49-F238E27FC236}">
                <a16:creationId xmlns:a16="http://schemas.microsoft.com/office/drawing/2014/main" id="{5A888B82-9541-C4AB-6C45-95F2EDE6368A}"/>
              </a:ext>
            </a:extLst>
          </p:cNvPr>
          <p:cNvSpPr>
            <a:spLocks noGrp="1"/>
          </p:cNvSpPr>
          <p:nvPr>
            <p:ph idx="1"/>
          </p:nvPr>
        </p:nvSpPr>
        <p:spPr>
          <a:xfrm>
            <a:off x="457200" y="971550"/>
            <a:ext cx="8229600" cy="3623073"/>
          </a:xfrm>
        </p:spPr>
        <p:txBody>
          <a:bodyPr>
            <a:normAutofit fontScale="62500" lnSpcReduction="20000"/>
          </a:bodyPr>
          <a:lstStyle/>
          <a:p>
            <a:pPr fontAlgn="base"/>
            <a:r>
              <a:rPr lang="en-US" dirty="0"/>
              <a:t>Generate three address code for the following code-</a:t>
            </a:r>
          </a:p>
          <a:p>
            <a:pPr fontAlgn="base"/>
            <a:r>
              <a:rPr lang="en-US" dirty="0"/>
              <a:t> </a:t>
            </a:r>
          </a:p>
          <a:p>
            <a:pPr marL="514350" indent="-514350" fontAlgn="base">
              <a:buFont typeface="+mj-lt"/>
              <a:buAutoNum type="arabicPeriod"/>
            </a:pPr>
            <a:r>
              <a:rPr lang="en-US" dirty="0"/>
              <a:t>c = 0</a:t>
            </a:r>
          </a:p>
          <a:p>
            <a:pPr marL="514350" indent="-514350" fontAlgn="base">
              <a:buFont typeface="+mj-lt"/>
              <a:buAutoNum type="arabicPeriod"/>
            </a:pPr>
            <a:r>
              <a:rPr lang="en-US" dirty="0"/>
              <a:t>do</a:t>
            </a:r>
          </a:p>
          <a:p>
            <a:pPr marL="514350" indent="-514350" fontAlgn="base">
              <a:buFont typeface="+mj-lt"/>
              <a:buAutoNum type="arabicPeriod"/>
            </a:pPr>
            <a:r>
              <a:rPr lang="en-US" dirty="0"/>
              <a:t>{</a:t>
            </a:r>
          </a:p>
          <a:p>
            <a:pPr marL="514350" indent="-514350" fontAlgn="base">
              <a:buFont typeface="+mj-lt"/>
              <a:buAutoNum type="arabicPeriod"/>
            </a:pPr>
            <a:r>
              <a:rPr lang="en-US" dirty="0"/>
              <a:t>if (a &lt; b) then</a:t>
            </a:r>
          </a:p>
          <a:p>
            <a:pPr marL="514350" indent="-514350" fontAlgn="base">
              <a:buFont typeface="+mj-lt"/>
              <a:buAutoNum type="arabicPeriod"/>
            </a:pPr>
            <a:r>
              <a:rPr lang="en-US" dirty="0"/>
              <a:t>x++;</a:t>
            </a:r>
          </a:p>
          <a:p>
            <a:pPr marL="514350" indent="-514350" fontAlgn="base">
              <a:buFont typeface="+mj-lt"/>
              <a:buAutoNum type="arabicPeriod"/>
            </a:pPr>
            <a:r>
              <a:rPr lang="en-US" dirty="0"/>
              <a:t>else</a:t>
            </a:r>
          </a:p>
          <a:p>
            <a:pPr marL="514350" indent="-514350" fontAlgn="base">
              <a:buFont typeface="+mj-lt"/>
              <a:buAutoNum type="arabicPeriod"/>
            </a:pPr>
            <a:r>
              <a:rPr lang="en-US" dirty="0"/>
              <a:t>x–;</a:t>
            </a:r>
          </a:p>
          <a:p>
            <a:pPr marL="514350" indent="-514350" fontAlgn="base">
              <a:buFont typeface="+mj-lt"/>
              <a:buAutoNum type="arabicPeriod"/>
            </a:pPr>
            <a:r>
              <a:rPr lang="en-US" dirty="0" err="1"/>
              <a:t>c++</a:t>
            </a:r>
            <a:r>
              <a:rPr lang="en-US" dirty="0"/>
              <a:t>;</a:t>
            </a:r>
          </a:p>
          <a:p>
            <a:pPr marL="514350" indent="-514350" fontAlgn="base">
              <a:buFont typeface="+mj-lt"/>
              <a:buAutoNum type="arabicPeriod"/>
            </a:pPr>
            <a:r>
              <a:rPr lang="en-US" dirty="0"/>
              <a:t>} while (c &lt; 5)</a:t>
            </a:r>
          </a:p>
          <a:p>
            <a:endParaRPr lang="en-PK" dirty="0"/>
          </a:p>
        </p:txBody>
      </p:sp>
      <p:sp>
        <p:nvSpPr>
          <p:cNvPr id="4" name="Rectangle 3">
            <a:extLst>
              <a:ext uri="{FF2B5EF4-FFF2-40B4-BE49-F238E27FC236}">
                <a16:creationId xmlns:a16="http://schemas.microsoft.com/office/drawing/2014/main" id="{B39E37FE-E760-AE29-A4EA-988C07EE73A4}"/>
              </a:ext>
            </a:extLst>
          </p:cNvPr>
          <p:cNvSpPr/>
          <p:nvPr/>
        </p:nvSpPr>
        <p:spPr>
          <a:xfrm>
            <a:off x="3200400" y="1428751"/>
            <a:ext cx="5257800" cy="350877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fontAlgn="base"/>
            <a:r>
              <a:rPr lang="en-US" b="1" dirty="0"/>
              <a:t>Three address code for the given code is-</a:t>
            </a:r>
          </a:p>
          <a:p>
            <a:pPr marL="342900" indent="-342900" fontAlgn="base">
              <a:buFont typeface="+mj-lt"/>
              <a:buAutoNum type="arabicPeriod"/>
            </a:pPr>
            <a:r>
              <a:rPr lang="en-US" dirty="0"/>
              <a:t>c = 0</a:t>
            </a:r>
          </a:p>
          <a:p>
            <a:pPr marL="342900" indent="-342900" fontAlgn="base">
              <a:buFont typeface="+mj-lt"/>
              <a:buAutoNum type="arabicPeriod"/>
            </a:pPr>
            <a:r>
              <a:rPr lang="en-US" dirty="0"/>
              <a:t>if (a &lt; b) </a:t>
            </a:r>
            <a:r>
              <a:rPr lang="en-US" dirty="0" err="1"/>
              <a:t>goto</a:t>
            </a:r>
            <a:r>
              <a:rPr lang="en-US" dirty="0"/>
              <a:t> (4)</a:t>
            </a:r>
          </a:p>
          <a:p>
            <a:pPr marL="342900" indent="-342900" fontAlgn="base">
              <a:buFont typeface="+mj-lt"/>
              <a:buAutoNum type="arabicPeriod"/>
            </a:pPr>
            <a:r>
              <a:rPr lang="en-US" dirty="0" err="1"/>
              <a:t>goto</a:t>
            </a:r>
            <a:r>
              <a:rPr lang="en-US" dirty="0"/>
              <a:t> (7)</a:t>
            </a:r>
          </a:p>
          <a:p>
            <a:pPr marL="342900" indent="-342900" fontAlgn="base">
              <a:buFont typeface="+mj-lt"/>
              <a:buAutoNum type="arabicPeriod"/>
            </a:pPr>
            <a:r>
              <a:rPr lang="en-US" dirty="0"/>
              <a:t>T1 = x + 1</a:t>
            </a:r>
          </a:p>
          <a:p>
            <a:pPr marL="342900" indent="-342900" fontAlgn="base">
              <a:buFont typeface="+mj-lt"/>
              <a:buAutoNum type="arabicPeriod"/>
            </a:pPr>
            <a:r>
              <a:rPr lang="en-US" dirty="0"/>
              <a:t>x = T1</a:t>
            </a:r>
          </a:p>
          <a:p>
            <a:pPr marL="342900" indent="-342900" fontAlgn="base">
              <a:buFont typeface="+mj-lt"/>
              <a:buAutoNum type="arabicPeriod"/>
            </a:pPr>
            <a:r>
              <a:rPr lang="en-US" dirty="0" err="1"/>
              <a:t>goto</a:t>
            </a:r>
            <a:r>
              <a:rPr lang="en-US" dirty="0"/>
              <a:t> (9)</a:t>
            </a:r>
          </a:p>
          <a:p>
            <a:pPr marL="342900" indent="-342900" fontAlgn="base">
              <a:buFont typeface="+mj-lt"/>
              <a:buAutoNum type="arabicPeriod"/>
            </a:pPr>
            <a:r>
              <a:rPr lang="en-US" dirty="0"/>
              <a:t>T2 = x – 1</a:t>
            </a:r>
          </a:p>
          <a:p>
            <a:pPr marL="342900" indent="-342900" fontAlgn="base">
              <a:buFont typeface="+mj-lt"/>
              <a:buAutoNum type="arabicPeriod"/>
            </a:pPr>
            <a:r>
              <a:rPr lang="en-US" dirty="0"/>
              <a:t>x = T2</a:t>
            </a:r>
          </a:p>
          <a:p>
            <a:pPr marL="342900" indent="-342900" fontAlgn="base">
              <a:buFont typeface="+mj-lt"/>
              <a:buAutoNum type="arabicPeriod"/>
            </a:pPr>
            <a:r>
              <a:rPr lang="en-US" dirty="0"/>
              <a:t>T3 = c + 1</a:t>
            </a:r>
          </a:p>
          <a:p>
            <a:pPr marL="342900" indent="-342900" fontAlgn="base">
              <a:buFont typeface="+mj-lt"/>
              <a:buAutoNum type="arabicPeriod"/>
            </a:pPr>
            <a:r>
              <a:rPr lang="en-US" dirty="0"/>
              <a:t>c = T3</a:t>
            </a:r>
          </a:p>
          <a:p>
            <a:pPr marL="342900" indent="-342900" fontAlgn="base">
              <a:buFont typeface="+mj-lt"/>
              <a:buAutoNum type="arabicPeriod"/>
            </a:pPr>
            <a:r>
              <a:rPr lang="en-US" dirty="0"/>
              <a:t>if (c &lt; 5) </a:t>
            </a:r>
            <a:r>
              <a:rPr lang="en-US" dirty="0" err="1"/>
              <a:t>goto</a:t>
            </a:r>
            <a:r>
              <a:rPr lang="en-US" dirty="0"/>
              <a:t> (2)</a:t>
            </a:r>
          </a:p>
          <a:p>
            <a:pPr algn="ctr"/>
            <a:endParaRPr lang="en-PK" dirty="0"/>
          </a:p>
        </p:txBody>
      </p:sp>
    </p:spTree>
    <p:extLst>
      <p:ext uri="{BB962C8B-B14F-4D97-AF65-F5344CB8AC3E}">
        <p14:creationId xmlns:p14="http://schemas.microsoft.com/office/powerpoint/2010/main" val="2447468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EC08FE-24FA-2027-AEF6-3B57EB153B68}"/>
              </a:ext>
            </a:extLst>
          </p:cNvPr>
          <p:cNvSpPr>
            <a:spLocks noGrp="1"/>
          </p:cNvSpPr>
          <p:nvPr>
            <p:ph idx="1"/>
          </p:nvPr>
        </p:nvSpPr>
        <p:spPr>
          <a:xfrm>
            <a:off x="457200" y="285750"/>
            <a:ext cx="3657600" cy="4308873"/>
          </a:xfrm>
        </p:spPr>
        <p:txBody>
          <a:bodyPr>
            <a:normAutofit/>
          </a:bodyPr>
          <a:lstStyle/>
          <a:p>
            <a:pPr fontAlgn="base"/>
            <a:r>
              <a:rPr lang="en-US" sz="2000" b="1" dirty="0"/>
              <a:t>Generate three address code for the following code-</a:t>
            </a:r>
          </a:p>
          <a:p>
            <a:pPr marL="0" indent="0" fontAlgn="base">
              <a:buNone/>
            </a:pPr>
            <a:endParaRPr lang="en-US" sz="2000" dirty="0"/>
          </a:p>
          <a:p>
            <a:pPr fontAlgn="base"/>
            <a:r>
              <a:rPr lang="en-US" sz="2000" dirty="0"/>
              <a:t>while (A &lt; C and B &gt; D) do</a:t>
            </a:r>
          </a:p>
          <a:p>
            <a:pPr fontAlgn="base"/>
            <a:r>
              <a:rPr lang="en-US" sz="2000" dirty="0"/>
              <a:t>if A = 1 then C = C + 1</a:t>
            </a:r>
          </a:p>
          <a:p>
            <a:pPr fontAlgn="base"/>
            <a:r>
              <a:rPr lang="en-US" sz="2000" dirty="0"/>
              <a:t>else</a:t>
            </a:r>
          </a:p>
          <a:p>
            <a:pPr fontAlgn="base"/>
            <a:r>
              <a:rPr lang="en-US" sz="2000" dirty="0"/>
              <a:t>while A &lt;= D</a:t>
            </a:r>
          </a:p>
          <a:p>
            <a:pPr fontAlgn="base"/>
            <a:r>
              <a:rPr lang="en-US" sz="2000" dirty="0"/>
              <a:t>do A = A + B</a:t>
            </a:r>
          </a:p>
        </p:txBody>
      </p:sp>
      <p:sp>
        <p:nvSpPr>
          <p:cNvPr id="6" name="Rectangle 5">
            <a:extLst>
              <a:ext uri="{FF2B5EF4-FFF2-40B4-BE49-F238E27FC236}">
                <a16:creationId xmlns:a16="http://schemas.microsoft.com/office/drawing/2014/main" id="{82223D49-64F9-E88A-2DA6-3DCF073C7CB2}"/>
              </a:ext>
            </a:extLst>
          </p:cNvPr>
          <p:cNvSpPr/>
          <p:nvPr/>
        </p:nvSpPr>
        <p:spPr>
          <a:xfrm>
            <a:off x="3962400" y="299357"/>
            <a:ext cx="5257800" cy="449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fontAlgn="base"/>
            <a:r>
              <a:rPr lang="en-US" b="1" dirty="0"/>
              <a:t>Three address code for the given code is-</a:t>
            </a:r>
          </a:p>
          <a:p>
            <a:pPr fontAlgn="base"/>
            <a:r>
              <a:rPr lang="en-US" dirty="0"/>
              <a:t>if (A &lt; C) </a:t>
            </a:r>
            <a:r>
              <a:rPr lang="en-US" dirty="0" err="1"/>
              <a:t>goto</a:t>
            </a:r>
            <a:r>
              <a:rPr lang="en-US" dirty="0"/>
              <a:t> (3)</a:t>
            </a:r>
          </a:p>
          <a:p>
            <a:pPr marL="342900" indent="-342900" fontAlgn="base">
              <a:buFont typeface="+mj-lt"/>
              <a:buAutoNum type="arabicPeriod"/>
            </a:pPr>
            <a:r>
              <a:rPr lang="en-US" dirty="0" err="1"/>
              <a:t>goto</a:t>
            </a:r>
            <a:r>
              <a:rPr lang="en-US" dirty="0"/>
              <a:t> (15)</a:t>
            </a:r>
          </a:p>
          <a:p>
            <a:pPr marL="342900" indent="-342900" fontAlgn="base">
              <a:buFont typeface="+mj-lt"/>
              <a:buAutoNum type="arabicPeriod"/>
            </a:pPr>
            <a:r>
              <a:rPr lang="en-US" dirty="0"/>
              <a:t>if (B &gt; D) </a:t>
            </a:r>
            <a:r>
              <a:rPr lang="en-US" dirty="0" err="1"/>
              <a:t>goto</a:t>
            </a:r>
            <a:r>
              <a:rPr lang="en-US" dirty="0"/>
              <a:t> (5)</a:t>
            </a:r>
          </a:p>
          <a:p>
            <a:pPr marL="342900" indent="-342900" fontAlgn="base">
              <a:buFont typeface="+mj-lt"/>
              <a:buAutoNum type="arabicPeriod"/>
            </a:pPr>
            <a:r>
              <a:rPr lang="en-US" dirty="0" err="1"/>
              <a:t>goto</a:t>
            </a:r>
            <a:r>
              <a:rPr lang="en-US" dirty="0"/>
              <a:t> (15)</a:t>
            </a:r>
          </a:p>
          <a:p>
            <a:pPr marL="342900" indent="-342900" fontAlgn="base">
              <a:buFont typeface="+mj-lt"/>
              <a:buAutoNum type="arabicPeriod"/>
            </a:pPr>
            <a:r>
              <a:rPr lang="en-US" dirty="0"/>
              <a:t>if (A = 1) </a:t>
            </a:r>
            <a:r>
              <a:rPr lang="en-US" dirty="0" err="1"/>
              <a:t>goto</a:t>
            </a:r>
            <a:r>
              <a:rPr lang="en-US" dirty="0"/>
              <a:t> (7)</a:t>
            </a:r>
          </a:p>
          <a:p>
            <a:pPr marL="342900" indent="-342900" fontAlgn="base">
              <a:buFont typeface="+mj-lt"/>
              <a:buAutoNum type="arabicPeriod"/>
            </a:pPr>
            <a:r>
              <a:rPr lang="en-US" dirty="0" err="1"/>
              <a:t>goto</a:t>
            </a:r>
            <a:r>
              <a:rPr lang="en-US" dirty="0"/>
              <a:t> (10)</a:t>
            </a:r>
          </a:p>
          <a:p>
            <a:pPr marL="342900" indent="-342900" fontAlgn="base">
              <a:buFont typeface="+mj-lt"/>
              <a:buAutoNum type="arabicPeriod"/>
            </a:pPr>
            <a:r>
              <a:rPr lang="en-US" dirty="0"/>
              <a:t>T1 = c + 1</a:t>
            </a:r>
          </a:p>
          <a:p>
            <a:pPr marL="342900" indent="-342900" fontAlgn="base">
              <a:buFont typeface="+mj-lt"/>
              <a:buAutoNum type="arabicPeriod"/>
            </a:pPr>
            <a:r>
              <a:rPr lang="en-US" dirty="0"/>
              <a:t>c = T1</a:t>
            </a:r>
          </a:p>
          <a:p>
            <a:pPr marL="342900" indent="-342900" fontAlgn="base">
              <a:buFont typeface="+mj-lt"/>
              <a:buAutoNum type="arabicPeriod"/>
            </a:pPr>
            <a:r>
              <a:rPr lang="en-US" dirty="0" err="1"/>
              <a:t>goto</a:t>
            </a:r>
            <a:r>
              <a:rPr lang="en-US" dirty="0"/>
              <a:t> (1)</a:t>
            </a:r>
          </a:p>
          <a:p>
            <a:pPr marL="342900" indent="-342900" fontAlgn="base">
              <a:buFont typeface="+mj-lt"/>
              <a:buAutoNum type="arabicPeriod"/>
            </a:pPr>
            <a:r>
              <a:rPr lang="en-US" dirty="0"/>
              <a:t>if (A &lt;= D) </a:t>
            </a:r>
            <a:r>
              <a:rPr lang="en-US" dirty="0" err="1"/>
              <a:t>goto</a:t>
            </a:r>
            <a:r>
              <a:rPr lang="en-US" dirty="0"/>
              <a:t> (12)</a:t>
            </a:r>
          </a:p>
          <a:p>
            <a:pPr marL="342900" indent="-342900" fontAlgn="base">
              <a:buFont typeface="+mj-lt"/>
              <a:buAutoNum type="arabicPeriod"/>
            </a:pPr>
            <a:r>
              <a:rPr lang="en-US" dirty="0" err="1"/>
              <a:t>goto</a:t>
            </a:r>
            <a:r>
              <a:rPr lang="en-US" dirty="0"/>
              <a:t> (1)</a:t>
            </a:r>
          </a:p>
          <a:p>
            <a:pPr marL="342900" indent="-342900" fontAlgn="base">
              <a:buFont typeface="+mj-lt"/>
              <a:buAutoNum type="arabicPeriod"/>
            </a:pPr>
            <a:r>
              <a:rPr lang="en-US" dirty="0"/>
              <a:t>T2 = A + B</a:t>
            </a:r>
          </a:p>
          <a:p>
            <a:pPr marL="342900" indent="-342900" fontAlgn="base">
              <a:buFont typeface="+mj-lt"/>
              <a:buAutoNum type="arabicPeriod"/>
            </a:pPr>
            <a:r>
              <a:rPr lang="en-US" dirty="0"/>
              <a:t>A = T2</a:t>
            </a:r>
          </a:p>
          <a:p>
            <a:pPr marL="342900" indent="-342900" fontAlgn="base">
              <a:buFont typeface="+mj-lt"/>
              <a:buAutoNum type="arabicPeriod"/>
            </a:pPr>
            <a:r>
              <a:rPr lang="en-US" dirty="0" err="1"/>
              <a:t>goto</a:t>
            </a:r>
            <a:r>
              <a:rPr lang="en-US" dirty="0"/>
              <a:t> (10)</a:t>
            </a:r>
          </a:p>
          <a:p>
            <a:pPr algn="ctr"/>
            <a:endParaRPr lang="en-PK" dirty="0"/>
          </a:p>
        </p:txBody>
      </p:sp>
    </p:spTree>
    <p:extLst>
      <p:ext uri="{BB962C8B-B14F-4D97-AF65-F5344CB8AC3E}">
        <p14:creationId xmlns:p14="http://schemas.microsoft.com/office/powerpoint/2010/main" val="557680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630D-7099-09D4-F650-10CD67D045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98E560-B7E3-F2F0-6163-937E76285A9B}"/>
              </a:ext>
            </a:extLst>
          </p:cNvPr>
          <p:cNvSpPr>
            <a:spLocks noGrp="1"/>
          </p:cNvSpPr>
          <p:nvPr>
            <p:ph idx="1"/>
          </p:nvPr>
        </p:nvSpPr>
        <p:spPr>
          <a:xfrm>
            <a:off x="457200" y="285750"/>
            <a:ext cx="3657600" cy="4308873"/>
          </a:xfrm>
        </p:spPr>
        <p:txBody>
          <a:bodyPr>
            <a:normAutofit lnSpcReduction="10000"/>
          </a:bodyPr>
          <a:lstStyle/>
          <a:p>
            <a:pPr fontAlgn="base"/>
            <a:r>
              <a:rPr lang="en-US" sz="2000" b="1" dirty="0"/>
              <a:t>Generate three address code for the following code-</a:t>
            </a:r>
          </a:p>
          <a:p>
            <a:pPr fontAlgn="base"/>
            <a:r>
              <a:rPr lang="en-US" sz="2600" dirty="0"/>
              <a:t>switch (</a:t>
            </a:r>
            <a:r>
              <a:rPr lang="en-US" sz="2600" dirty="0" err="1"/>
              <a:t>ch</a:t>
            </a:r>
            <a:r>
              <a:rPr lang="en-US" sz="2600" dirty="0"/>
              <a:t>)</a:t>
            </a:r>
          </a:p>
          <a:p>
            <a:pPr fontAlgn="base"/>
            <a:r>
              <a:rPr lang="en-US" sz="2600" dirty="0"/>
              <a:t>{</a:t>
            </a:r>
          </a:p>
          <a:p>
            <a:pPr fontAlgn="base"/>
            <a:r>
              <a:rPr lang="en-US" sz="2600" dirty="0"/>
              <a:t>case 1 : c = a + b;</a:t>
            </a:r>
          </a:p>
          <a:p>
            <a:pPr fontAlgn="base"/>
            <a:r>
              <a:rPr lang="en-US" sz="2600" dirty="0"/>
              <a:t>break;</a:t>
            </a:r>
          </a:p>
          <a:p>
            <a:pPr fontAlgn="base"/>
            <a:r>
              <a:rPr lang="en-US" sz="2600" dirty="0"/>
              <a:t>case 2 : c = a – b;</a:t>
            </a:r>
          </a:p>
          <a:p>
            <a:pPr fontAlgn="base"/>
            <a:r>
              <a:rPr lang="en-US" sz="2600" dirty="0"/>
              <a:t>break;</a:t>
            </a:r>
          </a:p>
          <a:p>
            <a:pPr fontAlgn="base"/>
            <a:r>
              <a:rPr lang="en-US" sz="2600" dirty="0"/>
              <a:t>}</a:t>
            </a:r>
          </a:p>
          <a:p>
            <a:pPr fontAlgn="base"/>
            <a:r>
              <a:rPr lang="en-US" sz="2600" dirty="0"/>
              <a:t> </a:t>
            </a:r>
          </a:p>
          <a:p>
            <a:pPr marL="0" indent="0" fontAlgn="base">
              <a:buNone/>
            </a:pPr>
            <a:endParaRPr lang="en-US" sz="2000" dirty="0"/>
          </a:p>
        </p:txBody>
      </p:sp>
      <p:sp>
        <p:nvSpPr>
          <p:cNvPr id="6" name="Rectangle 5">
            <a:extLst>
              <a:ext uri="{FF2B5EF4-FFF2-40B4-BE49-F238E27FC236}">
                <a16:creationId xmlns:a16="http://schemas.microsoft.com/office/drawing/2014/main" id="{1389E729-214C-D410-9809-9C79E5BB2D23}"/>
              </a:ext>
            </a:extLst>
          </p:cNvPr>
          <p:cNvSpPr/>
          <p:nvPr/>
        </p:nvSpPr>
        <p:spPr>
          <a:xfrm>
            <a:off x="4038600" y="285750"/>
            <a:ext cx="5257800" cy="46499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fontAlgn="base"/>
            <a:r>
              <a:rPr lang="en-US" b="1" dirty="0"/>
              <a:t>Three address code for the given code is-</a:t>
            </a:r>
          </a:p>
          <a:p>
            <a:pPr fontAlgn="base"/>
            <a:r>
              <a:rPr lang="en-US" dirty="0"/>
              <a:t>if </a:t>
            </a:r>
            <a:r>
              <a:rPr lang="en-US" dirty="0" err="1"/>
              <a:t>ch</a:t>
            </a:r>
            <a:r>
              <a:rPr lang="en-US" dirty="0"/>
              <a:t> = 1 </a:t>
            </a:r>
            <a:r>
              <a:rPr lang="en-US" dirty="0" err="1"/>
              <a:t>goto</a:t>
            </a:r>
            <a:r>
              <a:rPr lang="en-US" dirty="0"/>
              <a:t> L1</a:t>
            </a:r>
          </a:p>
          <a:p>
            <a:pPr fontAlgn="base"/>
            <a:r>
              <a:rPr lang="en-US" dirty="0"/>
              <a:t>if </a:t>
            </a:r>
            <a:r>
              <a:rPr lang="en-US" dirty="0" err="1"/>
              <a:t>ch</a:t>
            </a:r>
            <a:r>
              <a:rPr lang="en-US" dirty="0"/>
              <a:t> = 2 </a:t>
            </a:r>
            <a:r>
              <a:rPr lang="en-US" dirty="0" err="1"/>
              <a:t>goto</a:t>
            </a:r>
            <a:r>
              <a:rPr lang="en-US" dirty="0"/>
              <a:t> L2</a:t>
            </a:r>
          </a:p>
          <a:p>
            <a:pPr fontAlgn="base"/>
            <a:r>
              <a:rPr lang="en-US" dirty="0"/>
              <a:t>L1:</a:t>
            </a:r>
          </a:p>
          <a:p>
            <a:pPr fontAlgn="base"/>
            <a:r>
              <a:rPr lang="en-US" dirty="0"/>
              <a:t>T1 = a + b</a:t>
            </a:r>
          </a:p>
          <a:p>
            <a:pPr fontAlgn="base"/>
            <a:r>
              <a:rPr lang="en-US" dirty="0"/>
              <a:t>c = T1</a:t>
            </a:r>
          </a:p>
          <a:p>
            <a:pPr fontAlgn="base"/>
            <a:r>
              <a:rPr lang="en-US" dirty="0" err="1"/>
              <a:t>goto</a:t>
            </a:r>
            <a:r>
              <a:rPr lang="en-US" dirty="0"/>
              <a:t> Last</a:t>
            </a:r>
          </a:p>
          <a:p>
            <a:pPr fontAlgn="base"/>
            <a:r>
              <a:rPr lang="en-US" dirty="0"/>
              <a:t>L2:</a:t>
            </a:r>
          </a:p>
          <a:p>
            <a:pPr fontAlgn="base"/>
            <a:r>
              <a:rPr lang="en-US" dirty="0"/>
              <a:t>T1 = a – b</a:t>
            </a:r>
          </a:p>
          <a:p>
            <a:pPr fontAlgn="base"/>
            <a:r>
              <a:rPr lang="en-US" dirty="0"/>
              <a:t>c = T2</a:t>
            </a:r>
          </a:p>
          <a:p>
            <a:pPr fontAlgn="base"/>
            <a:r>
              <a:rPr lang="en-US" dirty="0" err="1"/>
              <a:t>goto</a:t>
            </a:r>
            <a:r>
              <a:rPr lang="en-US" dirty="0"/>
              <a:t> Last</a:t>
            </a:r>
          </a:p>
          <a:p>
            <a:pPr fontAlgn="base"/>
            <a:r>
              <a:rPr lang="en-US" dirty="0"/>
              <a:t>Last:</a:t>
            </a:r>
          </a:p>
          <a:p>
            <a:pPr algn="ctr"/>
            <a:endParaRPr lang="en-PK" dirty="0"/>
          </a:p>
        </p:txBody>
      </p:sp>
    </p:spTree>
    <p:extLst>
      <p:ext uri="{BB962C8B-B14F-4D97-AF65-F5344CB8AC3E}">
        <p14:creationId xmlns:p14="http://schemas.microsoft.com/office/powerpoint/2010/main" val="39451432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AEC1B-EEED-439E-99DD-4930AE587920}"/>
              </a:ext>
            </a:extLst>
          </p:cNvPr>
          <p:cNvSpPr>
            <a:spLocks noGrp="1"/>
          </p:cNvSpPr>
          <p:nvPr>
            <p:ph type="title"/>
          </p:nvPr>
        </p:nvSpPr>
        <p:spPr/>
        <p:txBody>
          <a:bodyPr>
            <a:noAutofit/>
          </a:bodyPr>
          <a:lstStyle/>
          <a:p>
            <a:r>
              <a:rPr lang="en-US" sz="3600" b="1" dirty="0"/>
              <a:t>Ways to Represent Three –Address Code</a:t>
            </a:r>
          </a:p>
        </p:txBody>
      </p:sp>
      <p:sp>
        <p:nvSpPr>
          <p:cNvPr id="3" name="Content Placeholder 2">
            <a:extLst>
              <a:ext uri="{FF2B5EF4-FFF2-40B4-BE49-F238E27FC236}">
                <a16:creationId xmlns:a16="http://schemas.microsoft.com/office/drawing/2014/main" id="{29533387-D0FB-4489-96C8-E2AFAD363D37}"/>
              </a:ext>
            </a:extLst>
          </p:cNvPr>
          <p:cNvSpPr>
            <a:spLocks noGrp="1"/>
          </p:cNvSpPr>
          <p:nvPr>
            <p:ph idx="1"/>
          </p:nvPr>
        </p:nvSpPr>
        <p:spPr/>
        <p:txBody>
          <a:bodyPr/>
          <a:lstStyle/>
          <a:p>
            <a:r>
              <a:rPr lang="en-US" dirty="0"/>
              <a:t>There are 3 ways to represent a Three-Address Code in compiler design: </a:t>
            </a:r>
          </a:p>
          <a:p>
            <a:pPr lvl="1"/>
            <a:r>
              <a:rPr lang="en-US" dirty="0"/>
              <a:t>Quadruples</a:t>
            </a:r>
          </a:p>
          <a:p>
            <a:pPr lvl="1"/>
            <a:r>
              <a:rPr lang="en-US" dirty="0"/>
              <a:t>Triples</a:t>
            </a:r>
          </a:p>
          <a:p>
            <a:pPr lvl="1"/>
            <a:r>
              <a:rPr lang="en-US" dirty="0"/>
              <a:t>Indirect  Triples</a:t>
            </a:r>
          </a:p>
        </p:txBody>
      </p:sp>
    </p:spTree>
    <p:extLst>
      <p:ext uri="{BB962C8B-B14F-4D97-AF65-F5344CB8AC3E}">
        <p14:creationId xmlns:p14="http://schemas.microsoft.com/office/powerpoint/2010/main" val="4094538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07304-56FF-46B9-88C3-2298AB145B70}"/>
              </a:ext>
            </a:extLst>
          </p:cNvPr>
          <p:cNvSpPr>
            <a:spLocks noGrp="1"/>
          </p:cNvSpPr>
          <p:nvPr>
            <p:ph type="title"/>
          </p:nvPr>
        </p:nvSpPr>
        <p:spPr/>
        <p:txBody>
          <a:bodyPr>
            <a:normAutofit/>
          </a:bodyPr>
          <a:lstStyle/>
          <a:p>
            <a:r>
              <a:rPr lang="en-US" dirty="0"/>
              <a:t>Quadruples</a:t>
            </a:r>
          </a:p>
        </p:txBody>
      </p:sp>
      <p:sp>
        <p:nvSpPr>
          <p:cNvPr id="3" name="Content Placeholder 2">
            <a:extLst>
              <a:ext uri="{FF2B5EF4-FFF2-40B4-BE49-F238E27FC236}">
                <a16:creationId xmlns:a16="http://schemas.microsoft.com/office/drawing/2014/main" id="{5914B5FF-C413-4742-B95F-689C411366BC}"/>
              </a:ext>
            </a:extLst>
          </p:cNvPr>
          <p:cNvSpPr>
            <a:spLocks noGrp="1"/>
          </p:cNvSpPr>
          <p:nvPr>
            <p:ph idx="1"/>
          </p:nvPr>
        </p:nvSpPr>
        <p:spPr/>
        <p:txBody>
          <a:bodyPr>
            <a:normAutofit fontScale="77500" lnSpcReduction="20000"/>
          </a:bodyPr>
          <a:lstStyle/>
          <a:p>
            <a:r>
              <a:rPr lang="en-US" dirty="0"/>
              <a:t>A quadruple is a record structure with four fields, which are, op, arg1, arg2 and result.</a:t>
            </a:r>
          </a:p>
          <a:p>
            <a:r>
              <a:rPr lang="en-US" dirty="0"/>
              <a:t>The op field contains an internal code for the operator. The three-address statement x : = y op z is represented by placing y in arg1, z in arg2 and x in result.</a:t>
            </a:r>
          </a:p>
          <a:p>
            <a:r>
              <a:rPr lang="en-US" dirty="0"/>
              <a:t>The contents of fields arg1, arg2 and result are normally pointers to the symbol-table entries for the names represented by these fields. If so, temporary names must be entered into the symbol table as they are created. </a:t>
            </a:r>
          </a:p>
        </p:txBody>
      </p:sp>
    </p:spTree>
    <p:extLst>
      <p:ext uri="{BB962C8B-B14F-4D97-AF65-F5344CB8AC3E}">
        <p14:creationId xmlns:p14="http://schemas.microsoft.com/office/powerpoint/2010/main" val="17091853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178D6-92B2-461E-9532-0139033AE980}"/>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7551AB9-A6C2-45AE-83FB-A5381408CC1E}"/>
              </a:ext>
            </a:extLst>
          </p:cNvPr>
          <p:cNvSpPr>
            <a:spLocks noGrp="1"/>
          </p:cNvSpPr>
          <p:nvPr>
            <p:ph idx="1"/>
          </p:nvPr>
        </p:nvSpPr>
        <p:spPr/>
        <p:txBody>
          <a:bodyPr>
            <a:normAutofit/>
          </a:bodyPr>
          <a:lstStyle/>
          <a:p>
            <a:r>
              <a:rPr lang="en-US" dirty="0"/>
              <a:t>a := -b * c + d </a:t>
            </a:r>
          </a:p>
          <a:p>
            <a:r>
              <a:rPr lang="en-US" dirty="0"/>
              <a:t>Three Address Code</a:t>
            </a:r>
          </a:p>
          <a:p>
            <a:pPr marL="457200" lvl="1" indent="0">
              <a:buNone/>
            </a:pPr>
            <a:r>
              <a:rPr lang="fr-FR" dirty="0"/>
              <a:t>t1 := -b</a:t>
            </a:r>
            <a:br>
              <a:rPr lang="fr-FR" dirty="0"/>
            </a:br>
            <a:r>
              <a:rPr lang="fr-FR" dirty="0"/>
              <a:t>t2 := c + d</a:t>
            </a:r>
            <a:br>
              <a:rPr lang="fr-FR" dirty="0"/>
            </a:br>
            <a:r>
              <a:rPr lang="fr-FR" dirty="0"/>
              <a:t>t3 := t1 * t2</a:t>
            </a:r>
            <a:br>
              <a:rPr lang="fr-FR" dirty="0"/>
            </a:br>
            <a:r>
              <a:rPr lang="fr-FR" dirty="0"/>
              <a:t>a := t3</a:t>
            </a:r>
          </a:p>
          <a:p>
            <a:pPr lvl="1"/>
            <a:endParaRPr lang="en-US" dirty="0"/>
          </a:p>
        </p:txBody>
      </p:sp>
      <p:graphicFrame>
        <p:nvGraphicFramePr>
          <p:cNvPr id="4" name="Table 3">
            <a:extLst>
              <a:ext uri="{FF2B5EF4-FFF2-40B4-BE49-F238E27FC236}">
                <a16:creationId xmlns:a16="http://schemas.microsoft.com/office/drawing/2014/main" id="{37A18899-E570-45AF-A446-879BD8362789}"/>
              </a:ext>
            </a:extLst>
          </p:cNvPr>
          <p:cNvGraphicFramePr>
            <a:graphicFrameLocks noGrp="1"/>
          </p:cNvGraphicFramePr>
          <p:nvPr>
            <p:extLst>
              <p:ext uri="{D42A27DB-BD31-4B8C-83A1-F6EECF244321}">
                <p14:modId xmlns:p14="http://schemas.microsoft.com/office/powerpoint/2010/main" val="2439419548"/>
              </p:ext>
            </p:extLst>
          </p:nvPr>
        </p:nvGraphicFramePr>
        <p:xfrm>
          <a:off x="4267200" y="1352550"/>
          <a:ext cx="4419600" cy="2895600"/>
        </p:xfrm>
        <a:graphic>
          <a:graphicData uri="http://schemas.openxmlformats.org/drawingml/2006/table">
            <a:tbl>
              <a:tblPr/>
              <a:tblGrid>
                <a:gridCol w="494475">
                  <a:extLst>
                    <a:ext uri="{9D8B030D-6E8A-4147-A177-3AD203B41FA5}">
                      <a16:colId xmlns:a16="http://schemas.microsoft.com/office/drawing/2014/main" val="4003091896"/>
                    </a:ext>
                  </a:extLst>
                </a:gridCol>
                <a:gridCol w="968848">
                  <a:extLst>
                    <a:ext uri="{9D8B030D-6E8A-4147-A177-3AD203B41FA5}">
                      <a16:colId xmlns:a16="http://schemas.microsoft.com/office/drawing/2014/main" val="4029685064"/>
                    </a:ext>
                  </a:extLst>
                </a:gridCol>
                <a:gridCol w="928647">
                  <a:extLst>
                    <a:ext uri="{9D8B030D-6E8A-4147-A177-3AD203B41FA5}">
                      <a16:colId xmlns:a16="http://schemas.microsoft.com/office/drawing/2014/main" val="1295203600"/>
                    </a:ext>
                  </a:extLst>
                </a:gridCol>
                <a:gridCol w="928647">
                  <a:extLst>
                    <a:ext uri="{9D8B030D-6E8A-4147-A177-3AD203B41FA5}">
                      <a16:colId xmlns:a16="http://schemas.microsoft.com/office/drawing/2014/main" val="1953660014"/>
                    </a:ext>
                  </a:extLst>
                </a:gridCol>
                <a:gridCol w="1098983">
                  <a:extLst>
                    <a:ext uri="{9D8B030D-6E8A-4147-A177-3AD203B41FA5}">
                      <a16:colId xmlns:a16="http://schemas.microsoft.com/office/drawing/2014/main" val="1589465425"/>
                    </a:ext>
                  </a:extLst>
                </a:gridCol>
              </a:tblGrid>
              <a:tr h="563078">
                <a:tc gridSpan="5">
                  <a:txBody>
                    <a:bodyPr/>
                    <a:lstStyle/>
                    <a:p>
                      <a:pPr algn="ctr"/>
                      <a:r>
                        <a:rPr lang="en-US" sz="2400" dirty="0" err="1"/>
                        <a:t>Quaderples</a:t>
                      </a:r>
                      <a:endParaRPr lang="en-US" sz="2400" dirty="0"/>
                    </a:p>
                  </a:txBody>
                  <a:tcPr marL="114300" marR="114300" marT="114300" marB="114300">
                    <a:lnL w="9525" cap="flat" cmpd="sng" algn="ctr">
                      <a:solidFill>
                        <a:srgbClr val="90452A"/>
                      </a:solidFill>
                      <a:prstDash val="solid"/>
                      <a:round/>
                      <a:headEnd type="none" w="med" len="med"/>
                      <a:tailEnd type="none" w="med" len="med"/>
                    </a:lnL>
                    <a:lnT w="9525" cap="flat" cmpd="sng" algn="ctr">
                      <a:solidFill>
                        <a:srgbClr val="90452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pPr algn="l" fontAlgn="t"/>
                      <a:endParaRPr lang="en-US" sz="1200" b="1" dirty="0">
                        <a:solidFill>
                          <a:srgbClr val="000000"/>
                        </a:solidFill>
                        <a:effectLst/>
                        <a:latin typeface="+mn-lt"/>
                      </a:endParaRPr>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90452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pPr algn="l" fontAlgn="t"/>
                      <a:endParaRPr lang="en-US" sz="1200" b="1" dirty="0">
                        <a:solidFill>
                          <a:srgbClr val="000000"/>
                        </a:solidFill>
                        <a:effectLst/>
                        <a:latin typeface="+mn-lt"/>
                      </a:endParaRPr>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90452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pPr algn="l" fontAlgn="t"/>
                      <a:endParaRPr lang="en-US" sz="1200" b="1" dirty="0">
                        <a:solidFill>
                          <a:srgbClr val="000000"/>
                        </a:solidFill>
                        <a:effectLst/>
                        <a:latin typeface="+mn-lt"/>
                      </a:endParaRPr>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90452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pPr algn="l" fontAlgn="t"/>
                      <a:endParaRPr lang="en-US" sz="1200" b="1" dirty="0">
                        <a:solidFill>
                          <a:srgbClr val="000000"/>
                        </a:solidFill>
                        <a:effectLst/>
                        <a:latin typeface="+mn-lt"/>
                      </a:endParaRPr>
                    </a:p>
                  </a:txBody>
                  <a:tcPr marL="114300" marR="114300" marT="114300" marB="114300">
                    <a:lnL w="9525" cap="flat" cmpd="sng" algn="ctr">
                      <a:solidFill>
                        <a:srgbClr val="90452A"/>
                      </a:solidFill>
                      <a:prstDash val="solid"/>
                      <a:round/>
                      <a:headEnd type="none" w="med" len="med"/>
                      <a:tailEnd type="none" w="med" len="med"/>
                    </a:lnL>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3434988922"/>
                  </a:ext>
                </a:extLst>
              </a:tr>
              <a:tr h="563078">
                <a:tc>
                  <a:txBody>
                    <a:bodyPr/>
                    <a:lstStyle/>
                    <a:p>
                      <a:endParaRPr lang="en-US" sz="2400"/>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200" b="1" dirty="0">
                          <a:solidFill>
                            <a:srgbClr val="000000"/>
                          </a:solidFill>
                          <a:effectLst/>
                          <a:latin typeface="+mn-lt"/>
                        </a:rPr>
                        <a:t>Operator</a:t>
                      </a:r>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200" b="1" dirty="0">
                          <a:solidFill>
                            <a:srgbClr val="000000"/>
                          </a:solidFill>
                          <a:effectLst/>
                          <a:latin typeface="+mn-lt"/>
                        </a:rPr>
                        <a:t>Source 1</a:t>
                      </a:r>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200" b="1">
                          <a:solidFill>
                            <a:srgbClr val="000000"/>
                          </a:solidFill>
                          <a:effectLst/>
                          <a:latin typeface="+mn-lt"/>
                        </a:rPr>
                        <a:t>Source 2</a:t>
                      </a:r>
                    </a:p>
                  </a:txBody>
                  <a:tcPr marL="114300" marR="114300" marT="114300" marB="114300">
                    <a:lnL w="9525" cap="flat" cmpd="sng" algn="ctr">
                      <a:solidFill>
                        <a:srgbClr val="90452A"/>
                      </a:solidFill>
                      <a:prstDash val="solid"/>
                      <a:round/>
                      <a:headEnd type="none" w="med" len="med"/>
                      <a:tailEnd type="none" w="med" len="med"/>
                    </a:lnL>
                    <a:lnR w="9525" cap="flat" cmpd="sng" algn="ctr">
                      <a:solidFill>
                        <a:srgbClr val="90452A"/>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1200" b="1" dirty="0">
                          <a:solidFill>
                            <a:srgbClr val="000000"/>
                          </a:solidFill>
                          <a:effectLst/>
                          <a:latin typeface="+mn-lt"/>
                        </a:rPr>
                        <a:t>Destination</a:t>
                      </a:r>
                    </a:p>
                  </a:txBody>
                  <a:tcPr marL="114300" marR="114300" marT="114300" marB="114300">
                    <a:lnL w="9525" cap="flat" cmpd="sng" algn="ctr">
                      <a:solidFill>
                        <a:srgbClr val="90452A"/>
                      </a:solidFill>
                      <a:prstDash val="solid"/>
                      <a:round/>
                      <a:headEnd type="none" w="med" len="med"/>
                      <a:tailEnd type="none" w="med" len="med"/>
                    </a:lnL>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1091142358"/>
                  </a:ext>
                </a:extLst>
              </a:tr>
              <a:tr h="404261">
                <a:tc>
                  <a:txBody>
                    <a:bodyPr/>
                    <a:lstStyle/>
                    <a:p>
                      <a:pPr algn="just" fontAlgn="t"/>
                      <a:r>
                        <a:rPr lang="en-US" sz="1800">
                          <a:solidFill>
                            <a:srgbClr val="333333"/>
                          </a:solidFill>
                          <a:effectLst/>
                          <a:latin typeface="inter-regular"/>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err="1">
                          <a:solidFill>
                            <a:srgbClr val="333333"/>
                          </a:solidFill>
                          <a:effectLst/>
                          <a:latin typeface="inter-regular"/>
                        </a:rPr>
                        <a:t>uminus</a:t>
                      </a:r>
                      <a:endParaRPr lang="en-US" sz="18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b</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t</a:t>
                      </a:r>
                      <a:r>
                        <a:rPr lang="en-US" sz="1800" baseline="-25000" dirty="0">
                          <a:solidFill>
                            <a:srgbClr val="333333"/>
                          </a:solidFill>
                          <a:effectLst/>
                          <a:latin typeface="inter-regular"/>
                        </a:rPr>
                        <a:t>1</a:t>
                      </a:r>
                      <a:endParaRPr lang="en-US" sz="18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222626328"/>
                  </a:ext>
                </a:extLst>
              </a:tr>
              <a:tr h="404261">
                <a:tc>
                  <a:txBody>
                    <a:bodyPr/>
                    <a:lstStyle/>
                    <a:p>
                      <a:pPr algn="just" fontAlgn="t"/>
                      <a:r>
                        <a:rPr lang="en-US" sz="1800" dirty="0">
                          <a:solidFill>
                            <a:srgbClr val="333333"/>
                          </a:solidFill>
                          <a:effectLst/>
                          <a:latin typeface="inter-regular"/>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c</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t</a:t>
                      </a:r>
                      <a:r>
                        <a:rPr lang="en-US" sz="1800" baseline="-25000" dirty="0">
                          <a:solidFill>
                            <a:srgbClr val="333333"/>
                          </a:solidFill>
                          <a:effectLst/>
                          <a:latin typeface="inter-regular"/>
                        </a:rPr>
                        <a:t>2</a:t>
                      </a:r>
                      <a:endParaRPr lang="en-US" sz="18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230674383"/>
                  </a:ext>
                </a:extLst>
              </a:tr>
              <a:tr h="404261">
                <a:tc>
                  <a:txBody>
                    <a:bodyPr/>
                    <a:lstStyle/>
                    <a:p>
                      <a:pPr algn="just" fontAlgn="t"/>
                      <a:r>
                        <a:rPr lang="en-US" sz="1800">
                          <a:solidFill>
                            <a:srgbClr val="333333"/>
                          </a:solidFill>
                          <a:effectLst/>
                          <a:latin typeface="inter-regular"/>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t</a:t>
                      </a:r>
                      <a:r>
                        <a:rPr lang="en-US" sz="1800" baseline="-25000" dirty="0">
                          <a:solidFill>
                            <a:srgbClr val="333333"/>
                          </a:solidFill>
                          <a:effectLst/>
                          <a:latin typeface="inter-regular"/>
                        </a:rPr>
                        <a:t>1</a:t>
                      </a:r>
                      <a:endParaRPr lang="en-US" sz="18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a:solidFill>
                            <a:srgbClr val="333333"/>
                          </a:solidFill>
                          <a:effectLst/>
                          <a:latin typeface="inter-regular"/>
                        </a:rPr>
                        <a:t>t</a:t>
                      </a:r>
                      <a:r>
                        <a:rPr lang="en-US" sz="1800" baseline="-25000">
                          <a:solidFill>
                            <a:srgbClr val="333333"/>
                          </a:solidFill>
                          <a:effectLst/>
                          <a:latin typeface="inter-regular"/>
                        </a:rPr>
                        <a:t>2</a:t>
                      </a:r>
                      <a:endParaRPr lang="en-US" sz="180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t</a:t>
                      </a:r>
                      <a:r>
                        <a:rPr lang="en-US" sz="1800" baseline="-25000" dirty="0">
                          <a:solidFill>
                            <a:srgbClr val="333333"/>
                          </a:solidFill>
                          <a:effectLst/>
                          <a:latin typeface="inter-regular"/>
                        </a:rPr>
                        <a:t>3</a:t>
                      </a:r>
                      <a:endParaRPr lang="en-US" sz="18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527739030"/>
                  </a:ext>
                </a:extLst>
              </a:tr>
              <a:tr h="404261">
                <a:tc>
                  <a:txBody>
                    <a:bodyPr/>
                    <a:lstStyle/>
                    <a:p>
                      <a:pPr algn="just" fontAlgn="t"/>
                      <a:r>
                        <a:rPr lang="en-US" sz="1800">
                          <a:solidFill>
                            <a:srgbClr val="333333"/>
                          </a:solidFill>
                          <a:effectLst/>
                          <a:latin typeface="inter-regular"/>
                        </a:rPr>
                        <a:t>(3)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t</a:t>
                      </a:r>
                      <a:r>
                        <a:rPr lang="en-US" sz="1800" baseline="-25000" dirty="0">
                          <a:solidFill>
                            <a:srgbClr val="333333"/>
                          </a:solidFill>
                          <a:effectLst/>
                          <a:latin typeface="inter-regular"/>
                        </a:rPr>
                        <a:t>3</a:t>
                      </a:r>
                      <a:endParaRPr lang="en-US" sz="1800" dirty="0">
                        <a:solidFill>
                          <a:srgbClr val="333333"/>
                        </a:solidFill>
                        <a:effectLst/>
                        <a:latin typeface="inter-regular"/>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a</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265990244"/>
                  </a:ext>
                </a:extLst>
              </a:tr>
            </a:tbl>
          </a:graphicData>
        </a:graphic>
      </p:graphicFrame>
    </p:spTree>
    <p:extLst>
      <p:ext uri="{BB962C8B-B14F-4D97-AF65-F5344CB8AC3E}">
        <p14:creationId xmlns:p14="http://schemas.microsoft.com/office/powerpoint/2010/main" val="1718739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A5E1-BD63-47F5-9DCB-11D14A2D5376}"/>
              </a:ext>
            </a:extLst>
          </p:cNvPr>
          <p:cNvSpPr>
            <a:spLocks noGrp="1"/>
          </p:cNvSpPr>
          <p:nvPr>
            <p:ph type="title"/>
          </p:nvPr>
        </p:nvSpPr>
        <p:spPr/>
        <p:txBody>
          <a:bodyPr/>
          <a:lstStyle/>
          <a:p>
            <a:r>
              <a:rPr lang="en-US" dirty="0"/>
              <a:t>Triples</a:t>
            </a:r>
          </a:p>
        </p:txBody>
      </p:sp>
      <p:sp>
        <p:nvSpPr>
          <p:cNvPr id="3" name="Content Placeholder 2">
            <a:extLst>
              <a:ext uri="{FF2B5EF4-FFF2-40B4-BE49-F238E27FC236}">
                <a16:creationId xmlns:a16="http://schemas.microsoft.com/office/drawing/2014/main" id="{27E1117F-EDE0-41A0-A14A-BC77529023BF}"/>
              </a:ext>
            </a:extLst>
          </p:cNvPr>
          <p:cNvSpPr>
            <a:spLocks noGrp="1"/>
          </p:cNvSpPr>
          <p:nvPr>
            <p:ph idx="1"/>
          </p:nvPr>
        </p:nvSpPr>
        <p:spPr/>
        <p:txBody>
          <a:bodyPr>
            <a:normAutofit fontScale="92500" lnSpcReduction="20000"/>
          </a:bodyPr>
          <a:lstStyle/>
          <a:p>
            <a:r>
              <a:rPr lang="en-US" dirty="0"/>
              <a:t>The triples have three fields to implement the three address code. The field of triples contains the name of the operator, the first source operand and the second source operand.</a:t>
            </a:r>
          </a:p>
          <a:p>
            <a:r>
              <a:rPr lang="en-US" dirty="0"/>
              <a:t>In triples, the results of respective sub-expressions are denoted by the position of expression. Triple is equivalent to DAG while representing expressions.</a:t>
            </a:r>
          </a:p>
        </p:txBody>
      </p:sp>
    </p:spTree>
    <p:extLst>
      <p:ext uri="{BB962C8B-B14F-4D97-AF65-F5344CB8AC3E}">
        <p14:creationId xmlns:p14="http://schemas.microsoft.com/office/powerpoint/2010/main" val="631050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C9D58-3344-44F8-9A65-447263298591}"/>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682B8B8-13C3-4088-8165-7806AC424E5D}"/>
              </a:ext>
            </a:extLst>
          </p:cNvPr>
          <p:cNvSpPr>
            <a:spLocks noGrp="1"/>
          </p:cNvSpPr>
          <p:nvPr>
            <p:ph idx="1"/>
          </p:nvPr>
        </p:nvSpPr>
        <p:spPr>
          <a:xfrm>
            <a:off x="457200" y="971550"/>
            <a:ext cx="8229600" cy="3394472"/>
          </a:xfrm>
        </p:spPr>
        <p:txBody>
          <a:bodyPr>
            <a:normAutofit/>
          </a:bodyPr>
          <a:lstStyle/>
          <a:p>
            <a:r>
              <a:rPr lang="en-US" dirty="0"/>
              <a:t>a := -b * c + d </a:t>
            </a:r>
          </a:p>
          <a:p>
            <a:r>
              <a:rPr lang="en-US" dirty="0"/>
              <a:t>Three address code is as follows:</a:t>
            </a:r>
          </a:p>
          <a:p>
            <a:pPr lvl="1"/>
            <a:r>
              <a:rPr lang="en-US" dirty="0"/>
              <a:t>t</a:t>
            </a:r>
            <a:r>
              <a:rPr lang="en-US" baseline="-25000" dirty="0"/>
              <a:t>1</a:t>
            </a:r>
            <a:r>
              <a:rPr lang="en-US" dirty="0"/>
              <a:t> := -b </a:t>
            </a:r>
            <a:br>
              <a:rPr lang="en-US" dirty="0"/>
            </a:br>
            <a:r>
              <a:rPr lang="en-US" dirty="0"/>
              <a:t>t</a:t>
            </a:r>
            <a:r>
              <a:rPr lang="en-US" baseline="-25000" dirty="0"/>
              <a:t>2</a:t>
            </a:r>
            <a:r>
              <a:rPr lang="en-US" dirty="0"/>
              <a:t> := c + d</a:t>
            </a:r>
            <a:br>
              <a:rPr lang="en-US" dirty="0"/>
            </a:br>
            <a:r>
              <a:rPr lang="en-US" dirty="0"/>
              <a:t>t</a:t>
            </a:r>
            <a:r>
              <a:rPr lang="en-US" baseline="-25000" dirty="0"/>
              <a:t>3</a:t>
            </a:r>
            <a:r>
              <a:rPr lang="en-US" dirty="0"/>
              <a:t> := t</a:t>
            </a:r>
            <a:r>
              <a:rPr lang="en-US" baseline="-25000" dirty="0"/>
              <a:t>1</a:t>
            </a:r>
            <a:r>
              <a:rPr lang="en-US" dirty="0"/>
              <a:t> * t</a:t>
            </a:r>
            <a:r>
              <a:rPr lang="en-US" baseline="-25000" dirty="0"/>
              <a:t>2</a:t>
            </a:r>
            <a:r>
              <a:rPr lang="en-US" dirty="0"/>
              <a:t> </a:t>
            </a:r>
            <a:br>
              <a:rPr lang="en-US" dirty="0"/>
            </a:br>
            <a:r>
              <a:rPr lang="en-US" dirty="0"/>
              <a:t>a := t</a:t>
            </a:r>
            <a:r>
              <a:rPr lang="en-US" baseline="-25000" dirty="0"/>
              <a:t>3</a:t>
            </a:r>
            <a:endParaRPr lang="en-US" dirty="0"/>
          </a:p>
        </p:txBody>
      </p:sp>
      <p:graphicFrame>
        <p:nvGraphicFramePr>
          <p:cNvPr id="4" name="Table 3">
            <a:extLst>
              <a:ext uri="{FF2B5EF4-FFF2-40B4-BE49-F238E27FC236}">
                <a16:creationId xmlns:a16="http://schemas.microsoft.com/office/drawing/2014/main" id="{3C61FDDC-DD94-42B4-9823-735207E5C085}"/>
              </a:ext>
            </a:extLst>
          </p:cNvPr>
          <p:cNvGraphicFramePr>
            <a:graphicFrameLocks noGrp="1"/>
          </p:cNvGraphicFramePr>
          <p:nvPr>
            <p:extLst>
              <p:ext uri="{D42A27DB-BD31-4B8C-83A1-F6EECF244321}">
                <p14:modId xmlns:p14="http://schemas.microsoft.com/office/powerpoint/2010/main" val="2176292924"/>
              </p:ext>
            </p:extLst>
          </p:nvPr>
        </p:nvGraphicFramePr>
        <p:xfrm>
          <a:off x="4419600" y="2003378"/>
          <a:ext cx="4267200" cy="2971800"/>
        </p:xfrm>
        <a:graphic>
          <a:graphicData uri="http://schemas.openxmlformats.org/drawingml/2006/table">
            <a:tbl>
              <a:tblPr/>
              <a:tblGrid>
                <a:gridCol w="978221">
                  <a:extLst>
                    <a:ext uri="{9D8B030D-6E8A-4147-A177-3AD203B41FA5}">
                      <a16:colId xmlns:a16="http://schemas.microsoft.com/office/drawing/2014/main" val="1232421754"/>
                    </a:ext>
                  </a:extLst>
                </a:gridCol>
                <a:gridCol w="940090">
                  <a:extLst>
                    <a:ext uri="{9D8B030D-6E8A-4147-A177-3AD203B41FA5}">
                      <a16:colId xmlns:a16="http://schemas.microsoft.com/office/drawing/2014/main" val="4127160420"/>
                    </a:ext>
                  </a:extLst>
                </a:gridCol>
                <a:gridCol w="940090">
                  <a:extLst>
                    <a:ext uri="{9D8B030D-6E8A-4147-A177-3AD203B41FA5}">
                      <a16:colId xmlns:a16="http://schemas.microsoft.com/office/drawing/2014/main" val="613417715"/>
                    </a:ext>
                  </a:extLst>
                </a:gridCol>
                <a:gridCol w="1408799">
                  <a:extLst>
                    <a:ext uri="{9D8B030D-6E8A-4147-A177-3AD203B41FA5}">
                      <a16:colId xmlns:a16="http://schemas.microsoft.com/office/drawing/2014/main" val="1714298607"/>
                    </a:ext>
                  </a:extLst>
                </a:gridCol>
              </a:tblGrid>
              <a:tr h="0">
                <a:tc>
                  <a:txBody>
                    <a:bodyPr/>
                    <a:lstStyle/>
                    <a:p>
                      <a:endParaRPr lang="en-US"/>
                    </a:p>
                  </a:txBody>
                  <a:tcPr marL="114300" marR="114300" marT="114300" marB="114300">
                    <a:lnL w="9525" cap="flat" cmpd="sng" algn="ctr">
                      <a:solidFill>
                        <a:srgbClr val="101E9A"/>
                      </a:solidFill>
                      <a:prstDash val="solid"/>
                      <a:round/>
                      <a:headEnd type="none" w="med" len="med"/>
                      <a:tailEnd type="none" w="med" len="med"/>
                    </a:lnL>
                    <a:lnR w="9525" cap="flat" cmpd="sng" algn="ctr">
                      <a:solidFill>
                        <a:srgbClr val="101E9A"/>
                      </a:solidFill>
                      <a:prstDash val="solid"/>
                      <a:round/>
                      <a:headEnd type="none" w="med" len="med"/>
                      <a:tailEnd type="none" w="med" len="med"/>
                    </a:lnR>
                    <a:lnT w="9525" cap="flat" cmpd="sng" algn="ctr">
                      <a:solidFill>
                        <a:srgbClr val="101E9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br>
                        <a:rPr lang="en-US" sz="2000" kern="1200" dirty="0">
                          <a:solidFill>
                            <a:schemeClr val="tx1"/>
                          </a:solidFill>
                          <a:latin typeface="+mn-lt"/>
                          <a:ea typeface="+mn-ea"/>
                          <a:cs typeface="+mn-cs"/>
                        </a:rPr>
                      </a:br>
                      <a:r>
                        <a:rPr lang="en-US" sz="2000" kern="1200" dirty="0">
                          <a:solidFill>
                            <a:schemeClr val="tx1"/>
                          </a:solidFill>
                          <a:latin typeface="+mn-lt"/>
                          <a:ea typeface="+mn-ea"/>
                          <a:cs typeface="+mn-cs"/>
                        </a:rPr>
                        <a:t>Operator</a:t>
                      </a:r>
                    </a:p>
                  </a:txBody>
                  <a:tcPr marL="114300" marR="114300" marT="114300" marB="114300">
                    <a:lnL w="9525" cap="flat" cmpd="sng" algn="ctr">
                      <a:solidFill>
                        <a:srgbClr val="101E9A"/>
                      </a:solidFill>
                      <a:prstDash val="solid"/>
                      <a:round/>
                      <a:headEnd type="none" w="med" len="med"/>
                      <a:tailEnd type="none" w="med" len="med"/>
                    </a:lnL>
                    <a:lnR w="9525" cap="flat" cmpd="sng" algn="ctr">
                      <a:solidFill>
                        <a:srgbClr val="101E9A"/>
                      </a:solidFill>
                      <a:prstDash val="solid"/>
                      <a:round/>
                      <a:headEnd type="none" w="med" len="med"/>
                      <a:tailEnd type="none" w="med" len="med"/>
                    </a:lnR>
                    <a:lnT w="9525" cap="flat" cmpd="sng" algn="ctr">
                      <a:solidFill>
                        <a:srgbClr val="101E9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000" kern="1200" dirty="0">
                          <a:solidFill>
                            <a:schemeClr val="tx1"/>
                          </a:solidFill>
                          <a:latin typeface="+mn-lt"/>
                          <a:ea typeface="+mn-ea"/>
                          <a:cs typeface="+mn-cs"/>
                        </a:rPr>
                        <a:t>Source 1</a:t>
                      </a:r>
                    </a:p>
                  </a:txBody>
                  <a:tcPr marL="114300" marR="114300" marT="114300" marB="114300">
                    <a:lnL w="9525" cap="flat" cmpd="sng" algn="ctr">
                      <a:solidFill>
                        <a:srgbClr val="101E9A"/>
                      </a:solidFill>
                      <a:prstDash val="solid"/>
                      <a:round/>
                      <a:headEnd type="none" w="med" len="med"/>
                      <a:tailEnd type="none" w="med" len="med"/>
                    </a:lnL>
                    <a:lnR w="9525" cap="flat" cmpd="sng" algn="ctr">
                      <a:solidFill>
                        <a:srgbClr val="101E9A"/>
                      </a:solidFill>
                      <a:prstDash val="solid"/>
                      <a:round/>
                      <a:headEnd type="none" w="med" len="med"/>
                      <a:tailEnd type="none" w="med" len="med"/>
                    </a:lnR>
                    <a:lnT w="9525" cap="flat" cmpd="sng" algn="ctr">
                      <a:solidFill>
                        <a:srgbClr val="101E9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US" sz="2000" kern="1200" dirty="0">
                          <a:solidFill>
                            <a:schemeClr val="tx1"/>
                          </a:solidFill>
                          <a:latin typeface="+mn-lt"/>
                          <a:ea typeface="+mn-ea"/>
                          <a:cs typeface="+mn-cs"/>
                        </a:rPr>
                        <a:t>Source 2</a:t>
                      </a:r>
                    </a:p>
                  </a:txBody>
                  <a:tcPr marL="114300" marR="114300" marT="114300" marB="114300">
                    <a:lnL w="9525" cap="flat" cmpd="sng" algn="ctr">
                      <a:solidFill>
                        <a:srgbClr val="101E9A"/>
                      </a:solidFill>
                      <a:prstDash val="solid"/>
                      <a:round/>
                      <a:headEnd type="none" w="med" len="med"/>
                      <a:tailEnd type="none" w="med" len="med"/>
                    </a:lnL>
                    <a:lnB w="9525" cap="flat" cmpd="sng" algn="ctr">
                      <a:solidFill>
                        <a:srgbClr val="C7CCBE"/>
                      </a:solidFill>
                      <a:prstDash val="solid"/>
                      <a:round/>
                      <a:headEnd type="none" w="med" len="med"/>
                      <a:tailEnd type="none" w="med" len="med"/>
                    </a:lnB>
                  </a:tcPr>
                </a:tc>
                <a:extLst>
                  <a:ext uri="{0D108BD9-81ED-4DB2-BD59-A6C34878D82A}">
                    <a16:rowId xmlns:a16="http://schemas.microsoft.com/office/drawing/2014/main" val="3993326240"/>
                  </a:ext>
                </a:extLst>
              </a:tr>
              <a:tr h="0">
                <a:tc>
                  <a:txBody>
                    <a:bodyPr/>
                    <a:lstStyle/>
                    <a:p>
                      <a:pPr algn="just" fontAlgn="t"/>
                      <a:r>
                        <a:rPr lang="en-US" sz="2000" kern="1200" dirty="0">
                          <a:solidFill>
                            <a:schemeClr val="tx1"/>
                          </a:solidFill>
                          <a:latin typeface="+mn-lt"/>
                          <a:ea typeface="+mn-ea"/>
                          <a:cs typeface="+mn-cs"/>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kern="1200" dirty="0" err="1">
                          <a:solidFill>
                            <a:schemeClr val="tx1"/>
                          </a:solidFill>
                          <a:latin typeface="+mn-lt"/>
                          <a:ea typeface="+mn-ea"/>
                          <a:cs typeface="+mn-cs"/>
                        </a:rPr>
                        <a:t>uminus</a:t>
                      </a:r>
                      <a:endParaRPr lang="en-US" sz="2000" kern="1200" dirty="0">
                        <a:solidFill>
                          <a:schemeClr val="tx1"/>
                        </a:solidFill>
                        <a:latin typeface="+mn-lt"/>
                        <a:ea typeface="+mn-ea"/>
                        <a:cs typeface="+mn-cs"/>
                      </a:endParaRP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kern="1200" dirty="0">
                          <a:solidFill>
                            <a:schemeClr val="tx1"/>
                          </a:solidFill>
                          <a:latin typeface="+mn-lt"/>
                          <a:ea typeface="+mn-ea"/>
                          <a:cs typeface="+mn-cs"/>
                        </a:rPr>
                        <a:t>b</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kern="1200" dirty="0">
                          <a:solidFill>
                            <a:schemeClr val="tx1"/>
                          </a:solidFill>
                          <a:latin typeface="+mn-lt"/>
                          <a:ea typeface="+mn-ea"/>
                          <a:cs typeface="+mn-cs"/>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19201130"/>
                  </a:ext>
                </a:extLst>
              </a:tr>
              <a:tr h="0">
                <a:tc>
                  <a:txBody>
                    <a:bodyPr/>
                    <a:lstStyle/>
                    <a:p>
                      <a:pPr algn="just" fontAlgn="t"/>
                      <a:r>
                        <a:rPr lang="en-US" sz="2000" kern="1200" dirty="0">
                          <a:solidFill>
                            <a:schemeClr val="tx1"/>
                          </a:solidFill>
                          <a:latin typeface="+mn-lt"/>
                          <a:ea typeface="+mn-ea"/>
                          <a:cs typeface="+mn-cs"/>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kern="1200" dirty="0">
                          <a:solidFill>
                            <a:schemeClr val="tx1"/>
                          </a:solidFill>
                          <a:latin typeface="+mn-lt"/>
                          <a:ea typeface="+mn-ea"/>
                          <a:cs typeface="+mn-cs"/>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kern="1200" dirty="0">
                          <a:solidFill>
                            <a:schemeClr val="tx1"/>
                          </a:solidFill>
                          <a:latin typeface="+mn-lt"/>
                          <a:ea typeface="+mn-ea"/>
                          <a:cs typeface="+mn-cs"/>
                        </a:rPr>
                        <a:t>c</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kern="1200" dirty="0">
                          <a:solidFill>
                            <a:schemeClr val="tx1"/>
                          </a:solidFill>
                          <a:latin typeface="+mn-lt"/>
                          <a:ea typeface="+mn-ea"/>
                          <a:cs typeface="+mn-cs"/>
                        </a:rPr>
                        <a:t>d</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06487672"/>
                  </a:ext>
                </a:extLst>
              </a:tr>
              <a:tr h="0">
                <a:tc>
                  <a:txBody>
                    <a:bodyPr/>
                    <a:lstStyle/>
                    <a:p>
                      <a:pPr algn="just" fontAlgn="t"/>
                      <a:r>
                        <a:rPr lang="en-US" sz="2000" kern="1200">
                          <a:solidFill>
                            <a:schemeClr val="tx1"/>
                          </a:solidFill>
                          <a:latin typeface="+mn-lt"/>
                          <a:ea typeface="+mn-ea"/>
                          <a:cs typeface="+mn-cs"/>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kern="1200" dirty="0">
                          <a:solidFill>
                            <a:schemeClr val="tx1"/>
                          </a:solidFill>
                          <a:latin typeface="+mn-lt"/>
                          <a:ea typeface="+mn-ea"/>
                          <a:cs typeface="+mn-cs"/>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kern="1200" dirty="0">
                          <a:solidFill>
                            <a:schemeClr val="tx1"/>
                          </a:solidFill>
                          <a:latin typeface="+mn-lt"/>
                          <a:ea typeface="+mn-ea"/>
                          <a:cs typeface="+mn-cs"/>
                        </a:rPr>
                        <a:t>(0)</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2000" kern="1200" dirty="0">
                          <a:solidFill>
                            <a:schemeClr val="tx1"/>
                          </a:solidFill>
                          <a:latin typeface="+mn-lt"/>
                          <a:ea typeface="+mn-ea"/>
                          <a:cs typeface="+mn-cs"/>
                        </a:rPr>
                        <a:t>(1)</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93486983"/>
                  </a:ext>
                </a:extLst>
              </a:tr>
              <a:tr h="0">
                <a:tc>
                  <a:txBody>
                    <a:bodyPr/>
                    <a:lstStyle/>
                    <a:p>
                      <a:pPr algn="just" fontAlgn="t"/>
                      <a:r>
                        <a:rPr lang="en-US" sz="2000" kern="1200">
                          <a:solidFill>
                            <a:schemeClr val="tx1"/>
                          </a:solidFill>
                          <a:latin typeface="+mn-lt"/>
                          <a:ea typeface="+mn-ea"/>
                          <a:cs typeface="+mn-cs"/>
                        </a:rPr>
                        <a:t>(3)</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kern="1200" dirty="0">
                          <a:solidFill>
                            <a:schemeClr val="tx1"/>
                          </a:solidFill>
                          <a:latin typeface="+mn-lt"/>
                          <a:ea typeface="+mn-ea"/>
                          <a:cs typeface="+mn-cs"/>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kern="1200" dirty="0">
                          <a:solidFill>
                            <a:schemeClr val="tx1"/>
                          </a:solidFill>
                          <a:latin typeface="+mn-lt"/>
                          <a:ea typeface="+mn-ea"/>
                          <a:cs typeface="+mn-cs"/>
                        </a:rPr>
                        <a:t>(2)</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2000" kern="1200" dirty="0">
                          <a:solidFill>
                            <a:schemeClr val="tx1"/>
                          </a:solidFill>
                          <a:latin typeface="+mn-lt"/>
                          <a:ea typeface="+mn-ea"/>
                          <a:cs typeface="+mn-cs"/>
                        </a:rPr>
                        <a:t>-</a:t>
                      </a:r>
                    </a:p>
                  </a:txBody>
                  <a:tcPr marL="76200" marR="76200" marT="76200" marB="7620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286253689"/>
                  </a:ext>
                </a:extLst>
              </a:tr>
            </a:tbl>
          </a:graphicData>
        </a:graphic>
      </p:graphicFrame>
    </p:spTree>
    <p:extLst>
      <p:ext uri="{BB962C8B-B14F-4D97-AF65-F5344CB8AC3E}">
        <p14:creationId xmlns:p14="http://schemas.microsoft.com/office/powerpoint/2010/main" val="40927538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59228-EE79-480C-A856-EC589F9CFB2B}"/>
              </a:ext>
            </a:extLst>
          </p:cNvPr>
          <p:cNvSpPr>
            <a:spLocks noGrp="1"/>
          </p:cNvSpPr>
          <p:nvPr>
            <p:ph type="title"/>
          </p:nvPr>
        </p:nvSpPr>
        <p:spPr/>
        <p:txBody>
          <a:bodyPr/>
          <a:lstStyle/>
          <a:p>
            <a:r>
              <a:rPr lang="en-US" dirty="0"/>
              <a:t>Indirect Triples</a:t>
            </a:r>
          </a:p>
        </p:txBody>
      </p:sp>
      <p:sp>
        <p:nvSpPr>
          <p:cNvPr id="3" name="Content Placeholder 2">
            <a:extLst>
              <a:ext uri="{FF2B5EF4-FFF2-40B4-BE49-F238E27FC236}">
                <a16:creationId xmlns:a16="http://schemas.microsoft.com/office/drawing/2014/main" id="{C959BBA7-37E0-4C8F-8A3E-A7C88161C5E9}"/>
              </a:ext>
            </a:extLst>
          </p:cNvPr>
          <p:cNvSpPr>
            <a:spLocks noGrp="1"/>
          </p:cNvSpPr>
          <p:nvPr>
            <p:ph idx="1"/>
          </p:nvPr>
        </p:nvSpPr>
        <p:spPr/>
        <p:txBody>
          <a:bodyPr>
            <a:normAutofit lnSpcReduction="10000"/>
          </a:bodyPr>
          <a:lstStyle/>
          <a:p>
            <a:r>
              <a:rPr lang="en-US" dirty="0"/>
              <a:t>This representation makes use of pointer to the listing of all references to computations which is made separately and stored. Its similar in utility as compared to quadruple representation but requires less space than it. Temporaries are implicit and easier to rearrange code. </a:t>
            </a:r>
          </a:p>
        </p:txBody>
      </p:sp>
    </p:spTree>
    <p:extLst>
      <p:ext uri="{BB962C8B-B14F-4D97-AF65-F5344CB8AC3E}">
        <p14:creationId xmlns:p14="http://schemas.microsoft.com/office/powerpoint/2010/main" val="7455478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88DBB-C1F7-477A-B41E-27FC722F56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E6007C-5793-41E7-898F-014D5EDD5430}"/>
              </a:ext>
            </a:extLst>
          </p:cNvPr>
          <p:cNvSpPr>
            <a:spLocks noGrp="1"/>
          </p:cNvSpPr>
          <p:nvPr>
            <p:ph idx="1"/>
          </p:nvPr>
        </p:nvSpPr>
        <p:spPr/>
        <p:txBody>
          <a:bodyPr/>
          <a:lstStyle/>
          <a:p>
            <a:r>
              <a:rPr lang="pt-BR" dirty="0"/>
              <a:t>a + b x c / e ↑ f + b x c</a:t>
            </a:r>
            <a:endParaRPr lang="en-US" dirty="0"/>
          </a:p>
        </p:txBody>
      </p:sp>
      <p:pic>
        <p:nvPicPr>
          <p:cNvPr id="4" name="Picture 3">
            <a:extLst>
              <a:ext uri="{FF2B5EF4-FFF2-40B4-BE49-F238E27FC236}">
                <a16:creationId xmlns:a16="http://schemas.microsoft.com/office/drawing/2014/main" id="{D0A636CD-4433-4496-A4B3-4DAA00820015}"/>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14383" y="1962150"/>
            <a:ext cx="2978068" cy="2442331"/>
          </a:xfrm>
          <a:prstGeom prst="rect">
            <a:avLst/>
          </a:prstGeom>
        </p:spPr>
      </p:pic>
      <p:pic>
        <p:nvPicPr>
          <p:cNvPr id="5" name="Picture 4">
            <a:extLst>
              <a:ext uri="{FF2B5EF4-FFF2-40B4-BE49-F238E27FC236}">
                <a16:creationId xmlns:a16="http://schemas.microsoft.com/office/drawing/2014/main" id="{E87C46A5-476D-4CA2-ACEA-EFCE6F0D29AD}"/>
              </a:ext>
            </a:extLst>
          </p:cNvPr>
          <p:cNvPicPr>
            <a:picLocks noChangeAspect="1"/>
          </p:cNvPicPr>
          <p:nvPr/>
        </p:nvPicPr>
        <p:blipFill>
          <a:blip r:embed="rId4"/>
          <a:stretch>
            <a:fillRect/>
          </a:stretch>
        </p:blipFill>
        <p:spPr>
          <a:xfrm>
            <a:off x="3587668" y="1642759"/>
            <a:ext cx="4991100" cy="2971800"/>
          </a:xfrm>
          <a:prstGeom prst="rect">
            <a:avLst/>
          </a:prstGeom>
        </p:spPr>
      </p:pic>
    </p:spTree>
    <p:extLst>
      <p:ext uri="{BB962C8B-B14F-4D97-AF65-F5344CB8AC3E}">
        <p14:creationId xmlns:p14="http://schemas.microsoft.com/office/powerpoint/2010/main" val="7413683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9A479-BE5A-4170-A61C-89A8AABF23F8}"/>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D765F4BE-3837-4188-B616-A15E2182D39B}"/>
              </a:ext>
            </a:extLst>
          </p:cNvPr>
          <p:cNvSpPr>
            <a:spLocks noGrp="1"/>
          </p:cNvSpPr>
          <p:nvPr>
            <p:ph idx="1"/>
          </p:nvPr>
        </p:nvSpPr>
        <p:spPr>
          <a:xfrm>
            <a:off x="457200" y="1200151"/>
            <a:ext cx="8229600" cy="3394472"/>
          </a:xfrm>
        </p:spPr>
        <p:txBody>
          <a:bodyPr/>
          <a:lstStyle/>
          <a:p>
            <a:r>
              <a:rPr lang="en-US" dirty="0"/>
              <a:t> Consider expression a = b * – c + b * – c </a:t>
            </a:r>
          </a:p>
          <a:p>
            <a:endParaRPr lang="en-US" dirty="0"/>
          </a:p>
        </p:txBody>
      </p:sp>
      <p:pic>
        <p:nvPicPr>
          <p:cNvPr id="3076" name="Picture 4" descr="https://media.geeksforgeeks.org/wp-content/uploads/ty-4.png">
            <a:extLst>
              <a:ext uri="{FF2B5EF4-FFF2-40B4-BE49-F238E27FC236}">
                <a16:creationId xmlns:a16="http://schemas.microsoft.com/office/drawing/2014/main" id="{F94A6F47-D483-488F-BFDC-D5A505960E2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905000" y="1843863"/>
            <a:ext cx="4844833" cy="2784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02336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p:txBody>
          <a:bodyPr>
            <a:normAutofit/>
          </a:bodyPr>
          <a:lstStyle/>
          <a:p>
            <a:r>
              <a:rPr lang="en-US" sz="2800" dirty="0"/>
              <a:t>Compilers: Principles, Techniques, and Tools, A. V. </a:t>
            </a:r>
            <a:r>
              <a:rPr lang="en-US" sz="2800" dirty="0" err="1"/>
              <a:t>Aho</a:t>
            </a:r>
            <a:r>
              <a:rPr lang="en-US" sz="2800" dirty="0"/>
              <a:t>, R. </a:t>
            </a:r>
            <a:r>
              <a:rPr lang="en-US" sz="2800" dirty="0" err="1"/>
              <a:t>Sethi</a:t>
            </a:r>
            <a:r>
              <a:rPr lang="en-US" sz="2800" dirty="0"/>
              <a:t> and J. D. Ullman, Addison-Wesley, 2nd ed., 2006.</a:t>
            </a:r>
          </a:p>
        </p:txBody>
      </p:sp>
    </p:spTree>
    <p:extLst>
      <p:ext uri="{BB962C8B-B14F-4D97-AF65-F5344CB8AC3E}">
        <p14:creationId xmlns:p14="http://schemas.microsoft.com/office/powerpoint/2010/main" val="3133642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lgn="ctr">
              <a:buNone/>
            </a:pPr>
            <a:r>
              <a:rPr lang="en-US" sz="11500" b="1" dirty="0"/>
              <a:t>THANK YOU</a:t>
            </a:r>
          </a:p>
        </p:txBody>
      </p:sp>
    </p:spTree>
    <p:extLst>
      <p:ext uri="{BB962C8B-B14F-4D97-AF65-F5344CB8AC3E}">
        <p14:creationId xmlns:p14="http://schemas.microsoft.com/office/powerpoint/2010/main" val="33668724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3618</TotalTime>
  <Words>1864</Words>
  <Application>Microsoft Office PowerPoint</Application>
  <PresentationFormat>On-screen Show (16:9)</PresentationFormat>
  <Paragraphs>290</Paragraphs>
  <Slides>46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Arial</vt:lpstr>
      <vt:lpstr>Calibri</vt:lpstr>
      <vt:lpstr>Courier New</vt:lpstr>
      <vt:lpstr>inter-regular</vt:lpstr>
      <vt:lpstr>Office Theme</vt:lpstr>
      <vt:lpstr>PowerPoint Presentation</vt:lpstr>
      <vt:lpstr>Compiler Construction</vt:lpstr>
      <vt:lpstr>Week 12-13</vt:lpstr>
      <vt:lpstr>Intermediate Code Generation</vt:lpstr>
      <vt:lpstr>What Intermediate Code</vt:lpstr>
      <vt:lpstr>What Intermediate Code</vt:lpstr>
      <vt:lpstr>Intermediate Representation</vt:lpstr>
      <vt:lpstr>High Level IR</vt:lpstr>
      <vt:lpstr>Low Level IR</vt:lpstr>
      <vt:lpstr>Intermediate Languages Types</vt:lpstr>
      <vt:lpstr>Graphical IRs</vt:lpstr>
      <vt:lpstr>ASTs and DAGs: a := b *-c + b*-c</vt:lpstr>
      <vt:lpstr>Linearized IC</vt:lpstr>
      <vt:lpstr>Directed Acyclic Graphs for Expressions</vt:lpstr>
      <vt:lpstr>Why DAGs?</vt:lpstr>
      <vt:lpstr>DAG vs Syntax Tree</vt:lpstr>
      <vt:lpstr>Visual Difference</vt:lpstr>
      <vt:lpstr>SDD to produce Syntax Tree or DAG</vt:lpstr>
      <vt:lpstr>DAG Example</vt:lpstr>
      <vt:lpstr>Steps for construction DAG</vt:lpstr>
      <vt:lpstr>Constructing Rules for DAG’s</vt:lpstr>
      <vt:lpstr>PowerPoint Presentation</vt:lpstr>
      <vt:lpstr>PowerPoint Presentation</vt:lpstr>
      <vt:lpstr>Consider the following block and construct a DAG for it-</vt:lpstr>
      <vt:lpstr>PowerPoint Presentation</vt:lpstr>
      <vt:lpstr>Value Number Method for Constructing DAG’s</vt:lpstr>
      <vt:lpstr>Applications of DAG in Compiler</vt:lpstr>
      <vt:lpstr>Three-Address Code</vt:lpstr>
      <vt:lpstr>IR Code is Made From</vt:lpstr>
      <vt:lpstr>General Form-3 Address Code</vt:lpstr>
      <vt:lpstr>Examples</vt:lpstr>
      <vt:lpstr>PowerPoint Presentation</vt:lpstr>
      <vt:lpstr>Common Three Address Instruction Forms</vt:lpstr>
      <vt:lpstr>3 Address Code Examples</vt:lpstr>
      <vt:lpstr>PowerPoint Presentation</vt:lpstr>
      <vt:lpstr>PowerPoint Presentation</vt:lpstr>
      <vt:lpstr>Ways to Represent Three –Address Code</vt:lpstr>
      <vt:lpstr>Quadruples</vt:lpstr>
      <vt:lpstr>Example</vt:lpstr>
      <vt:lpstr>Triples</vt:lpstr>
      <vt:lpstr>Example</vt:lpstr>
      <vt:lpstr>Indirect Triples</vt:lpstr>
      <vt:lpstr>PowerPoint Presentation</vt:lpstr>
      <vt:lpstr>Example:</vt:lpstr>
      <vt:lpstr>Reference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Mr.T</dc:creator>
  <cp:lastModifiedBy>Tesla Laptops</cp:lastModifiedBy>
  <cp:revision>1970</cp:revision>
  <dcterms:created xsi:type="dcterms:W3CDTF">2024-02-25T05:27:53Z</dcterms:created>
  <dcterms:modified xsi:type="dcterms:W3CDTF">2025-12-03T03:44:36Z</dcterms:modified>
</cp:coreProperties>
</file>