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90"/>
  </p:notesMasterIdLst>
  <p:handoutMasterIdLst>
    <p:handoutMasterId r:id="rId91"/>
  </p:handoutMasterIdLst>
  <p:sldIdLst>
    <p:sldId id="554" r:id="rId2"/>
    <p:sldId id="369" r:id="rId3"/>
    <p:sldId id="383" r:id="rId4"/>
    <p:sldId id="555" r:id="rId5"/>
    <p:sldId id="566" r:id="rId6"/>
    <p:sldId id="557" r:id="rId7"/>
    <p:sldId id="558" r:id="rId8"/>
    <p:sldId id="567" r:id="rId9"/>
    <p:sldId id="559" r:id="rId10"/>
    <p:sldId id="568" r:id="rId11"/>
    <p:sldId id="560" r:id="rId12"/>
    <p:sldId id="561" r:id="rId13"/>
    <p:sldId id="562" r:id="rId14"/>
    <p:sldId id="563" r:id="rId15"/>
    <p:sldId id="564" r:id="rId16"/>
    <p:sldId id="570" r:id="rId17"/>
    <p:sldId id="572" r:id="rId18"/>
    <p:sldId id="571" r:id="rId19"/>
    <p:sldId id="474" r:id="rId20"/>
    <p:sldId id="475" r:id="rId21"/>
    <p:sldId id="476" r:id="rId22"/>
    <p:sldId id="477" r:id="rId23"/>
    <p:sldId id="490" r:id="rId24"/>
    <p:sldId id="491" r:id="rId25"/>
    <p:sldId id="492" r:id="rId26"/>
    <p:sldId id="493" r:id="rId27"/>
    <p:sldId id="478" r:id="rId28"/>
    <p:sldId id="479" r:id="rId29"/>
    <p:sldId id="480" r:id="rId30"/>
    <p:sldId id="573" r:id="rId31"/>
    <p:sldId id="481" r:id="rId32"/>
    <p:sldId id="482" r:id="rId33"/>
    <p:sldId id="483" r:id="rId34"/>
    <p:sldId id="574" r:id="rId35"/>
    <p:sldId id="484" r:id="rId36"/>
    <p:sldId id="485" r:id="rId37"/>
    <p:sldId id="486" r:id="rId38"/>
    <p:sldId id="487" r:id="rId39"/>
    <p:sldId id="488" r:id="rId40"/>
    <p:sldId id="494" r:id="rId41"/>
    <p:sldId id="495" r:id="rId42"/>
    <p:sldId id="496" r:id="rId43"/>
    <p:sldId id="497" r:id="rId44"/>
    <p:sldId id="498" r:id="rId45"/>
    <p:sldId id="499" r:id="rId46"/>
    <p:sldId id="500" r:id="rId47"/>
    <p:sldId id="501" r:id="rId48"/>
    <p:sldId id="502" r:id="rId49"/>
    <p:sldId id="503" r:id="rId50"/>
    <p:sldId id="504" r:id="rId51"/>
    <p:sldId id="505" r:id="rId52"/>
    <p:sldId id="506" r:id="rId53"/>
    <p:sldId id="590" r:id="rId54"/>
    <p:sldId id="508" r:id="rId55"/>
    <p:sldId id="509" r:id="rId56"/>
    <p:sldId id="510" r:id="rId57"/>
    <p:sldId id="512" r:id="rId58"/>
    <p:sldId id="513" r:id="rId59"/>
    <p:sldId id="514" r:id="rId60"/>
    <p:sldId id="515" r:id="rId61"/>
    <p:sldId id="516" r:id="rId62"/>
    <p:sldId id="517" r:id="rId63"/>
    <p:sldId id="518" r:id="rId64"/>
    <p:sldId id="519" r:id="rId65"/>
    <p:sldId id="520" r:id="rId66"/>
    <p:sldId id="521" r:id="rId67"/>
    <p:sldId id="577" r:id="rId68"/>
    <p:sldId id="522" r:id="rId69"/>
    <p:sldId id="523" r:id="rId70"/>
    <p:sldId id="524" r:id="rId71"/>
    <p:sldId id="578" r:id="rId72"/>
    <p:sldId id="579" r:id="rId73"/>
    <p:sldId id="525" r:id="rId74"/>
    <p:sldId id="526" r:id="rId75"/>
    <p:sldId id="575" r:id="rId76"/>
    <p:sldId id="581" r:id="rId77"/>
    <p:sldId id="553" r:id="rId78"/>
    <p:sldId id="580" r:id="rId79"/>
    <p:sldId id="528" r:id="rId80"/>
    <p:sldId id="576" r:id="rId81"/>
    <p:sldId id="582" r:id="rId82"/>
    <p:sldId id="583" r:id="rId83"/>
    <p:sldId id="589" r:id="rId84"/>
    <p:sldId id="584" r:id="rId85"/>
    <p:sldId id="585" r:id="rId86"/>
    <p:sldId id="588" r:id="rId87"/>
    <p:sldId id="586" r:id="rId88"/>
    <p:sldId id="529" r:id="rId89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D3FF"/>
    <a:srgbClr val="CCCC00"/>
    <a:srgbClr val="DDDDDD"/>
    <a:srgbClr val="FFE7C3"/>
    <a:srgbClr val="FFFFCC"/>
    <a:srgbClr val="CCFFCC"/>
    <a:srgbClr val="FFFF8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2214" autoAdjust="0"/>
    <p:restoredTop sz="94660"/>
  </p:normalViewPr>
  <p:slideViewPr>
    <p:cSldViewPr>
      <p:cViewPr varScale="1">
        <p:scale>
          <a:sx n="69" d="100"/>
          <a:sy n="69" d="100"/>
        </p:scale>
        <p:origin x="7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3F56338E-0686-4A7B-8E8D-43557162F8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5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ahoma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569F122F-2FE8-4C91-8156-4688BDAE79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165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5931A7-12E2-442F-8D29-4BDF55068086}" type="slidenum">
              <a:rPr lang="en-US" smtClean="0">
                <a:cs typeface="Arial" charset="0"/>
              </a:rPr>
              <a:pPr/>
              <a:t>1</a:t>
            </a:fld>
            <a:endParaRPr lang="en-US" smtClean="0">
              <a:cs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98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24D4D0-41BB-4F12-A997-9CC5B608EC21}" type="slidenum">
              <a:rPr lang="en-US" smtClean="0">
                <a:cs typeface="Arial" charset="0"/>
              </a:rPr>
              <a:pPr/>
              <a:t>2</a:t>
            </a:fld>
            <a:endParaRPr lang="en-US" smtClean="0">
              <a:cs typeface="Arial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814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24D4D0-41BB-4F12-A997-9CC5B608EC21}" type="slidenum">
              <a:rPr lang="en-US" smtClean="0">
                <a:cs typeface="Arial" charset="0"/>
              </a:rPr>
              <a:pPr/>
              <a:t>3</a:t>
            </a:fld>
            <a:endParaRPr lang="en-US" smtClean="0">
              <a:cs typeface="Arial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9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2133600" cy="47625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82DD3-DC17-4A69-BB46-45082E46F7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6858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486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86800" y="6381750"/>
            <a:ext cx="457200" cy="47625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FCEE5-5864-4177-8B32-562563A5D9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7C840-FA4D-40C9-A2A8-405AAC255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8215D7-7171-44DA-A7F8-0379C74DB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8392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C8A4B-124F-43F9-9E25-3253CCAF3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0DDFE-E6BA-40F7-A955-C8FD1E6734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0305B-2385-41DD-A7E1-E3AEB4B62D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E60C2-90BA-4311-8674-F2C05334BC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81254-E7A9-42B2-BBA6-4F390B8B1B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BEA4B-F9EC-4AED-924D-21C157D131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7C10A6-6903-4872-B91B-3E0B6589A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0"/>
            <a:ext cx="8839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2160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381750"/>
            <a:ext cx="457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 smtClean="0"/>
          </a:p>
          <a:p>
            <a:pPr>
              <a:defRPr/>
            </a:pPr>
            <a:fld id="{4AF264E9-1BC2-4290-B8C9-A8C5BC6552C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304800"/>
            <a:ext cx="8686800" cy="2362200"/>
          </a:xfrm>
        </p:spPr>
        <p:txBody>
          <a:bodyPr/>
          <a:lstStyle/>
          <a:p>
            <a:pPr eaLnBrk="1" hangingPunct="1"/>
            <a:r>
              <a:rPr lang="en-US" sz="4400" b="1" dirty="0" smtClean="0">
                <a:solidFill>
                  <a:schemeClr val="accent2"/>
                </a:solidFill>
                <a:latin typeface="+mn-lt"/>
              </a:rPr>
              <a:t>CS401 – Artificial Intelligence</a:t>
            </a:r>
            <a:r>
              <a:rPr lang="en-US" sz="4000" b="1" dirty="0" smtClean="0">
                <a:solidFill>
                  <a:schemeClr val="accent2"/>
                </a:solidFill>
                <a:latin typeface="+mn-lt"/>
              </a:rPr>
              <a:t/>
            </a:r>
            <a:br>
              <a:rPr lang="en-US" sz="4000" b="1" dirty="0" smtClean="0">
                <a:solidFill>
                  <a:schemeClr val="accent2"/>
                </a:solidFill>
                <a:latin typeface="+mn-lt"/>
              </a:rPr>
            </a:br>
            <a:r>
              <a:rPr lang="en-US" b="1" dirty="0" smtClean="0">
                <a:solidFill>
                  <a:srgbClr val="C00000"/>
                </a:solidFill>
                <a:latin typeface="+mn-lt"/>
              </a:rPr>
              <a:t>Spring – 2018</a:t>
            </a:r>
            <a:br>
              <a:rPr lang="en-US" b="1" dirty="0" smtClean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chemeClr val="accent6"/>
                </a:solidFill>
                <a:latin typeface="+mn-lt"/>
              </a:rPr>
              <a:t>Logical Agents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2819400"/>
            <a:ext cx="2819400" cy="33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6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endParaRPr lang="en-US" dirty="0" smtClean="0">
              <a:latin typeface="+mn-lt"/>
              <a:cs typeface="Arial" charset="0"/>
            </a:endParaRPr>
          </a:p>
          <a:p>
            <a:fld id="{F925071C-6FAC-4FF8-9247-1B182FA886EF}" type="slidenum">
              <a:rPr lang="en-US" smtClean="0">
                <a:latin typeface="+mn-lt"/>
                <a:cs typeface="Arial" charset="0"/>
              </a:rPr>
              <a:pPr/>
              <a:t>2</a:t>
            </a:fld>
            <a:endParaRPr lang="en-US" dirty="0" smtClean="0">
              <a:latin typeface="+mn-lt"/>
              <a:cs typeface="Arial" charset="0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9144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accent2"/>
                </a:solidFill>
                <a:latin typeface="+mn-lt"/>
              </a:rPr>
              <a:t>Today’s Agenda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371600"/>
            <a:ext cx="8686800" cy="1905000"/>
          </a:xfrm>
        </p:spPr>
        <p:txBody>
          <a:bodyPr/>
          <a:lstStyle/>
          <a:p>
            <a:pPr eaLnBrk="1" hangingPunct="1">
              <a:spcBef>
                <a:spcPts val="0"/>
              </a:spcBef>
              <a:buClr>
                <a:srgbClr val="3333CC"/>
              </a:buClr>
              <a:buFont typeface="Wingdings" pitchFamily="2" charset="2"/>
              <a:buChar char="§"/>
            </a:pPr>
            <a:r>
              <a:rPr lang="en-US" dirty="0" smtClean="0"/>
              <a:t>Logical Agents</a:t>
            </a:r>
          </a:p>
          <a:p>
            <a:pPr eaLnBrk="1" hangingPunct="1">
              <a:spcBef>
                <a:spcPts val="0"/>
              </a:spcBef>
              <a:buClr>
                <a:srgbClr val="3333CC"/>
              </a:buClr>
              <a:buNone/>
            </a:pPr>
            <a:r>
              <a:rPr lang="en-US" sz="2800" dirty="0" smtClean="0"/>
              <a:t>	(Russell and </a:t>
            </a:r>
            <a:r>
              <a:rPr lang="en-US" sz="2800" dirty="0" err="1" smtClean="0"/>
              <a:t>Norvig</a:t>
            </a:r>
            <a:r>
              <a:rPr lang="en-US" sz="2800" dirty="0" smtClean="0"/>
              <a:t>: Chap. 7 [Section 7.1-7.4])</a:t>
            </a:r>
            <a:r>
              <a:rPr lang="en-US" sz="3600" dirty="0" smtClean="0"/>
              <a:t> </a:t>
            </a:r>
          </a:p>
          <a:p>
            <a:pPr eaLnBrk="1" hangingPunct="1">
              <a:buClr>
                <a:srgbClr val="3333CC"/>
              </a:buClr>
              <a:buFont typeface="Wingdings" pitchFamily="2" charset="2"/>
              <a:buNone/>
            </a:pPr>
            <a:endParaRPr lang="en-US" sz="105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endParaRPr lang="en-US" dirty="0" smtClean="0">
              <a:latin typeface="+mn-lt"/>
              <a:cs typeface="Arial" charset="0"/>
            </a:endParaRPr>
          </a:p>
          <a:p>
            <a:fld id="{F925071C-6FAC-4FF8-9247-1B182FA886EF}" type="slidenum">
              <a:rPr lang="en-US" smtClean="0">
                <a:latin typeface="+mn-lt"/>
                <a:cs typeface="Arial" charset="0"/>
              </a:rPr>
              <a:pPr/>
              <a:t>3</a:t>
            </a:fld>
            <a:endParaRPr lang="en-US" dirty="0" smtClean="0">
              <a:latin typeface="+mn-lt"/>
              <a:cs typeface="Arial" charset="0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9144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accent2"/>
                </a:solidFill>
                <a:latin typeface="+mn-lt"/>
              </a:rPr>
              <a:t>Acknowledgements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371600"/>
            <a:ext cx="8686800" cy="2895600"/>
          </a:xfrm>
        </p:spPr>
        <p:txBody>
          <a:bodyPr/>
          <a:lstStyle/>
          <a:p>
            <a:pPr marL="514350" indent="-514350" eaLnBrk="1" hangingPunct="1">
              <a:buClr>
                <a:srgbClr val="3333CC"/>
              </a:buClr>
              <a:buFont typeface="+mj-lt"/>
              <a:buAutoNum type="arabicPeriod"/>
            </a:pPr>
            <a:r>
              <a:rPr lang="en-US" sz="2800" dirty="0" smtClean="0"/>
              <a:t>Jean-Claude </a:t>
            </a:r>
            <a:r>
              <a:rPr lang="en-US" sz="2800" dirty="0" err="1" smtClean="0"/>
              <a:t>Latombe</a:t>
            </a:r>
            <a:r>
              <a:rPr lang="en-US" sz="2800" dirty="0" smtClean="0"/>
              <a:t>, Stanford University</a:t>
            </a:r>
          </a:p>
          <a:p>
            <a:pPr marL="514350" indent="-514350" eaLnBrk="1" hangingPunct="1">
              <a:buClr>
                <a:srgbClr val="3333CC"/>
              </a:buClr>
              <a:buFont typeface="+mj-lt"/>
              <a:buAutoNum type="arabicPeriod"/>
            </a:pPr>
            <a:r>
              <a:rPr lang="en-US" sz="2800" dirty="0" smtClean="0"/>
              <a:t>Richard H. Lathrop, University of California</a:t>
            </a:r>
          </a:p>
          <a:p>
            <a:pPr marL="514350" indent="-514350" eaLnBrk="1" hangingPunct="1">
              <a:buClr>
                <a:srgbClr val="3333CC"/>
              </a:buClr>
              <a:buFont typeface="+mj-lt"/>
              <a:buAutoNum type="arabicPeriod"/>
            </a:pPr>
            <a:r>
              <a:rPr lang="en-US" sz="2800" dirty="0" smtClean="0"/>
              <a:t>Pinar </a:t>
            </a:r>
            <a:r>
              <a:rPr lang="en-US" sz="2800" dirty="0" err="1" smtClean="0"/>
              <a:t>Duygulu</a:t>
            </a:r>
            <a:r>
              <a:rPr lang="en-US" sz="2800" dirty="0" smtClean="0"/>
              <a:t>, </a:t>
            </a:r>
            <a:r>
              <a:rPr lang="en-US" sz="2800" dirty="0" err="1" smtClean="0"/>
              <a:t>Bilkent</a:t>
            </a:r>
            <a:r>
              <a:rPr lang="en-US" sz="2800" dirty="0" smtClean="0"/>
              <a:t> University</a:t>
            </a:r>
          </a:p>
          <a:p>
            <a:pPr marL="514350" indent="-514350" eaLnBrk="1" hangingPunct="1">
              <a:buClr>
                <a:srgbClr val="3333CC"/>
              </a:buClr>
              <a:buFont typeface="+mj-lt"/>
              <a:buAutoNum type="arabicPeriod"/>
            </a:pPr>
            <a:r>
              <a:rPr lang="en-US" sz="2800" dirty="0" err="1" smtClean="0"/>
              <a:t>Weng</a:t>
            </a:r>
            <a:r>
              <a:rPr lang="en-US" sz="2800" dirty="0" smtClean="0"/>
              <a:t>-Keen Wong, </a:t>
            </a:r>
            <a:r>
              <a:rPr lang="en-US" sz="2800" dirty="0" err="1" smtClean="0"/>
              <a:t>Oregonstate</a:t>
            </a:r>
            <a:endParaRPr lang="en-US" sz="2800" dirty="0" smtClean="0"/>
          </a:p>
          <a:p>
            <a:pPr marL="514350" indent="-514350" eaLnBrk="1" hangingPunct="1">
              <a:buClr>
                <a:srgbClr val="3333CC"/>
              </a:buClr>
              <a:buFont typeface="+mj-lt"/>
              <a:buAutoNum type="arabicPeriod"/>
            </a:pPr>
            <a:r>
              <a:rPr lang="en-US" dirty="0"/>
              <a:t>Muhammad </a:t>
            </a:r>
            <a:r>
              <a:rPr lang="en-US" dirty="0" err="1"/>
              <a:t>Kashif</a:t>
            </a:r>
            <a:r>
              <a:rPr lang="en-US" dirty="0"/>
              <a:t> Khan</a:t>
            </a:r>
          </a:p>
          <a:p>
            <a:pPr marL="514350" indent="-514350" eaLnBrk="1" hangingPunct="1">
              <a:buClr>
                <a:srgbClr val="3333CC"/>
              </a:buClr>
              <a:buFont typeface="+mj-lt"/>
              <a:buAutoNum type="arabicPeriod"/>
            </a:pPr>
            <a:endParaRPr lang="en-US" sz="2800" dirty="0" smtClean="0"/>
          </a:p>
          <a:p>
            <a:pPr marL="514350" indent="-514350" eaLnBrk="1" hangingPunct="1">
              <a:buClr>
                <a:srgbClr val="3333CC"/>
              </a:buClr>
              <a:buNone/>
            </a:pPr>
            <a:endParaRPr lang="en-US" sz="2800" dirty="0" smtClean="0"/>
          </a:p>
          <a:p>
            <a:pPr eaLnBrk="1" hangingPunct="1">
              <a:buClr>
                <a:srgbClr val="3333CC"/>
              </a:buClr>
              <a:buNone/>
            </a:pP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3600" dirty="0" smtClean="0"/>
          </a:p>
          <a:p>
            <a:pPr eaLnBrk="1" hangingPunct="1">
              <a:buClr>
                <a:srgbClr val="3333CC"/>
              </a:buClr>
              <a:buFont typeface="Wingdings" pitchFamily="2" charset="2"/>
              <a:buNone/>
            </a:pPr>
            <a:endParaRPr lang="en-US" sz="105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2"/>
                </a:solidFill>
              </a:rPr>
              <a:t>Complete </a:t>
            </a:r>
            <a:r>
              <a:rPr lang="en-US" altLang="en-US" b="1" dirty="0" smtClean="0">
                <a:solidFill>
                  <a:schemeClr val="accent2"/>
                </a:solidFill>
              </a:rPr>
              <a:t>Architecture </a:t>
            </a:r>
            <a:r>
              <a:rPr lang="en-US" altLang="en-US" b="1" dirty="0">
                <a:solidFill>
                  <a:schemeClr val="accent2"/>
                </a:solidFill>
              </a:rPr>
              <a:t>for </a:t>
            </a:r>
            <a:r>
              <a:rPr lang="en-US" altLang="en-US" b="1" dirty="0" smtClean="0">
                <a:solidFill>
                  <a:schemeClr val="accent2"/>
                </a:solidFill>
              </a:rPr>
              <a:t>Intelligence</a:t>
            </a:r>
            <a:r>
              <a:rPr lang="en-US" altLang="en-US" b="1" dirty="0">
                <a:solidFill>
                  <a:schemeClr val="accent2"/>
                </a:solidFill>
              </a:rPr>
              <a:t>?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r>
              <a:rPr lang="en-US" altLang="en-US" u="sng" dirty="0"/>
              <a:t>Search?</a:t>
            </a:r>
          </a:p>
          <a:p>
            <a:pPr lvl="1"/>
            <a:r>
              <a:rPr lang="en-US" altLang="en-US" dirty="0"/>
              <a:t>Solve the problem of what to do.</a:t>
            </a:r>
          </a:p>
          <a:p>
            <a:r>
              <a:rPr lang="en-US" altLang="en-US" u="sng" dirty="0">
                <a:solidFill>
                  <a:srgbClr val="FF0000"/>
                </a:solidFill>
              </a:rPr>
              <a:t>Logic and </a:t>
            </a:r>
            <a:r>
              <a:rPr lang="en-US" altLang="en-US" u="sng" dirty="0" smtClean="0">
                <a:solidFill>
                  <a:srgbClr val="FF0000"/>
                </a:solidFill>
              </a:rPr>
              <a:t>Inference</a:t>
            </a:r>
            <a:r>
              <a:rPr lang="en-US" altLang="en-US" u="sng" dirty="0">
                <a:solidFill>
                  <a:srgbClr val="FF0000"/>
                </a:solidFill>
              </a:rPr>
              <a:t>?</a:t>
            </a:r>
          </a:p>
          <a:p>
            <a:pPr lvl="1"/>
            <a:r>
              <a:rPr lang="en-US" altLang="en-US" dirty="0"/>
              <a:t>Reason about what to do.</a:t>
            </a:r>
          </a:p>
          <a:p>
            <a:pPr lvl="1"/>
            <a:r>
              <a:rPr lang="en-US" altLang="en-US" dirty="0"/>
              <a:t>Encoded </a:t>
            </a:r>
            <a:r>
              <a:rPr lang="en-US" altLang="en-US" dirty="0" smtClean="0"/>
              <a:t>knowledge/”expert</a:t>
            </a:r>
            <a:r>
              <a:rPr lang="en-US" altLang="en-US" dirty="0"/>
              <a:t>” systems?</a:t>
            </a:r>
          </a:p>
          <a:p>
            <a:pPr lvl="2"/>
            <a:r>
              <a:rPr lang="en-US" altLang="en-US" dirty="0"/>
              <a:t>Know what to do.</a:t>
            </a:r>
          </a:p>
          <a:p>
            <a:r>
              <a:rPr lang="en-US" altLang="en-US" u="sng" dirty="0"/>
              <a:t>Learning?</a:t>
            </a:r>
          </a:p>
          <a:p>
            <a:pPr lvl="1"/>
            <a:r>
              <a:rPr lang="en-US" altLang="en-US" dirty="0"/>
              <a:t>Learn what to do.</a:t>
            </a:r>
          </a:p>
          <a:p>
            <a:r>
              <a:rPr lang="en-US" altLang="en-US" u="sng" dirty="0">
                <a:solidFill>
                  <a:srgbClr val="FF0000"/>
                </a:solidFill>
              </a:rPr>
              <a:t>Modern </a:t>
            </a:r>
            <a:r>
              <a:rPr lang="en-US" altLang="en-US" u="sng" dirty="0" smtClean="0">
                <a:solidFill>
                  <a:srgbClr val="FF0000"/>
                </a:solidFill>
              </a:rPr>
              <a:t>View</a:t>
            </a:r>
            <a:r>
              <a:rPr lang="en-US" altLang="en-US" u="sng" dirty="0">
                <a:solidFill>
                  <a:srgbClr val="FF0000"/>
                </a:solidFill>
              </a:rPr>
              <a:t>: It’s complex &amp; multi-faceted.</a:t>
            </a:r>
          </a:p>
          <a:p>
            <a:pPr algn="just">
              <a:spcBef>
                <a:spcPts val="672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6587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Why Do We Need </a:t>
            </a:r>
            <a:r>
              <a:rPr lang="en-US" b="1" dirty="0" smtClean="0">
                <a:solidFill>
                  <a:schemeClr val="accent2"/>
                </a:solidFill>
              </a:rPr>
              <a:t>Logical Agents?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Problem-solving agents were very inflexible: hard </a:t>
            </a:r>
            <a:r>
              <a:rPr lang="en-US" dirty="0" smtClean="0"/>
              <a:t>code every </a:t>
            </a:r>
            <a:r>
              <a:rPr lang="en-US" dirty="0"/>
              <a:t>possible state.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Search </a:t>
            </a:r>
            <a:r>
              <a:rPr lang="en-US" dirty="0"/>
              <a:t>is almost always exponential in the number </a:t>
            </a:r>
            <a:r>
              <a:rPr lang="en-US" dirty="0" smtClean="0"/>
              <a:t>of states</a:t>
            </a:r>
            <a:r>
              <a:rPr lang="en-US" dirty="0"/>
              <a:t>.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Problem </a:t>
            </a:r>
            <a:r>
              <a:rPr lang="en-US" dirty="0"/>
              <a:t>solving agents cannot infer </a:t>
            </a:r>
            <a:r>
              <a:rPr lang="en-US" dirty="0" smtClean="0"/>
              <a:t>unobserved information</a:t>
            </a:r>
            <a:r>
              <a:rPr lang="en-US" dirty="0"/>
              <a:t>.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We </a:t>
            </a:r>
            <a:r>
              <a:rPr lang="en-US" dirty="0"/>
              <a:t>want an agent that can </a:t>
            </a:r>
            <a:r>
              <a:rPr lang="en-US" dirty="0" smtClean="0"/>
              <a:t>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9647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Knowledge &amp; Reasoning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To address these issues we will </a:t>
            </a:r>
            <a:r>
              <a:rPr lang="en-US" dirty="0" smtClean="0"/>
              <a:t>introduce:</a:t>
            </a:r>
            <a:endParaRPr lang="en-US" dirty="0"/>
          </a:p>
          <a:p>
            <a:pPr lvl="1" algn="just">
              <a:spcBef>
                <a:spcPts val="0"/>
              </a:spcBef>
            </a:pPr>
            <a:r>
              <a:rPr lang="en-US" dirty="0" smtClean="0"/>
              <a:t>A </a:t>
            </a:r>
            <a:r>
              <a:rPr lang="en-US" dirty="0"/>
              <a:t>knowledge base (KB): a list of facts </a:t>
            </a:r>
            <a:r>
              <a:rPr lang="en-US" dirty="0" smtClean="0"/>
              <a:t>that are </a:t>
            </a:r>
            <a:r>
              <a:rPr lang="en-US" dirty="0"/>
              <a:t>known to the agent.</a:t>
            </a:r>
          </a:p>
          <a:p>
            <a:pPr lvl="1" algn="just">
              <a:spcBef>
                <a:spcPts val="0"/>
              </a:spcBef>
            </a:pPr>
            <a:r>
              <a:rPr lang="en-US" dirty="0" smtClean="0"/>
              <a:t>Rules </a:t>
            </a:r>
            <a:r>
              <a:rPr lang="en-US" dirty="0"/>
              <a:t>to infer new facts from old facts </a:t>
            </a:r>
            <a:r>
              <a:rPr lang="en-US" dirty="0" smtClean="0"/>
              <a:t>using rules </a:t>
            </a:r>
            <a:r>
              <a:rPr lang="en-US" dirty="0"/>
              <a:t>of inference.</a:t>
            </a:r>
          </a:p>
          <a:p>
            <a:pPr lvl="1" algn="just">
              <a:spcBef>
                <a:spcPts val="0"/>
              </a:spcBef>
            </a:pPr>
            <a:r>
              <a:rPr lang="en-US" dirty="0" smtClean="0"/>
              <a:t>Logic </a:t>
            </a:r>
            <a:r>
              <a:rPr lang="en-US" dirty="0"/>
              <a:t>provides the natural language for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358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 smtClean="0">
                <a:solidFill>
                  <a:schemeClr val="accent2"/>
                </a:solidFill>
                <a:latin typeface="+mn-lt"/>
              </a:rPr>
              <a:t>Logical Agents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i="1" dirty="0" smtClean="0"/>
              <a:t>Logical </a:t>
            </a:r>
            <a:r>
              <a:rPr lang="en-US" i="1" dirty="0"/>
              <a:t>(Knowledge-Based) agents </a:t>
            </a:r>
            <a:r>
              <a:rPr lang="en-US" dirty="0" smtClean="0"/>
              <a:t>combine 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dirty="0" smtClean="0"/>
              <a:t>A </a:t>
            </a:r>
            <a:r>
              <a:rPr lang="en-US" i="1" dirty="0"/>
              <a:t>knowledge base (KB): </a:t>
            </a:r>
            <a:r>
              <a:rPr lang="en-US" dirty="0"/>
              <a:t>a list of facts that are known to the agent.</a:t>
            </a:r>
          </a:p>
          <a:p>
            <a:pPr marL="914400" lvl="1" indent="-514350" algn="just">
              <a:buFont typeface="+mj-lt"/>
              <a:buAutoNum type="arabicPeriod"/>
            </a:pPr>
            <a:r>
              <a:rPr lang="en-US" dirty="0" smtClean="0"/>
              <a:t>Current </a:t>
            </a:r>
            <a:r>
              <a:rPr lang="en-US" dirty="0"/>
              <a:t>percepts </a:t>
            </a:r>
          </a:p>
          <a:p>
            <a:pPr algn="just"/>
            <a:r>
              <a:rPr lang="en-US" b="1" i="1" dirty="0" smtClean="0"/>
              <a:t>infer</a:t>
            </a:r>
            <a:r>
              <a:rPr lang="en-US" i="1" dirty="0" smtClean="0"/>
              <a:t> </a:t>
            </a:r>
            <a:r>
              <a:rPr lang="en-US" dirty="0" smtClean="0"/>
              <a:t>hidden</a:t>
            </a:r>
            <a:r>
              <a:rPr lang="en-US" i="1" dirty="0" smtClean="0"/>
              <a:t> </a:t>
            </a:r>
            <a:r>
              <a:rPr lang="en-US" dirty="0" smtClean="0"/>
              <a:t>aspects </a:t>
            </a:r>
            <a:r>
              <a:rPr lang="en-US" dirty="0"/>
              <a:t>of the current </a:t>
            </a:r>
            <a:r>
              <a:rPr lang="en-US" dirty="0" smtClean="0"/>
              <a:t>state using </a:t>
            </a:r>
            <a:r>
              <a:rPr lang="en-US" i="1" dirty="0"/>
              <a:t>Rules of </a:t>
            </a:r>
            <a:r>
              <a:rPr lang="en-US" i="1" dirty="0" smtClean="0"/>
              <a:t>Inference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500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 smtClean="0">
                <a:solidFill>
                  <a:schemeClr val="accent2"/>
                </a:solidFill>
                <a:latin typeface="+mn-lt"/>
              </a:rPr>
              <a:t>Knowledge-Based Agents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672"/>
              </a:spcBef>
            </a:pPr>
            <a:r>
              <a:rPr lang="en-US" dirty="0"/>
              <a:t>Can </a:t>
            </a:r>
            <a:r>
              <a:rPr lang="en-US" dirty="0">
                <a:solidFill>
                  <a:srgbClr val="FF0000"/>
                </a:solidFill>
              </a:rPr>
              <a:t>represent</a:t>
            </a:r>
            <a:r>
              <a:rPr lang="en-US" dirty="0"/>
              <a:t> knowledge</a:t>
            </a:r>
          </a:p>
          <a:p>
            <a:pPr algn="just">
              <a:spcBef>
                <a:spcPts val="672"/>
              </a:spcBef>
            </a:pPr>
            <a:r>
              <a:rPr lang="en-US" dirty="0" smtClean="0"/>
              <a:t>And </a:t>
            </a:r>
            <a:r>
              <a:rPr lang="en-US" dirty="0">
                <a:solidFill>
                  <a:srgbClr val="FF0000"/>
                </a:solidFill>
              </a:rPr>
              <a:t>reason</a:t>
            </a:r>
            <a:r>
              <a:rPr lang="en-US" dirty="0"/>
              <a:t> with this knowledge</a:t>
            </a:r>
          </a:p>
          <a:p>
            <a:pPr algn="just">
              <a:spcBef>
                <a:spcPts val="672"/>
              </a:spcBef>
            </a:pPr>
            <a:r>
              <a:rPr lang="en-US" dirty="0" smtClean="0"/>
              <a:t>How </a:t>
            </a:r>
            <a:r>
              <a:rPr lang="en-US" dirty="0"/>
              <a:t>is this different from the </a:t>
            </a:r>
            <a:r>
              <a:rPr lang="en-US" dirty="0" smtClean="0"/>
              <a:t>knowledge used </a:t>
            </a:r>
            <a:r>
              <a:rPr lang="en-US" dirty="0"/>
              <a:t>by problem-specific agents?</a:t>
            </a:r>
          </a:p>
          <a:p>
            <a:pPr lvl="1" algn="just">
              <a:spcBef>
                <a:spcPts val="672"/>
              </a:spcBef>
            </a:pPr>
            <a:r>
              <a:rPr lang="en-US" dirty="0" smtClean="0"/>
              <a:t>More </a:t>
            </a:r>
            <a:r>
              <a:rPr lang="en-US" dirty="0"/>
              <a:t>general</a:t>
            </a:r>
          </a:p>
          <a:p>
            <a:pPr lvl="1" algn="just">
              <a:spcBef>
                <a:spcPts val="672"/>
              </a:spcBef>
            </a:pPr>
            <a:r>
              <a:rPr lang="en-US" dirty="0" smtClean="0"/>
              <a:t>More </a:t>
            </a:r>
            <a:r>
              <a:rPr lang="en-US" dirty="0"/>
              <a:t>flexible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8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338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The Knowledge Base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A set of </a:t>
            </a:r>
            <a:r>
              <a:rPr lang="en-US" i="1" dirty="0"/>
              <a:t>sentences </a:t>
            </a:r>
            <a:endParaRPr lang="en-US" dirty="0"/>
          </a:p>
          <a:p>
            <a:pPr lvl="1" algn="just"/>
            <a:r>
              <a:rPr lang="en-US" dirty="0" smtClean="0"/>
              <a:t>that </a:t>
            </a:r>
            <a:r>
              <a:rPr lang="en-US" i="1" dirty="0" smtClean="0"/>
              <a:t>encodes </a:t>
            </a:r>
            <a:r>
              <a:rPr lang="en-US" i="1" dirty="0"/>
              <a:t>assertions </a:t>
            </a:r>
            <a:r>
              <a:rPr lang="en-US" dirty="0"/>
              <a:t>about the </a:t>
            </a:r>
            <a:r>
              <a:rPr lang="en-US" dirty="0" smtClean="0"/>
              <a:t>world</a:t>
            </a:r>
            <a:endParaRPr lang="en-US" dirty="0"/>
          </a:p>
          <a:p>
            <a:pPr lvl="1" algn="just"/>
            <a:r>
              <a:rPr lang="en-US" dirty="0" smtClean="0"/>
              <a:t>in </a:t>
            </a:r>
            <a:r>
              <a:rPr lang="en-US" dirty="0"/>
              <a:t>a formal </a:t>
            </a:r>
            <a:r>
              <a:rPr lang="en-US" i="1" dirty="0"/>
              <a:t>knowledge representation language.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i="1" dirty="0" smtClean="0"/>
          </a:p>
          <a:p>
            <a:pPr algn="just"/>
            <a:endParaRPr lang="en-US" i="1" dirty="0"/>
          </a:p>
          <a:p>
            <a:pPr algn="just"/>
            <a:endParaRPr lang="en-US" i="1" dirty="0" smtClean="0"/>
          </a:p>
          <a:p>
            <a:pPr algn="just">
              <a:spcBef>
                <a:spcPts val="672"/>
              </a:spcBef>
            </a:pPr>
            <a:r>
              <a:rPr lang="en-US" dirty="0"/>
              <a:t>Initially </a:t>
            </a:r>
            <a:r>
              <a:rPr lang="en-US" dirty="0" smtClean="0"/>
              <a:t>contains </a:t>
            </a:r>
            <a:r>
              <a:rPr lang="en-US" dirty="0"/>
              <a:t>some background knowledge.</a:t>
            </a:r>
          </a:p>
          <a:p>
            <a:pPr algn="just">
              <a:spcBef>
                <a:spcPts val="672"/>
              </a:spcBef>
            </a:pPr>
            <a:r>
              <a:rPr lang="en-US" dirty="0" smtClean="0"/>
              <a:t>Axiom</a:t>
            </a:r>
            <a:r>
              <a:rPr lang="en-US" dirty="0"/>
              <a:t>: Sentence is taken as given without being derived from other sentences</a:t>
            </a:r>
            <a:r>
              <a:rPr lang="en-US" dirty="0" smtClean="0"/>
              <a:t>.</a:t>
            </a:r>
          </a:p>
          <a:p>
            <a:pPr algn="just">
              <a:spcBef>
                <a:spcPts val="672"/>
              </a:spcBef>
            </a:pPr>
            <a:r>
              <a:rPr lang="en-US" dirty="0" smtClean="0"/>
              <a:t>Inference: Deriving </a:t>
            </a:r>
            <a:r>
              <a:rPr lang="en-US" dirty="0"/>
              <a:t>new sentences from 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9</a:t>
            </a:fld>
            <a:endParaRPr lang="en-US" dirty="0">
              <a:latin typeface="+mn-lt"/>
            </a:endParaRP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1163638" y="2768600"/>
            <a:ext cx="6816725" cy="1320800"/>
            <a:chOff x="733" y="1744"/>
            <a:chExt cx="4294" cy="832"/>
          </a:xfrm>
        </p:grpSpPr>
        <p:sp>
          <p:nvSpPr>
            <p:cNvPr id="7" name="AutoShape 3"/>
            <p:cNvSpPr>
              <a:spLocks noChangeAspect="1" noChangeArrowheads="1" noTextEdit="1"/>
            </p:cNvSpPr>
            <p:nvPr/>
          </p:nvSpPr>
          <p:spPr bwMode="auto">
            <a:xfrm>
              <a:off x="733" y="1744"/>
              <a:ext cx="4294" cy="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" y="1744"/>
              <a:ext cx="4300" cy="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437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/>
            <a:r>
              <a:rPr lang="en-US" dirty="0"/>
              <a:t>Each time the agent program is called, it does three things: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TELLs the knowledge base what it perceives.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ASKs the knowledge base what action it should perform.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/>
              <a:t>The agent program TELLs the knowledge base which action was chosen, and the agent executes the action</a:t>
            </a:r>
            <a:endParaRPr lang="en-US" dirty="0" smtClean="0"/>
          </a:p>
          <a:p>
            <a:pPr lvl="1" algn="just"/>
            <a:endParaRPr lang="en-US" i="1" dirty="0"/>
          </a:p>
          <a:p>
            <a:pPr lvl="1" algn="just"/>
            <a:r>
              <a:rPr lang="en-US" i="1" dirty="0" smtClean="0"/>
              <a:t>Tell </a:t>
            </a:r>
            <a:r>
              <a:rPr lang="en-US" dirty="0"/>
              <a:t>it what it needs to know –add fact to KB.</a:t>
            </a:r>
          </a:p>
          <a:p>
            <a:pPr lvl="1" algn="just"/>
            <a:r>
              <a:rPr lang="en-US" i="1" dirty="0"/>
              <a:t>Ask </a:t>
            </a:r>
            <a:r>
              <a:rPr lang="en-US" dirty="0"/>
              <a:t>it what to do –compute using </a:t>
            </a:r>
            <a:r>
              <a:rPr lang="en-US" i="1" dirty="0"/>
              <a:t>inference rules </a:t>
            </a:r>
            <a:r>
              <a:rPr lang="en-US" dirty="0"/>
              <a:t>also in KB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2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Generic KB-Based Agent </a:t>
            </a:r>
            <a:r>
              <a:rPr lang="en-US" b="1" dirty="0" err="1">
                <a:solidFill>
                  <a:schemeClr val="accent2"/>
                </a:solidFill>
              </a:rPr>
              <a:t>Pseudocode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672"/>
              </a:spcBef>
            </a:pPr>
            <a:endParaRPr lang="en-US" dirty="0" smtClean="0"/>
          </a:p>
          <a:p>
            <a:pPr algn="just">
              <a:spcBef>
                <a:spcPts val="672"/>
              </a:spcBef>
            </a:pPr>
            <a:endParaRPr lang="en-US" dirty="0"/>
          </a:p>
          <a:p>
            <a:pPr algn="just">
              <a:spcBef>
                <a:spcPts val="672"/>
              </a:spcBef>
            </a:pPr>
            <a:endParaRPr lang="en-US" dirty="0" smtClean="0"/>
          </a:p>
          <a:p>
            <a:pPr algn="just">
              <a:spcBef>
                <a:spcPts val="672"/>
              </a:spcBef>
            </a:pPr>
            <a:endParaRPr lang="en-US" dirty="0"/>
          </a:p>
          <a:p>
            <a:pPr algn="just">
              <a:spcBef>
                <a:spcPts val="672"/>
              </a:spcBef>
            </a:pPr>
            <a:endParaRPr lang="en-US" dirty="0" smtClean="0"/>
          </a:p>
          <a:p>
            <a:endParaRPr lang="en-US" dirty="0"/>
          </a:p>
          <a:p>
            <a:pPr algn="just">
              <a:spcBef>
                <a:spcPts val="0"/>
              </a:spcBef>
            </a:pPr>
            <a:r>
              <a:rPr lang="en-US" dirty="0"/>
              <a:t>Agent must be able to:</a:t>
            </a:r>
          </a:p>
          <a:p>
            <a:pPr marL="914400" lvl="1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Represent </a:t>
            </a:r>
            <a:r>
              <a:rPr lang="en-US" dirty="0"/>
              <a:t>states and actions,</a:t>
            </a:r>
          </a:p>
          <a:p>
            <a:pPr marL="914400" lvl="1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Incorporate </a:t>
            </a:r>
            <a:r>
              <a:rPr lang="en-US" dirty="0"/>
              <a:t>new percepts</a:t>
            </a:r>
          </a:p>
          <a:p>
            <a:pPr marL="914400" lvl="1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Update </a:t>
            </a:r>
            <a:r>
              <a:rPr lang="en-US" dirty="0"/>
              <a:t>internal representation of the world</a:t>
            </a:r>
          </a:p>
          <a:p>
            <a:pPr marL="914400" lvl="1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i="1" dirty="0" smtClean="0"/>
              <a:t>Deduce </a:t>
            </a:r>
            <a:r>
              <a:rPr lang="en-US" i="1" dirty="0"/>
              <a:t>hidden properties of the world</a:t>
            </a:r>
            <a:endParaRPr lang="en-US" dirty="0"/>
          </a:p>
          <a:p>
            <a:pPr marL="914400" lvl="1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dirty="0" smtClean="0"/>
              <a:t>Deduce appropriate </a:t>
            </a:r>
            <a:r>
              <a:rPr lang="en-US" dirty="0"/>
              <a:t>actions </a:t>
            </a:r>
            <a:r>
              <a:rPr lang="en-US" dirty="0" smtClean="0"/>
              <a:t>– requires </a:t>
            </a:r>
            <a:r>
              <a:rPr lang="en-US" dirty="0"/>
              <a:t>some </a:t>
            </a:r>
            <a:r>
              <a:rPr lang="en-US" i="1" dirty="0"/>
              <a:t>logic of action</a:t>
            </a:r>
            <a:endParaRPr lang="en-US" dirty="0"/>
          </a:p>
          <a:p>
            <a:pPr algn="just">
              <a:spcBef>
                <a:spcPts val="672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11</a:t>
            </a:fld>
            <a:endParaRPr lang="en-US" dirty="0">
              <a:latin typeface="+mn-lt"/>
            </a:endParaRPr>
          </a:p>
        </p:txBody>
      </p:sp>
      <p:sp>
        <p:nvSpPr>
          <p:cNvPr id="7" name="AutoShape 3"/>
          <p:cNvSpPr>
            <a:spLocks noChangeAspect="1" noChangeArrowheads="1" noTextEdit="1"/>
          </p:cNvSpPr>
          <p:nvPr/>
        </p:nvSpPr>
        <p:spPr bwMode="auto">
          <a:xfrm>
            <a:off x="609600" y="838200"/>
            <a:ext cx="68453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" y="838200"/>
            <a:ext cx="59436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1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What is </a:t>
            </a:r>
            <a:r>
              <a:rPr lang="en-US" b="1" dirty="0" smtClean="0">
                <a:solidFill>
                  <a:schemeClr val="accent2"/>
                </a:solidFill>
              </a:rPr>
              <a:t>Logic</a:t>
            </a:r>
            <a:r>
              <a:rPr lang="en-US" b="1" dirty="0">
                <a:solidFill>
                  <a:schemeClr val="accent2"/>
                </a:solidFill>
              </a:rPr>
              <a:t>?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b="1" dirty="0"/>
              <a:t>Logic </a:t>
            </a:r>
            <a:r>
              <a:rPr lang="en-US" dirty="0"/>
              <a:t>is a formal system for manipulating facts </a:t>
            </a:r>
            <a:r>
              <a:rPr lang="en-US" dirty="0" smtClean="0"/>
              <a:t>so that </a:t>
            </a:r>
            <a:r>
              <a:rPr lang="en-US" dirty="0"/>
              <a:t>true conclusions may be drawn</a:t>
            </a:r>
          </a:p>
          <a:p>
            <a:pPr lvl="1" algn="just">
              <a:spcBef>
                <a:spcPts val="0"/>
              </a:spcBef>
            </a:pPr>
            <a:r>
              <a:rPr lang="en-US" dirty="0" smtClean="0"/>
              <a:t>“</a:t>
            </a:r>
            <a:r>
              <a:rPr lang="en-US" dirty="0"/>
              <a:t>The tool for distinguishing between the true and </a:t>
            </a:r>
            <a:r>
              <a:rPr lang="en-US" dirty="0" smtClean="0"/>
              <a:t>the false</a:t>
            </a:r>
            <a:r>
              <a:rPr lang="en-US" dirty="0"/>
              <a:t>” (Averroes)</a:t>
            </a:r>
          </a:p>
          <a:p>
            <a:pPr lvl="1" algn="just">
              <a:spcBef>
                <a:spcPts val="0"/>
              </a:spcBef>
            </a:pPr>
            <a:r>
              <a:rPr lang="en-US" b="1" dirty="0" smtClean="0"/>
              <a:t>Syntax</a:t>
            </a:r>
            <a:r>
              <a:rPr lang="en-US" b="1" dirty="0"/>
              <a:t>: </a:t>
            </a:r>
            <a:r>
              <a:rPr lang="en-US" dirty="0"/>
              <a:t>rules for constructing valid sentences</a:t>
            </a:r>
          </a:p>
          <a:p>
            <a:pPr lvl="2" algn="just">
              <a:spcBef>
                <a:spcPts val="0"/>
              </a:spcBef>
            </a:pPr>
            <a:r>
              <a:rPr lang="en-US" sz="2800" dirty="0" smtClean="0"/>
              <a:t>e.g</a:t>
            </a:r>
            <a:r>
              <a:rPr lang="en-US" sz="2800" dirty="0"/>
              <a:t>., x + 2 ≥ y is a valid arithmetic sentence, ≥x2y + is not</a:t>
            </a:r>
          </a:p>
          <a:p>
            <a:pPr lvl="1" algn="just">
              <a:spcBef>
                <a:spcPts val="0"/>
              </a:spcBef>
            </a:pPr>
            <a:r>
              <a:rPr lang="en-US" b="1" dirty="0" smtClean="0"/>
              <a:t>Semantics</a:t>
            </a:r>
            <a:r>
              <a:rPr lang="en-US" b="1" dirty="0"/>
              <a:t>: </a:t>
            </a:r>
            <a:r>
              <a:rPr lang="en-US" dirty="0"/>
              <a:t>“meaning” of sentences, or </a:t>
            </a:r>
            <a:r>
              <a:rPr lang="en-US" dirty="0" smtClean="0"/>
              <a:t>relationship between </a:t>
            </a:r>
            <a:r>
              <a:rPr lang="en-US" dirty="0"/>
              <a:t>logical sentences and the real </a:t>
            </a:r>
            <a:r>
              <a:rPr lang="en-US" dirty="0" smtClean="0"/>
              <a:t>world Specifically</a:t>
            </a:r>
            <a:r>
              <a:rPr lang="en-US" dirty="0"/>
              <a:t>, semantics defines truth of sentences</a:t>
            </a:r>
          </a:p>
          <a:p>
            <a:pPr lvl="2" algn="just">
              <a:spcBef>
                <a:spcPts val="0"/>
              </a:spcBef>
            </a:pPr>
            <a:r>
              <a:rPr lang="en-US" sz="2800" dirty="0" smtClean="0"/>
              <a:t>e.g</a:t>
            </a:r>
            <a:r>
              <a:rPr lang="en-US" sz="2800" dirty="0"/>
              <a:t>., x + 2 ≥ y is true in a world where x = 5 and y =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12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12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altLang="en-US" b="1" dirty="0">
                <a:solidFill>
                  <a:schemeClr val="accent2"/>
                </a:solidFill>
              </a:rPr>
              <a:t>Types of Logics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altLang="en-US" b="1" dirty="0"/>
              <a:t>Propositional </a:t>
            </a:r>
            <a:r>
              <a:rPr lang="en-US" altLang="en-US" b="1" dirty="0" smtClean="0"/>
              <a:t>Logic</a:t>
            </a:r>
            <a:r>
              <a:rPr lang="en-US" altLang="en-US" b="1" dirty="0"/>
              <a:t>: </a:t>
            </a:r>
            <a:r>
              <a:rPr lang="en-US" altLang="en-US" dirty="0"/>
              <a:t>concrete statements that are either true or false</a:t>
            </a:r>
          </a:p>
          <a:p>
            <a:pPr lvl="1" algn="just">
              <a:spcBef>
                <a:spcPts val="0"/>
              </a:spcBef>
            </a:pPr>
            <a:r>
              <a:rPr lang="en-US" altLang="en-US" dirty="0"/>
              <a:t>E.g., </a:t>
            </a:r>
            <a:r>
              <a:rPr lang="en-US" altLang="en-US" dirty="0" err="1" smtClean="0"/>
              <a:t>Fawad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Alam</a:t>
            </a:r>
            <a:r>
              <a:rPr lang="en-US" altLang="en-US" dirty="0" smtClean="0"/>
              <a:t> has </a:t>
            </a:r>
            <a:r>
              <a:rPr lang="en-US" altLang="en-US" smtClean="0"/>
              <a:t>been selected.</a:t>
            </a:r>
            <a:endParaRPr lang="en-US" altLang="en-US" dirty="0"/>
          </a:p>
          <a:p>
            <a:pPr algn="just">
              <a:spcBef>
                <a:spcPts val="0"/>
              </a:spcBef>
            </a:pPr>
            <a:r>
              <a:rPr lang="en-US" altLang="en-US" b="1" dirty="0"/>
              <a:t>Predicate </a:t>
            </a:r>
            <a:r>
              <a:rPr lang="en-US" altLang="en-US" b="1" dirty="0" smtClean="0"/>
              <a:t>Logic </a:t>
            </a:r>
            <a:r>
              <a:rPr lang="en-US" altLang="en-US" b="1" dirty="0"/>
              <a:t>(also called first order logic, first order predicate calculus): </a:t>
            </a:r>
            <a:r>
              <a:rPr lang="en-US" altLang="en-US" dirty="0"/>
              <a:t>allows statements to contain variables, functions, and quantifiers</a:t>
            </a:r>
          </a:p>
          <a:p>
            <a:pPr lvl="1" algn="just">
              <a:spcBef>
                <a:spcPts val="0"/>
              </a:spcBef>
            </a:pPr>
            <a:r>
              <a:rPr lang="en-US" altLang="en-US" dirty="0"/>
              <a:t>For all X, Y: If X is married to Y then Y is married to X.</a:t>
            </a:r>
          </a:p>
          <a:p>
            <a:pPr algn="just">
              <a:spcBef>
                <a:spcPts val="0"/>
              </a:spcBef>
            </a:pPr>
            <a:r>
              <a:rPr lang="en-US" altLang="en-US" b="1" dirty="0"/>
              <a:t>Fuzzy </a:t>
            </a:r>
            <a:r>
              <a:rPr lang="en-US" altLang="en-US" b="1" dirty="0" smtClean="0"/>
              <a:t>Logic</a:t>
            </a:r>
            <a:r>
              <a:rPr lang="en-US" altLang="en-US" b="1" dirty="0"/>
              <a:t>:</a:t>
            </a:r>
            <a:r>
              <a:rPr lang="en-US" altLang="en-US" dirty="0"/>
              <a:t> vague statements; paint is </a:t>
            </a:r>
            <a:r>
              <a:rPr lang="en-US" altLang="en-US" u="sng" dirty="0"/>
              <a:t>slightly grey</a:t>
            </a:r>
            <a:r>
              <a:rPr lang="en-US" altLang="en-US" dirty="0"/>
              <a:t>; sky is </a:t>
            </a:r>
            <a:r>
              <a:rPr lang="en-US" altLang="en-US" u="sng" dirty="0"/>
              <a:t>very cloudy</a:t>
            </a:r>
            <a:r>
              <a:rPr lang="en-US" altLang="en-US" dirty="0"/>
              <a:t>.</a:t>
            </a:r>
          </a:p>
          <a:p>
            <a:pPr marL="0" indent="0" algn="just">
              <a:spcBef>
                <a:spcPts val="672"/>
              </a:spcBef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13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016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Propositional </a:t>
            </a:r>
            <a:r>
              <a:rPr lang="en-US" b="1" dirty="0" smtClean="0">
                <a:solidFill>
                  <a:schemeClr val="accent2"/>
                </a:solidFill>
              </a:rPr>
              <a:t>Logic</a:t>
            </a:r>
            <a:r>
              <a:rPr lang="en-US" b="1" dirty="0">
                <a:solidFill>
                  <a:schemeClr val="accent2"/>
                </a:solidFill>
              </a:rPr>
              <a:t>: Syntax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b="1" dirty="0"/>
              <a:t>Atomic sentence: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A </a:t>
            </a:r>
            <a:r>
              <a:rPr lang="en-US" i="1" dirty="0"/>
              <a:t>proposition symbol </a:t>
            </a:r>
            <a:r>
              <a:rPr lang="en-US" dirty="0"/>
              <a:t>representing a true or false statement</a:t>
            </a:r>
          </a:p>
          <a:p>
            <a:pPr>
              <a:spcBef>
                <a:spcPts val="0"/>
              </a:spcBef>
            </a:pPr>
            <a:r>
              <a:rPr lang="en-US" b="1" dirty="0" smtClean="0"/>
              <a:t>Negation</a:t>
            </a:r>
            <a:r>
              <a:rPr lang="en-US" b="1" dirty="0"/>
              <a:t>: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If </a:t>
            </a:r>
            <a:r>
              <a:rPr lang="en-US" b="1" dirty="0"/>
              <a:t>P </a:t>
            </a:r>
            <a:r>
              <a:rPr lang="en-US" dirty="0"/>
              <a:t>is a sentence, ¬</a:t>
            </a:r>
            <a:r>
              <a:rPr lang="en-US" b="1" dirty="0"/>
              <a:t>P </a:t>
            </a:r>
            <a:r>
              <a:rPr lang="en-US" dirty="0"/>
              <a:t>is a sentence</a:t>
            </a:r>
          </a:p>
          <a:p>
            <a:pPr>
              <a:spcBef>
                <a:spcPts val="0"/>
              </a:spcBef>
            </a:pPr>
            <a:r>
              <a:rPr lang="en-US" b="1" dirty="0" smtClean="0"/>
              <a:t>Conjunction</a:t>
            </a:r>
            <a:r>
              <a:rPr lang="en-US" b="1" dirty="0"/>
              <a:t>: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If </a:t>
            </a:r>
            <a:r>
              <a:rPr lang="en-US" b="1" dirty="0"/>
              <a:t>P </a:t>
            </a:r>
            <a:r>
              <a:rPr lang="en-US" dirty="0"/>
              <a:t>and </a:t>
            </a:r>
            <a:r>
              <a:rPr lang="en-US" b="1" dirty="0"/>
              <a:t>Q </a:t>
            </a:r>
            <a:r>
              <a:rPr lang="en-US" dirty="0"/>
              <a:t>are sentences, </a:t>
            </a:r>
            <a:r>
              <a:rPr lang="en-US" b="1" dirty="0"/>
              <a:t>P </a:t>
            </a:r>
            <a:r>
              <a:rPr lang="en-US" dirty="0"/>
              <a:t>∧ </a:t>
            </a:r>
            <a:r>
              <a:rPr lang="en-US" b="1" dirty="0"/>
              <a:t>Q </a:t>
            </a:r>
            <a:r>
              <a:rPr lang="en-US" dirty="0"/>
              <a:t>is a sentence</a:t>
            </a:r>
          </a:p>
          <a:p>
            <a:pPr>
              <a:spcBef>
                <a:spcPts val="0"/>
              </a:spcBef>
            </a:pPr>
            <a:r>
              <a:rPr lang="en-US" b="1" dirty="0" smtClean="0"/>
              <a:t>Disjunction</a:t>
            </a:r>
            <a:r>
              <a:rPr lang="en-US" b="1" dirty="0"/>
              <a:t>: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If </a:t>
            </a:r>
            <a:r>
              <a:rPr lang="en-US" b="1" dirty="0"/>
              <a:t>P </a:t>
            </a:r>
            <a:r>
              <a:rPr lang="en-US" dirty="0"/>
              <a:t>and </a:t>
            </a:r>
            <a:r>
              <a:rPr lang="en-US" b="1" dirty="0"/>
              <a:t>Q </a:t>
            </a:r>
            <a:r>
              <a:rPr lang="en-US" dirty="0"/>
              <a:t>are sentences, </a:t>
            </a:r>
            <a:r>
              <a:rPr lang="en-US" b="1" dirty="0"/>
              <a:t>P </a:t>
            </a:r>
            <a:r>
              <a:rPr lang="en-US" dirty="0"/>
              <a:t>∨ </a:t>
            </a:r>
            <a:r>
              <a:rPr lang="en-US" b="1" dirty="0"/>
              <a:t>Q </a:t>
            </a:r>
            <a:r>
              <a:rPr lang="en-US" dirty="0"/>
              <a:t>is a sentence</a:t>
            </a:r>
          </a:p>
          <a:p>
            <a:pPr>
              <a:spcBef>
                <a:spcPts val="0"/>
              </a:spcBef>
            </a:pPr>
            <a:r>
              <a:rPr lang="en-US" b="1" dirty="0" smtClean="0"/>
              <a:t>Implication</a:t>
            </a:r>
            <a:r>
              <a:rPr lang="en-US" b="1" dirty="0"/>
              <a:t>: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If </a:t>
            </a:r>
            <a:r>
              <a:rPr lang="en-US" b="1" dirty="0"/>
              <a:t>P </a:t>
            </a:r>
            <a:r>
              <a:rPr lang="en-US" dirty="0"/>
              <a:t>and </a:t>
            </a:r>
            <a:r>
              <a:rPr lang="en-US" b="1" dirty="0"/>
              <a:t>Q </a:t>
            </a:r>
            <a:r>
              <a:rPr lang="en-US" dirty="0"/>
              <a:t>are sentences, </a:t>
            </a:r>
            <a:r>
              <a:rPr lang="en-US" b="1" dirty="0"/>
              <a:t>P </a:t>
            </a:r>
            <a:r>
              <a:rPr lang="en-US" dirty="0"/>
              <a:t>⇒ </a:t>
            </a:r>
            <a:r>
              <a:rPr lang="en-US" b="1" dirty="0"/>
              <a:t>Q </a:t>
            </a:r>
            <a:r>
              <a:rPr lang="en-US" dirty="0"/>
              <a:t>is a sentence</a:t>
            </a:r>
          </a:p>
          <a:p>
            <a:pPr>
              <a:spcBef>
                <a:spcPts val="0"/>
              </a:spcBef>
            </a:pPr>
            <a:r>
              <a:rPr lang="en-US" b="1" dirty="0" err="1" smtClean="0"/>
              <a:t>Biconditional</a:t>
            </a:r>
            <a:r>
              <a:rPr lang="en-US" b="1" dirty="0"/>
              <a:t>: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If </a:t>
            </a:r>
            <a:r>
              <a:rPr lang="en-US" b="1" dirty="0"/>
              <a:t>P </a:t>
            </a:r>
            <a:r>
              <a:rPr lang="en-US" dirty="0"/>
              <a:t>and </a:t>
            </a:r>
            <a:r>
              <a:rPr lang="en-US" b="1" dirty="0"/>
              <a:t>Q </a:t>
            </a:r>
            <a:r>
              <a:rPr lang="en-US" dirty="0"/>
              <a:t>are sentences, </a:t>
            </a:r>
            <a:r>
              <a:rPr lang="en-US" b="1" dirty="0"/>
              <a:t>P </a:t>
            </a:r>
            <a:r>
              <a:rPr lang="en-US" dirty="0"/>
              <a:t>⇔ </a:t>
            </a:r>
            <a:r>
              <a:rPr lang="en-US" b="1" dirty="0"/>
              <a:t>Q </a:t>
            </a:r>
            <a:r>
              <a:rPr lang="en-US" dirty="0"/>
              <a:t>is a sentence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¬</a:t>
            </a:r>
            <a:r>
              <a:rPr lang="en-US" b="1" dirty="0" smtClean="0"/>
              <a:t>, </a:t>
            </a:r>
            <a:r>
              <a:rPr lang="en-US" dirty="0"/>
              <a:t>∧</a:t>
            </a:r>
            <a:r>
              <a:rPr lang="en-US" b="1" dirty="0"/>
              <a:t>, </a:t>
            </a:r>
            <a:r>
              <a:rPr lang="en-US" dirty="0"/>
              <a:t>∨</a:t>
            </a:r>
            <a:r>
              <a:rPr lang="en-US" b="1" dirty="0"/>
              <a:t>, </a:t>
            </a:r>
            <a:r>
              <a:rPr lang="en-US" dirty="0"/>
              <a:t>⇒</a:t>
            </a:r>
            <a:r>
              <a:rPr lang="en-US" b="1" dirty="0"/>
              <a:t>, </a:t>
            </a:r>
            <a:r>
              <a:rPr lang="en-US" dirty="0"/>
              <a:t>⇔ are called </a:t>
            </a:r>
            <a:r>
              <a:rPr lang="en-US" i="1" dirty="0"/>
              <a:t>logical connectives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14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486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Propositional </a:t>
            </a:r>
            <a:r>
              <a:rPr lang="en-US" b="1" dirty="0" smtClean="0">
                <a:solidFill>
                  <a:schemeClr val="accent2"/>
                </a:solidFill>
              </a:rPr>
              <a:t>Logic</a:t>
            </a:r>
            <a:r>
              <a:rPr lang="en-US" b="1" dirty="0">
                <a:solidFill>
                  <a:schemeClr val="accent2"/>
                </a:solidFill>
              </a:rPr>
              <a:t>: Semantics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A </a:t>
            </a:r>
            <a:r>
              <a:rPr lang="en-US" b="1" dirty="0"/>
              <a:t>model </a:t>
            </a:r>
            <a:r>
              <a:rPr lang="en-US" dirty="0"/>
              <a:t>specifies the true/false status of </a:t>
            </a:r>
            <a:r>
              <a:rPr lang="en-US" dirty="0" smtClean="0"/>
              <a:t>each proposition </a:t>
            </a:r>
            <a:r>
              <a:rPr lang="en-US" dirty="0"/>
              <a:t>symbol in the knowledge base</a:t>
            </a:r>
          </a:p>
          <a:p>
            <a:pPr lvl="1" algn="just">
              <a:spcBef>
                <a:spcPts val="0"/>
              </a:spcBef>
            </a:pPr>
            <a:r>
              <a:rPr lang="en-US" dirty="0" smtClean="0"/>
              <a:t>e.g</a:t>
            </a:r>
            <a:r>
              <a:rPr lang="en-US" dirty="0"/>
              <a:t>., </a:t>
            </a:r>
            <a:r>
              <a:rPr lang="en-US" b="1" dirty="0"/>
              <a:t>P </a:t>
            </a:r>
            <a:r>
              <a:rPr lang="en-US" dirty="0"/>
              <a:t>is true, </a:t>
            </a:r>
            <a:r>
              <a:rPr lang="en-US" b="1" dirty="0"/>
              <a:t>Q </a:t>
            </a:r>
            <a:r>
              <a:rPr lang="en-US" dirty="0"/>
              <a:t>is true, </a:t>
            </a:r>
            <a:r>
              <a:rPr lang="en-US" b="1" dirty="0"/>
              <a:t>R </a:t>
            </a:r>
            <a:r>
              <a:rPr lang="en-US" dirty="0"/>
              <a:t>is false</a:t>
            </a:r>
          </a:p>
          <a:p>
            <a:pPr lvl="1" algn="just">
              <a:spcBef>
                <a:spcPts val="0"/>
              </a:spcBef>
            </a:pPr>
            <a:r>
              <a:rPr lang="en-US" dirty="0" smtClean="0"/>
              <a:t>With </a:t>
            </a:r>
            <a:r>
              <a:rPr lang="en-US" dirty="0"/>
              <a:t>three symbols, there are 8 possible models, and they can </a:t>
            </a:r>
            <a:r>
              <a:rPr lang="en-US" dirty="0" smtClean="0"/>
              <a:t>be enumerated </a:t>
            </a:r>
            <a:r>
              <a:rPr lang="en-US" dirty="0"/>
              <a:t>exhaustively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Rules </a:t>
            </a:r>
            <a:r>
              <a:rPr lang="en-US" dirty="0"/>
              <a:t>for evaluating truth with respect to a model:</a:t>
            </a:r>
          </a:p>
          <a:p>
            <a:pPr lvl="1" algn="just">
              <a:spcBef>
                <a:spcPts val="0"/>
              </a:spcBef>
            </a:pPr>
            <a:r>
              <a:rPr lang="en-US" dirty="0"/>
              <a:t>¬</a:t>
            </a:r>
            <a:r>
              <a:rPr lang="en-US" b="1" dirty="0"/>
              <a:t>P </a:t>
            </a:r>
            <a:r>
              <a:rPr lang="en-US" dirty="0"/>
              <a:t>is true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/>
              <a:t>P </a:t>
            </a:r>
            <a:r>
              <a:rPr lang="en-US" dirty="0"/>
              <a:t>is false</a:t>
            </a:r>
          </a:p>
          <a:p>
            <a:pPr lvl="1" algn="just">
              <a:spcBef>
                <a:spcPts val="0"/>
              </a:spcBef>
            </a:pPr>
            <a:r>
              <a:rPr lang="en-US" b="1" dirty="0"/>
              <a:t>P </a:t>
            </a:r>
            <a:r>
              <a:rPr lang="en-US" dirty="0"/>
              <a:t>∧</a:t>
            </a:r>
            <a:r>
              <a:rPr lang="en-US" b="1" dirty="0"/>
              <a:t>Q </a:t>
            </a:r>
            <a:r>
              <a:rPr lang="en-US" dirty="0"/>
              <a:t>is true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/>
              <a:t>P </a:t>
            </a:r>
            <a:r>
              <a:rPr lang="en-US" dirty="0"/>
              <a:t>is true and </a:t>
            </a:r>
            <a:r>
              <a:rPr lang="en-US" b="1" dirty="0"/>
              <a:t>Q </a:t>
            </a:r>
            <a:r>
              <a:rPr lang="en-US" dirty="0"/>
              <a:t>is true</a:t>
            </a:r>
          </a:p>
          <a:p>
            <a:pPr lvl="1" algn="just">
              <a:spcBef>
                <a:spcPts val="0"/>
              </a:spcBef>
            </a:pPr>
            <a:r>
              <a:rPr lang="en-US" b="1" dirty="0"/>
              <a:t>P </a:t>
            </a:r>
            <a:r>
              <a:rPr lang="en-US" dirty="0"/>
              <a:t>∨ </a:t>
            </a:r>
            <a:r>
              <a:rPr lang="en-US" b="1" dirty="0"/>
              <a:t>Q </a:t>
            </a:r>
            <a:r>
              <a:rPr lang="en-US" dirty="0"/>
              <a:t>is true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/>
              <a:t>P </a:t>
            </a:r>
            <a:r>
              <a:rPr lang="en-US" dirty="0"/>
              <a:t>is true or </a:t>
            </a:r>
            <a:r>
              <a:rPr lang="en-US" b="1" dirty="0"/>
              <a:t>Q </a:t>
            </a:r>
            <a:r>
              <a:rPr lang="en-US" dirty="0"/>
              <a:t>is true</a:t>
            </a:r>
          </a:p>
          <a:p>
            <a:pPr lvl="1" algn="just">
              <a:spcBef>
                <a:spcPts val="0"/>
              </a:spcBef>
            </a:pPr>
            <a:r>
              <a:rPr lang="en-US" b="1" dirty="0"/>
              <a:t>P </a:t>
            </a:r>
            <a:r>
              <a:rPr lang="en-US" dirty="0"/>
              <a:t>⇒ </a:t>
            </a:r>
            <a:r>
              <a:rPr lang="en-US" b="1" dirty="0"/>
              <a:t>Q </a:t>
            </a:r>
            <a:r>
              <a:rPr lang="en-US" dirty="0"/>
              <a:t>is true </a:t>
            </a:r>
            <a:r>
              <a:rPr lang="en-US" dirty="0" err="1"/>
              <a:t>iff</a:t>
            </a:r>
            <a:r>
              <a:rPr lang="en-US" dirty="0"/>
              <a:t> </a:t>
            </a:r>
            <a:r>
              <a:rPr lang="en-US" b="1" dirty="0"/>
              <a:t>P </a:t>
            </a:r>
            <a:r>
              <a:rPr lang="en-US" dirty="0"/>
              <a:t>is false or </a:t>
            </a:r>
            <a:r>
              <a:rPr lang="en-US" b="1" dirty="0"/>
              <a:t>Q </a:t>
            </a:r>
            <a:r>
              <a:rPr lang="en-US" dirty="0"/>
              <a:t>is </a:t>
            </a:r>
            <a:r>
              <a:rPr lang="en-US" dirty="0" smtClean="0"/>
              <a:t>true</a:t>
            </a:r>
          </a:p>
          <a:p>
            <a:pPr lvl="1" algn="just">
              <a:spcBef>
                <a:spcPts val="0"/>
              </a:spcBef>
            </a:pPr>
            <a:r>
              <a:rPr lang="en-US" b="1" dirty="0" smtClean="0"/>
              <a:t>P </a:t>
            </a:r>
            <a:r>
              <a:rPr lang="en-US" dirty="0" smtClean="0"/>
              <a:t>⇔ </a:t>
            </a:r>
            <a:r>
              <a:rPr lang="en-US" b="1" dirty="0" smtClean="0"/>
              <a:t>Q </a:t>
            </a:r>
            <a:r>
              <a:rPr lang="en-US" dirty="0" smtClean="0"/>
              <a:t>is true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/>
              <a:t>P </a:t>
            </a:r>
            <a:r>
              <a:rPr lang="en-US" dirty="0" smtClean="0"/>
              <a:t>⇒</a:t>
            </a:r>
            <a:r>
              <a:rPr lang="en-US" b="1" dirty="0" smtClean="0"/>
              <a:t>Q </a:t>
            </a:r>
            <a:r>
              <a:rPr lang="en-US" dirty="0" smtClean="0"/>
              <a:t>is true and </a:t>
            </a:r>
            <a:r>
              <a:rPr lang="en-US" b="1" dirty="0" smtClean="0"/>
              <a:t>Q </a:t>
            </a:r>
            <a:r>
              <a:rPr lang="en-US" dirty="0" smtClean="0"/>
              <a:t>⇒ </a:t>
            </a:r>
            <a:r>
              <a:rPr lang="en-US" b="1" dirty="0" smtClean="0"/>
              <a:t>P </a:t>
            </a:r>
            <a:r>
              <a:rPr lang="en-US" dirty="0" smtClean="0"/>
              <a:t>is true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15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328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 </a:t>
            </a:r>
            <a:r>
              <a:rPr lang="en-US" dirty="0"/>
              <a:t>⇒ </a:t>
            </a:r>
            <a:r>
              <a:rPr lang="en-US" b="1" dirty="0" smtClean="0"/>
              <a:t>Q = </a:t>
            </a:r>
            <a:r>
              <a:rPr lang="en-US" dirty="0" smtClean="0"/>
              <a:t>(¬</a:t>
            </a:r>
            <a:r>
              <a:rPr lang="en-US" dirty="0"/>
              <a:t>P v Q</a:t>
            </a:r>
            <a:r>
              <a:rPr lang="en-US" dirty="0" smtClean="0"/>
              <a:t>)</a:t>
            </a:r>
          </a:p>
          <a:p>
            <a:r>
              <a:rPr lang="en-US" dirty="0"/>
              <a:t>“If P is true, then I am claiming that Q is true. Otherwise I am making no claim</a:t>
            </a:r>
            <a:r>
              <a:rPr lang="en-US" dirty="0" smtClean="0"/>
              <a:t>.”</a:t>
            </a:r>
          </a:p>
          <a:p>
            <a:endParaRPr lang="en-US" dirty="0"/>
          </a:p>
          <a:p>
            <a:r>
              <a:rPr lang="en-US" b="1" dirty="0"/>
              <a:t>P ⇔ Q</a:t>
            </a:r>
            <a:r>
              <a:rPr lang="en-US" dirty="0"/>
              <a:t>, is true whenever both P ⇒ Q and Q ⇒ P are </a:t>
            </a:r>
            <a:r>
              <a:rPr lang="en-US" dirty="0" smtClean="0"/>
              <a:t>true. Or, </a:t>
            </a:r>
            <a:r>
              <a:rPr lang="en-US" dirty="0"/>
              <a:t>“P if and only if Q.”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83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05000"/>
            <a:ext cx="8030817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66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The </a:t>
            </a:r>
            <a:r>
              <a:rPr lang="en-US" b="1" dirty="0" err="1">
                <a:solidFill>
                  <a:schemeClr val="accent2"/>
                </a:solidFill>
              </a:rPr>
              <a:t>Wumpus</a:t>
            </a:r>
            <a:r>
              <a:rPr lang="en-US" b="1" dirty="0">
                <a:solidFill>
                  <a:schemeClr val="accent2"/>
                </a:solidFill>
              </a:rPr>
              <a:t> World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52600"/>
            <a:ext cx="7410450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752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The </a:t>
            </a:r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198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b="1" dirty="0"/>
              <a:t>Sensors</a:t>
            </a:r>
            <a:r>
              <a:rPr lang="en-US" dirty="0"/>
              <a:t>: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Returns </a:t>
            </a:r>
            <a:r>
              <a:rPr lang="en-US" dirty="0"/>
              <a:t>a 5-tuple of five symbols </a:t>
            </a:r>
            <a:r>
              <a:rPr lang="en-US" dirty="0" smtClean="0"/>
              <a:t>e.g., </a:t>
            </a:r>
            <a:r>
              <a:rPr lang="en-US" dirty="0"/>
              <a:t>[stench, breeze</a:t>
            </a:r>
            <a:r>
              <a:rPr lang="en-US" dirty="0" smtClean="0"/>
              <a:t>, glitter</a:t>
            </a:r>
            <a:r>
              <a:rPr lang="en-US" dirty="0"/>
              <a:t>, bump, scream] (note that in this 5-tuple, all </a:t>
            </a:r>
            <a:r>
              <a:rPr lang="en-US" dirty="0" smtClean="0"/>
              <a:t>five things </a:t>
            </a:r>
            <a:r>
              <a:rPr lang="en-US" dirty="0"/>
              <a:t>are present. We indicate absence with the </a:t>
            </a:r>
            <a:r>
              <a:rPr lang="en-US" dirty="0" smtClean="0"/>
              <a:t>value None</a:t>
            </a:r>
            <a:r>
              <a:rPr lang="en-US" dirty="0"/>
              <a:t>)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squares adjacent to the </a:t>
            </a:r>
            <a:r>
              <a:rPr lang="en-US" dirty="0" err="1" smtClean="0"/>
              <a:t>Wumpus</a:t>
            </a:r>
            <a:r>
              <a:rPr lang="en-US" dirty="0"/>
              <a:t>, agent perceives </a:t>
            </a:r>
            <a:r>
              <a:rPr lang="en-US" dirty="0" smtClean="0"/>
              <a:t>a stench.</a:t>
            </a:r>
            <a:endParaRPr lang="en-US" dirty="0"/>
          </a:p>
          <a:p>
            <a:pPr algn="just"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squares adjacent to a pit, agent perceives a breeze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In squares adjacent to the gold agent perceives a glitter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When </a:t>
            </a:r>
            <a:r>
              <a:rPr lang="en-US" dirty="0"/>
              <a:t>agent walks into a wall, it perceives a bump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When </a:t>
            </a:r>
            <a:r>
              <a:rPr lang="en-US" dirty="0" err="1" smtClean="0"/>
              <a:t>Wumpus</a:t>
            </a:r>
            <a:r>
              <a:rPr lang="en-US" dirty="0" smtClean="0"/>
              <a:t> </a:t>
            </a:r>
            <a:r>
              <a:rPr lang="en-US" dirty="0"/>
              <a:t>is killed, it emits a woeful scream that </a:t>
            </a:r>
            <a:r>
              <a:rPr lang="en-US" dirty="0" smtClean="0"/>
              <a:t>is perceived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19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The </a:t>
            </a:r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Biggest challenge: Agent is ignorant of </a:t>
            </a:r>
            <a:r>
              <a:rPr lang="en-US" dirty="0" smtClean="0"/>
              <a:t>the configuration </a:t>
            </a:r>
            <a:r>
              <a:rPr lang="en-US" dirty="0"/>
              <a:t>of the 4x4 world</a:t>
            </a:r>
          </a:p>
          <a:p>
            <a:pPr algn="just"/>
            <a:r>
              <a:rPr lang="en-US" dirty="0" smtClean="0"/>
              <a:t>Needs </a:t>
            </a:r>
            <a:r>
              <a:rPr lang="en-US" dirty="0"/>
              <a:t>logical reasoning of percepts in </a:t>
            </a:r>
            <a:r>
              <a:rPr lang="en-US" dirty="0" smtClean="0"/>
              <a:t>order to </a:t>
            </a:r>
            <a:r>
              <a:rPr lang="en-US" dirty="0"/>
              <a:t>overcome this ignorance</a:t>
            </a:r>
          </a:p>
          <a:p>
            <a:pPr algn="just"/>
            <a:r>
              <a:rPr lang="en-US" dirty="0" smtClean="0"/>
              <a:t>Note</a:t>
            </a:r>
            <a:r>
              <a:rPr lang="en-US" dirty="0"/>
              <a:t>: retrieving gold may not be </a:t>
            </a:r>
            <a:r>
              <a:rPr lang="en-US" dirty="0" smtClean="0"/>
              <a:t>possible due </a:t>
            </a:r>
            <a:r>
              <a:rPr lang="en-US" dirty="0"/>
              <a:t>to randomly generated location of pits</a:t>
            </a:r>
          </a:p>
          <a:p>
            <a:pPr algn="just"/>
            <a:r>
              <a:rPr lang="en-US" dirty="0" smtClean="0"/>
              <a:t>Initial </a:t>
            </a:r>
            <a:r>
              <a:rPr lang="en-US" dirty="0"/>
              <a:t>knowledge base contains:</a:t>
            </a:r>
          </a:p>
          <a:p>
            <a:pPr lvl="1" algn="just"/>
            <a:r>
              <a:rPr lang="en-US" dirty="0" smtClean="0"/>
              <a:t>Agent </a:t>
            </a:r>
            <a:r>
              <a:rPr lang="en-US" dirty="0"/>
              <a:t>knows it is in [1,1]</a:t>
            </a:r>
          </a:p>
          <a:p>
            <a:pPr lvl="1" algn="just"/>
            <a:r>
              <a:rPr lang="en-US" dirty="0" smtClean="0"/>
              <a:t>Agent </a:t>
            </a:r>
            <a:r>
              <a:rPr lang="en-US" dirty="0"/>
              <a:t>knows it is a safe square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21</a:t>
            </a:fld>
            <a:endParaRPr lang="en-US" dirty="0">
              <a:latin typeface="+mn-lt"/>
            </a:endParaRPr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4400"/>
            <a:ext cx="76200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09600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343400" y="609600"/>
            <a:ext cx="4572000" cy="60198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1st percept is:</a:t>
            </a:r>
          </a:p>
          <a:p>
            <a:pPr lvl="1" algn="just">
              <a:spcBef>
                <a:spcPts val="0"/>
              </a:spcBef>
            </a:pPr>
            <a:r>
              <a:rPr lang="it-IT" dirty="0"/>
              <a:t>[None, None, None, None, None]</a:t>
            </a:r>
          </a:p>
          <a:p>
            <a:pPr lvl="1" algn="just">
              <a:spcBef>
                <a:spcPts val="0"/>
              </a:spcBef>
            </a:pPr>
            <a:r>
              <a:rPr lang="en-US" dirty="0"/>
              <a:t>(Corresponding to [Stench, Breeze, Glitter</a:t>
            </a:r>
            <a:r>
              <a:rPr lang="en-US" dirty="0" smtClean="0"/>
              <a:t>, Bump</a:t>
            </a:r>
            <a:r>
              <a:rPr lang="en-US" dirty="0"/>
              <a:t>, Scream])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Agent concludes squares [1,2], [2,1] </a:t>
            </a:r>
            <a:r>
              <a:rPr lang="en-US" dirty="0" smtClean="0"/>
              <a:t>are safe</a:t>
            </a:r>
            <a:r>
              <a:rPr lang="en-US" dirty="0"/>
              <a:t>. We mark them with OK. A </a:t>
            </a:r>
            <a:r>
              <a:rPr lang="en-US" dirty="0" smtClean="0"/>
              <a:t>cautious agent </a:t>
            </a:r>
            <a:r>
              <a:rPr lang="en-US" dirty="0"/>
              <a:t>will move only to a square that </a:t>
            </a:r>
            <a:r>
              <a:rPr lang="en-US" dirty="0" smtClean="0"/>
              <a:t>it knows </a:t>
            </a:r>
            <a:r>
              <a:rPr lang="en-US" dirty="0"/>
              <a:t>is OK.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Agent now moves to [2,1]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22</a:t>
            </a:fld>
            <a:endParaRPr lang="en-US" dirty="0">
              <a:latin typeface="+mn-lt"/>
            </a:endParaRPr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3809999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09600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19600" y="609600"/>
            <a:ext cx="4495800" cy="60198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2nd percept is:</a:t>
            </a:r>
          </a:p>
          <a:p>
            <a:pPr lvl="1" algn="just">
              <a:spcBef>
                <a:spcPts val="0"/>
              </a:spcBef>
            </a:pPr>
            <a:r>
              <a:rPr lang="it-IT" dirty="0"/>
              <a:t>[None, Breeze, None, None, None]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Must be a pit at [2,2] or [3,1] or both. </a:t>
            </a:r>
            <a:r>
              <a:rPr lang="en-US" dirty="0" smtClean="0"/>
              <a:t>We mark </a:t>
            </a:r>
            <a:r>
              <a:rPr lang="en-US" dirty="0"/>
              <a:t>this with a P?.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Only one square that is OK, so the </a:t>
            </a:r>
            <a:r>
              <a:rPr lang="en-US" dirty="0" smtClean="0"/>
              <a:t>agent goes </a:t>
            </a:r>
            <a:r>
              <a:rPr lang="en-US" dirty="0"/>
              <a:t>back to [1,1] and then to [1,2]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23</a:t>
            </a:fld>
            <a:endParaRPr lang="en-US" dirty="0">
              <a:latin typeface="+mn-lt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37338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378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09600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191000" y="609600"/>
            <a:ext cx="4724400" cy="60198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3rd percept is:</a:t>
            </a:r>
          </a:p>
          <a:p>
            <a:pPr lvl="1" algn="just">
              <a:spcBef>
                <a:spcPts val="0"/>
              </a:spcBef>
            </a:pPr>
            <a:r>
              <a:rPr lang="it-IT" dirty="0"/>
              <a:t>[Stench, None, None, None, None]</a:t>
            </a:r>
          </a:p>
          <a:p>
            <a:pPr algn="just">
              <a:spcBef>
                <a:spcPts val="0"/>
              </a:spcBef>
            </a:pPr>
            <a:r>
              <a:rPr lang="en-US" dirty="0" err="1"/>
              <a:t>Wumpus</a:t>
            </a:r>
            <a:r>
              <a:rPr lang="en-US" dirty="0"/>
              <a:t> must be nearby. Can’t be in [1,1</a:t>
            </a:r>
            <a:r>
              <a:rPr lang="en-US" dirty="0" smtClean="0"/>
              <a:t>] (</a:t>
            </a:r>
            <a:r>
              <a:rPr lang="en-US" dirty="0"/>
              <a:t>by rules of the game) or [2,2] (</a:t>
            </a:r>
            <a:r>
              <a:rPr lang="en-US" dirty="0" smtClean="0"/>
              <a:t>otherwise agent </a:t>
            </a:r>
            <a:r>
              <a:rPr lang="en-US" dirty="0"/>
              <a:t>would have detected a stench </a:t>
            </a:r>
            <a:r>
              <a:rPr lang="en-US" dirty="0" smtClean="0"/>
              <a:t>at [</a:t>
            </a:r>
            <a:r>
              <a:rPr lang="en-US" dirty="0"/>
              <a:t>2,1])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Therefore, </a:t>
            </a:r>
            <a:r>
              <a:rPr lang="en-US" dirty="0" err="1"/>
              <a:t>Wumpus</a:t>
            </a:r>
            <a:r>
              <a:rPr lang="en-US" dirty="0"/>
              <a:t> must be in [1,3</a:t>
            </a:r>
            <a:r>
              <a:rPr lang="en-US" dirty="0" smtClean="0"/>
              <a:t>]. Indicate </a:t>
            </a:r>
            <a:r>
              <a:rPr lang="en-US" dirty="0"/>
              <a:t>this by W!.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Lack of breeze in [1,2] means no pit </a:t>
            </a:r>
            <a:r>
              <a:rPr lang="en-US" dirty="0" smtClean="0"/>
              <a:t>in [</a:t>
            </a:r>
            <a:r>
              <a:rPr lang="en-US" dirty="0"/>
              <a:t>2,2], so pit must be in [3,1].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24</a:t>
            </a:fld>
            <a:endParaRPr lang="en-US" dirty="0">
              <a:latin typeface="+mn-lt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85800"/>
            <a:ext cx="38862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405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09600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191000" y="609600"/>
            <a:ext cx="4724400" cy="60198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Note the difficulty of this inference:</a:t>
            </a:r>
          </a:p>
          <a:p>
            <a:pPr lvl="1" algn="just">
              <a:spcBef>
                <a:spcPts val="0"/>
              </a:spcBef>
            </a:pPr>
            <a:r>
              <a:rPr lang="en-US" dirty="0" smtClean="0"/>
              <a:t>Combines </a:t>
            </a:r>
            <a:r>
              <a:rPr lang="en-US" dirty="0"/>
              <a:t>knowledge gained at </a:t>
            </a:r>
            <a:r>
              <a:rPr lang="en-US" dirty="0" smtClean="0"/>
              <a:t>different times </a:t>
            </a:r>
            <a:r>
              <a:rPr lang="en-US" dirty="0"/>
              <a:t>and at different places.</a:t>
            </a:r>
          </a:p>
          <a:p>
            <a:pPr lvl="1" algn="just">
              <a:spcBef>
                <a:spcPts val="0"/>
              </a:spcBef>
            </a:pPr>
            <a:r>
              <a:rPr lang="en-US" dirty="0" smtClean="0"/>
              <a:t>Relies </a:t>
            </a:r>
            <a:r>
              <a:rPr lang="en-US" dirty="0"/>
              <a:t>on the lack of a percept to </a:t>
            </a:r>
            <a:r>
              <a:rPr lang="en-US" dirty="0" smtClean="0"/>
              <a:t>make one </a:t>
            </a:r>
            <a:r>
              <a:rPr lang="en-US" dirty="0"/>
              <a:t>crucial step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At this point, the agent moves to [ 2,2].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25</a:t>
            </a:fld>
            <a:endParaRPr lang="en-US" dirty="0">
              <a:latin typeface="+mn-lt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0"/>
            <a:ext cx="3581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511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09600"/>
          </a:xfrm>
        </p:spPr>
        <p:txBody>
          <a:bodyPr/>
          <a:lstStyle/>
          <a:p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962400" y="609600"/>
            <a:ext cx="4953000" cy="60198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We’ll skip the agent’s state of </a:t>
            </a:r>
            <a:r>
              <a:rPr lang="en-US" dirty="0" smtClean="0"/>
              <a:t>knowledge at </a:t>
            </a:r>
            <a:r>
              <a:rPr lang="en-US" dirty="0"/>
              <a:t>[2,2] and assume it goes to [2,3].</a:t>
            </a:r>
          </a:p>
          <a:p>
            <a:pPr algn="just">
              <a:spcBef>
                <a:spcPts val="0"/>
              </a:spcBef>
            </a:pPr>
            <a:r>
              <a:rPr lang="en-US" dirty="0"/>
              <a:t>Agent detects a glitter in [2,3] so it </a:t>
            </a:r>
            <a:r>
              <a:rPr lang="en-US" dirty="0" smtClean="0"/>
              <a:t>grabs the </a:t>
            </a:r>
            <a:r>
              <a:rPr lang="en-US" dirty="0"/>
              <a:t>gold and ends the game</a:t>
            </a:r>
          </a:p>
          <a:p>
            <a:pPr algn="just">
              <a:spcBef>
                <a:spcPts val="0"/>
              </a:spcBef>
            </a:pPr>
            <a:r>
              <a:rPr lang="en-US" dirty="0">
                <a:solidFill>
                  <a:srgbClr val="FF0000"/>
                </a:solidFill>
              </a:rPr>
              <a:t>Note: In each case where the </a:t>
            </a:r>
            <a:r>
              <a:rPr lang="en-US" dirty="0" smtClean="0">
                <a:solidFill>
                  <a:srgbClr val="FF0000"/>
                </a:solidFill>
              </a:rPr>
              <a:t>agent draws </a:t>
            </a:r>
            <a:r>
              <a:rPr lang="en-US" dirty="0">
                <a:solidFill>
                  <a:srgbClr val="FF0000"/>
                </a:solidFill>
              </a:rPr>
              <a:t>a conclusion from </a:t>
            </a:r>
            <a:r>
              <a:rPr lang="en-US" dirty="0" smtClean="0">
                <a:solidFill>
                  <a:srgbClr val="FF0000"/>
                </a:solidFill>
              </a:rPr>
              <a:t>the available </a:t>
            </a:r>
            <a:r>
              <a:rPr lang="en-US" dirty="0">
                <a:solidFill>
                  <a:srgbClr val="FF0000"/>
                </a:solidFill>
              </a:rPr>
              <a:t>information, that </a:t>
            </a:r>
            <a:r>
              <a:rPr lang="en-US" dirty="0" smtClean="0">
                <a:solidFill>
                  <a:srgbClr val="FF0000"/>
                </a:solidFill>
              </a:rPr>
              <a:t>conclusion is </a:t>
            </a:r>
            <a:r>
              <a:rPr lang="en-US" dirty="0">
                <a:solidFill>
                  <a:srgbClr val="FF0000"/>
                </a:solidFill>
              </a:rPr>
              <a:t>guaranteed to be correct if </a:t>
            </a:r>
            <a:r>
              <a:rPr lang="en-US" dirty="0" smtClean="0">
                <a:solidFill>
                  <a:srgbClr val="FF0000"/>
                </a:solidFill>
              </a:rPr>
              <a:t>the available </a:t>
            </a:r>
            <a:r>
              <a:rPr lang="en-US" dirty="0">
                <a:solidFill>
                  <a:srgbClr val="FF0000"/>
                </a:solidFill>
              </a:rPr>
              <a:t>information is 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26</a:t>
            </a:fld>
            <a:endParaRPr lang="en-US" dirty="0">
              <a:latin typeface="+mn-lt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0"/>
            <a:ext cx="3733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01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Logic must define: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Syntax </a:t>
            </a:r>
            <a:r>
              <a:rPr lang="en-US" dirty="0"/>
              <a:t>of the representation </a:t>
            </a:r>
            <a:r>
              <a:rPr lang="en-US" dirty="0" smtClean="0"/>
              <a:t>language </a:t>
            </a:r>
          </a:p>
          <a:p>
            <a:pPr lvl="1" algn="just"/>
            <a:r>
              <a:rPr lang="en-US" dirty="0" smtClean="0"/>
              <a:t>Symbols</a:t>
            </a:r>
            <a:r>
              <a:rPr lang="en-US" dirty="0"/>
              <a:t>, rules, legal configurations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Semantics </a:t>
            </a:r>
            <a:r>
              <a:rPr lang="en-US" dirty="0"/>
              <a:t>of the representation language</a:t>
            </a:r>
          </a:p>
          <a:p>
            <a:pPr lvl="1" algn="just"/>
            <a:r>
              <a:rPr lang="en-US" dirty="0" smtClean="0"/>
              <a:t>Loosely </a:t>
            </a:r>
            <a:r>
              <a:rPr lang="en-US" dirty="0"/>
              <a:t>speaking, this is the “meaning” of </a:t>
            </a:r>
            <a:r>
              <a:rPr lang="en-US" dirty="0" smtClean="0"/>
              <a:t>the sentence</a:t>
            </a:r>
            <a:endParaRPr lang="en-US" dirty="0"/>
          </a:p>
          <a:p>
            <a:pPr lvl="1" algn="just"/>
            <a:r>
              <a:rPr lang="en-US" dirty="0" smtClean="0"/>
              <a:t>Defines </a:t>
            </a:r>
            <a:r>
              <a:rPr lang="en-US" dirty="0"/>
              <a:t>the truth of each sentence </a:t>
            </a:r>
            <a:r>
              <a:rPr lang="en-US" dirty="0" smtClean="0"/>
              <a:t>with respect </a:t>
            </a:r>
            <a:r>
              <a:rPr lang="en-US" dirty="0"/>
              <a:t>to each possible world</a:t>
            </a:r>
          </a:p>
          <a:p>
            <a:pPr lvl="1" algn="just"/>
            <a:r>
              <a:rPr lang="en-US" dirty="0" smtClean="0"/>
              <a:t>Everything </a:t>
            </a:r>
            <a:r>
              <a:rPr lang="en-US" dirty="0"/>
              <a:t>is either true or false, no </a:t>
            </a:r>
            <a:r>
              <a:rPr lang="en-US" dirty="0" smtClean="0"/>
              <a:t>in between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We will use the word model instead of “</a:t>
            </a:r>
            <a:r>
              <a:rPr lang="en-US" dirty="0" smtClean="0"/>
              <a:t>possible world</a:t>
            </a:r>
            <a:r>
              <a:rPr lang="en-US" dirty="0"/>
              <a:t>”</a:t>
            </a:r>
          </a:p>
          <a:p>
            <a:pPr algn="just"/>
            <a:r>
              <a:rPr lang="en-US" dirty="0" smtClean="0"/>
              <a:t>“</a:t>
            </a:r>
            <a:r>
              <a:rPr lang="en-US" dirty="0"/>
              <a:t>m is a model of α” means that sentence α is </a:t>
            </a:r>
            <a:r>
              <a:rPr lang="en-US" dirty="0" smtClean="0"/>
              <a:t>true in </a:t>
            </a:r>
            <a:r>
              <a:rPr lang="en-US" dirty="0"/>
              <a:t>model m</a:t>
            </a:r>
          </a:p>
          <a:p>
            <a:pPr algn="just"/>
            <a:r>
              <a:rPr lang="en-US" dirty="0" smtClean="0"/>
              <a:t>Models </a:t>
            </a:r>
            <a:r>
              <a:rPr lang="en-US" dirty="0"/>
              <a:t>are mathematical abstractions which </a:t>
            </a:r>
            <a:r>
              <a:rPr lang="en-US" dirty="0" smtClean="0"/>
              <a:t>fixes the </a:t>
            </a:r>
            <a:r>
              <a:rPr lang="en-US" dirty="0"/>
              <a:t>truth or falsehood of every relevant sentence</a:t>
            </a:r>
          </a:p>
          <a:p>
            <a:pPr algn="just"/>
            <a:r>
              <a:rPr lang="en-US" dirty="0" smtClean="0"/>
              <a:t>Think </a:t>
            </a:r>
            <a:r>
              <a:rPr lang="en-US" dirty="0"/>
              <a:t>of it as the possible assignments of </a:t>
            </a:r>
            <a:r>
              <a:rPr lang="en-US" dirty="0" smtClean="0"/>
              <a:t>values to </a:t>
            </a:r>
            <a:r>
              <a:rPr lang="en-US" dirty="0"/>
              <a:t>the variables</a:t>
            </a:r>
          </a:p>
          <a:p>
            <a:pPr lvl="1" algn="just"/>
            <a:r>
              <a:rPr lang="en-US" dirty="0" smtClean="0"/>
              <a:t>e.g., the possible models for x + y = 4 are all possible assignments of numbers to x and y such that they add up to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28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Entailment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α |= β means α entails β </a:t>
            </a:r>
            <a:r>
              <a:rPr lang="en-US" dirty="0" smtClean="0"/>
              <a:t>i.e., </a:t>
            </a:r>
            <a:r>
              <a:rPr lang="en-US" dirty="0"/>
              <a:t>β follows </a:t>
            </a:r>
            <a:r>
              <a:rPr lang="en-US" dirty="0" smtClean="0"/>
              <a:t>logically from </a:t>
            </a:r>
            <a:r>
              <a:rPr lang="en-US" dirty="0"/>
              <a:t>α, where α and β are sentences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Mathematically</a:t>
            </a:r>
            <a:r>
              <a:rPr lang="en-US" dirty="0"/>
              <a:t>, α |= β if and only if in </a:t>
            </a:r>
            <a:r>
              <a:rPr lang="en-US" dirty="0" smtClean="0"/>
              <a:t>every model </a:t>
            </a:r>
            <a:r>
              <a:rPr lang="en-US" dirty="0"/>
              <a:t>in which α is true, β is also true.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Another </a:t>
            </a:r>
            <a:r>
              <a:rPr lang="en-US" dirty="0"/>
              <a:t>way: if α is true, then β must also </a:t>
            </a:r>
            <a:r>
              <a:rPr lang="en-US" dirty="0" smtClean="0"/>
              <a:t>be true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29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604069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228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Entailment Applied to the </a:t>
            </a:r>
            <a:r>
              <a:rPr lang="en-US" b="1" dirty="0" err="1" smtClean="0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 smtClean="0">
                <a:solidFill>
                  <a:schemeClr val="accent2"/>
                </a:solidFill>
                <a:latin typeface="+mn-lt"/>
              </a:rPr>
              <a:t> World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31</a:t>
            </a:fld>
            <a:endParaRPr lang="en-US" dirty="0">
              <a:latin typeface="+mn-lt"/>
            </a:endParaRPr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8458199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Entailment Applied to the </a:t>
            </a:r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32</a:t>
            </a:fld>
            <a:endParaRPr lang="en-US" dirty="0">
              <a:latin typeface="+mn-lt"/>
            </a:endParaRP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8200"/>
            <a:ext cx="8686800" cy="556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Entailment Applied to the </a:t>
            </a:r>
            <a:r>
              <a:rPr lang="en-US" b="1" dirty="0" err="1">
                <a:solidFill>
                  <a:schemeClr val="accent2"/>
                </a:solidFill>
                <a:latin typeface="+mn-lt"/>
              </a:rPr>
              <a:t>Wumpus</a:t>
            </a:r>
            <a:r>
              <a:rPr lang="en-US" b="1" dirty="0">
                <a:solidFill>
                  <a:schemeClr val="accent2"/>
                </a:solidFill>
                <a:latin typeface="+mn-lt"/>
              </a:rPr>
              <a:t> 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33</a:t>
            </a:fld>
            <a:endParaRPr lang="en-US" dirty="0">
              <a:latin typeface="+mn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200"/>
            <a:ext cx="86868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inference algorithm illustrated </a:t>
            </a:r>
            <a:r>
              <a:rPr lang="en-US" dirty="0" smtClean="0"/>
              <a:t>in the preceding slides is </a:t>
            </a:r>
            <a:r>
              <a:rPr lang="en-US" dirty="0"/>
              <a:t>called model checking, because it </a:t>
            </a:r>
            <a:r>
              <a:rPr lang="en-US" dirty="0" smtClean="0"/>
              <a:t>enumerates all </a:t>
            </a:r>
            <a:r>
              <a:rPr lang="en-US" dirty="0"/>
              <a:t>possible models to check that α is true in all models in which KB is true, that </a:t>
            </a:r>
            <a:r>
              <a:rPr lang="en-US" dirty="0" smtClean="0"/>
              <a:t>is, that </a:t>
            </a:r>
            <a:r>
              <a:rPr lang="en-US" dirty="0"/>
              <a:t>M(KB) ⊆ M(α).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2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Logical </a:t>
            </a:r>
            <a:r>
              <a:rPr lang="en-US" b="1" dirty="0" smtClean="0">
                <a:solidFill>
                  <a:schemeClr val="accent2"/>
                </a:solidFill>
                <a:latin typeface="+mn-lt"/>
              </a:rPr>
              <a:t>Inference</a:t>
            </a:r>
            <a:endParaRPr lang="en-US" b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Entailment can be applied to derive </a:t>
            </a:r>
            <a:r>
              <a:rPr lang="en-US" dirty="0" smtClean="0"/>
              <a:t>conclusions (</a:t>
            </a:r>
            <a:r>
              <a:rPr lang="en-US" dirty="0"/>
              <a:t>we call this carrying out logical inference)</a:t>
            </a:r>
          </a:p>
          <a:p>
            <a:pPr algn="just"/>
            <a:r>
              <a:rPr lang="en-US" dirty="0" smtClean="0"/>
              <a:t>Model </a:t>
            </a:r>
            <a:r>
              <a:rPr lang="en-US" dirty="0"/>
              <a:t>checking: enumerates all possible </a:t>
            </a:r>
            <a:r>
              <a:rPr lang="en-US" dirty="0" smtClean="0"/>
              <a:t>models to </a:t>
            </a:r>
            <a:r>
              <a:rPr lang="en-US" dirty="0"/>
              <a:t>check that α is true in all models in which KB </a:t>
            </a:r>
            <a:r>
              <a:rPr lang="en-US" dirty="0" smtClean="0"/>
              <a:t>is true</a:t>
            </a:r>
            <a:endParaRPr lang="en-US" dirty="0"/>
          </a:p>
          <a:p>
            <a:pPr algn="just"/>
            <a:r>
              <a:rPr lang="en-US" dirty="0" smtClean="0"/>
              <a:t>If </a:t>
            </a:r>
            <a:r>
              <a:rPr lang="en-US" dirty="0"/>
              <a:t>an inference algorithm </a:t>
            </a:r>
            <a:r>
              <a:rPr lang="en-US" i="1" dirty="0"/>
              <a:t>i </a:t>
            </a:r>
            <a:r>
              <a:rPr lang="en-US" dirty="0"/>
              <a:t>can derive α from </a:t>
            </a:r>
            <a:r>
              <a:rPr lang="en-US" dirty="0" smtClean="0"/>
              <a:t>the KB</a:t>
            </a:r>
            <a:r>
              <a:rPr lang="en-US" dirty="0"/>
              <a:t>, we write KB |- 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l-GR" dirty="0" smtClean="0"/>
              <a:t>α</a:t>
            </a:r>
            <a:r>
              <a:rPr lang="en-US" dirty="0" smtClean="0"/>
              <a:t> </a:t>
            </a:r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above is pronounced “α is derived from </a:t>
            </a:r>
            <a:r>
              <a:rPr lang="en-US" dirty="0" smtClean="0"/>
              <a:t>KB by </a:t>
            </a:r>
            <a:r>
              <a:rPr lang="en-US" i="1" dirty="0"/>
              <a:t>i</a:t>
            </a:r>
            <a:r>
              <a:rPr lang="en-US" dirty="0"/>
              <a:t>” or “</a:t>
            </a:r>
            <a:r>
              <a:rPr lang="en-US" i="1" dirty="0"/>
              <a:t>i </a:t>
            </a:r>
            <a:r>
              <a:rPr lang="en-US" dirty="0"/>
              <a:t>derives α from KB”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35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Soundness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An inference algorithm that derives </a:t>
            </a:r>
            <a:r>
              <a:rPr lang="en-US" dirty="0" smtClean="0"/>
              <a:t>only entailed </a:t>
            </a:r>
            <a:r>
              <a:rPr lang="en-US" dirty="0"/>
              <a:t>sentences is called </a:t>
            </a:r>
            <a:r>
              <a:rPr lang="en-US" dirty="0">
                <a:solidFill>
                  <a:srgbClr val="FF0000"/>
                </a:solidFill>
              </a:rPr>
              <a:t>sound</a:t>
            </a:r>
            <a:r>
              <a:rPr lang="en-US" dirty="0"/>
              <a:t> or </a:t>
            </a:r>
            <a:r>
              <a:rPr lang="en-US" dirty="0" smtClean="0">
                <a:solidFill>
                  <a:srgbClr val="FF0000"/>
                </a:solidFill>
              </a:rPr>
              <a:t>truth-preserving</a:t>
            </a:r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Soundness </a:t>
            </a:r>
            <a:r>
              <a:rPr lang="en-US" dirty="0"/>
              <a:t>is a good thing!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an inference algorithm is unsound, </a:t>
            </a:r>
            <a:r>
              <a:rPr lang="en-US" dirty="0" smtClean="0"/>
              <a:t>you can </a:t>
            </a:r>
            <a:r>
              <a:rPr lang="en-US" dirty="0"/>
              <a:t>make things up as it goes along </a:t>
            </a:r>
            <a:r>
              <a:rPr lang="en-US" dirty="0" smtClean="0"/>
              <a:t>and derive </a:t>
            </a:r>
            <a:r>
              <a:rPr lang="en-US" dirty="0"/>
              <a:t>basically anything it wants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36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An inference algorithm is </a:t>
            </a:r>
            <a:r>
              <a:rPr lang="en-US" dirty="0">
                <a:solidFill>
                  <a:srgbClr val="FF0000"/>
                </a:solidFill>
              </a:rPr>
              <a:t>complete</a:t>
            </a:r>
            <a:r>
              <a:rPr lang="en-US" dirty="0"/>
              <a:t> if it </a:t>
            </a:r>
            <a:r>
              <a:rPr lang="en-US" dirty="0" smtClean="0"/>
              <a:t>can derive </a:t>
            </a:r>
            <a:r>
              <a:rPr lang="en-US" dirty="0"/>
              <a:t>any sentence that is entailed</a:t>
            </a:r>
          </a:p>
          <a:p>
            <a:pPr algn="just"/>
            <a:r>
              <a:rPr lang="en-US" dirty="0" smtClean="0"/>
              <a:t>For </a:t>
            </a:r>
            <a:r>
              <a:rPr lang="en-US" dirty="0"/>
              <a:t>some KBs, the number of sentences </a:t>
            </a:r>
            <a:r>
              <a:rPr lang="en-US" dirty="0" smtClean="0"/>
              <a:t>can be </a:t>
            </a:r>
            <a:r>
              <a:rPr lang="en-US" dirty="0"/>
              <a:t>infinite</a:t>
            </a:r>
          </a:p>
          <a:p>
            <a:pPr algn="just"/>
            <a:r>
              <a:rPr lang="en-US" dirty="0" smtClean="0"/>
              <a:t>Can’t </a:t>
            </a:r>
            <a:r>
              <a:rPr lang="en-US" dirty="0"/>
              <a:t>exhaustively check all of them, </a:t>
            </a:r>
            <a:r>
              <a:rPr lang="en-US" dirty="0" smtClean="0"/>
              <a:t>need to </a:t>
            </a:r>
            <a:r>
              <a:rPr lang="en-US" dirty="0"/>
              <a:t>rely on proving 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37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+mn-lt"/>
              </a:rPr>
              <a:t>In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Soundness: </a:t>
            </a:r>
            <a:r>
              <a:rPr lang="en-US" i="1" dirty="0"/>
              <a:t>i </a:t>
            </a:r>
            <a:r>
              <a:rPr lang="en-US" dirty="0"/>
              <a:t>is sound if whenever KB |- </a:t>
            </a:r>
            <a:r>
              <a:rPr lang="en-US" baseline="-25000" dirty="0"/>
              <a:t>i</a:t>
            </a:r>
            <a:r>
              <a:rPr lang="en-US" dirty="0"/>
              <a:t> α</a:t>
            </a:r>
            <a:r>
              <a:rPr lang="en-US" dirty="0" smtClean="0"/>
              <a:t>, it </a:t>
            </a:r>
            <a:r>
              <a:rPr lang="en-US" dirty="0"/>
              <a:t>is also true that KB |= α</a:t>
            </a:r>
          </a:p>
          <a:p>
            <a:pPr algn="just"/>
            <a:r>
              <a:rPr lang="en-US" dirty="0" smtClean="0"/>
              <a:t>Completeness</a:t>
            </a:r>
            <a:r>
              <a:rPr lang="en-US" dirty="0"/>
              <a:t>: </a:t>
            </a:r>
            <a:r>
              <a:rPr lang="en-US" i="1" dirty="0"/>
              <a:t>i </a:t>
            </a:r>
            <a:r>
              <a:rPr lang="en-US" dirty="0"/>
              <a:t>is complete if whenever </a:t>
            </a:r>
            <a:r>
              <a:rPr lang="en-US" i="1" dirty="0" smtClean="0"/>
              <a:t>KB </a:t>
            </a:r>
            <a:r>
              <a:rPr lang="en-US" dirty="0" smtClean="0"/>
              <a:t>|= </a:t>
            </a:r>
            <a:r>
              <a:rPr lang="en-US" dirty="0"/>
              <a:t>α, it is also true that </a:t>
            </a:r>
            <a:r>
              <a:rPr lang="en-US" i="1" dirty="0"/>
              <a:t>KB </a:t>
            </a:r>
            <a:r>
              <a:rPr lang="en-US" dirty="0"/>
              <a:t>|-</a:t>
            </a:r>
            <a:r>
              <a:rPr lang="en-US" baseline="-25000" dirty="0"/>
              <a:t>i</a:t>
            </a:r>
            <a:r>
              <a:rPr lang="en-US" dirty="0"/>
              <a:t> 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38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Correspondence to the Real World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If the KB is true in the real world, then any sentence </a:t>
            </a:r>
            <a:r>
              <a:rPr lang="en-US" dirty="0" smtClean="0"/>
              <a:t>α derived </a:t>
            </a:r>
            <a:r>
              <a:rPr lang="en-US" dirty="0"/>
              <a:t>from the KB by a sound inference procedure is </a:t>
            </a:r>
            <a:r>
              <a:rPr lang="en-US" dirty="0" smtClean="0"/>
              <a:t>also true </a:t>
            </a:r>
            <a:r>
              <a:rPr lang="en-US" dirty="0"/>
              <a:t>in the real world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39</a:t>
            </a:fld>
            <a:endParaRPr lang="en-US" dirty="0">
              <a:latin typeface="+mn-lt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81275"/>
            <a:ext cx="7848600" cy="336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203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Grounding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Defined as the connection, if any, between </a:t>
            </a:r>
            <a:r>
              <a:rPr lang="en-US" dirty="0" smtClean="0"/>
              <a:t>logical reasoning </a:t>
            </a:r>
            <a:r>
              <a:rPr lang="en-US" dirty="0"/>
              <a:t>processes and the real environment </a:t>
            </a:r>
            <a:r>
              <a:rPr lang="en-US" dirty="0" smtClean="0"/>
              <a:t>in which </a:t>
            </a:r>
            <a:r>
              <a:rPr lang="en-US" dirty="0"/>
              <a:t>the agent exists</a:t>
            </a:r>
          </a:p>
          <a:p>
            <a:pPr algn="just"/>
            <a:r>
              <a:rPr lang="en-US" dirty="0" smtClean="0"/>
              <a:t>How </a:t>
            </a:r>
            <a:r>
              <a:rPr lang="en-US" dirty="0"/>
              <a:t>do we know that the KB is true in the </a:t>
            </a:r>
            <a:r>
              <a:rPr lang="en-US" dirty="0" smtClean="0"/>
              <a:t>real world</a:t>
            </a:r>
            <a:r>
              <a:rPr lang="en-US" dirty="0"/>
              <a:t>?</a:t>
            </a:r>
          </a:p>
          <a:p>
            <a:pPr algn="just"/>
            <a:r>
              <a:rPr lang="en-US" dirty="0" smtClean="0"/>
              <a:t>Deep </a:t>
            </a:r>
            <a:r>
              <a:rPr lang="en-US" dirty="0"/>
              <a:t>philosophical question</a:t>
            </a:r>
          </a:p>
          <a:p>
            <a:pPr algn="just"/>
            <a:r>
              <a:rPr lang="en-US" dirty="0" smtClean="0"/>
              <a:t>We’ll </a:t>
            </a:r>
            <a:r>
              <a:rPr lang="en-US" dirty="0"/>
              <a:t>respond with the following:</a:t>
            </a:r>
          </a:p>
          <a:p>
            <a:pPr lvl="1" algn="just"/>
            <a:r>
              <a:rPr lang="en-US" dirty="0" smtClean="0"/>
              <a:t>Rely </a:t>
            </a:r>
            <a:r>
              <a:rPr lang="en-US" dirty="0"/>
              <a:t>on sensors to accurately perceive the world</a:t>
            </a:r>
          </a:p>
          <a:p>
            <a:pPr lvl="1" algn="just"/>
            <a:r>
              <a:rPr lang="en-US" dirty="0" smtClean="0"/>
              <a:t>Learning </a:t>
            </a:r>
            <a:r>
              <a:rPr lang="en-US" dirty="0"/>
              <a:t>produces general rules (derived </a:t>
            </a:r>
            <a:r>
              <a:rPr lang="en-US" dirty="0" smtClean="0"/>
              <a:t>from perceptual </a:t>
            </a:r>
            <a:r>
              <a:rPr lang="en-US" dirty="0"/>
              <a:t>experience). Learning can be fallible but </a:t>
            </a:r>
            <a:r>
              <a:rPr lang="en-US" dirty="0" smtClean="0"/>
              <a:t>it has </a:t>
            </a:r>
            <a:r>
              <a:rPr lang="en-US" dirty="0"/>
              <a:t>the potential to fix its mistakes.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6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Things you should know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Properties of a knowledge-based agent</a:t>
            </a:r>
          </a:p>
          <a:p>
            <a:pPr algn="just"/>
            <a:r>
              <a:rPr lang="en-US" dirty="0" smtClean="0"/>
              <a:t>What </a:t>
            </a:r>
            <a:r>
              <a:rPr lang="en-US" dirty="0"/>
              <a:t>a knowledge-base is</a:t>
            </a:r>
          </a:p>
          <a:p>
            <a:pPr algn="just"/>
            <a:r>
              <a:rPr lang="en-US" dirty="0" smtClean="0"/>
              <a:t>What </a:t>
            </a:r>
            <a:r>
              <a:rPr lang="en-US" dirty="0"/>
              <a:t>entailment and inference mean</a:t>
            </a:r>
          </a:p>
          <a:p>
            <a:pPr algn="just"/>
            <a:r>
              <a:rPr lang="en-US" dirty="0" smtClean="0"/>
              <a:t>Desirable </a:t>
            </a:r>
            <a:r>
              <a:rPr lang="en-US" dirty="0"/>
              <a:t>properties of inference </a:t>
            </a:r>
            <a:r>
              <a:rPr lang="en-US" dirty="0" smtClean="0"/>
              <a:t>algorithms such </a:t>
            </a:r>
            <a:r>
              <a:rPr lang="en-US" dirty="0"/>
              <a:t>as soundness and 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41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6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Review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 smtClean="0"/>
              <a:t>|= </a:t>
            </a:r>
            <a:r>
              <a:rPr lang="en-US" dirty="0"/>
              <a:t>means “logically follows”</a:t>
            </a:r>
          </a:p>
          <a:p>
            <a:pPr algn="just"/>
            <a:r>
              <a:rPr lang="en-US" dirty="0" smtClean="0"/>
              <a:t>|-</a:t>
            </a:r>
            <a:r>
              <a:rPr lang="en-US" baseline="-25000" dirty="0"/>
              <a:t>i</a:t>
            </a:r>
            <a:r>
              <a:rPr lang="en-US" dirty="0"/>
              <a:t> means “can be derived from”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your inference algorithm derives </a:t>
            </a:r>
            <a:r>
              <a:rPr lang="en-US" dirty="0" smtClean="0"/>
              <a:t>only things </a:t>
            </a:r>
            <a:r>
              <a:rPr lang="en-US" dirty="0"/>
              <a:t>that follow logically from the KB</a:t>
            </a:r>
            <a:r>
              <a:rPr lang="en-US" dirty="0" smtClean="0"/>
              <a:t>, the </a:t>
            </a:r>
            <a:r>
              <a:rPr lang="en-US" dirty="0"/>
              <a:t>inference is sound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everything that follows logically from </a:t>
            </a:r>
            <a:r>
              <a:rPr lang="en-US" dirty="0" smtClean="0"/>
              <a:t>the KB </a:t>
            </a:r>
            <a:r>
              <a:rPr lang="en-US" dirty="0"/>
              <a:t>can be derived using your </a:t>
            </a:r>
            <a:r>
              <a:rPr lang="en-US" dirty="0" smtClean="0"/>
              <a:t>inference algorithm</a:t>
            </a:r>
            <a:r>
              <a:rPr lang="en-US" dirty="0"/>
              <a:t>, the inference is complete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42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6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" y="2130425"/>
            <a:ext cx="8305800" cy="1470025"/>
          </a:xfrm>
        </p:spPr>
        <p:txBody>
          <a:bodyPr/>
          <a:lstStyle/>
          <a:p>
            <a:r>
              <a:rPr lang="en-US" dirty="0">
                <a:latin typeface="+mn-lt"/>
              </a:rPr>
              <a:t>Propositional Logic: Syntax </a:t>
            </a:r>
            <a:r>
              <a:rPr lang="en-US" dirty="0" smtClean="0">
                <a:latin typeface="+mn-lt"/>
              </a:rPr>
              <a:t>and Semantics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43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6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838200"/>
          </a:xfrm>
        </p:spPr>
        <p:txBody>
          <a:bodyPr/>
          <a:lstStyle/>
          <a:p>
            <a:pPr algn="l"/>
            <a:r>
              <a:rPr lang="en-US" dirty="0">
                <a:latin typeface="+mn-lt"/>
              </a:rPr>
              <a:t>Syntax: Backus-Naur Form </a:t>
            </a:r>
            <a:r>
              <a:rPr lang="en-US" dirty="0" smtClean="0">
                <a:latin typeface="+mn-lt"/>
              </a:rPr>
              <a:t>Grammar of Sentences </a:t>
            </a:r>
            <a:r>
              <a:rPr lang="en-US" dirty="0">
                <a:latin typeface="+mn-lt"/>
              </a:rPr>
              <a:t>in </a:t>
            </a:r>
            <a:r>
              <a:rPr lang="en-US" dirty="0" smtClean="0">
                <a:latin typeface="+mn-lt"/>
              </a:rPr>
              <a:t>Propositional Logic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486400"/>
          </a:xfrm>
        </p:spPr>
        <p:txBody>
          <a:bodyPr/>
          <a:lstStyle/>
          <a:p>
            <a:pPr algn="just"/>
            <a:r>
              <a:rPr lang="en-US" dirty="0" smtClean="0"/>
              <a:t>Sentence </a:t>
            </a:r>
            <a:r>
              <a:rPr lang="en-US" dirty="0"/>
              <a:t>→ </a:t>
            </a:r>
            <a:r>
              <a:rPr lang="en-US" dirty="0" err="1"/>
              <a:t>AtomicSentence</a:t>
            </a:r>
            <a:r>
              <a:rPr lang="en-US" dirty="0"/>
              <a:t> | </a:t>
            </a:r>
            <a:r>
              <a:rPr lang="en-US" dirty="0" err="1"/>
              <a:t>ComplexSentence</a:t>
            </a:r>
            <a:endParaRPr lang="en-US" dirty="0"/>
          </a:p>
          <a:p>
            <a:pPr algn="just"/>
            <a:r>
              <a:rPr lang="en-US" dirty="0" err="1"/>
              <a:t>AtomicSentence</a:t>
            </a:r>
            <a:r>
              <a:rPr lang="en-US" dirty="0"/>
              <a:t> → </a:t>
            </a:r>
            <a:r>
              <a:rPr lang="en-US" b="1" dirty="0"/>
              <a:t>True </a:t>
            </a:r>
            <a:r>
              <a:rPr lang="en-US" dirty="0"/>
              <a:t>| </a:t>
            </a:r>
            <a:r>
              <a:rPr lang="en-US" b="1" dirty="0"/>
              <a:t>False </a:t>
            </a:r>
            <a:r>
              <a:rPr lang="en-US" dirty="0"/>
              <a:t>| Symbol</a:t>
            </a:r>
          </a:p>
          <a:p>
            <a:pPr algn="just"/>
            <a:r>
              <a:rPr lang="en-US" dirty="0"/>
              <a:t>Symbol → </a:t>
            </a:r>
            <a:r>
              <a:rPr lang="en-US" b="1" dirty="0"/>
              <a:t>P </a:t>
            </a:r>
            <a:r>
              <a:rPr lang="en-US" dirty="0"/>
              <a:t>| </a:t>
            </a:r>
            <a:r>
              <a:rPr lang="en-US" b="1" dirty="0"/>
              <a:t>Q </a:t>
            </a:r>
            <a:r>
              <a:rPr lang="en-US" dirty="0"/>
              <a:t>| </a:t>
            </a:r>
            <a:r>
              <a:rPr lang="en-US" b="1" dirty="0"/>
              <a:t>R </a:t>
            </a:r>
            <a:r>
              <a:rPr lang="en-US" dirty="0"/>
              <a:t>| …</a:t>
            </a:r>
          </a:p>
          <a:p>
            <a:pPr algn="just"/>
            <a:r>
              <a:rPr lang="en-US" dirty="0" err="1"/>
              <a:t>ComplexSentence</a:t>
            </a:r>
            <a:r>
              <a:rPr lang="en-US" dirty="0"/>
              <a:t> → ¬ Sentence</a:t>
            </a:r>
          </a:p>
          <a:p>
            <a:pPr marL="400050" lvl="1" indent="0" algn="just">
              <a:buNone/>
            </a:pPr>
            <a:r>
              <a:rPr lang="en-US" dirty="0"/>
              <a:t>| ( Sentence ∧ Sentence )</a:t>
            </a:r>
          </a:p>
          <a:p>
            <a:pPr marL="400050" lvl="1" indent="0" algn="just">
              <a:buNone/>
            </a:pPr>
            <a:r>
              <a:rPr lang="en-US" dirty="0"/>
              <a:t>| ( Sentence ∨ Sentence )</a:t>
            </a:r>
          </a:p>
          <a:p>
            <a:pPr marL="400050" lvl="1" indent="0" algn="just">
              <a:buNone/>
            </a:pPr>
            <a:r>
              <a:rPr lang="en-US" dirty="0"/>
              <a:t>| ( Sentence ⇒ Sentence )</a:t>
            </a:r>
          </a:p>
          <a:p>
            <a:pPr marL="400050" lvl="1" indent="0" algn="just">
              <a:buNone/>
            </a:pPr>
            <a:r>
              <a:rPr lang="en-US" dirty="0"/>
              <a:t>| ( Sentence ⇔ Sentence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44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643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Atomic Sentences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The indivisible syntactic elements</a:t>
            </a:r>
          </a:p>
          <a:p>
            <a:pPr algn="just"/>
            <a:r>
              <a:rPr lang="en-US" dirty="0" smtClean="0"/>
              <a:t>Consist </a:t>
            </a:r>
            <a:r>
              <a:rPr lang="en-US" dirty="0"/>
              <a:t>of a single propositional symbol </a:t>
            </a:r>
            <a:r>
              <a:rPr lang="en-US" dirty="0" smtClean="0"/>
              <a:t>e.g., P</a:t>
            </a:r>
            <a:r>
              <a:rPr lang="en-US" dirty="0"/>
              <a:t>, Q, R that stands for a proposition that </a:t>
            </a:r>
            <a:r>
              <a:rPr lang="en-US" dirty="0" smtClean="0"/>
              <a:t>can be </a:t>
            </a:r>
            <a:r>
              <a:rPr lang="en-US" dirty="0"/>
              <a:t>true or false </a:t>
            </a:r>
            <a:r>
              <a:rPr lang="en-US" dirty="0" err="1"/>
              <a:t>eg</a:t>
            </a:r>
            <a:r>
              <a:rPr lang="en-US" dirty="0"/>
              <a:t>. P=true, Q=false</a:t>
            </a:r>
          </a:p>
          <a:p>
            <a:pPr algn="just"/>
            <a:r>
              <a:rPr lang="en-US" dirty="0" smtClean="0"/>
              <a:t>We </a:t>
            </a:r>
            <a:r>
              <a:rPr lang="en-US" dirty="0"/>
              <a:t>also call an atomic sentence a </a:t>
            </a:r>
            <a:r>
              <a:rPr lang="en-US" dirty="0">
                <a:solidFill>
                  <a:srgbClr val="FF0000"/>
                </a:solidFill>
              </a:rPr>
              <a:t>literal</a:t>
            </a:r>
          </a:p>
          <a:p>
            <a:pPr algn="just"/>
            <a:r>
              <a:rPr lang="en-US" dirty="0" smtClean="0"/>
              <a:t>2 </a:t>
            </a:r>
            <a:r>
              <a:rPr lang="en-US" dirty="0"/>
              <a:t>special propositional symbols:</a:t>
            </a:r>
          </a:p>
          <a:p>
            <a:pPr lvl="1" algn="just"/>
            <a:r>
              <a:rPr lang="en-US" dirty="0" smtClean="0"/>
              <a:t>True </a:t>
            </a:r>
            <a:r>
              <a:rPr lang="en-US" dirty="0"/>
              <a:t>(the always true proposition)</a:t>
            </a:r>
          </a:p>
          <a:p>
            <a:pPr lvl="1" algn="just"/>
            <a:r>
              <a:rPr lang="en-US" dirty="0" smtClean="0"/>
              <a:t>False </a:t>
            </a:r>
            <a:r>
              <a:rPr lang="en-US" dirty="0"/>
              <a:t>(the always false proposition)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Complex Sentences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Made up of sentences (either complex or atomic)</a:t>
            </a:r>
          </a:p>
          <a:p>
            <a:pPr algn="just"/>
            <a:r>
              <a:rPr lang="en-US" dirty="0" smtClean="0"/>
              <a:t>5 </a:t>
            </a:r>
            <a:r>
              <a:rPr lang="en-US" dirty="0"/>
              <a:t>common logical connectives:</a:t>
            </a:r>
          </a:p>
          <a:p>
            <a:pPr marL="457200" lvl="1" indent="0" algn="just">
              <a:buNone/>
            </a:pPr>
            <a:r>
              <a:rPr lang="en-US" dirty="0" smtClean="0"/>
              <a:t>¬ </a:t>
            </a:r>
            <a:r>
              <a:rPr lang="en-US" dirty="0"/>
              <a:t>(not): negates a literal</a:t>
            </a:r>
          </a:p>
          <a:p>
            <a:pPr marL="457200" lvl="1" indent="0" algn="just">
              <a:buNone/>
            </a:pPr>
            <a:r>
              <a:rPr lang="en-US" dirty="0" smtClean="0"/>
              <a:t>∧ </a:t>
            </a:r>
            <a:r>
              <a:rPr lang="en-US" dirty="0"/>
              <a:t>(and): conjunction </a:t>
            </a:r>
            <a:r>
              <a:rPr lang="en-US" dirty="0" smtClean="0"/>
              <a:t>e.g., </a:t>
            </a:r>
            <a:r>
              <a:rPr lang="en-US" dirty="0"/>
              <a:t>P ∧ Q where P and Q </a:t>
            </a:r>
            <a:r>
              <a:rPr lang="en-US" dirty="0" smtClean="0"/>
              <a:t>are called </a:t>
            </a:r>
            <a:r>
              <a:rPr lang="en-US" dirty="0"/>
              <a:t>the conjuncts</a:t>
            </a:r>
          </a:p>
          <a:p>
            <a:pPr marL="457200" lvl="1" indent="0" algn="just">
              <a:buNone/>
            </a:pPr>
            <a:r>
              <a:rPr lang="en-US" dirty="0" smtClean="0"/>
              <a:t>∨ </a:t>
            </a:r>
            <a:r>
              <a:rPr lang="en-US" dirty="0"/>
              <a:t>(or): disjunction </a:t>
            </a:r>
            <a:r>
              <a:rPr lang="en-US" dirty="0" smtClean="0"/>
              <a:t>e.g., </a:t>
            </a:r>
            <a:r>
              <a:rPr lang="en-US" dirty="0"/>
              <a:t>P ∨ Q where P and Q are </a:t>
            </a:r>
            <a:r>
              <a:rPr lang="en-US" dirty="0" smtClean="0"/>
              <a:t>called the </a:t>
            </a:r>
            <a:r>
              <a:rPr lang="en-US" dirty="0" err="1"/>
              <a:t>disjuncts</a:t>
            </a:r>
            <a:endParaRPr lang="en-US" dirty="0"/>
          </a:p>
          <a:p>
            <a:pPr marL="457200" lvl="1" indent="0" algn="just">
              <a:buNone/>
            </a:pPr>
            <a:r>
              <a:rPr lang="en-US" dirty="0" smtClean="0"/>
              <a:t>⇒ </a:t>
            </a:r>
            <a:r>
              <a:rPr lang="en-US" dirty="0"/>
              <a:t>(implies): </a:t>
            </a:r>
            <a:r>
              <a:rPr lang="en-US" dirty="0" smtClean="0"/>
              <a:t>e.g., </a:t>
            </a:r>
            <a:r>
              <a:rPr lang="en-US" dirty="0"/>
              <a:t>P ⇒ Q where P is </a:t>
            </a:r>
            <a:r>
              <a:rPr lang="en-US" dirty="0" smtClean="0"/>
              <a:t>the premise/antecedent </a:t>
            </a:r>
            <a:r>
              <a:rPr lang="en-US" dirty="0"/>
              <a:t>and Q is the conclusion/consequent</a:t>
            </a:r>
          </a:p>
          <a:p>
            <a:pPr marL="457200" lvl="1" indent="0" algn="just">
              <a:buNone/>
            </a:pPr>
            <a:r>
              <a:rPr lang="en-US" dirty="0" smtClean="0"/>
              <a:t>⇔ </a:t>
            </a:r>
            <a:r>
              <a:rPr lang="en-US" dirty="0"/>
              <a:t>(if and only if): </a:t>
            </a:r>
            <a:r>
              <a:rPr lang="en-US" dirty="0" smtClean="0"/>
              <a:t>e.g., </a:t>
            </a:r>
            <a:r>
              <a:rPr lang="en-US" dirty="0"/>
              <a:t>P ⇔ Q is a </a:t>
            </a:r>
            <a:r>
              <a:rPr lang="en-US" dirty="0" smtClean="0"/>
              <a:t>bi-conditional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46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Precedence of Connectives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In order of precedence, from highest </a:t>
            </a:r>
            <a:r>
              <a:rPr lang="en-US" dirty="0" smtClean="0"/>
              <a:t>to lowest</a:t>
            </a:r>
            <a:r>
              <a:rPr lang="en-US" dirty="0"/>
              <a:t>: ¬, ∧, ∨, ⇒, ⇔</a:t>
            </a:r>
          </a:p>
          <a:p>
            <a:pPr algn="just"/>
            <a:r>
              <a:rPr lang="en-US" dirty="0" smtClean="0"/>
              <a:t>e.g., </a:t>
            </a:r>
            <a:r>
              <a:rPr lang="en-US" dirty="0"/>
              <a:t>¬P ∨ Q ∧ R ⇒ S is equivalent to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    ((¬</a:t>
            </a:r>
            <a:r>
              <a:rPr lang="en-US" dirty="0"/>
              <a:t>P</a:t>
            </a:r>
            <a:r>
              <a:rPr lang="en-US" dirty="0" smtClean="0"/>
              <a:t>) ∨ </a:t>
            </a:r>
            <a:r>
              <a:rPr lang="en-US" dirty="0"/>
              <a:t>(Q ∧ R)) ⇒ S</a:t>
            </a:r>
          </a:p>
          <a:p>
            <a:pPr algn="just"/>
            <a:r>
              <a:rPr lang="en-US" dirty="0" smtClean="0"/>
              <a:t>You </a:t>
            </a:r>
            <a:r>
              <a:rPr lang="en-US" dirty="0"/>
              <a:t>can rely on the precedence of </a:t>
            </a:r>
            <a:r>
              <a:rPr lang="en-US" dirty="0" smtClean="0"/>
              <a:t>the connectives </a:t>
            </a:r>
            <a:r>
              <a:rPr lang="en-US" dirty="0"/>
              <a:t>or use parentheses to make </a:t>
            </a:r>
            <a:r>
              <a:rPr lang="en-US" dirty="0" smtClean="0"/>
              <a:t>the order </a:t>
            </a:r>
            <a:r>
              <a:rPr lang="en-US" dirty="0"/>
              <a:t>explicit</a:t>
            </a:r>
          </a:p>
          <a:p>
            <a:pPr algn="just"/>
            <a:r>
              <a:rPr lang="en-US" dirty="0" smtClean="0"/>
              <a:t>Parentheses </a:t>
            </a:r>
            <a:r>
              <a:rPr lang="en-US" dirty="0"/>
              <a:t>are necessary if the meaning </a:t>
            </a:r>
            <a:r>
              <a:rPr lang="en-US" dirty="0" smtClean="0"/>
              <a:t>is ambiguous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Semantics (Are sentences true?)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Defines the rules for determining if a sentence </a:t>
            </a:r>
            <a:r>
              <a:rPr lang="en-US" dirty="0" smtClean="0"/>
              <a:t>is true </a:t>
            </a:r>
            <a:r>
              <a:rPr lang="en-US" dirty="0"/>
              <a:t>with respect to a particular model</a:t>
            </a:r>
          </a:p>
          <a:p>
            <a:pPr algn="just"/>
            <a:r>
              <a:rPr lang="en-US" dirty="0" smtClean="0"/>
              <a:t>For </a:t>
            </a:r>
            <a:r>
              <a:rPr lang="en-US" dirty="0"/>
              <a:t>example, suppose we have the </a:t>
            </a:r>
            <a:r>
              <a:rPr lang="en-US" dirty="0" smtClean="0"/>
              <a:t>following model</a:t>
            </a:r>
            <a:r>
              <a:rPr lang="en-US" dirty="0"/>
              <a:t>: P=true, Q=false, R=true</a:t>
            </a:r>
          </a:p>
          <a:p>
            <a:pPr algn="just"/>
            <a:r>
              <a:rPr lang="en-US" dirty="0" smtClean="0"/>
              <a:t>Is </a:t>
            </a:r>
            <a:r>
              <a:rPr lang="en-US" dirty="0"/>
              <a:t>(P ∧ Q ∧ R) true?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48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Semantics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943600"/>
          </a:xfrm>
        </p:spPr>
        <p:txBody>
          <a:bodyPr/>
          <a:lstStyle/>
          <a:p>
            <a:pPr algn="just"/>
            <a:r>
              <a:rPr lang="en-US" dirty="0"/>
              <a:t>For atomic sentences:</a:t>
            </a:r>
          </a:p>
          <a:p>
            <a:pPr lvl="1" algn="just"/>
            <a:r>
              <a:rPr lang="en-US" sz="2400" dirty="0" smtClean="0"/>
              <a:t>True </a:t>
            </a:r>
            <a:r>
              <a:rPr lang="en-US" sz="2400" dirty="0"/>
              <a:t>is true, False is false</a:t>
            </a:r>
          </a:p>
          <a:p>
            <a:pPr lvl="1" algn="just"/>
            <a:r>
              <a:rPr lang="en-US" sz="2400" dirty="0" smtClean="0"/>
              <a:t>A </a:t>
            </a:r>
            <a:r>
              <a:rPr lang="en-US" sz="2400" dirty="0"/>
              <a:t>symbol has its value specified in the model</a:t>
            </a:r>
            <a:endParaRPr lang="en-US" dirty="0"/>
          </a:p>
          <a:p>
            <a:pPr algn="just"/>
            <a:r>
              <a:rPr lang="en-US" dirty="0"/>
              <a:t>For complex sentences (for any sentence S and model m):</a:t>
            </a:r>
          </a:p>
          <a:p>
            <a:pPr marL="457200" lvl="1" indent="0" algn="just">
              <a:spcBef>
                <a:spcPts val="1000"/>
              </a:spcBef>
              <a:buNone/>
            </a:pPr>
            <a:r>
              <a:rPr lang="en-US" sz="2400" dirty="0" smtClean="0"/>
              <a:t>¬</a:t>
            </a:r>
            <a:r>
              <a:rPr lang="en-US" sz="2400" dirty="0"/>
              <a:t>S is true in m </a:t>
            </a:r>
            <a:r>
              <a:rPr lang="en-US" sz="2400" dirty="0" err="1"/>
              <a:t>iff</a:t>
            </a:r>
            <a:r>
              <a:rPr lang="en-US" sz="2400" dirty="0"/>
              <a:t> S is false in m</a:t>
            </a:r>
          </a:p>
          <a:p>
            <a:pPr marL="457200" lvl="1" indent="0" algn="just">
              <a:spcBef>
                <a:spcPts val="1000"/>
              </a:spcBef>
              <a:buNone/>
            </a:pPr>
            <a:r>
              <a:rPr lang="en-US" sz="2400" dirty="0" smtClean="0"/>
              <a:t>S1 </a:t>
            </a:r>
            <a:r>
              <a:rPr lang="en-US" sz="2400" dirty="0"/>
              <a:t>∧ S2 is true in m </a:t>
            </a:r>
            <a:r>
              <a:rPr lang="en-US" sz="2400" dirty="0" err="1"/>
              <a:t>iff</a:t>
            </a:r>
            <a:r>
              <a:rPr lang="en-US" sz="2400" dirty="0"/>
              <a:t> S1 is true in m </a:t>
            </a:r>
            <a:r>
              <a:rPr lang="en-US" sz="2400" dirty="0">
                <a:solidFill>
                  <a:srgbClr val="FF0000"/>
                </a:solidFill>
              </a:rPr>
              <a:t>and</a:t>
            </a:r>
            <a:r>
              <a:rPr lang="en-US" sz="2400" dirty="0"/>
              <a:t> S2 is true in m</a:t>
            </a:r>
          </a:p>
          <a:p>
            <a:pPr marL="457200" lvl="1" indent="0" algn="just">
              <a:spcBef>
                <a:spcPts val="1000"/>
              </a:spcBef>
              <a:buNone/>
            </a:pPr>
            <a:r>
              <a:rPr lang="en-US" sz="2400" dirty="0" smtClean="0"/>
              <a:t>S1 </a:t>
            </a:r>
            <a:r>
              <a:rPr lang="en-US" sz="2400" dirty="0"/>
              <a:t>∨ S2 is true in m </a:t>
            </a:r>
            <a:r>
              <a:rPr lang="en-US" sz="2400" dirty="0" err="1"/>
              <a:t>iff</a:t>
            </a:r>
            <a:r>
              <a:rPr lang="en-US" sz="2400" dirty="0"/>
              <a:t> S1 is true in m </a:t>
            </a:r>
            <a:r>
              <a:rPr lang="en-US" sz="2400" dirty="0">
                <a:solidFill>
                  <a:srgbClr val="FF0000"/>
                </a:solidFill>
              </a:rPr>
              <a:t>or</a:t>
            </a:r>
            <a:r>
              <a:rPr lang="en-US" sz="2400" dirty="0"/>
              <a:t> S2 is true in m</a:t>
            </a:r>
          </a:p>
          <a:p>
            <a:pPr marL="457200" lvl="1" indent="0" algn="just">
              <a:spcBef>
                <a:spcPts val="1000"/>
              </a:spcBef>
              <a:buNone/>
            </a:pPr>
            <a:r>
              <a:rPr lang="en-US" sz="2400" dirty="0" smtClean="0"/>
              <a:t>S1 </a:t>
            </a:r>
            <a:r>
              <a:rPr lang="en-US" sz="2400" dirty="0"/>
              <a:t>⇒ S2 is true in m </a:t>
            </a:r>
            <a:r>
              <a:rPr lang="en-US" sz="2400" dirty="0" err="1"/>
              <a:t>iff</a:t>
            </a:r>
            <a:r>
              <a:rPr lang="en-US" sz="2400" dirty="0"/>
              <a:t> S1 is false in m </a:t>
            </a:r>
            <a:r>
              <a:rPr lang="en-US" sz="2400" dirty="0">
                <a:solidFill>
                  <a:srgbClr val="FF0000"/>
                </a:solidFill>
              </a:rPr>
              <a:t>or</a:t>
            </a:r>
            <a:r>
              <a:rPr lang="en-US" sz="2400" dirty="0"/>
              <a:t> S2 is true in </a:t>
            </a:r>
            <a:r>
              <a:rPr lang="en-US" sz="2400" dirty="0" smtClean="0"/>
              <a:t>m i.e</a:t>
            </a:r>
            <a:r>
              <a:rPr lang="en-US" sz="2400" dirty="0"/>
              <a:t>., can translate it as ¬S1 ∨ S2</a:t>
            </a:r>
          </a:p>
          <a:p>
            <a:pPr marL="457200" lvl="1" indent="0" algn="just">
              <a:spcBef>
                <a:spcPts val="1000"/>
              </a:spcBef>
              <a:buNone/>
            </a:pPr>
            <a:r>
              <a:rPr lang="en-US" sz="2400" dirty="0" smtClean="0"/>
              <a:t>S1 </a:t>
            </a:r>
            <a:r>
              <a:rPr lang="en-US" sz="2400" dirty="0"/>
              <a:t>⇔ S2 is true </a:t>
            </a:r>
            <a:r>
              <a:rPr lang="en-US" sz="2400" dirty="0" err="1"/>
              <a:t>iff</a:t>
            </a:r>
            <a:r>
              <a:rPr lang="en-US" sz="2400" dirty="0"/>
              <a:t> S1⇒S2 is true in m </a:t>
            </a:r>
            <a:r>
              <a:rPr lang="en-US" sz="2400" dirty="0">
                <a:solidFill>
                  <a:srgbClr val="FF0000"/>
                </a:solidFill>
              </a:rPr>
              <a:t>and</a:t>
            </a:r>
            <a:r>
              <a:rPr lang="en-US" sz="2400" dirty="0"/>
              <a:t> S2⇒S1 is true in m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49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Note on </a:t>
            </a:r>
            <a:r>
              <a:rPr lang="en-US" dirty="0" smtClean="0">
                <a:latin typeface="+mn-lt"/>
              </a:rPr>
              <a:t>Implication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P ⇒ Q seems weird…doesn’t fit </a:t>
            </a:r>
            <a:r>
              <a:rPr lang="en-US" dirty="0" smtClean="0"/>
              <a:t>intuitive understanding </a:t>
            </a:r>
            <a:r>
              <a:rPr lang="en-US" dirty="0"/>
              <a:t>of “if P then Q”</a:t>
            </a:r>
          </a:p>
          <a:p>
            <a:pPr algn="just"/>
            <a:r>
              <a:rPr lang="en-US" dirty="0" smtClean="0"/>
              <a:t>Propositional </a:t>
            </a:r>
            <a:r>
              <a:rPr lang="en-US" dirty="0"/>
              <a:t>logic does not require causation </a:t>
            </a:r>
            <a:r>
              <a:rPr lang="en-US" dirty="0" smtClean="0"/>
              <a:t>or relevance </a:t>
            </a:r>
            <a:r>
              <a:rPr lang="en-US" dirty="0"/>
              <a:t>between P and Q</a:t>
            </a:r>
          </a:p>
          <a:p>
            <a:pPr algn="just"/>
            <a:r>
              <a:rPr lang="en-US" dirty="0" smtClean="0"/>
              <a:t>Implication </a:t>
            </a:r>
            <a:r>
              <a:rPr lang="en-US" dirty="0"/>
              <a:t>is true whenever the antecedent </a:t>
            </a:r>
            <a:r>
              <a:rPr lang="en-US" dirty="0" smtClean="0"/>
              <a:t>is false </a:t>
            </a:r>
            <a:r>
              <a:rPr lang="en-US" dirty="0"/>
              <a:t>(remember P ⇒ Q can be translated as ¬ P </a:t>
            </a:r>
            <a:r>
              <a:rPr lang="en-US" dirty="0" smtClean="0"/>
              <a:t>∨ Q </a:t>
            </a:r>
            <a:r>
              <a:rPr lang="en-US" dirty="0"/>
              <a:t>)</a:t>
            </a:r>
          </a:p>
          <a:p>
            <a:pPr lvl="1" algn="just"/>
            <a:r>
              <a:rPr lang="en-US" dirty="0" smtClean="0"/>
              <a:t>Implication </a:t>
            </a:r>
            <a:r>
              <a:rPr lang="en-US" dirty="0"/>
              <a:t>says “if P is true, then I am claiming that </a:t>
            </a:r>
            <a:r>
              <a:rPr lang="en-US" dirty="0" smtClean="0"/>
              <a:t>Q is </a:t>
            </a:r>
            <a:r>
              <a:rPr lang="en-US" dirty="0"/>
              <a:t>true. Otherwise I am making no claim”</a:t>
            </a:r>
          </a:p>
          <a:p>
            <a:pPr lvl="1" algn="just"/>
            <a:r>
              <a:rPr lang="en-US" dirty="0" smtClean="0"/>
              <a:t>The </a:t>
            </a:r>
            <a:r>
              <a:rPr lang="en-US" dirty="0"/>
              <a:t>only way for this to be false is if P is true but Q </a:t>
            </a:r>
            <a:r>
              <a:rPr lang="en-US" dirty="0" smtClean="0"/>
              <a:t>is false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Truth Tables for the Connectives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With the truth tables, we can compute the truth value of </a:t>
            </a:r>
            <a:r>
              <a:rPr lang="en-US" dirty="0" smtClean="0"/>
              <a:t>any sentence </a:t>
            </a:r>
            <a:r>
              <a:rPr lang="en-US" dirty="0"/>
              <a:t>with a recursive evaluation </a:t>
            </a:r>
            <a:r>
              <a:rPr lang="en-US" dirty="0" err="1"/>
              <a:t>eg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Suppose the model is P=false, Q=false, R=true</a:t>
            </a:r>
          </a:p>
          <a:p>
            <a:pPr marL="400050" lvl="1" indent="0" algn="just">
              <a:buNone/>
            </a:pPr>
            <a:r>
              <a:rPr lang="en-US" dirty="0"/>
              <a:t>¬P ∧ (Q ∨ R) = true ∧ (false ∨ true) = true ∧ true = </a:t>
            </a:r>
            <a:r>
              <a:rPr lang="en-US" dirty="0" smtClean="0"/>
              <a:t>true</a:t>
            </a:r>
          </a:p>
          <a:p>
            <a:pPr marL="400050" lvl="1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51</a:t>
            </a:fld>
            <a:endParaRPr lang="en-US" dirty="0">
              <a:latin typeface="+mn-lt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33801"/>
            <a:ext cx="7696200" cy="2743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914400"/>
          </a:xfrm>
        </p:spPr>
        <p:txBody>
          <a:bodyPr/>
          <a:lstStyle/>
          <a:p>
            <a:pPr algn="l"/>
            <a:r>
              <a:rPr lang="en-US" dirty="0">
                <a:latin typeface="+mn-lt"/>
              </a:rPr>
              <a:t>The </a:t>
            </a:r>
            <a:r>
              <a:rPr lang="en-US" dirty="0" err="1">
                <a:latin typeface="+mn-lt"/>
              </a:rPr>
              <a:t>Wumpus</a:t>
            </a:r>
            <a:r>
              <a:rPr lang="en-US" dirty="0">
                <a:latin typeface="+mn-lt"/>
              </a:rPr>
              <a:t> World KB </a:t>
            </a:r>
            <a:r>
              <a:rPr lang="en-US" dirty="0" smtClean="0">
                <a:latin typeface="+mn-lt"/>
              </a:rPr>
              <a:t/>
            </a:r>
            <a:br>
              <a:rPr lang="en-US" dirty="0" smtClean="0">
                <a:latin typeface="+mn-lt"/>
              </a:rPr>
            </a:br>
            <a:r>
              <a:rPr lang="en-US" dirty="0" smtClean="0">
                <a:latin typeface="+mn-lt"/>
              </a:rPr>
              <a:t>(only dealing </a:t>
            </a:r>
            <a:r>
              <a:rPr lang="en-US" dirty="0">
                <a:latin typeface="+mn-lt"/>
              </a:rPr>
              <a:t>with knowledge about pits)</a:t>
            </a:r>
            <a:endParaRPr lang="en-US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52</a:t>
            </a:fld>
            <a:endParaRPr lang="en-US" dirty="0">
              <a:latin typeface="+mn-lt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12885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604069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21412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Inference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How do we decide if KB |= α?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Enumerate </a:t>
            </a:r>
            <a:r>
              <a:rPr lang="en-US" dirty="0"/>
              <a:t>the </a:t>
            </a:r>
            <a:r>
              <a:rPr lang="en-US" b="1" dirty="0"/>
              <a:t>models</a:t>
            </a:r>
            <a:r>
              <a:rPr lang="en-US" dirty="0"/>
              <a:t>, check that α is true in every </a:t>
            </a:r>
            <a:r>
              <a:rPr lang="en-US" dirty="0" smtClean="0"/>
              <a:t>model in which </a:t>
            </a:r>
            <a:r>
              <a:rPr lang="en-US" dirty="0"/>
              <a:t>KB is </a:t>
            </a:r>
            <a:r>
              <a:rPr lang="en-US" dirty="0" smtClean="0"/>
              <a:t>true</a:t>
            </a:r>
          </a:p>
          <a:p>
            <a:pPr algn="just">
              <a:spcBef>
                <a:spcPts val="0"/>
              </a:spcBef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54</a:t>
            </a:fld>
            <a:endParaRPr lang="en-US" dirty="0">
              <a:latin typeface="+mn-lt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8458199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4008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Suppose we want to know if KB |= ¬</a:t>
            </a:r>
            <a:r>
              <a:rPr lang="en-US" dirty="0" smtClean="0"/>
              <a:t>P</a:t>
            </a:r>
            <a:r>
              <a:rPr lang="en-US" baseline="-25000" dirty="0"/>
              <a:t>1,2</a:t>
            </a:r>
            <a:r>
              <a:rPr lang="en-US" dirty="0" smtClean="0"/>
              <a:t>?</a:t>
            </a:r>
            <a:endParaRPr lang="en-US" dirty="0"/>
          </a:p>
          <a:p>
            <a:pPr algn="just">
              <a:spcBef>
                <a:spcPts val="0"/>
              </a:spcBef>
            </a:pPr>
            <a:r>
              <a:rPr lang="en-US" dirty="0" smtClean="0"/>
              <a:t>In </a:t>
            </a:r>
            <a:r>
              <a:rPr lang="en-US" dirty="0"/>
              <a:t>the 3 models in which KB is true, ¬P</a:t>
            </a:r>
            <a:r>
              <a:rPr lang="en-US" baseline="-25000" dirty="0"/>
              <a:t>1,2</a:t>
            </a:r>
            <a:r>
              <a:rPr lang="en-US" dirty="0"/>
              <a:t> is also </a:t>
            </a:r>
            <a:r>
              <a:rPr lang="en-US" dirty="0" smtClean="0"/>
              <a:t>true</a:t>
            </a:r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endParaRPr lang="en-US" dirty="0" smtClean="0"/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endParaRPr lang="en-US" dirty="0" smtClean="0"/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endParaRPr lang="en-US" dirty="0" smtClean="0"/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endParaRPr lang="en-US" dirty="0" smtClean="0"/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endParaRPr lang="en-US" dirty="0" smtClean="0"/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r>
              <a:rPr lang="en-US" dirty="0"/>
              <a:t>On the other hand, there might (or might not) be a pit in [2,2].</a:t>
            </a:r>
            <a:endParaRPr lang="en-US" dirty="0" smtClean="0"/>
          </a:p>
          <a:p>
            <a:pPr algn="just">
              <a:spcBef>
                <a:spcPts val="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55</a:t>
            </a:fld>
            <a:endParaRPr lang="en-US" dirty="0">
              <a:latin typeface="+mn-lt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458199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Complexity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If the KB and α contain n symbols in total</a:t>
            </a:r>
            <a:r>
              <a:rPr lang="en-US" dirty="0" smtClean="0"/>
              <a:t>, the </a:t>
            </a:r>
            <a:r>
              <a:rPr lang="en-US" dirty="0"/>
              <a:t>time complexity of the </a:t>
            </a:r>
            <a:r>
              <a:rPr lang="en-US" dirty="0" smtClean="0"/>
              <a:t>truth table </a:t>
            </a:r>
            <a:r>
              <a:rPr lang="en-US" dirty="0"/>
              <a:t>enumeration algorithm is </a:t>
            </a:r>
            <a:r>
              <a:rPr lang="en-US" dirty="0" smtClean="0"/>
              <a:t>O(2</a:t>
            </a:r>
            <a:r>
              <a:rPr lang="en-US" baseline="30000" dirty="0" smtClean="0"/>
              <a:t>n</a:t>
            </a:r>
            <a:r>
              <a:rPr lang="en-US" dirty="0"/>
              <a:t>)?</a:t>
            </a:r>
          </a:p>
          <a:p>
            <a:pPr algn="just"/>
            <a:r>
              <a:rPr lang="en-US" dirty="0" smtClean="0"/>
              <a:t>Space </a:t>
            </a:r>
            <a:r>
              <a:rPr lang="en-US" dirty="0"/>
              <a:t>complexity is O(n) because the </a:t>
            </a:r>
            <a:r>
              <a:rPr lang="en-US" dirty="0" smtClean="0"/>
              <a:t>actual algorithm </a:t>
            </a:r>
            <a:r>
              <a:rPr lang="en-US" dirty="0"/>
              <a:t>uses </a:t>
            </a:r>
            <a:r>
              <a:rPr lang="en-US" dirty="0" smtClean="0"/>
              <a:t>DFS</a:t>
            </a:r>
          </a:p>
          <a:p>
            <a:pPr algn="just"/>
            <a:r>
              <a:rPr lang="en-US" dirty="0"/>
              <a:t>Every known inference algorithm for propositional logic has a </a:t>
            </a:r>
            <a:r>
              <a:rPr lang="en-US" b="1" dirty="0"/>
              <a:t>worse-case </a:t>
            </a:r>
            <a:r>
              <a:rPr lang="en-US" dirty="0"/>
              <a:t>complexity that is </a:t>
            </a:r>
            <a:r>
              <a:rPr lang="en-US" dirty="0">
                <a:solidFill>
                  <a:srgbClr val="FF0000"/>
                </a:solidFill>
              </a:rPr>
              <a:t>exponential</a:t>
            </a:r>
            <a:r>
              <a:rPr lang="en-US" dirty="0"/>
              <a:t> in the size of the input</a:t>
            </a:r>
          </a:p>
          <a:p>
            <a:pPr algn="just"/>
            <a:r>
              <a:rPr lang="en-US" dirty="0"/>
              <a:t>But some algorithms are more efficient </a:t>
            </a:r>
            <a:r>
              <a:rPr lang="en-US" b="1" dirty="0"/>
              <a:t>in practice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56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Logical </a:t>
            </a:r>
            <a:r>
              <a:rPr lang="en-US" dirty="0" smtClean="0">
                <a:latin typeface="+mn-lt"/>
              </a:rPr>
              <a:t>Equivalence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Intuitively: two sentences α and β </a:t>
            </a:r>
            <a:r>
              <a:rPr lang="en-US" dirty="0" smtClean="0"/>
              <a:t>are logically </a:t>
            </a:r>
            <a:r>
              <a:rPr lang="en-US" dirty="0"/>
              <a:t>equivalent (</a:t>
            </a:r>
            <a:r>
              <a:rPr lang="en-US" dirty="0" smtClean="0"/>
              <a:t>i.e., </a:t>
            </a:r>
            <a:r>
              <a:rPr lang="en-US" dirty="0"/>
              <a:t>α ≡ β ) if they </a:t>
            </a:r>
            <a:r>
              <a:rPr lang="en-US" dirty="0" smtClean="0"/>
              <a:t>are true </a:t>
            </a:r>
            <a:r>
              <a:rPr lang="en-US" dirty="0"/>
              <a:t>in the same set of models</a:t>
            </a:r>
          </a:p>
          <a:p>
            <a:pPr algn="just"/>
            <a:r>
              <a:rPr lang="en-US" dirty="0" smtClean="0"/>
              <a:t>Formally</a:t>
            </a:r>
            <a:r>
              <a:rPr lang="en-US" dirty="0"/>
              <a:t>: α ≡ β if and only if α |= β </a:t>
            </a:r>
            <a:r>
              <a:rPr lang="en-US" dirty="0" smtClean="0"/>
              <a:t>and </a:t>
            </a:r>
            <a:r>
              <a:rPr lang="el-GR" dirty="0" smtClean="0"/>
              <a:t>β </a:t>
            </a:r>
            <a:r>
              <a:rPr lang="el-GR" dirty="0"/>
              <a:t>|= α</a:t>
            </a:r>
          </a:p>
          <a:p>
            <a:pPr algn="just"/>
            <a:r>
              <a:rPr lang="en-US" dirty="0" smtClean="0"/>
              <a:t>Can </a:t>
            </a:r>
            <a:r>
              <a:rPr lang="en-US" dirty="0"/>
              <a:t>prove this with truth tables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Standard Logic Equivalences</a:t>
            </a:r>
            <a:endParaRPr lang="en-US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58</a:t>
            </a:fld>
            <a:endParaRPr lang="en-US" dirty="0">
              <a:latin typeface="+mn-lt"/>
            </a:endParaRPr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200"/>
            <a:ext cx="8610600" cy="5562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Validity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A sentence is valid if it is true in all models</a:t>
            </a:r>
          </a:p>
          <a:p>
            <a:pPr algn="just"/>
            <a:r>
              <a:rPr lang="en-US" dirty="0" smtClean="0"/>
              <a:t>e.g., </a:t>
            </a:r>
            <a:r>
              <a:rPr lang="en-US" dirty="0"/>
              <a:t>P ∨ ¬P is valid</a:t>
            </a:r>
          </a:p>
          <a:p>
            <a:pPr algn="just"/>
            <a:r>
              <a:rPr lang="en-US" dirty="0" smtClean="0"/>
              <a:t>Valid </a:t>
            </a:r>
            <a:r>
              <a:rPr lang="en-US" dirty="0"/>
              <a:t>sentences = Tautologies</a:t>
            </a:r>
          </a:p>
          <a:p>
            <a:pPr algn="just"/>
            <a:r>
              <a:rPr lang="en-US" dirty="0" smtClean="0"/>
              <a:t>Tautologies </a:t>
            </a:r>
            <a:r>
              <a:rPr lang="en-US" dirty="0"/>
              <a:t>are vacuous</a:t>
            </a:r>
          </a:p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/>
              <a:t>Deduction </a:t>
            </a:r>
            <a:r>
              <a:rPr lang="en-US" b="1" dirty="0"/>
              <a:t>theorem</a:t>
            </a:r>
          </a:p>
          <a:p>
            <a:pPr algn="just"/>
            <a:r>
              <a:rPr lang="en-US" dirty="0"/>
              <a:t>For any sentences α and β, α |= β </a:t>
            </a:r>
            <a:r>
              <a:rPr lang="en-US" dirty="0" err="1"/>
              <a:t>iff</a:t>
            </a:r>
            <a:r>
              <a:rPr lang="en-US" dirty="0"/>
              <a:t> the</a:t>
            </a:r>
          </a:p>
          <a:p>
            <a:pPr lvl="1" algn="just"/>
            <a:r>
              <a:rPr lang="en-US" dirty="0"/>
              <a:t>sentence (</a:t>
            </a:r>
            <a:r>
              <a:rPr lang="el-GR" dirty="0"/>
              <a:t>α ⇒ β) </a:t>
            </a:r>
            <a:r>
              <a:rPr lang="en-US" dirty="0"/>
              <a:t>is valid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59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 err="1">
                <a:latin typeface="+mn-lt"/>
              </a:rPr>
              <a:t>Satisfiability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A sentence is </a:t>
            </a:r>
            <a:r>
              <a:rPr lang="en-US" dirty="0" err="1"/>
              <a:t>satisfiable</a:t>
            </a:r>
            <a:r>
              <a:rPr lang="en-US" dirty="0"/>
              <a:t> if it is true in </a:t>
            </a:r>
            <a:r>
              <a:rPr lang="en-US" dirty="0" smtClean="0"/>
              <a:t>some model</a:t>
            </a:r>
            <a:r>
              <a:rPr lang="en-US" dirty="0"/>
              <a:t>.</a:t>
            </a:r>
          </a:p>
          <a:p>
            <a:pPr algn="just"/>
            <a:r>
              <a:rPr lang="en-US" dirty="0" smtClean="0"/>
              <a:t>A </a:t>
            </a:r>
            <a:r>
              <a:rPr lang="en-US" dirty="0"/>
              <a:t>sentence is </a:t>
            </a:r>
            <a:r>
              <a:rPr lang="en-US" dirty="0" err="1"/>
              <a:t>unsatisfiable</a:t>
            </a:r>
            <a:r>
              <a:rPr lang="en-US" dirty="0"/>
              <a:t> if it is true in </a:t>
            </a:r>
            <a:r>
              <a:rPr lang="en-US" dirty="0" smtClean="0"/>
              <a:t>no models</a:t>
            </a:r>
            <a:endParaRPr lang="en-US" dirty="0"/>
          </a:p>
          <a:p>
            <a:pPr algn="just"/>
            <a:r>
              <a:rPr lang="en-US" dirty="0" smtClean="0"/>
              <a:t>Determining </a:t>
            </a:r>
            <a:r>
              <a:rPr lang="en-US" dirty="0"/>
              <a:t>the </a:t>
            </a:r>
            <a:r>
              <a:rPr lang="en-US" dirty="0" err="1"/>
              <a:t>satisfiability</a:t>
            </a:r>
            <a:r>
              <a:rPr lang="en-US" dirty="0"/>
              <a:t> of sentences </a:t>
            </a:r>
            <a:r>
              <a:rPr lang="en-US" dirty="0" smtClean="0"/>
              <a:t>in propositional </a:t>
            </a:r>
            <a:r>
              <a:rPr lang="en-US" dirty="0"/>
              <a:t>logic was the first problem </a:t>
            </a:r>
            <a:r>
              <a:rPr lang="en-US" dirty="0" smtClean="0"/>
              <a:t>proved to </a:t>
            </a:r>
            <a:r>
              <a:rPr lang="en-US" dirty="0"/>
              <a:t>be NP-complete</a:t>
            </a:r>
          </a:p>
          <a:p>
            <a:pPr algn="just"/>
            <a:r>
              <a:rPr lang="en-US" dirty="0" err="1" smtClean="0"/>
              <a:t>Satisfiability</a:t>
            </a:r>
            <a:r>
              <a:rPr lang="en-US" dirty="0" smtClean="0"/>
              <a:t> </a:t>
            </a:r>
            <a:r>
              <a:rPr lang="en-US" dirty="0"/>
              <a:t>is connected to validity:</a:t>
            </a:r>
          </a:p>
          <a:p>
            <a:pPr marL="457200" lvl="1" indent="0" algn="just">
              <a:buNone/>
            </a:pPr>
            <a:r>
              <a:rPr lang="en-US" dirty="0"/>
              <a:t>α is valid </a:t>
            </a:r>
            <a:r>
              <a:rPr lang="en-US" dirty="0" err="1"/>
              <a:t>iff</a:t>
            </a:r>
            <a:r>
              <a:rPr lang="en-US" dirty="0"/>
              <a:t> ¬α is </a:t>
            </a:r>
            <a:r>
              <a:rPr lang="en-US" dirty="0" err="1"/>
              <a:t>unsatisfiable</a:t>
            </a:r>
            <a:endParaRPr lang="en-US" dirty="0"/>
          </a:p>
          <a:p>
            <a:pPr algn="just"/>
            <a:r>
              <a:rPr lang="en-US" dirty="0" err="1" smtClean="0"/>
              <a:t>Satisfiability</a:t>
            </a:r>
            <a:r>
              <a:rPr lang="en-US" dirty="0" smtClean="0"/>
              <a:t> </a:t>
            </a:r>
            <a:r>
              <a:rPr lang="en-US" dirty="0"/>
              <a:t>is connected to entailment:</a:t>
            </a:r>
          </a:p>
          <a:p>
            <a:pPr marL="457200" lvl="1" indent="0" algn="just">
              <a:buNone/>
            </a:pPr>
            <a:r>
              <a:rPr lang="en-US" dirty="0"/>
              <a:t>α |= β </a:t>
            </a:r>
            <a:r>
              <a:rPr lang="en-US" dirty="0" err="1"/>
              <a:t>iff</a:t>
            </a:r>
            <a:r>
              <a:rPr lang="en-US" dirty="0"/>
              <a:t> the sentence (α ∧¬β) is </a:t>
            </a:r>
            <a:r>
              <a:rPr lang="en-US" dirty="0" err="1"/>
              <a:t>unsatisfiable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(</a:t>
            </a:r>
            <a:r>
              <a:rPr lang="en-US" dirty="0"/>
              <a:t>proof by contradiction)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60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Reasoning Patterns in</a:t>
            </a:r>
            <a:br>
              <a:rPr lang="en-US" dirty="0"/>
            </a:br>
            <a:r>
              <a:rPr lang="en-US" dirty="0"/>
              <a:t>Propositional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j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j-lt"/>
              </a:rPr>
              <a:pPr>
                <a:defRPr/>
              </a:pPr>
              <a:t>61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Proof </a:t>
            </a:r>
            <a:r>
              <a:rPr lang="en-US" dirty="0" smtClean="0">
                <a:latin typeface="+mn-lt"/>
              </a:rPr>
              <a:t>Methods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How do we prove that α can be entailed </a:t>
            </a:r>
            <a:r>
              <a:rPr lang="en-US" dirty="0" smtClean="0"/>
              <a:t>from the </a:t>
            </a:r>
            <a:r>
              <a:rPr lang="en-US" dirty="0"/>
              <a:t>KB?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Model </a:t>
            </a:r>
            <a:r>
              <a:rPr lang="en-US" dirty="0"/>
              <a:t>checking </a:t>
            </a:r>
            <a:r>
              <a:rPr lang="en-US" dirty="0" smtClean="0"/>
              <a:t>e.g., </a:t>
            </a:r>
            <a:r>
              <a:rPr lang="en-US" dirty="0"/>
              <a:t>check that α is true </a:t>
            </a:r>
            <a:r>
              <a:rPr lang="en-US" dirty="0" smtClean="0"/>
              <a:t>in all </a:t>
            </a:r>
            <a:r>
              <a:rPr lang="en-US" dirty="0"/>
              <a:t>models in which KB is true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Inference </a:t>
            </a:r>
            <a:r>
              <a:rPr lang="en-US" dirty="0"/>
              <a:t>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62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Inference Rules</a:t>
            </a:r>
            <a:endParaRPr lang="en-US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63</a:t>
            </a:fld>
            <a:endParaRPr lang="en-US" dirty="0">
              <a:latin typeface="+mn-lt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85344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Other Inference Rules</a:t>
            </a:r>
            <a:endParaRPr lang="en-US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64</a:t>
            </a:fld>
            <a:endParaRPr lang="en-US" dirty="0">
              <a:latin typeface="+mn-lt"/>
            </a:endParaRPr>
          </a:p>
        </p:txBody>
      </p:sp>
      <p:pic>
        <p:nvPicPr>
          <p:cNvPr id="389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8763000" cy="5333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Example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Given the following KB, can we prove ¬R?</a:t>
            </a:r>
          </a:p>
          <a:p>
            <a:pPr algn="just"/>
            <a:r>
              <a:rPr lang="en-US" dirty="0"/>
              <a:t>KB:</a:t>
            </a:r>
          </a:p>
          <a:p>
            <a:pPr lvl="1" algn="just"/>
            <a:r>
              <a:rPr lang="en-US" dirty="0"/>
              <a:t>P ⇒ ¬(Q ∨ R)</a:t>
            </a:r>
          </a:p>
          <a:p>
            <a:pPr lvl="1" algn="just"/>
            <a:r>
              <a:rPr lang="en-US" dirty="0"/>
              <a:t>P</a:t>
            </a:r>
          </a:p>
          <a:p>
            <a:pPr algn="just"/>
            <a:r>
              <a:rPr lang="en-US" dirty="0"/>
              <a:t>Proof:</a:t>
            </a:r>
          </a:p>
          <a:p>
            <a:pPr lvl="1" algn="just"/>
            <a:r>
              <a:rPr lang="en-US" dirty="0"/>
              <a:t>¬(Q ∨ R) by Modus Ponens</a:t>
            </a:r>
          </a:p>
          <a:p>
            <a:pPr lvl="1" algn="just"/>
            <a:r>
              <a:rPr lang="en-US" dirty="0"/>
              <a:t>¬Q ∧ ¬R by De Morgan’s </a:t>
            </a:r>
            <a:r>
              <a:rPr lang="en-US" dirty="0" smtClean="0"/>
              <a:t>Law	</a:t>
            </a:r>
            <a:endParaRPr lang="en-US" dirty="0"/>
          </a:p>
          <a:p>
            <a:pPr lvl="1" algn="just"/>
            <a:r>
              <a:rPr lang="en-US" dirty="0"/>
              <a:t>¬R by And-Elimination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Proofs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A sequence of applications of inference rules </a:t>
            </a:r>
            <a:r>
              <a:rPr lang="en-US" dirty="0" smtClean="0"/>
              <a:t>is called </a:t>
            </a:r>
            <a:r>
              <a:rPr lang="en-US" dirty="0"/>
              <a:t>a proof</a:t>
            </a:r>
          </a:p>
          <a:p>
            <a:pPr algn="just"/>
            <a:r>
              <a:rPr lang="en-US" dirty="0" smtClean="0"/>
              <a:t>Instead </a:t>
            </a:r>
            <a:r>
              <a:rPr lang="en-US" dirty="0"/>
              <a:t>of enumerating models, we can search </a:t>
            </a:r>
            <a:r>
              <a:rPr lang="en-US" dirty="0" smtClean="0"/>
              <a:t>for proofs</a:t>
            </a:r>
            <a:endParaRPr lang="en-US" dirty="0"/>
          </a:p>
          <a:p>
            <a:pPr algn="just"/>
            <a:r>
              <a:rPr lang="en-US" dirty="0" smtClean="0"/>
              <a:t>Proofs </a:t>
            </a:r>
            <a:r>
              <a:rPr lang="en-US" dirty="0"/>
              <a:t>ignore irrelevant propositions</a:t>
            </a:r>
          </a:p>
          <a:p>
            <a:pPr algn="just"/>
            <a:r>
              <a:rPr lang="en-US" dirty="0" smtClean="0"/>
              <a:t>2 </a:t>
            </a:r>
            <a:r>
              <a:rPr lang="en-US" dirty="0"/>
              <a:t>methods:</a:t>
            </a:r>
          </a:p>
          <a:p>
            <a:pPr lvl="1" algn="just"/>
            <a:r>
              <a:rPr lang="en-US" dirty="0" smtClean="0"/>
              <a:t>Go </a:t>
            </a:r>
            <a:r>
              <a:rPr lang="en-US" dirty="0"/>
              <a:t>forward from initial KB, applying inference rules </a:t>
            </a:r>
            <a:r>
              <a:rPr lang="en-US" dirty="0" smtClean="0"/>
              <a:t>to get </a:t>
            </a:r>
            <a:r>
              <a:rPr lang="en-US" dirty="0"/>
              <a:t>to the goal sentence</a:t>
            </a:r>
          </a:p>
          <a:p>
            <a:pPr lvl="1" algn="just"/>
            <a:r>
              <a:rPr lang="en-US" dirty="0" smtClean="0"/>
              <a:t>Go </a:t>
            </a:r>
            <a:r>
              <a:rPr lang="en-US" dirty="0"/>
              <a:t>backward from goal sentence to get to the KB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66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6172200"/>
          </a:xfrm>
        </p:spPr>
        <p:txBody>
          <a:bodyPr/>
          <a:lstStyle/>
          <a:p>
            <a:r>
              <a:rPr lang="en-US" sz="2000" dirty="0"/>
              <a:t>We start with the knowledge base containing R1 through R5 and show how to prove ¬P1,2, that is, there is no pit in [1,2].</a:t>
            </a: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84912"/>
            <a:ext cx="7239000" cy="5763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912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Monotonicity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Proofs only work because of monotonicity</a:t>
            </a:r>
          </a:p>
          <a:p>
            <a:pPr algn="just"/>
            <a:r>
              <a:rPr lang="en-US" dirty="0" smtClean="0"/>
              <a:t>Monotonicity</a:t>
            </a:r>
            <a:r>
              <a:rPr lang="en-US" dirty="0"/>
              <a:t>: the set of entailed </a:t>
            </a:r>
            <a:r>
              <a:rPr lang="en-US" dirty="0" smtClean="0"/>
              <a:t>sentences can </a:t>
            </a:r>
            <a:r>
              <a:rPr lang="en-US" dirty="0"/>
              <a:t>only increase as information is added </a:t>
            </a:r>
            <a:r>
              <a:rPr lang="en-US" dirty="0" smtClean="0"/>
              <a:t>to the </a:t>
            </a:r>
            <a:r>
              <a:rPr lang="en-US" dirty="0"/>
              <a:t>knowledge base</a:t>
            </a:r>
          </a:p>
          <a:p>
            <a:pPr algn="just"/>
            <a:r>
              <a:rPr lang="en-US" dirty="0" smtClean="0"/>
              <a:t>For </a:t>
            </a:r>
            <a:r>
              <a:rPr lang="en-US" dirty="0"/>
              <a:t>any sentences α and β,</a:t>
            </a:r>
          </a:p>
          <a:p>
            <a:pPr marL="400050" lvl="1" indent="0" algn="just">
              <a:buNone/>
            </a:pPr>
            <a:r>
              <a:rPr lang="en-US" dirty="0"/>
              <a:t>if KB |= </a:t>
            </a:r>
            <a:r>
              <a:rPr lang="el-GR" dirty="0"/>
              <a:t>α </a:t>
            </a:r>
            <a:r>
              <a:rPr lang="en-US" dirty="0"/>
              <a:t>then KB ∧ </a:t>
            </a:r>
            <a:r>
              <a:rPr lang="el-GR" dirty="0"/>
              <a:t>β |= 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68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Resolution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An inference rule that is sound </a:t>
            </a:r>
            <a:r>
              <a:rPr lang="en-US" dirty="0" smtClean="0"/>
              <a:t>and complete</a:t>
            </a:r>
            <a:endParaRPr lang="en-US" dirty="0"/>
          </a:p>
          <a:p>
            <a:pPr algn="just"/>
            <a:r>
              <a:rPr lang="en-US" dirty="0" smtClean="0"/>
              <a:t>Forms </a:t>
            </a:r>
            <a:r>
              <a:rPr lang="en-US" dirty="0"/>
              <a:t>the basis for a family of </a:t>
            </a:r>
            <a:r>
              <a:rPr lang="en-US" dirty="0" smtClean="0"/>
              <a:t>complete inference </a:t>
            </a:r>
            <a:r>
              <a:rPr lang="en-US" dirty="0"/>
              <a:t>procedures</a:t>
            </a:r>
          </a:p>
          <a:p>
            <a:pPr algn="just"/>
            <a:r>
              <a:rPr lang="en-US" dirty="0" smtClean="0"/>
              <a:t>Here</a:t>
            </a:r>
            <a:r>
              <a:rPr lang="en-US" dirty="0"/>
              <a:t>, complete means </a:t>
            </a:r>
            <a:r>
              <a:rPr lang="en-US" dirty="0" smtClean="0"/>
              <a:t>refutation completeness</a:t>
            </a:r>
            <a:r>
              <a:rPr lang="en-US" dirty="0"/>
              <a:t>: resolution can refute </a:t>
            </a:r>
            <a:r>
              <a:rPr lang="en-US" dirty="0" smtClean="0"/>
              <a:t>or confirm </a:t>
            </a:r>
            <a:r>
              <a:rPr lang="en-US" dirty="0"/>
              <a:t>the truth of any sentence </a:t>
            </a:r>
            <a:r>
              <a:rPr lang="en-US" dirty="0" smtClean="0"/>
              <a:t>with respect </a:t>
            </a:r>
            <a:r>
              <a:rPr lang="en-US" dirty="0"/>
              <a:t>to the </a:t>
            </a:r>
            <a:r>
              <a:rPr lang="en-US" dirty="0" smtClean="0"/>
              <a:t>KB.</a:t>
            </a:r>
          </a:p>
          <a:p>
            <a:pPr algn="just"/>
            <a:r>
              <a:rPr lang="en-US" dirty="0" smtClean="0"/>
              <a:t>Unit resolution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69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Resolution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Here’s how resolution works (¬</a:t>
            </a:r>
            <a:r>
              <a:rPr lang="en-US" i="1" dirty="0"/>
              <a:t>l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l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r>
              <a:rPr lang="en-US" dirty="0"/>
              <a:t>are </a:t>
            </a:r>
            <a:r>
              <a:rPr lang="en-US" dirty="0" smtClean="0"/>
              <a:t>called complementary </a:t>
            </a:r>
            <a:r>
              <a:rPr lang="en-US" dirty="0"/>
              <a:t>literals</a:t>
            </a:r>
            <a:r>
              <a:rPr lang="en-US" dirty="0" smtClean="0"/>
              <a:t>):</a:t>
            </a:r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r>
              <a:rPr lang="en-US" dirty="0" smtClean="0"/>
              <a:t>Note </a:t>
            </a:r>
            <a:r>
              <a:rPr lang="en-US" dirty="0"/>
              <a:t>that you need to remove multiple copies </a:t>
            </a:r>
            <a:r>
              <a:rPr lang="en-US" dirty="0" smtClean="0"/>
              <a:t>of literals </a:t>
            </a:r>
            <a:r>
              <a:rPr lang="en-US" dirty="0"/>
              <a:t>(called factoring) </a:t>
            </a:r>
            <a:r>
              <a:rPr lang="en-US" dirty="0" smtClean="0"/>
              <a:t>i.e.,</a:t>
            </a:r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endParaRPr lang="en-US" dirty="0"/>
          </a:p>
          <a:p>
            <a:pPr algn="just">
              <a:spcBef>
                <a:spcPts val="0"/>
              </a:spcBef>
            </a:pPr>
            <a:r>
              <a:rPr lang="en-US" dirty="0" smtClean="0"/>
              <a:t>If </a:t>
            </a:r>
            <a:r>
              <a:rPr lang="en-US" i="1" dirty="0"/>
              <a:t>l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err="1"/>
              <a:t>m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are </a:t>
            </a:r>
            <a:r>
              <a:rPr lang="en-US" b="1" dirty="0"/>
              <a:t>complementary literals</a:t>
            </a:r>
            <a:r>
              <a:rPr lang="en-US" dirty="0"/>
              <a:t>, the </a:t>
            </a:r>
            <a:r>
              <a:rPr lang="en-US" dirty="0" smtClean="0"/>
              <a:t>full resolution </a:t>
            </a:r>
            <a:r>
              <a:rPr lang="en-US" dirty="0"/>
              <a:t>rule looks like</a:t>
            </a:r>
            <a:r>
              <a:rPr lang="en-US" dirty="0" smtClean="0"/>
              <a:t>:</a:t>
            </a:r>
          </a:p>
          <a:p>
            <a:pPr algn="just">
              <a:spcBef>
                <a:spcPts val="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70</a:t>
            </a:fld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8800"/>
            <a:ext cx="200025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524250"/>
            <a:ext cx="195262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14950"/>
            <a:ext cx="661035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576387"/>
            <a:ext cx="3947575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7760785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035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one more technical aspect of the resolution rule: the resulting clause should </a:t>
            </a:r>
            <a:r>
              <a:rPr lang="en-US" smtClean="0"/>
              <a:t>contain </a:t>
            </a:r>
            <a:r>
              <a:rPr lang="en-US" smtClean="0"/>
              <a:t>only </a:t>
            </a:r>
            <a:r>
              <a:rPr lang="en-US" dirty="0"/>
              <a:t>one copy of each literal</a:t>
            </a:r>
            <a:r>
              <a:rPr lang="en-US" dirty="0" smtClean="0"/>
              <a:t>. </a:t>
            </a:r>
            <a:r>
              <a:rPr lang="en-US" dirty="0"/>
              <a:t>The removal of multiple copies of literals is called factoring.</a:t>
            </a:r>
          </a:p>
          <a:p>
            <a:r>
              <a:rPr lang="en-US" dirty="0"/>
              <a:t>For example, if we resolve (A ∨ B) with (A∨¬B), we obtain (A ∨ A), which is reduced </a:t>
            </a:r>
            <a:r>
              <a:rPr lang="en-US" dirty="0" smtClean="0"/>
              <a:t>to just </a:t>
            </a:r>
            <a:r>
              <a:rPr lang="en-US" dirty="0"/>
              <a:t>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94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Conjunctive Normal Form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dirty="0"/>
              <a:t>Resolution only applies to sentences of the form </a:t>
            </a:r>
            <a:endParaRPr lang="en-US" dirty="0" smtClean="0"/>
          </a:p>
          <a:p>
            <a:pPr marL="400050" lvl="1" indent="0" algn="just">
              <a:spcBef>
                <a:spcPts val="0"/>
              </a:spcBef>
              <a:buNone/>
            </a:pPr>
            <a:r>
              <a:rPr lang="en-US" dirty="0" smtClean="0"/>
              <a:t>l</a:t>
            </a:r>
            <a:r>
              <a:rPr lang="en-US" baseline="-25000" dirty="0" smtClean="0"/>
              <a:t>1</a:t>
            </a:r>
            <a:r>
              <a:rPr lang="en-US" dirty="0" smtClean="0"/>
              <a:t> ∨ </a:t>
            </a:r>
            <a:r>
              <a:rPr lang="en-US" dirty="0"/>
              <a:t>l</a:t>
            </a:r>
            <a:r>
              <a:rPr lang="en-US" baseline="-25000" dirty="0"/>
              <a:t>2</a:t>
            </a:r>
            <a:r>
              <a:rPr lang="en-US" dirty="0"/>
              <a:t> ∨ … ∨ </a:t>
            </a:r>
            <a:r>
              <a:rPr lang="en-US" dirty="0" err="1"/>
              <a:t>l</a:t>
            </a:r>
            <a:r>
              <a:rPr lang="en-US" baseline="-25000" dirty="0" err="1"/>
              <a:t>k</a:t>
            </a:r>
            <a:endParaRPr lang="en-US" baseline="-25000" dirty="0"/>
          </a:p>
          <a:p>
            <a:pPr algn="just">
              <a:spcBef>
                <a:spcPts val="0"/>
              </a:spcBef>
            </a:pPr>
            <a:r>
              <a:rPr lang="en-US" dirty="0" smtClean="0"/>
              <a:t>This </a:t>
            </a:r>
            <a:r>
              <a:rPr lang="en-US" dirty="0"/>
              <a:t>is called a disjunction of literals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It </a:t>
            </a:r>
            <a:r>
              <a:rPr lang="en-US" dirty="0"/>
              <a:t>turns out that every sentence of </a:t>
            </a:r>
            <a:r>
              <a:rPr lang="en-US" dirty="0" smtClean="0"/>
              <a:t>propositional logic </a:t>
            </a:r>
            <a:r>
              <a:rPr lang="en-US" dirty="0"/>
              <a:t>is logically equivalent to a conjunction </a:t>
            </a:r>
            <a:r>
              <a:rPr lang="en-US" dirty="0" smtClean="0"/>
              <a:t>of disjunction </a:t>
            </a:r>
            <a:r>
              <a:rPr lang="en-US" dirty="0"/>
              <a:t>of literals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Called </a:t>
            </a:r>
            <a:r>
              <a:rPr lang="en-US" dirty="0"/>
              <a:t>Conjunctive Normal Form or CNF</a:t>
            </a:r>
          </a:p>
          <a:p>
            <a:pPr marL="400050" lvl="1" indent="0" algn="just">
              <a:spcBef>
                <a:spcPts val="0"/>
              </a:spcBef>
              <a:buNone/>
            </a:pPr>
            <a:r>
              <a:rPr lang="en-US" dirty="0" smtClean="0"/>
              <a:t>e.g., </a:t>
            </a:r>
            <a:r>
              <a:rPr lang="en-US" dirty="0"/>
              <a:t>(l</a:t>
            </a:r>
            <a:r>
              <a:rPr lang="en-US" baseline="-25000" dirty="0"/>
              <a:t>1</a:t>
            </a:r>
            <a:r>
              <a:rPr lang="en-US" dirty="0"/>
              <a:t> ∨ l</a:t>
            </a:r>
            <a:r>
              <a:rPr lang="en-US" baseline="-25000" dirty="0"/>
              <a:t>2</a:t>
            </a:r>
            <a:r>
              <a:rPr lang="en-US" dirty="0"/>
              <a:t> ∨ l</a:t>
            </a:r>
            <a:r>
              <a:rPr lang="en-US" baseline="-25000" dirty="0"/>
              <a:t>3</a:t>
            </a:r>
            <a:r>
              <a:rPr lang="en-US" dirty="0"/>
              <a:t> ∨ l</a:t>
            </a:r>
            <a:r>
              <a:rPr lang="en-US" baseline="-25000" dirty="0"/>
              <a:t>4</a:t>
            </a:r>
            <a:r>
              <a:rPr lang="en-US" dirty="0"/>
              <a:t>) ∧ (l</a:t>
            </a:r>
            <a:r>
              <a:rPr lang="en-US" baseline="-25000" dirty="0"/>
              <a:t>5</a:t>
            </a:r>
            <a:r>
              <a:rPr lang="en-US" dirty="0"/>
              <a:t> ∨ l</a:t>
            </a:r>
            <a:r>
              <a:rPr lang="en-US" baseline="-25000" dirty="0"/>
              <a:t>6</a:t>
            </a:r>
            <a:r>
              <a:rPr lang="en-US" dirty="0"/>
              <a:t> ∨ l</a:t>
            </a:r>
            <a:r>
              <a:rPr lang="en-US" baseline="-25000" dirty="0"/>
              <a:t>7</a:t>
            </a:r>
            <a:r>
              <a:rPr lang="en-US" dirty="0"/>
              <a:t> ∨ l</a:t>
            </a:r>
            <a:r>
              <a:rPr lang="en-US" baseline="-25000" dirty="0"/>
              <a:t>8</a:t>
            </a:r>
            <a:r>
              <a:rPr lang="en-US" dirty="0"/>
              <a:t>) ∧ …</a:t>
            </a:r>
          </a:p>
          <a:p>
            <a:pPr algn="just">
              <a:spcBef>
                <a:spcPts val="0"/>
              </a:spcBef>
            </a:pPr>
            <a:r>
              <a:rPr lang="en-US" dirty="0" smtClean="0"/>
              <a:t>k-CNF </a:t>
            </a:r>
            <a:r>
              <a:rPr lang="en-US" dirty="0"/>
              <a:t>sentences have exactly k literals per </a:t>
            </a:r>
            <a:r>
              <a:rPr lang="en-US" dirty="0" smtClean="0"/>
              <a:t>clause e.g., </a:t>
            </a:r>
            <a:r>
              <a:rPr lang="en-US" dirty="0"/>
              <a:t>A 3-CNF sentence would be </a:t>
            </a:r>
            <a:endParaRPr lang="en-US" dirty="0" smtClean="0"/>
          </a:p>
          <a:p>
            <a:pPr marL="400050" lvl="1" indent="0" algn="just">
              <a:spcBef>
                <a:spcPts val="0"/>
              </a:spcBef>
              <a:buNone/>
            </a:pPr>
            <a:r>
              <a:rPr lang="en-US" dirty="0" smtClean="0"/>
              <a:t>(</a:t>
            </a:r>
            <a:r>
              <a:rPr lang="en-US" dirty="0"/>
              <a:t>l</a:t>
            </a:r>
            <a:r>
              <a:rPr lang="en-US" baseline="-25000" dirty="0"/>
              <a:t>1</a:t>
            </a:r>
            <a:r>
              <a:rPr lang="en-US" dirty="0"/>
              <a:t> ∨ l</a:t>
            </a:r>
            <a:r>
              <a:rPr lang="en-US" baseline="-25000" dirty="0"/>
              <a:t>2</a:t>
            </a:r>
            <a:r>
              <a:rPr lang="en-US" dirty="0"/>
              <a:t> ∨ l</a:t>
            </a:r>
            <a:r>
              <a:rPr lang="en-US" baseline="-25000" dirty="0"/>
              <a:t>3</a:t>
            </a:r>
            <a:r>
              <a:rPr lang="en-US" dirty="0" smtClean="0"/>
              <a:t>) </a:t>
            </a:r>
            <a:r>
              <a:rPr lang="en-US" dirty="0"/>
              <a:t>∧ </a:t>
            </a:r>
            <a:r>
              <a:rPr lang="en-US" dirty="0" smtClean="0"/>
              <a:t>(</a:t>
            </a:r>
            <a:r>
              <a:rPr lang="en-US" dirty="0"/>
              <a:t>l</a:t>
            </a:r>
            <a:r>
              <a:rPr lang="en-US" baseline="-25000" dirty="0"/>
              <a:t>4</a:t>
            </a:r>
            <a:r>
              <a:rPr lang="en-US" dirty="0" smtClean="0"/>
              <a:t> ∨ </a:t>
            </a:r>
            <a:r>
              <a:rPr lang="en-US" dirty="0"/>
              <a:t>l</a:t>
            </a:r>
            <a:r>
              <a:rPr lang="en-US" baseline="-25000" dirty="0"/>
              <a:t>5</a:t>
            </a:r>
            <a:r>
              <a:rPr lang="en-US" dirty="0"/>
              <a:t> ∨ l</a:t>
            </a:r>
            <a:r>
              <a:rPr lang="en-US" baseline="-25000" dirty="0"/>
              <a:t>6</a:t>
            </a:r>
            <a:r>
              <a:rPr lang="en-US" dirty="0" smtClean="0"/>
              <a:t>) </a:t>
            </a:r>
            <a:r>
              <a:rPr lang="en-US" dirty="0"/>
              <a:t>∧ </a:t>
            </a:r>
            <a:r>
              <a:rPr lang="en-US" dirty="0" smtClean="0"/>
              <a:t>(</a:t>
            </a:r>
            <a:r>
              <a:rPr lang="en-US" dirty="0"/>
              <a:t>l</a:t>
            </a:r>
            <a:r>
              <a:rPr lang="en-US" baseline="-25000" dirty="0"/>
              <a:t>7</a:t>
            </a:r>
            <a:r>
              <a:rPr lang="en-US" dirty="0"/>
              <a:t> ∨ l</a:t>
            </a:r>
            <a:r>
              <a:rPr lang="en-US" baseline="-25000" dirty="0"/>
              <a:t>8</a:t>
            </a:r>
            <a:r>
              <a:rPr lang="en-US" dirty="0" smtClean="0"/>
              <a:t> </a:t>
            </a:r>
            <a:r>
              <a:rPr lang="en-US" dirty="0"/>
              <a:t>∨ l</a:t>
            </a:r>
            <a:r>
              <a:rPr lang="en-US" baseline="-25000" dirty="0"/>
              <a:t>9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73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Recipe for Converting to CNF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Eliminate ⇔, replacing α ⇔ β with (α </a:t>
            </a:r>
            <a:r>
              <a:rPr lang="en-US" dirty="0" smtClean="0"/>
              <a:t>⇒ </a:t>
            </a:r>
            <a:r>
              <a:rPr lang="el-GR" dirty="0" smtClean="0"/>
              <a:t>β</a:t>
            </a:r>
            <a:r>
              <a:rPr lang="el-GR" dirty="0"/>
              <a:t>) ∧ (β ⇒ α)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Eliminate </a:t>
            </a:r>
            <a:r>
              <a:rPr lang="en-US" dirty="0"/>
              <a:t>⇒, replacing α ⇒ β with ¬α </a:t>
            </a:r>
            <a:r>
              <a:rPr lang="en-US" dirty="0" smtClean="0"/>
              <a:t>∨ </a:t>
            </a:r>
            <a:r>
              <a:rPr lang="el-GR" dirty="0" smtClean="0"/>
              <a:t>β</a:t>
            </a:r>
            <a:endParaRPr lang="el-GR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Move </a:t>
            </a:r>
            <a:r>
              <a:rPr lang="en-US" dirty="0"/>
              <a:t>¬ inwards using:</a:t>
            </a:r>
          </a:p>
          <a:p>
            <a:pPr marL="400050" lvl="1" indent="0" algn="just">
              <a:buNone/>
            </a:pPr>
            <a:r>
              <a:rPr lang="el-GR" dirty="0"/>
              <a:t>¬(¬α) ≡ α (</a:t>
            </a:r>
            <a:r>
              <a:rPr lang="en-US" dirty="0"/>
              <a:t>double-negation elimination)</a:t>
            </a:r>
          </a:p>
          <a:p>
            <a:pPr marL="400050" lvl="1" indent="0" algn="just">
              <a:buNone/>
            </a:pPr>
            <a:r>
              <a:rPr lang="el-GR" dirty="0"/>
              <a:t>¬(α ∧ β) ≡ ¬α ∨ ¬β (</a:t>
            </a:r>
            <a:r>
              <a:rPr lang="en-US" dirty="0"/>
              <a:t>De Morgan’s Law)</a:t>
            </a:r>
          </a:p>
          <a:p>
            <a:pPr marL="400050" lvl="1" indent="0" algn="just">
              <a:buNone/>
            </a:pPr>
            <a:r>
              <a:rPr lang="el-GR" dirty="0"/>
              <a:t>¬(α ∨ β) ≡ ¬α ∧ ¬β (</a:t>
            </a:r>
            <a:r>
              <a:rPr lang="en-US" dirty="0"/>
              <a:t>De Morgan’s Law)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/>
              <a:t>distributive law (α ∨ (β ∧ γ)) ≡ ((</a:t>
            </a:r>
            <a:r>
              <a:rPr lang="en-US" dirty="0" smtClean="0"/>
              <a:t>α </a:t>
            </a:r>
            <a:r>
              <a:rPr lang="el-GR" dirty="0" smtClean="0"/>
              <a:t>∨ </a:t>
            </a:r>
            <a:r>
              <a:rPr lang="el-GR" dirty="0"/>
              <a:t>β) ∧ (α ∨ γ</a:t>
            </a:r>
            <a:r>
              <a:rPr lang="el-GR" dirty="0" smtClean="0"/>
              <a:t>))</a:t>
            </a:r>
            <a:endParaRPr lang="en-US" dirty="0" smtClean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(Example next slide)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74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0"/>
            <a:ext cx="8845568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041" y="228600"/>
            <a:ext cx="2451652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004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Satisfiability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sentence is </a:t>
            </a:r>
            <a:r>
              <a:rPr lang="en-US" sz="2400" dirty="0" err="1"/>
              <a:t>satisfiable</a:t>
            </a:r>
            <a:r>
              <a:rPr lang="en-US" sz="2400" dirty="0"/>
              <a:t> if it is true in, or satisfied by, some model. </a:t>
            </a:r>
          </a:p>
          <a:p>
            <a:r>
              <a:rPr lang="en-US" sz="2400" dirty="0"/>
              <a:t>For example, the knowledge base given earlier, (R1 ∧ R2 ∧ R3 ∧ R4 ∧ R5), is </a:t>
            </a:r>
            <a:r>
              <a:rPr lang="en-US" sz="2400" dirty="0" err="1"/>
              <a:t>satisfiable</a:t>
            </a:r>
            <a:r>
              <a:rPr lang="en-US" sz="2400" dirty="0"/>
              <a:t> because there are three models in which it is true.</a:t>
            </a:r>
          </a:p>
          <a:p>
            <a:r>
              <a:rPr lang="en-US" sz="2400" dirty="0" err="1"/>
              <a:t>Satisfiability</a:t>
            </a:r>
            <a:r>
              <a:rPr lang="en-US" sz="2400" dirty="0"/>
              <a:t> can be checked by enumerating the possible models until one is found that satisfies the sentence. </a:t>
            </a:r>
          </a:p>
          <a:p>
            <a:r>
              <a:rPr lang="en-US" sz="2400" dirty="0"/>
              <a:t>For example, all the constraint satisfaction problems in Chapter 6 ask whether the constraints are </a:t>
            </a:r>
            <a:r>
              <a:rPr lang="en-US" sz="2400" dirty="0" err="1"/>
              <a:t>satisfiable</a:t>
            </a:r>
            <a:r>
              <a:rPr lang="en-US" sz="2400" dirty="0"/>
              <a:t> by some assignment.</a:t>
            </a:r>
          </a:p>
          <a:p>
            <a:r>
              <a:rPr lang="en-US" sz="2400" dirty="0"/>
              <a:t>Validity and </a:t>
            </a:r>
            <a:r>
              <a:rPr lang="en-US" sz="2400" dirty="0" err="1"/>
              <a:t>satisfiability</a:t>
            </a:r>
            <a:r>
              <a:rPr lang="en-US" sz="2400" dirty="0"/>
              <a:t> are of course connected: α is valid </a:t>
            </a:r>
            <a:r>
              <a:rPr lang="en-US" sz="2400" dirty="0" err="1"/>
              <a:t>iff</a:t>
            </a:r>
            <a:r>
              <a:rPr lang="en-US" sz="2400" dirty="0"/>
              <a:t> ¬α is </a:t>
            </a:r>
            <a:r>
              <a:rPr lang="en-US" sz="2400" dirty="0" err="1" smtClean="0"/>
              <a:t>unsatisfiable</a:t>
            </a:r>
            <a:r>
              <a:rPr lang="en-US" sz="2400" dirty="0" smtClean="0"/>
              <a:t>; </a:t>
            </a:r>
            <a:r>
              <a:rPr lang="en-US" sz="2400" dirty="0" err="1" smtClean="0"/>
              <a:t>contrapositively</a:t>
            </a:r>
            <a:r>
              <a:rPr lang="en-US" sz="2400" dirty="0"/>
              <a:t>, α is </a:t>
            </a:r>
            <a:r>
              <a:rPr lang="en-US" sz="2400" dirty="0" err="1"/>
              <a:t>satisfiable</a:t>
            </a:r>
            <a:r>
              <a:rPr lang="en-US" sz="2400" dirty="0"/>
              <a:t> </a:t>
            </a:r>
            <a:r>
              <a:rPr lang="en-US" sz="2400" dirty="0" err="1"/>
              <a:t>iff</a:t>
            </a:r>
            <a:r>
              <a:rPr lang="en-US" sz="2400" dirty="0"/>
              <a:t> ¬α is not valid.</a:t>
            </a: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74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A resolution algorithm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6019800"/>
          </a:xfrm>
        </p:spPr>
        <p:txBody>
          <a:bodyPr/>
          <a:lstStyle/>
          <a:p>
            <a:pPr algn="just">
              <a:spcBef>
                <a:spcPts val="0"/>
              </a:spcBef>
            </a:pPr>
            <a:r>
              <a:rPr lang="en-US" sz="2400" dirty="0"/>
              <a:t>To prove KB |= α, we show that (KB ∧ ¬α) is </a:t>
            </a:r>
            <a:r>
              <a:rPr lang="en-US" sz="2400" dirty="0" err="1"/>
              <a:t>unsatisfiable</a:t>
            </a:r>
            <a:endParaRPr lang="en-US" sz="2400" dirty="0"/>
          </a:p>
          <a:p>
            <a:pPr algn="just">
              <a:spcBef>
                <a:spcPts val="0"/>
              </a:spcBef>
            </a:pPr>
            <a:r>
              <a:rPr lang="en-US" sz="2400" dirty="0"/>
              <a:t>(Remember that α |= β </a:t>
            </a:r>
            <a:r>
              <a:rPr lang="en-US" sz="2400" dirty="0" err="1"/>
              <a:t>iff</a:t>
            </a:r>
            <a:r>
              <a:rPr lang="en-US" sz="2400" dirty="0"/>
              <a:t> the sentence (α ∧¬β) is </a:t>
            </a:r>
            <a:r>
              <a:rPr lang="en-US" sz="2400" dirty="0" err="1"/>
              <a:t>unsatisfiable</a:t>
            </a:r>
            <a:r>
              <a:rPr lang="en-US" sz="2400" dirty="0"/>
              <a:t>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dirty="0"/>
              <a:t>The algorithm: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Convert </a:t>
            </a:r>
            <a:r>
              <a:rPr lang="en-US" sz="2400" dirty="0"/>
              <a:t>(KB ∧ ¬α) to CNF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Apply </a:t>
            </a:r>
            <a:r>
              <a:rPr lang="en-US" sz="2400" dirty="0"/>
              <a:t>resolution rule to resulting clauses. Each pair </a:t>
            </a:r>
            <a:r>
              <a:rPr lang="en-US" sz="2400" dirty="0" smtClean="0"/>
              <a:t>with complementary </a:t>
            </a:r>
            <a:r>
              <a:rPr lang="en-US" sz="2400" dirty="0"/>
              <a:t>literals is resolved to produce a new clause which </a:t>
            </a:r>
            <a:r>
              <a:rPr lang="en-US" sz="2400" dirty="0" smtClean="0"/>
              <a:t>is added </a:t>
            </a:r>
            <a:r>
              <a:rPr lang="en-US" sz="2400" dirty="0"/>
              <a:t>to the KB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Keep </a:t>
            </a:r>
            <a:r>
              <a:rPr lang="en-US" sz="2400" dirty="0"/>
              <a:t>going until</a:t>
            </a:r>
          </a:p>
          <a:p>
            <a:pPr lvl="1" algn="just">
              <a:spcBef>
                <a:spcPts val="0"/>
              </a:spcBef>
            </a:pPr>
            <a:r>
              <a:rPr lang="en-US" sz="2400" dirty="0" smtClean="0"/>
              <a:t>There </a:t>
            </a:r>
            <a:r>
              <a:rPr lang="en-US" sz="2400" dirty="0"/>
              <a:t>are no new clauses that can be </a:t>
            </a:r>
            <a:r>
              <a:rPr lang="en-US" sz="2400" dirty="0" smtClean="0"/>
              <a:t>added </a:t>
            </a:r>
          </a:p>
          <a:p>
            <a:pPr marL="400050" lvl="1" indent="0" algn="just">
              <a:spcBef>
                <a:spcPts val="0"/>
              </a:spcBef>
              <a:buNone/>
            </a:pPr>
            <a:r>
              <a:rPr lang="en-US" sz="2400" dirty="0" smtClean="0"/>
              <a:t>    (meaning </a:t>
            </a:r>
            <a:r>
              <a:rPr lang="en-US" sz="2400" dirty="0"/>
              <a:t>KB |≠ α)</a:t>
            </a:r>
          </a:p>
          <a:p>
            <a:pPr lvl="1" algn="just">
              <a:spcBef>
                <a:spcPts val="0"/>
              </a:spcBef>
            </a:pPr>
            <a:r>
              <a:rPr lang="en-US" sz="2400" dirty="0" smtClean="0"/>
              <a:t>Two </a:t>
            </a:r>
            <a:r>
              <a:rPr lang="en-US" sz="2400" dirty="0"/>
              <a:t>clauses resolve to yield the empty clause </a:t>
            </a:r>
            <a:endParaRPr lang="en-US" sz="2400" dirty="0" smtClean="0"/>
          </a:p>
          <a:p>
            <a:pPr marL="400050" lvl="1" indent="0" algn="just">
              <a:spcBef>
                <a:spcPts val="0"/>
              </a:spcBef>
              <a:buNone/>
            </a:pPr>
            <a:r>
              <a:rPr lang="en-US" sz="2400" dirty="0"/>
              <a:t> </a:t>
            </a:r>
            <a:r>
              <a:rPr lang="en-US" sz="2400" dirty="0" smtClean="0"/>
              <a:t>   (meaning </a:t>
            </a:r>
            <a:r>
              <a:rPr lang="en-US" sz="2400" dirty="0"/>
              <a:t>KB </a:t>
            </a:r>
            <a:r>
              <a:rPr lang="en-US" sz="2400" dirty="0" smtClean="0"/>
              <a:t>|= </a:t>
            </a:r>
            <a:r>
              <a:rPr lang="el-GR" sz="2400" dirty="0" smtClean="0"/>
              <a:t>α )</a:t>
            </a:r>
            <a:endParaRPr lang="en-US" sz="2400" dirty="0" smtClean="0"/>
          </a:p>
          <a:p>
            <a:pPr marL="400050" lvl="1" indent="0" algn="just">
              <a:spcBef>
                <a:spcPts val="0"/>
              </a:spcBef>
              <a:buNone/>
            </a:pPr>
            <a:endParaRPr lang="en-US" sz="2400" dirty="0" smtClean="0"/>
          </a:p>
          <a:p>
            <a:pPr marL="400050" lvl="1" indent="0" algn="just">
              <a:spcBef>
                <a:spcPts val="0"/>
              </a:spcBef>
              <a:buNone/>
            </a:pPr>
            <a:r>
              <a:rPr lang="en-US" sz="2400" dirty="0" smtClean="0"/>
              <a:t>(P and ¬P) = </a:t>
            </a:r>
            <a:r>
              <a:rPr lang="en-US" sz="2400" dirty="0" err="1" smtClean="0"/>
              <a:t>Emptyset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77</a:t>
            </a:fld>
            <a:endParaRPr lang="en-US" dirty="0"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334000"/>
            <a:ext cx="5232779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84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7.13 is shown after next slide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8839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143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Resolution </a:t>
            </a:r>
            <a:r>
              <a:rPr lang="en-US" dirty="0" err="1">
                <a:latin typeface="+mn-lt"/>
              </a:rPr>
              <a:t>Pseudocode</a:t>
            </a:r>
            <a:endParaRPr lang="en-US" b="1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79</a:t>
            </a:fld>
            <a:endParaRPr lang="en-US" dirty="0">
              <a:latin typeface="+mn-lt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610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01513"/>
            <a:ext cx="8699785" cy="319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682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Definite and Horn clauses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DEFINITE CLAUSE, which is a disjunction of literals of which exactly one is positive. For example, the clause (¬L1,1 ∨¬Breeze ∨B1,1) is a definite </a:t>
            </a:r>
            <a:r>
              <a:rPr lang="en-US" dirty="0" smtClean="0"/>
              <a:t>clause, whereas </a:t>
            </a:r>
            <a:r>
              <a:rPr lang="en-US" dirty="0"/>
              <a:t>(￢B1,1 ∨ P1,2 ∨ P2,1) is </a:t>
            </a:r>
            <a:r>
              <a:rPr lang="en-US" dirty="0" smtClean="0"/>
              <a:t>not.</a:t>
            </a:r>
          </a:p>
          <a:p>
            <a:r>
              <a:rPr lang="en-US" dirty="0"/>
              <a:t>Slightly more general is the Horn clause, which is a disjunction of literals of which </a:t>
            </a:r>
            <a:r>
              <a:rPr lang="en-US" dirty="0" smtClean="0"/>
              <a:t>at most </a:t>
            </a:r>
            <a:r>
              <a:rPr lang="en-US" dirty="0"/>
              <a:t>one is positive. So all definite clauses are Horn clauses, as are clauses with no </a:t>
            </a:r>
            <a:r>
              <a:rPr lang="en-US" dirty="0" smtClean="0"/>
              <a:t>positive literals</a:t>
            </a:r>
            <a:r>
              <a:rPr lang="en-US" dirty="0"/>
              <a:t>; these are called goal clauses. Horn clauses are closed under resolution: if you resolve two Horn clauses, you get back a Horn clause.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33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82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" y="838200"/>
            <a:ext cx="9043973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236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83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1400175"/>
            <a:ext cx="7410450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79500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Forward chaining -&gt; Data driven reasoning</a:t>
            </a:r>
          </a:p>
          <a:p>
            <a:r>
              <a:rPr lang="en-US" dirty="0" smtClean="0"/>
              <a:t>Backward chaining -&gt; Goal directed reasoning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1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Forward chaining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forward-chaining algorithm </a:t>
            </a:r>
            <a:r>
              <a:rPr lang="en-US" dirty="0" smtClean="0"/>
              <a:t>determines </a:t>
            </a:r>
            <a:r>
              <a:rPr lang="en-US" dirty="0"/>
              <a:t>if a single proposition symbol q—the query—is entailed by a knowledge base of definite clauses.</a:t>
            </a:r>
          </a:p>
          <a:p>
            <a:r>
              <a:rPr lang="en-US" dirty="0"/>
              <a:t>It begins from known facts (positive literals) in the knowledge base. If all the premises of an </a:t>
            </a:r>
            <a:r>
              <a:rPr lang="en-US" dirty="0" smtClean="0"/>
              <a:t>implication are </a:t>
            </a:r>
            <a:r>
              <a:rPr lang="en-US" dirty="0"/>
              <a:t>known, then its conclusion is added to the set of known facts. </a:t>
            </a:r>
          </a:p>
          <a:p>
            <a:r>
              <a:rPr lang="en-US" dirty="0"/>
              <a:t>For example, if L1,1 and Breeze are known and (L1,1 ∧ Breeze) ⇒ B1,1 is in the knowledge base, then B1,1 can</a:t>
            </a:r>
          </a:p>
          <a:p>
            <a:r>
              <a:rPr lang="en-US" dirty="0"/>
              <a:t>be added.</a:t>
            </a:r>
          </a:p>
          <a:p>
            <a:r>
              <a:rPr lang="en-US" dirty="0"/>
              <a:t>This process continues until the query q is added or until no further inferences </a:t>
            </a:r>
            <a:r>
              <a:rPr lang="en-US" dirty="0" smtClean="0"/>
              <a:t>can be </a:t>
            </a:r>
            <a:r>
              <a:rPr lang="en-US" dirty="0"/>
              <a:t>made.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41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backward-chaining algorithm, as its name suggests, works backward from </a:t>
            </a:r>
            <a:r>
              <a:rPr lang="en-US" dirty="0" smtClean="0"/>
              <a:t>the </a:t>
            </a:r>
            <a:r>
              <a:rPr lang="en-GB" dirty="0" smtClean="0"/>
              <a:t>query.</a:t>
            </a:r>
          </a:p>
          <a:p>
            <a:r>
              <a:rPr lang="en-US" dirty="0"/>
              <a:t>If the query q is known to be true, then no work is needed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all the premises of </a:t>
            </a:r>
            <a:r>
              <a:rPr lang="en-US" dirty="0" smtClean="0"/>
              <a:t>one </a:t>
            </a:r>
            <a:r>
              <a:rPr lang="en-US" dirty="0"/>
              <a:t>of those implications can be proved true (by backward chaining), then q is true.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83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/>
          </a:p>
          <a:p>
            <a:pPr>
              <a:defRPr/>
            </a:pPr>
            <a:fld id="{32C7C4F8-C15F-44B1-8719-C4B0BB76F013}" type="slidenum">
              <a:rPr lang="en-US" smtClean="0"/>
              <a:pPr>
                <a:defRPr/>
              </a:pPr>
              <a:t>87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02" y="928048"/>
            <a:ext cx="8874826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484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685800"/>
          </a:xfrm>
        </p:spPr>
        <p:txBody>
          <a:bodyPr/>
          <a:lstStyle/>
          <a:p>
            <a:r>
              <a:rPr lang="en-US" dirty="0">
                <a:latin typeface="+mn-lt"/>
              </a:rPr>
              <a:t>Things you should know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15000"/>
          </a:xfrm>
        </p:spPr>
        <p:txBody>
          <a:bodyPr/>
          <a:lstStyle/>
          <a:p>
            <a:pPr algn="just"/>
            <a:r>
              <a:rPr lang="en-US" dirty="0"/>
              <a:t>Understand the syntax and semantics </a:t>
            </a:r>
            <a:r>
              <a:rPr lang="en-US" dirty="0" smtClean="0"/>
              <a:t>of propositional </a:t>
            </a:r>
            <a:r>
              <a:rPr lang="en-US" dirty="0"/>
              <a:t>logic</a:t>
            </a:r>
          </a:p>
          <a:p>
            <a:pPr algn="just"/>
            <a:r>
              <a:rPr lang="en-US" dirty="0" smtClean="0"/>
              <a:t>Know </a:t>
            </a:r>
            <a:r>
              <a:rPr lang="en-US" dirty="0"/>
              <a:t>how to do a proof in </a:t>
            </a:r>
            <a:r>
              <a:rPr lang="en-US" dirty="0" smtClean="0"/>
              <a:t>propositional logic </a:t>
            </a:r>
            <a:r>
              <a:rPr lang="en-US" dirty="0"/>
              <a:t>using inference rules</a:t>
            </a:r>
          </a:p>
          <a:p>
            <a:pPr algn="just"/>
            <a:r>
              <a:rPr lang="en-US" dirty="0" smtClean="0"/>
              <a:t>Know </a:t>
            </a:r>
            <a:r>
              <a:rPr lang="en-US" dirty="0"/>
              <a:t>how resolution works</a:t>
            </a:r>
          </a:p>
          <a:p>
            <a:pPr algn="just"/>
            <a:r>
              <a:rPr lang="en-US" dirty="0" smtClean="0"/>
              <a:t>Know </a:t>
            </a:r>
            <a:r>
              <a:rPr lang="en-US" dirty="0"/>
              <a:t>how to convert arbitrary sentences </a:t>
            </a:r>
            <a:r>
              <a:rPr lang="en-US" dirty="0" smtClean="0"/>
              <a:t>to CNF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smtClean="0">
              <a:latin typeface="+mn-lt"/>
            </a:endParaRPr>
          </a:p>
          <a:p>
            <a:pPr>
              <a:defRPr/>
            </a:pPr>
            <a:fld id="{32C7C4F8-C15F-44B1-8719-C4B0BB76F013}" type="slidenum">
              <a:rPr lang="en-US" smtClean="0">
                <a:latin typeface="+mn-lt"/>
              </a:rPr>
              <a:pPr>
                <a:defRPr/>
              </a:pPr>
              <a:t>88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38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15076</TotalTime>
  <Words>4218</Words>
  <Application>Microsoft Office PowerPoint</Application>
  <PresentationFormat>On-screen Show (4:3)</PresentationFormat>
  <Paragraphs>607</Paragraphs>
  <Slides>88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2" baseType="lpstr">
      <vt:lpstr>Arial</vt:lpstr>
      <vt:lpstr>Tahoma</vt:lpstr>
      <vt:lpstr>Wingdings</vt:lpstr>
      <vt:lpstr>Default Design</vt:lpstr>
      <vt:lpstr>CS401 – Artificial Intelligence Spring – 2018  Logical Agents</vt:lpstr>
      <vt:lpstr>Today’s Agenda</vt:lpstr>
      <vt:lpstr>Acknowledgements</vt:lpstr>
      <vt:lpstr>Complete Architecture for Intelligence?</vt:lpstr>
      <vt:lpstr>Why Do We Need Logical Agents?</vt:lpstr>
      <vt:lpstr>Knowledge &amp; Reasoning</vt:lpstr>
      <vt:lpstr>Logical Agents</vt:lpstr>
      <vt:lpstr>Knowledge-Based Agents</vt:lpstr>
      <vt:lpstr>The Knowledge Base</vt:lpstr>
      <vt:lpstr>PowerPoint Presentation</vt:lpstr>
      <vt:lpstr>Generic KB-Based Agent Pseudocode</vt:lpstr>
      <vt:lpstr>What is Logic?</vt:lpstr>
      <vt:lpstr>Types of Logics</vt:lpstr>
      <vt:lpstr>Propositional Logic: Syntax</vt:lpstr>
      <vt:lpstr>Propositional Logic: Semantics</vt:lpstr>
      <vt:lpstr>PowerPoint Presentation</vt:lpstr>
      <vt:lpstr>PowerPoint Presentation</vt:lpstr>
      <vt:lpstr>The Wumpus World</vt:lpstr>
      <vt:lpstr>The Wumpus World</vt:lpstr>
      <vt:lpstr>The Wumpus World</vt:lpstr>
      <vt:lpstr>Wumpus World Example</vt:lpstr>
      <vt:lpstr>Wumpus World Example</vt:lpstr>
      <vt:lpstr>Wumpus World Example</vt:lpstr>
      <vt:lpstr>Wumpus World Example</vt:lpstr>
      <vt:lpstr>Wumpus World Example</vt:lpstr>
      <vt:lpstr>Wumpus World Example</vt:lpstr>
      <vt:lpstr>Logic</vt:lpstr>
      <vt:lpstr>Models</vt:lpstr>
      <vt:lpstr>Entailment</vt:lpstr>
      <vt:lpstr>PowerPoint Presentation</vt:lpstr>
      <vt:lpstr>Entailment Applied to the Wumpus World</vt:lpstr>
      <vt:lpstr>Entailment Applied to the Wumpus World</vt:lpstr>
      <vt:lpstr>Entailment Applied to the Wumpus World</vt:lpstr>
      <vt:lpstr>PowerPoint Presentation</vt:lpstr>
      <vt:lpstr>Logical Inference</vt:lpstr>
      <vt:lpstr>Soundness</vt:lpstr>
      <vt:lpstr>Completeness</vt:lpstr>
      <vt:lpstr>In Summary</vt:lpstr>
      <vt:lpstr>Correspondence to the Real World</vt:lpstr>
      <vt:lpstr>Grounding</vt:lpstr>
      <vt:lpstr>Things you should know</vt:lpstr>
      <vt:lpstr>Review</vt:lpstr>
      <vt:lpstr>Propositional Logic: Syntax and Semantics</vt:lpstr>
      <vt:lpstr>Syntax: Backus-Naur Form Grammar of Sentences in Propositional Logic</vt:lpstr>
      <vt:lpstr>Atomic Sentences</vt:lpstr>
      <vt:lpstr>Complex Sentences</vt:lpstr>
      <vt:lpstr>Precedence of Connectives</vt:lpstr>
      <vt:lpstr>Semantics (Are sentences true?)</vt:lpstr>
      <vt:lpstr>Semantics</vt:lpstr>
      <vt:lpstr>Note on Implication</vt:lpstr>
      <vt:lpstr>Truth Tables for the Connectives</vt:lpstr>
      <vt:lpstr>The Wumpus World KB  (only dealing with knowledge about pits)</vt:lpstr>
      <vt:lpstr>PowerPoint Presentation</vt:lpstr>
      <vt:lpstr>Inference</vt:lpstr>
      <vt:lpstr>PowerPoint Presentation</vt:lpstr>
      <vt:lpstr>Complexity</vt:lpstr>
      <vt:lpstr>Logical Equivalence</vt:lpstr>
      <vt:lpstr>Standard Logic Equivalences</vt:lpstr>
      <vt:lpstr>Validity</vt:lpstr>
      <vt:lpstr>Satisfiability</vt:lpstr>
      <vt:lpstr>Reasoning Patterns in Propositional Logic</vt:lpstr>
      <vt:lpstr>Proof Methods</vt:lpstr>
      <vt:lpstr>Inference Rules</vt:lpstr>
      <vt:lpstr>Other Inference Rules</vt:lpstr>
      <vt:lpstr>Example</vt:lpstr>
      <vt:lpstr>Proofs</vt:lpstr>
      <vt:lpstr>PowerPoint Presentation</vt:lpstr>
      <vt:lpstr>Monotonicity</vt:lpstr>
      <vt:lpstr>Resolution</vt:lpstr>
      <vt:lpstr>Resolution</vt:lpstr>
      <vt:lpstr>PowerPoint Presentation</vt:lpstr>
      <vt:lpstr>PowerPoint Presentation</vt:lpstr>
      <vt:lpstr>Conjunctive Normal Form</vt:lpstr>
      <vt:lpstr>Recipe for Converting to CNF</vt:lpstr>
      <vt:lpstr>PowerPoint Presentation</vt:lpstr>
      <vt:lpstr>Satisfiability</vt:lpstr>
      <vt:lpstr>A resolution algorithm</vt:lpstr>
      <vt:lpstr>PowerPoint Presentation</vt:lpstr>
      <vt:lpstr>Resolution Pseudocode</vt:lpstr>
      <vt:lpstr>PowerPoint Presentation</vt:lpstr>
      <vt:lpstr>Definite and Horn clauses</vt:lpstr>
      <vt:lpstr>PowerPoint Presentation</vt:lpstr>
      <vt:lpstr>PowerPoint Presentation</vt:lpstr>
      <vt:lpstr>PowerPoint Presentation</vt:lpstr>
      <vt:lpstr>Forward chaining</vt:lpstr>
      <vt:lpstr>PowerPoint Presentation</vt:lpstr>
      <vt:lpstr>PowerPoint Presentation</vt:lpstr>
      <vt:lpstr>Things you should know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problems</dc:title>
  <dc:creator>Jean-Claude Latombe</dc:creator>
  <cp:lastModifiedBy>Syed Farrukh Hasan</cp:lastModifiedBy>
  <cp:revision>432</cp:revision>
  <cp:lastPrinted>1601-01-01T00:00:00Z</cp:lastPrinted>
  <dcterms:created xsi:type="dcterms:W3CDTF">2000-01-10T15:15:18Z</dcterms:created>
  <dcterms:modified xsi:type="dcterms:W3CDTF">2018-04-24T09:05:13Z</dcterms:modified>
</cp:coreProperties>
</file>