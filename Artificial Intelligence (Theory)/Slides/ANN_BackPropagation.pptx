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7" r:id="rId11"/>
    <p:sldId id="262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05"/>
    <p:restoredTop sz="86446"/>
  </p:normalViewPr>
  <p:slideViewPr>
    <p:cSldViewPr snapToGrid="0" snapToObjects="1">
      <p:cViewPr varScale="1">
        <p:scale>
          <a:sx n="100" d="100"/>
          <a:sy n="100" d="100"/>
        </p:scale>
        <p:origin x="140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C3B76-8984-8247-BEBC-74C7DE46D407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7D940-3F85-9F4A-A26B-C7FC6F65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97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7D940-3F85-9F4A-A26B-C7FC6F65475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658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37D940-3F85-9F4A-A26B-C7FC6F6547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08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37D940-3F85-9F4A-A26B-C7FC6F6547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96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7D940-3F85-9F4A-A26B-C7FC6F6547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7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28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4114800"/>
            <a:ext cx="2286000" cy="2286000"/>
          </a:xfrm>
          <a:prstGeom prst="ellipse">
            <a:avLst/>
          </a:prstGeom>
          <a:solidFill>
            <a:srgbClr val="008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Artificial 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 smtClean="0">
                <a:solidFill>
                  <a:srgbClr val="CADCFC"/>
                </a:solidFill>
                <a:latin typeface="Georgia"/>
              </a:rPr>
              <a:t>Feed- Forward and </a:t>
            </a:r>
            <a:r>
              <a:rPr sz="3600" b="0" i="0" dirty="0" smtClean="0">
                <a:solidFill>
                  <a:srgbClr val="CADCFC"/>
                </a:solidFill>
                <a:latin typeface="Georgia"/>
              </a:rPr>
              <a:t>Back-Propagation </a:t>
            </a:r>
            <a:r>
              <a:rPr sz="3600" b="0" i="0" dirty="0">
                <a:solidFill>
                  <a:srgbClr val="CADCFC"/>
                </a:solidFill>
                <a:latin typeface="Georgia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47160"/>
            <a:ext cx="50292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13004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smtClean="0">
                <a:solidFill>
                  <a:srgbClr val="CADCFC"/>
                </a:solidFill>
                <a:latin typeface="Calibri"/>
              </a:rPr>
              <a:t>Course Supervisor: ANAUM HAMID</a:t>
            </a:r>
            <a:endParaRPr b="0" i="0" dirty="0">
              <a:solidFill>
                <a:srgbClr val="CADCFC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389"/>
            <a:ext cx="114300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An </a:t>
            </a:r>
            <a:r>
              <a:rPr lang="en-US" sz="2400" b="1" dirty="0"/>
              <a:t>Artificial Neural Network (ANN)</a:t>
            </a:r>
            <a:r>
              <a:rPr lang="en-US" sz="2400" dirty="0"/>
              <a:t> is a computational model inspired by the </a:t>
            </a:r>
            <a:r>
              <a:rPr lang="en-US" sz="2400" b="1" dirty="0"/>
              <a:t>human brain</a:t>
            </a:r>
            <a:r>
              <a:rPr lang="en-US" sz="2400" dirty="0"/>
              <a:t>. It’s designed to recognize patterns and relationships in data by mimicking how biological neurons signal and process information.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25135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FFFF"/>
                </a:solidFill>
                <a:latin typeface="Georgia"/>
              </a:rPr>
              <a:t> Artificial Neural Network (ANN)</a:t>
            </a:r>
            <a:endParaRPr sz="30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0550" y="2526863"/>
            <a:ext cx="593407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42424"/>
                </a:solidFill>
                <a:latin typeface="sohne"/>
              </a:rPr>
              <a:t>📐 ANN Architecture Overview</a:t>
            </a:r>
          </a:p>
          <a:p>
            <a:r>
              <a:rPr lang="en-US" dirty="0">
                <a:solidFill>
                  <a:srgbClr val="242424"/>
                </a:solidFill>
                <a:latin typeface="source-serif-pro"/>
              </a:rPr>
              <a:t>An ANN consists of three main types of layers: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242424"/>
                </a:solidFill>
                <a:latin typeface="source-serif-pro"/>
              </a:rPr>
              <a:t>Input Layer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: Receives the initial data (features</a:t>
            </a:r>
            <a:r>
              <a:rPr lang="en-US" dirty="0" smtClean="0">
                <a:solidFill>
                  <a:srgbClr val="242424"/>
                </a:solidFill>
                <a:latin typeface="source-serif-pro"/>
              </a:rPr>
              <a:t>).</a:t>
            </a: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242424"/>
                </a:solidFill>
                <a:latin typeface="source-serif-pro"/>
              </a:rPr>
              <a:t>Hidden Layer(s)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: Processes data and extracts patterns (can be one or many layers</a:t>
            </a:r>
            <a:r>
              <a:rPr lang="en-US" dirty="0" smtClean="0">
                <a:solidFill>
                  <a:srgbClr val="242424"/>
                </a:solidFill>
                <a:latin typeface="source-serif-pro"/>
              </a:rPr>
              <a:t>).</a:t>
            </a:r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242424"/>
                </a:solidFill>
                <a:latin typeface="source-serif-pro"/>
              </a:rPr>
              <a:t>Output Layer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: Produces the final prediction (e.g., class label or value).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rgbClr val="242424"/>
                </a:solidFill>
                <a:latin typeface="source-serif-pro"/>
              </a:rPr>
              <a:t>Each layer contains </a:t>
            </a:r>
            <a:r>
              <a:rPr lang="en-US" b="1" dirty="0" smtClean="0">
                <a:solidFill>
                  <a:srgbClr val="242424"/>
                </a:solidFill>
                <a:latin typeface="source-serif-pro"/>
              </a:rPr>
              <a:t>neurons (nodes</a:t>
            </a:r>
            <a:r>
              <a:rPr lang="en-US" b="1" dirty="0">
                <a:solidFill>
                  <a:srgbClr val="242424"/>
                </a:solidFill>
                <a:latin typeface="source-serif-pro"/>
              </a:rPr>
              <a:t>)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 connected to neurons in the next layer via </a:t>
            </a:r>
            <a:r>
              <a:rPr lang="en-US" b="1" dirty="0">
                <a:solidFill>
                  <a:srgbClr val="242424"/>
                </a:solidFill>
                <a:latin typeface="source-serif-pro"/>
              </a:rPr>
              <a:t>weights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.</a:t>
            </a: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261" y="2810080"/>
            <a:ext cx="5380952" cy="3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7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Network Architecture &amp; Initial 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5910" y="5816727"/>
            <a:ext cx="2606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E2761"/>
                </a:solidFill>
                <a:latin typeface="Calibri"/>
              </a:rPr>
              <a:t>Initial Weights &amp; Biases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835932"/>
              </p:ext>
            </p:extLst>
          </p:nvPr>
        </p:nvGraphicFramePr>
        <p:xfrm>
          <a:off x="9277350" y="1833753"/>
          <a:ext cx="209169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Weight/Bias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W₁₃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libri"/>
                        </a:rPr>
                        <a:t>W₁₄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0.2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libri"/>
                        </a:rPr>
                        <a:t>W₂₃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−0.3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libri"/>
                        </a:rPr>
                        <a:t>W₂₄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0.5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W₃₅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libri"/>
                        </a:rPr>
                        <a:t>W₄₅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0.3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libri"/>
                        </a:rPr>
                        <a:t>b₃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libri"/>
                        </a:rPr>
                        <a:t>b₄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−0.4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latin typeface="Calibri"/>
                        </a:rPr>
                        <a:t>b₅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latin typeface="Calibri"/>
                        </a:rPr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376" y="2928010"/>
            <a:ext cx="35109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E2761"/>
                </a:solidFill>
                <a:latin typeface="Calibri"/>
              </a:rPr>
              <a:t>Key Parameters:</a:t>
            </a:r>
          </a:p>
          <a:p>
            <a:r>
              <a:rPr b="0" dirty="0">
                <a:solidFill>
                  <a:srgbClr val="1E2761"/>
                </a:solidFill>
                <a:latin typeface="Calibri"/>
              </a:rPr>
              <a:t>• Learning rate (l) = 0.5</a:t>
            </a:r>
          </a:p>
          <a:p>
            <a:r>
              <a:rPr b="0" dirty="0">
                <a:solidFill>
                  <a:srgbClr val="1E2761"/>
                </a:solidFill>
                <a:latin typeface="Calibri"/>
              </a:rPr>
              <a:t>• Activation: Sigmoid  </a:t>
            </a:r>
            <a:endParaRPr lang="en-US" b="0" dirty="0" smtClean="0">
              <a:solidFill>
                <a:srgbClr val="1E2761"/>
              </a:solidFill>
              <a:latin typeface="Calibri"/>
            </a:endParaRPr>
          </a:p>
          <a:p>
            <a:r>
              <a:rPr lang="en-US" dirty="0">
                <a:solidFill>
                  <a:srgbClr val="1E2761"/>
                </a:solidFill>
                <a:latin typeface="Calibri"/>
              </a:rPr>
              <a:t>	</a:t>
            </a:r>
            <a:r>
              <a:rPr lang="en-US" dirty="0" smtClean="0">
                <a:solidFill>
                  <a:srgbClr val="1E2761"/>
                </a:solidFill>
                <a:latin typeface="Calibri"/>
              </a:rPr>
              <a:t>		</a:t>
            </a:r>
            <a:r>
              <a:rPr b="0" dirty="0" smtClean="0">
                <a:solidFill>
                  <a:srgbClr val="1E2761"/>
                </a:solidFill>
                <a:latin typeface="Calibri"/>
              </a:rPr>
              <a:t>σ(x</a:t>
            </a:r>
            <a:r>
              <a:rPr b="0" dirty="0">
                <a:solidFill>
                  <a:srgbClr val="1E2761"/>
                </a:solidFill>
                <a:latin typeface="Calibri"/>
              </a:rPr>
              <a:t>) = 1/(1+e⁻ˣ)</a:t>
            </a:r>
          </a:p>
          <a:p>
            <a:r>
              <a:rPr b="0" dirty="0">
                <a:solidFill>
                  <a:srgbClr val="1E2761"/>
                </a:solidFill>
                <a:latin typeface="Calibri"/>
              </a:rPr>
              <a:t>• Training tuples: (1,1,0) and (0,1,1)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66" y="1209008"/>
            <a:ext cx="5247619" cy="4161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8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825" y="2895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Georgia"/>
              </a:rPr>
              <a:t>Forward Pass — Iteration 1  |  Input: (X₁=1, X₂=1, Target=0)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1495" y="1188720"/>
            <a:ext cx="356616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7215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① INPUT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1495" y="1737360"/>
            <a:ext cx="3566160" cy="7315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2935" y="178308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O₁ = I₁ = 1        O₂ = I₂ =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51760"/>
            <a:ext cx="356616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② HIDDEN LAYER — Node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54680"/>
            <a:ext cx="3566160" cy="1828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200400"/>
            <a:ext cx="3337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1E2761"/>
                </a:solidFill>
                <a:latin typeface="Calibri"/>
              </a:rPr>
              <a:t>I₃ = O₁ × W₁₃ + O₂ × W₂₃ + b₃</a:t>
            </a: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    = 1×0.5 + 1×(−0.3) + 0.6</a:t>
            </a: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    = 0.5 − 0.3 + 0.6  =  0.8</a:t>
            </a:r>
          </a:p>
          <a:p>
            <a:endParaRPr sz="1600" b="0" dirty="0">
              <a:solidFill>
                <a:srgbClr val="1E2761"/>
              </a:solidFill>
              <a:latin typeface="Calibri"/>
            </a:endParaRP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O₃ = σ(0.8) = 1/(1+e⁻⁰·⁸)</a:t>
            </a: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O₃ = 0.6900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651760"/>
            <a:ext cx="393192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69080" y="2697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② HIDDEN LAYER — Node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154680"/>
            <a:ext cx="3931920" cy="1828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3200400"/>
            <a:ext cx="3657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1E2761"/>
                </a:solidFill>
                <a:latin typeface="Calibri"/>
              </a:rPr>
              <a:t>I₄ = O₁ × W₁₄ + O₂ × W₂₄ + b₄</a:t>
            </a: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    = 1×0.2 + 1×0.5 + (−0.4)</a:t>
            </a: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    = 0.2 + 0.5 − 0.4  =  0.3</a:t>
            </a:r>
          </a:p>
          <a:p>
            <a:endParaRPr sz="1600" b="0" dirty="0">
              <a:solidFill>
                <a:srgbClr val="1E2761"/>
              </a:solidFill>
              <a:latin typeface="Calibri"/>
            </a:endParaRP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O₄ = σ(0.3) = 1/(1+e⁻⁰·³)</a:t>
            </a:r>
          </a:p>
          <a:p>
            <a:r>
              <a:rPr sz="1600" b="0" dirty="0">
                <a:solidFill>
                  <a:srgbClr val="1E2761"/>
                </a:solidFill>
                <a:latin typeface="Calibri"/>
              </a:rPr>
              <a:t>O₄ = 0.5744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651760"/>
            <a:ext cx="3749039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③ OUTPUT LAYER — Node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3154680"/>
            <a:ext cx="3749039" cy="2148840"/>
          </a:xfrm>
          <a:prstGeom prst="rect">
            <a:avLst/>
          </a:prstGeom>
          <a:solidFill>
            <a:srgbClr val="F0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4747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E2761"/>
                </a:solidFill>
                <a:latin typeface="Calibri"/>
              </a:rPr>
              <a:t>I₅ = O₃×W₃₅ + O₄×W₄₅ + b₅</a:t>
            </a:r>
          </a:p>
          <a:p>
            <a:r>
              <a:rPr sz="1600" b="0">
                <a:solidFill>
                  <a:srgbClr val="1E2761"/>
                </a:solidFill>
                <a:latin typeface="Calibri"/>
              </a:rPr>
              <a:t>    = 0.69×0.1 + 0.5744×0.3 + 0.8</a:t>
            </a:r>
          </a:p>
          <a:p>
            <a:r>
              <a:rPr sz="1600" b="0">
                <a:solidFill>
                  <a:srgbClr val="1E2761"/>
                </a:solidFill>
                <a:latin typeface="Calibri"/>
              </a:rPr>
              <a:t>    = 0.069 + 0.1723 + 0.8</a:t>
            </a:r>
          </a:p>
          <a:p>
            <a:r>
              <a:rPr sz="1600" b="0">
                <a:solidFill>
                  <a:srgbClr val="1E2761"/>
                </a:solidFill>
                <a:latin typeface="Calibri"/>
              </a:rPr>
              <a:t>    = 1.0413</a:t>
            </a:r>
          </a:p>
          <a:p>
            <a:endParaRPr sz="1600" b="0">
              <a:solidFill>
                <a:srgbClr val="1E2761"/>
              </a:solidFill>
              <a:latin typeface="Calibri"/>
            </a:endParaRPr>
          </a:p>
          <a:p>
            <a:r>
              <a:rPr sz="1600" b="0">
                <a:solidFill>
                  <a:srgbClr val="1E2761"/>
                </a:solidFill>
                <a:latin typeface="Calibri"/>
              </a:rPr>
              <a:t>O₅ = σ(1.0413) = 1/(1+e⁻¹·⁰⁴¹³)</a:t>
            </a:r>
          </a:p>
          <a:p>
            <a:r>
              <a:rPr sz="1600" b="0">
                <a:solidFill>
                  <a:srgbClr val="1E2761"/>
                </a:solidFill>
                <a:latin typeface="Calibri"/>
              </a:rPr>
              <a:t>O₅ = 0.7391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66360"/>
            <a:ext cx="11640312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9E795"/>
                </a:solidFill>
                <a:latin typeface="Calibri"/>
              </a:rPr>
              <a:t>Predicted Output O₅ = 0.7391   |   Target τ = 0   |   Error exists → </a:t>
            </a:r>
            <a:r>
              <a:rPr sz="2400" b="1" i="0" dirty="0" err="1">
                <a:solidFill>
                  <a:srgbClr val="F9E795"/>
                </a:solidFill>
                <a:latin typeface="Calibri"/>
              </a:rPr>
              <a:t>Backpropagate</a:t>
            </a:r>
            <a:r>
              <a:rPr sz="2400" b="1" i="0" dirty="0">
                <a:solidFill>
                  <a:srgbClr val="F9E795"/>
                </a:solidFill>
                <a:latin typeface="Calibri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11480" y="194959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Georgia"/>
              </a:rPr>
              <a:t>Backpropagation — Error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03520" cy="640080"/>
          </a:xfrm>
          <a:prstGeom prst="rect">
            <a:avLst/>
          </a:prstGeom>
          <a:solidFill>
            <a:srgbClr val="EEEEFF"/>
          </a:solidFill>
          <a:ln w="12700">
            <a:solidFill>
              <a:srgbClr val="008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48640" y="1320969"/>
            <a:ext cx="5166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E2761"/>
                </a:solidFill>
                <a:latin typeface="Calibri"/>
              </a:rPr>
              <a:t>Output Layer Formula:   Errⱼ = Oⱼ (1 − Oⱼ)(Tⱼ − Oⱼ)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188720"/>
            <a:ext cx="603504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989320" y="1353199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E2761"/>
                </a:solidFill>
                <a:latin typeface="Calibri"/>
              </a:rPr>
              <a:t>Hidden Layer Formula:   Errⱼ = Oⱼ (1 − Oⱼ) × Σ Errₖ × wⱼₖ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30352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320040" y="205740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ERROR AT OUTPUT NODE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5303520" cy="1828800"/>
          </a:xfrm>
          <a:prstGeom prst="rect">
            <a:avLst/>
          </a:prstGeom>
          <a:solidFill>
            <a:srgbClr val="F0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11480" y="2514600"/>
            <a:ext cx="5074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E2761"/>
                </a:solidFill>
                <a:latin typeface="Calibri"/>
              </a:rPr>
              <a:t>Err₅ = O₅ (1 − O₅)(</a:t>
            </a:r>
            <a:r>
              <a:rPr sz="2000" b="1" dirty="0" err="1">
                <a:solidFill>
                  <a:srgbClr val="1E2761"/>
                </a:solidFill>
                <a:latin typeface="Calibri"/>
              </a:rPr>
              <a:t>τ</a:t>
            </a:r>
            <a:r>
              <a:rPr sz="2000" b="1" dirty="0">
                <a:solidFill>
                  <a:srgbClr val="1E2761"/>
                </a:solidFill>
                <a:latin typeface="Calibri"/>
              </a:rPr>
              <a:t> − O₅)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0.7391 × (1 − 0.7391) × (0 − 0.7391)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0.7391 × 0.2609 × (−0.7391)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−0.1425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434840"/>
            <a:ext cx="530352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320040" y="448056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ERROR AT HIDDEN NODE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92040"/>
            <a:ext cx="5303520" cy="16916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411480" y="4937760"/>
            <a:ext cx="5074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E2761"/>
                </a:solidFill>
                <a:latin typeface="Calibri"/>
              </a:rPr>
              <a:t>Err₃ = O₃(1−O₃)(Err₅ × W₃₅)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0.69 × (1−0.69) × (−0.1425 × 0.1)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0.69 × 0.31 × (−0.01425)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−0.030481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011680"/>
            <a:ext cx="603504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897880" y="205740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ERROR AT HIDDEN NODE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468880"/>
            <a:ext cx="6035040" cy="18288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5989320" y="2514600"/>
            <a:ext cx="5760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E2761"/>
                </a:solidFill>
                <a:latin typeface="Calibri"/>
              </a:rPr>
              <a:t>Err₄ = O₄(1−O₄)(Err₅ × W₄₅)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0.5744 × (1−0.5744) × (−0.1425 × 0.3)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0.5744 × 0.4256 × (−0.04275)</a:t>
            </a:r>
          </a:p>
          <a:p>
            <a:r>
              <a:rPr sz="2000" b="0" dirty="0">
                <a:solidFill>
                  <a:srgbClr val="1E2761"/>
                </a:solidFill>
                <a:latin typeface="Calibri"/>
              </a:rPr>
              <a:t>      = −0.010451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434840"/>
            <a:ext cx="603504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035040" y="4526280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9E795"/>
                </a:solidFill>
                <a:latin typeface="Calibri"/>
              </a:rPr>
              <a:t>Error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2420" y="5024288"/>
            <a:ext cx="23069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Calibri"/>
              </a:rPr>
              <a:t>Err₅  =  −0.1425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Err₃  =  −0.030481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Err₄  =  −0.010451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Georgia"/>
              </a:rPr>
              <a:t>Weight &amp; Bias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795" y="1245870"/>
            <a:ext cx="548640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008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828675" y="1319022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E2761"/>
                </a:solidFill>
                <a:latin typeface="Calibri"/>
              </a:rPr>
              <a:t>Weight Update:   Wᵢⱼ(new) = Wᵢⱼ(old) + l × Oᵢ × Errⱼ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26828" y="1795772"/>
            <a:ext cx="4405478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008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481582" y="1907024"/>
            <a:ext cx="4134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E2761"/>
                </a:solidFill>
                <a:latin typeface="Calibri"/>
              </a:rPr>
              <a:t>Bias Update:   bⱼ(new) = bⱼ(old) + l × Errⱼ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" y="1920240"/>
            <a:ext cx="6315591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55295" y="1946118"/>
            <a:ext cx="573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UPDATED WEIGHT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" y="2377440"/>
            <a:ext cx="6315591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80060" y="2395728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E2761"/>
                </a:solidFill>
                <a:latin typeface="Calibri"/>
              </a:rPr>
              <a:t>W₄₅(new)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5980" y="2395728"/>
            <a:ext cx="4568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smtClean="0">
                <a:solidFill>
                  <a:srgbClr val="64748B"/>
                </a:solidFill>
                <a:latin typeface="Calibri"/>
              </a:rPr>
              <a:t>=</a:t>
            </a:r>
            <a:r>
              <a:rPr lang="en-US" b="0" i="0" dirty="0" smtClean="0">
                <a:solidFill>
                  <a:srgbClr val="64748B"/>
                </a:solidFill>
                <a:latin typeface="Calibri"/>
              </a:rPr>
              <a:t>	</a:t>
            </a:r>
            <a:r>
              <a:rPr b="0" i="0" dirty="0" smtClean="0">
                <a:solidFill>
                  <a:srgbClr val="64748B"/>
                </a:solidFill>
                <a:latin typeface="Calibri"/>
              </a:rPr>
              <a:t> </a:t>
            </a:r>
            <a:r>
              <a:rPr b="0" i="0" dirty="0">
                <a:solidFill>
                  <a:srgbClr val="64748B"/>
                </a:solidFill>
                <a:latin typeface="Calibri"/>
              </a:rPr>
              <a:t>0.3 + 0.5×0.5744×(−0.1425)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5770" y="2414254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>
                <a:solidFill>
                  <a:srgbClr val="02C39A"/>
                </a:solidFill>
                <a:latin typeface="Calibri"/>
              </a:rPr>
              <a:t>= 0.2591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1" y="2852928"/>
            <a:ext cx="630585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480060" y="2871216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W₃₅(new)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5980" y="2871216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4748B"/>
                </a:solidFill>
                <a:latin typeface="Calibri"/>
              </a:rPr>
              <a:t>= </a:t>
            </a:r>
            <a:r>
              <a:rPr lang="en-US" b="0" i="0" dirty="0" smtClean="0">
                <a:solidFill>
                  <a:srgbClr val="64748B"/>
                </a:solidFill>
                <a:latin typeface="Calibri"/>
              </a:rPr>
              <a:t>	</a:t>
            </a:r>
            <a:r>
              <a:rPr b="0" i="0" dirty="0" smtClean="0">
                <a:solidFill>
                  <a:srgbClr val="64748B"/>
                </a:solidFill>
                <a:latin typeface="Calibri"/>
              </a:rPr>
              <a:t>0.1 </a:t>
            </a:r>
            <a:r>
              <a:rPr b="0" i="0" dirty="0">
                <a:solidFill>
                  <a:srgbClr val="64748B"/>
                </a:solidFill>
                <a:latin typeface="Calibri"/>
              </a:rPr>
              <a:t>+ 0.5×0.69×(−0.1425)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5770" y="2900434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dirty="0">
                <a:solidFill>
                  <a:srgbClr val="02C39A"/>
                </a:solidFill>
                <a:latin typeface="Calibri"/>
              </a:rPr>
              <a:t>= 0.0508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1" y="3328416"/>
            <a:ext cx="6305858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80060" y="3346704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W₂₄(new)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5980" y="3346704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4748B"/>
                </a:solidFill>
                <a:latin typeface="Calibri"/>
              </a:rPr>
              <a:t>= </a:t>
            </a:r>
            <a:r>
              <a:rPr lang="en-US" b="0" i="0" dirty="0" smtClean="0">
                <a:solidFill>
                  <a:srgbClr val="64748B"/>
                </a:solidFill>
                <a:latin typeface="Calibri"/>
              </a:rPr>
              <a:t>	</a:t>
            </a:r>
            <a:r>
              <a:rPr b="0" i="0" dirty="0" smtClean="0">
                <a:solidFill>
                  <a:srgbClr val="64748B"/>
                </a:solidFill>
                <a:latin typeface="Calibri"/>
              </a:rPr>
              <a:t>0.5 </a:t>
            </a:r>
            <a:r>
              <a:rPr b="0" i="0" dirty="0">
                <a:solidFill>
                  <a:srgbClr val="64748B"/>
                </a:solidFill>
                <a:latin typeface="Calibri"/>
              </a:rPr>
              <a:t>+ 0.5×1×(−0.010451)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5770" y="3392424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dirty="0">
                <a:solidFill>
                  <a:srgbClr val="02C39A"/>
                </a:solidFill>
                <a:latin typeface="Calibri"/>
              </a:rPr>
              <a:t>= 0.4948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1" y="3803904"/>
            <a:ext cx="630585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480060" y="3822191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W₁₄(new)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5980" y="3822191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4748B"/>
                </a:solidFill>
                <a:latin typeface="Calibri"/>
              </a:rPr>
              <a:t>= </a:t>
            </a:r>
            <a:r>
              <a:rPr lang="en-US" b="0" i="0" dirty="0" smtClean="0">
                <a:solidFill>
                  <a:srgbClr val="64748B"/>
                </a:solidFill>
                <a:latin typeface="Calibri"/>
              </a:rPr>
              <a:t>	</a:t>
            </a:r>
            <a:r>
              <a:rPr b="0" i="0" dirty="0" smtClean="0">
                <a:solidFill>
                  <a:srgbClr val="64748B"/>
                </a:solidFill>
                <a:latin typeface="Calibri"/>
              </a:rPr>
              <a:t>0.2 </a:t>
            </a:r>
            <a:r>
              <a:rPr b="0" i="0" dirty="0">
                <a:solidFill>
                  <a:srgbClr val="64748B"/>
                </a:solidFill>
                <a:latin typeface="Calibri"/>
              </a:rPr>
              <a:t>+ 0.5×1×(−0.010451)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5770" y="385141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dirty="0">
                <a:solidFill>
                  <a:srgbClr val="02C39A"/>
                </a:solidFill>
                <a:latin typeface="Calibri"/>
              </a:rPr>
              <a:t>= 0.1948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1" y="4279392"/>
            <a:ext cx="6305858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480060" y="429768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W₂₃(new)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5980" y="4297680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4748B"/>
                </a:solidFill>
                <a:latin typeface="Calibri"/>
              </a:rPr>
              <a:t>= </a:t>
            </a:r>
            <a:r>
              <a:rPr lang="en-US" b="0" i="0" dirty="0" smtClean="0">
                <a:solidFill>
                  <a:srgbClr val="64748B"/>
                </a:solidFill>
                <a:latin typeface="Calibri"/>
              </a:rPr>
              <a:t>	</a:t>
            </a:r>
            <a:r>
              <a:rPr b="0" i="0" dirty="0" smtClean="0">
                <a:solidFill>
                  <a:srgbClr val="64748B"/>
                </a:solidFill>
                <a:latin typeface="Calibri"/>
              </a:rPr>
              <a:t>−</a:t>
            </a:r>
            <a:r>
              <a:rPr b="0" i="0" dirty="0">
                <a:solidFill>
                  <a:srgbClr val="64748B"/>
                </a:solidFill>
                <a:latin typeface="Calibri"/>
              </a:rPr>
              <a:t>0.3 + 0.5×1×(−0.030481)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3395" y="4308027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dirty="0">
                <a:solidFill>
                  <a:srgbClr val="02C39A"/>
                </a:solidFill>
                <a:latin typeface="Calibri"/>
              </a:rPr>
              <a:t>= −0.3152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1" y="4754880"/>
            <a:ext cx="630585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480060" y="4773168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E2761"/>
                </a:solidFill>
                <a:latin typeface="Calibri"/>
              </a:rPr>
              <a:t>W₁₃(new)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5980" y="4773168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64748B"/>
                </a:solidFill>
                <a:latin typeface="Calibri"/>
              </a:rPr>
              <a:t>= </a:t>
            </a:r>
            <a:r>
              <a:rPr lang="en-US" b="0" i="0" dirty="0" smtClean="0">
                <a:solidFill>
                  <a:srgbClr val="64748B"/>
                </a:solidFill>
                <a:latin typeface="Calibri"/>
              </a:rPr>
              <a:t>	</a:t>
            </a:r>
            <a:r>
              <a:rPr b="0" i="0" dirty="0" smtClean="0">
                <a:solidFill>
                  <a:srgbClr val="64748B"/>
                </a:solidFill>
                <a:latin typeface="Calibri"/>
              </a:rPr>
              <a:t>0.5 </a:t>
            </a:r>
            <a:r>
              <a:rPr b="0" i="0" dirty="0">
                <a:solidFill>
                  <a:srgbClr val="64748B"/>
                </a:solidFill>
                <a:latin typeface="Calibri"/>
              </a:rPr>
              <a:t>+ 0.5×1×(−0.030481)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5770" y="47731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dirty="0">
                <a:solidFill>
                  <a:srgbClr val="02C39A"/>
                </a:solidFill>
                <a:latin typeface="Calibri"/>
              </a:rPr>
              <a:t>= 0.4848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6828" y="2533650"/>
            <a:ext cx="4290497" cy="4114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7362236" y="2579370"/>
            <a:ext cx="4218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UPDATED BIAS VALUES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26828" y="2945130"/>
            <a:ext cx="4290497" cy="99669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7530390" y="3000375"/>
            <a:ext cx="4050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1E2761"/>
                </a:solidFill>
                <a:latin typeface="Calibri"/>
              </a:rPr>
              <a:t>b₃ = 0.6 + 0.5×(−0.030481) = 0.5848     </a:t>
            </a:r>
            <a:endParaRPr lang="en-US" b="0" i="0" dirty="0" smtClean="0">
              <a:solidFill>
                <a:srgbClr val="1E2761"/>
              </a:solidFill>
              <a:latin typeface="Calibri"/>
            </a:endParaRPr>
          </a:p>
          <a:p>
            <a:pPr algn="ctr"/>
            <a:r>
              <a:rPr b="0" i="0" dirty="0" smtClean="0">
                <a:solidFill>
                  <a:srgbClr val="1E2761"/>
                </a:solidFill>
                <a:latin typeface="Calibri"/>
              </a:rPr>
              <a:t>     </a:t>
            </a:r>
            <a:r>
              <a:rPr b="0" i="0" dirty="0">
                <a:solidFill>
                  <a:srgbClr val="1E2761"/>
                </a:solidFill>
                <a:latin typeface="Calibri"/>
              </a:rPr>
              <a:t>b₄ = −0.4 + 0.5×(−0.010451) = −0.4052     </a:t>
            </a:r>
            <a:r>
              <a:rPr b="0" i="0" dirty="0" smtClean="0">
                <a:solidFill>
                  <a:srgbClr val="1E2761"/>
                </a:solidFill>
                <a:latin typeface="Calibri"/>
              </a:rPr>
              <a:t> </a:t>
            </a:r>
            <a:endParaRPr lang="en-US" b="0" i="0" dirty="0" smtClean="0">
              <a:solidFill>
                <a:srgbClr val="1E2761"/>
              </a:solidFill>
              <a:latin typeface="Calibri"/>
            </a:endParaRPr>
          </a:p>
          <a:p>
            <a:pPr algn="ctr"/>
            <a:r>
              <a:rPr b="0" i="0" dirty="0" smtClean="0">
                <a:solidFill>
                  <a:srgbClr val="1E2761"/>
                </a:solidFill>
                <a:latin typeface="Calibri"/>
              </a:rPr>
              <a:t>   </a:t>
            </a:r>
            <a:r>
              <a:rPr b="0" i="0" dirty="0">
                <a:solidFill>
                  <a:srgbClr val="1E2761"/>
                </a:solidFill>
                <a:latin typeface="Calibri"/>
              </a:rPr>
              <a:t>b₅ = 0.8 + 0.5×(−0.1425) = 0.7288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Georgia"/>
              </a:rPr>
              <a:t>Iteration 2 Forward Pass  |  Input: (X₁</a:t>
            </a:r>
            <a:r>
              <a:rPr sz="2600" b="1" i="0" dirty="0" smtClean="0">
                <a:solidFill>
                  <a:srgbClr val="FFFFFF"/>
                </a:solidFill>
                <a:latin typeface="Georgia"/>
              </a:rPr>
              <a:t>=0, </a:t>
            </a:r>
            <a:r>
              <a:rPr sz="2600" b="1" i="0" dirty="0">
                <a:solidFill>
                  <a:srgbClr val="FFFFFF"/>
                </a:solidFill>
                <a:latin typeface="Georgia"/>
              </a:rPr>
              <a:t>X₂=1, Target=1)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40312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" y="1225183"/>
            <a:ext cx="1177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600" b="1" dirty="0" smtClean="0">
                <a:solidFill>
                  <a:srgbClr val="FFFFFF"/>
                </a:solidFill>
                <a:latin typeface="Calibri"/>
              </a:rPr>
              <a:t>Up</a:t>
            </a:r>
            <a:r>
              <a:rPr sz="1600" b="1" i="0" dirty="0" smtClean="0">
                <a:solidFill>
                  <a:srgbClr val="FFFFFF"/>
                </a:solidFill>
                <a:latin typeface="Calibri"/>
              </a:rPr>
              <a:t>dated 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weights: W₁₃=0.4848  W₁₄=0.1948  W₂₃=−0.3152  W₂₄=0.4948  W₃₅=0.0508  W₄₅=0.2591  b₃=0.5848  b₄=−0.4052  b₅=0.7288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30352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Hidden Node 3  (X₁=0, X₂=1)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5303520" cy="16916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5120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1E2761"/>
                </a:solidFill>
                <a:latin typeface="Calibri"/>
              </a:rPr>
              <a:t>I₃ = </a:t>
            </a:r>
            <a:r>
              <a:rPr sz="2400" b="0" dirty="0" smtClean="0">
                <a:solidFill>
                  <a:srgbClr val="1E2761"/>
                </a:solidFill>
                <a:latin typeface="Calibri"/>
              </a:rPr>
              <a:t>0×0.4848 </a:t>
            </a:r>
            <a:r>
              <a:rPr sz="2400" b="0" dirty="0">
                <a:solidFill>
                  <a:srgbClr val="1E2761"/>
                </a:solidFill>
                <a:latin typeface="Calibri"/>
              </a:rPr>
              <a:t>+ 1×(−0.3152) + 0.5848</a:t>
            </a:r>
          </a:p>
          <a:p>
            <a:r>
              <a:rPr sz="2400" b="0" dirty="0">
                <a:solidFill>
                  <a:srgbClr val="1E2761"/>
                </a:solidFill>
                <a:latin typeface="Calibri"/>
              </a:rPr>
              <a:t>    = </a:t>
            </a:r>
            <a:r>
              <a:rPr sz="2400" b="0" dirty="0" smtClean="0">
                <a:solidFill>
                  <a:srgbClr val="1E2761"/>
                </a:solidFill>
                <a:latin typeface="Calibri"/>
              </a:rPr>
              <a:t>0 </a:t>
            </a:r>
            <a:r>
              <a:rPr sz="2400" b="0" dirty="0">
                <a:solidFill>
                  <a:srgbClr val="1E2761"/>
                </a:solidFill>
                <a:latin typeface="Calibri"/>
              </a:rPr>
              <a:t>− 0.3152 + 0.5848  =  </a:t>
            </a:r>
            <a:r>
              <a:rPr sz="2400" b="0" dirty="0" smtClean="0">
                <a:solidFill>
                  <a:srgbClr val="1E2761"/>
                </a:solidFill>
                <a:latin typeface="Calibri"/>
              </a:rPr>
              <a:t>0.2696</a:t>
            </a:r>
            <a:endParaRPr sz="2400" b="0" dirty="0">
              <a:solidFill>
                <a:srgbClr val="1E2761"/>
              </a:solidFill>
              <a:latin typeface="Calibri"/>
            </a:endParaRPr>
          </a:p>
          <a:p>
            <a:r>
              <a:rPr sz="2400" b="0" dirty="0">
                <a:solidFill>
                  <a:srgbClr val="1E2761"/>
                </a:solidFill>
                <a:latin typeface="Calibri"/>
              </a:rPr>
              <a:t>O₃ = </a:t>
            </a:r>
            <a:r>
              <a:rPr sz="2400" b="0" dirty="0" smtClean="0">
                <a:solidFill>
                  <a:srgbClr val="1E2761"/>
                </a:solidFill>
                <a:latin typeface="Calibri"/>
              </a:rPr>
              <a:t>σ(0.2696) </a:t>
            </a:r>
            <a:r>
              <a:rPr sz="2400" b="0" dirty="0">
                <a:solidFill>
                  <a:srgbClr val="1E2761"/>
                </a:solidFill>
                <a:latin typeface="Calibri"/>
              </a:rPr>
              <a:t>≈ </a:t>
            </a:r>
            <a:r>
              <a:rPr sz="2400" b="0" dirty="0" smtClean="0">
                <a:solidFill>
                  <a:srgbClr val="1E2761"/>
                </a:solidFill>
                <a:latin typeface="Calibri"/>
              </a:rPr>
              <a:t>0.567</a:t>
            </a:r>
            <a:endParaRPr sz="2400" b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0" y="1783080"/>
            <a:ext cx="594360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8288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Hidden Node 4  (X₁=0, X₂=1)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240280"/>
            <a:ext cx="5943600" cy="169164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2286000"/>
            <a:ext cx="5669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1E2761"/>
                </a:solidFill>
                <a:latin typeface="Calibri"/>
              </a:rPr>
              <a:t>I₄ = </a:t>
            </a:r>
            <a:r>
              <a:rPr sz="2400" b="0" dirty="0" smtClean="0">
                <a:solidFill>
                  <a:srgbClr val="1E2761"/>
                </a:solidFill>
                <a:latin typeface="Calibri"/>
              </a:rPr>
              <a:t>0×0.1948 </a:t>
            </a:r>
            <a:r>
              <a:rPr sz="2400" b="0" dirty="0">
                <a:solidFill>
                  <a:srgbClr val="1E2761"/>
                </a:solidFill>
                <a:latin typeface="Calibri"/>
              </a:rPr>
              <a:t>+ 1×0.4948 + (−0.4052)</a:t>
            </a:r>
          </a:p>
          <a:p>
            <a:r>
              <a:rPr sz="2400" b="0" dirty="0">
                <a:solidFill>
                  <a:srgbClr val="1E2761"/>
                </a:solidFill>
                <a:latin typeface="Calibri"/>
              </a:rPr>
              <a:t>    = 0 + 0.4948 − 0.4052  =  0.0896</a:t>
            </a:r>
          </a:p>
          <a:p>
            <a:r>
              <a:rPr sz="2400" b="0" dirty="0">
                <a:solidFill>
                  <a:srgbClr val="1E2761"/>
                </a:solidFill>
                <a:latin typeface="Calibri"/>
              </a:rPr>
              <a:t>O₄ = σ(0.0896) ≈ 0.522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11640312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411480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Output Node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26280"/>
            <a:ext cx="11640312" cy="1371600"/>
          </a:xfrm>
          <a:prstGeom prst="rect">
            <a:avLst/>
          </a:prstGeom>
          <a:solidFill>
            <a:srgbClr val="F0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72000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1E2761"/>
                </a:solidFill>
                <a:latin typeface="Calibri"/>
              </a:rPr>
              <a:t>I₅ = O₃×W₃₅ + O₄×W₄₅ + b₅ = 0.567×0.0508 + 0.522×0.2591 + 0.7288</a:t>
            </a:r>
          </a:p>
          <a:p>
            <a:r>
              <a:rPr sz="2400" b="0" dirty="0">
                <a:solidFill>
                  <a:srgbClr val="1E2761"/>
                </a:solidFill>
                <a:latin typeface="Calibri"/>
              </a:rPr>
              <a:t>    = 0.0288 + 0.1352 + 0.7288  =  0.8928</a:t>
            </a:r>
          </a:p>
          <a:p>
            <a:r>
              <a:rPr sz="2400" b="0" dirty="0">
                <a:solidFill>
                  <a:srgbClr val="1E2761"/>
                </a:solidFill>
                <a:latin typeface="Calibri"/>
              </a:rPr>
              <a:t>O₅ = σ(0.8928) ≈ 0.710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08076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9E795"/>
                </a:solidFill>
                <a:latin typeface="Calibri"/>
              </a:rPr>
              <a:t>Network is learning! Target=1  |  O₅ improved toward target  |  Continue backpropagation with Err₅ = O₅(1−O₅)(1−O₅)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3998" r="-607"/>
          <a:stretch/>
        </p:blipFill>
        <p:spPr>
          <a:xfrm>
            <a:off x="971549" y="1785574"/>
            <a:ext cx="5400676" cy="32302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146" y="1286810"/>
            <a:ext cx="4058904" cy="47990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11480" y="194959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Georgia"/>
              </a:rPr>
              <a:t>Iteration 2 </a:t>
            </a:r>
            <a:r>
              <a:rPr sz="3000" b="1" i="0" dirty="0" smtClean="0">
                <a:solidFill>
                  <a:srgbClr val="FFFFFF"/>
                </a:solidFill>
                <a:latin typeface="Georgia"/>
              </a:rPr>
              <a:t>Backpropagation 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— Error Calculation</a:t>
            </a:r>
          </a:p>
        </p:txBody>
      </p:sp>
    </p:spTree>
    <p:extLst>
      <p:ext uri="{BB962C8B-B14F-4D97-AF65-F5344CB8AC3E}">
        <p14:creationId xmlns:p14="http://schemas.microsoft.com/office/powerpoint/2010/main" val="315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40588"/>
              </p:ext>
            </p:extLst>
          </p:nvPr>
        </p:nvGraphicFramePr>
        <p:xfrm>
          <a:off x="7477125" y="1320522"/>
          <a:ext cx="2924175" cy="35814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85261">
                  <a:extLst>
                    <a:ext uri="{9D8B030D-6E8A-4147-A177-3AD203B41FA5}">
                      <a16:colId xmlns:a16="http://schemas.microsoft.com/office/drawing/2014/main" val="4140278958"/>
                    </a:ext>
                  </a:extLst>
                </a:gridCol>
                <a:gridCol w="1838914">
                  <a:extLst>
                    <a:ext uri="{9D8B030D-6E8A-4147-A177-3AD203B41FA5}">
                      <a16:colId xmlns:a16="http://schemas.microsoft.com/office/drawing/2014/main" val="48838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300" b="1" dirty="0"/>
                        <a:t>Weight/Bias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/>
                        <a:t>Value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760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631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-0.3011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24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0.1948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807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0.4967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57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0.0680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33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0.2747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9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0.5989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94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-0.4033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600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0.7587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12430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Georgia"/>
              </a:rPr>
              <a:t>Iteration 2 </a:t>
            </a:r>
            <a:r>
              <a:rPr sz="3000" b="1" i="0" dirty="0" smtClean="0">
                <a:solidFill>
                  <a:srgbClr val="FFFFFF"/>
                </a:solidFill>
                <a:latin typeface="Georgia"/>
              </a:rPr>
              <a:t>Weight 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&amp; Bias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7" y="1143000"/>
            <a:ext cx="4305300" cy="5553075"/>
          </a:xfrm>
          <a:prstGeom prst="rect">
            <a:avLst/>
          </a:prstGeom>
        </p:spPr>
      </p:pic>
      <p:sp>
        <p:nvSpPr>
          <p:cNvPr id="11" name="Rectangle 1"/>
          <p:cNvSpPr txBox="1">
            <a:spLocks noChangeArrowheads="1"/>
          </p:cNvSpPr>
          <p:nvPr/>
        </p:nvSpPr>
        <p:spPr bwMode="auto">
          <a:xfrm>
            <a:off x="6191250" y="5023241"/>
            <a:ext cx="599770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Positive error means output is lower than target.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Network will increase weights contributing positively to output.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smtClean="0">
                <a:latin typeface="Arial" panose="020B0604020202020204" pitchFamily="34" charset="0"/>
              </a:rPr>
              <a:t>This helps push </a:t>
            </a:r>
            <a:r>
              <a:rPr lang="en-US" sz="1800" b="1" dirty="0" smtClean="0"/>
              <a:t>O₅ </a:t>
            </a:r>
            <a:r>
              <a:rPr lang="en-US" altLang="en-US" sz="1800" dirty="0" smtClean="0">
                <a:latin typeface="Arial" panose="020B0604020202020204" pitchFamily="34" charset="0"/>
              </a:rPr>
              <a:t>​ closer to 1 in future iterations. </a:t>
            </a:r>
            <a:endParaRPr lang="en-US" altLang="en-US" sz="18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80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72611" y="1604659"/>
            <a:ext cx="3762163" cy="41109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2" y="1666221"/>
            <a:ext cx="7212843" cy="42057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Georgia"/>
              </a:rPr>
              <a:t>Core </a:t>
            </a:r>
            <a:r>
              <a:rPr lang="en-US" sz="2800" b="1" dirty="0" smtClean="0">
                <a:solidFill>
                  <a:srgbClr val="FFFFFF"/>
                </a:solidFill>
                <a:latin typeface="Georgia"/>
              </a:rPr>
              <a:t>Comparison</a:t>
            </a:r>
            <a:endParaRPr sz="30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</p:spTree>
    <p:extLst>
      <p:ext uri="{BB962C8B-B14F-4D97-AF65-F5344CB8AC3E}">
        <p14:creationId xmlns:p14="http://schemas.microsoft.com/office/powerpoint/2010/main" val="53925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Summary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3657600" cy="502920"/>
          </a:xfrm>
          <a:prstGeom prst="rect">
            <a:avLst/>
          </a:prstGeom>
          <a:solidFill>
            <a:srgbClr val="008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325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🔄 Algorithm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657600" cy="420624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1. Initialize weights &amp; biases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32887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2. Feed-forward: compute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91256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3. Calculate error at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9624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4. Backpropagate error to hidden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07992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5. Update all weights &amp; biases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59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6. Repeat until convergence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280160"/>
            <a:ext cx="365760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399" y="1325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📐 Key Formulas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783080"/>
            <a:ext cx="3657600" cy="420624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874519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Output error:  Oⱼ(1−Oⱼ)(Tⱼ−Oⱼ)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32887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Hidden error:  Oⱼ(1−Oⱼ) Σ Errₖwⱼₖ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91256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Weight update: Wᵢⱼ + l × Oᵢ × Errⱼ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4962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Bias update:   bⱼ + l × Errⱼ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07992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Sigmoid:       σ(x) = 1/(1+e⁻ˣ)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280160"/>
            <a:ext cx="365760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19" y="1325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✅ Iteration 1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1783080"/>
            <a:ext cx="3657600" cy="420624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1874519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CADCFC"/>
                </a:solidFill>
                <a:latin typeface="Calibri"/>
              </a:rPr>
              <a:t>Initial O₅ = 0.7391 (target = 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32887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CADCFC"/>
                </a:solidFill>
                <a:latin typeface="Calibri"/>
              </a:rPr>
              <a:t>Err₅ = −0.1425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91256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CADCFC"/>
                </a:solidFill>
                <a:latin typeface="Calibri"/>
              </a:rPr>
              <a:t>After update: O₅ = </a:t>
            </a:r>
            <a:r>
              <a:rPr b="1" i="0" dirty="0" smtClean="0">
                <a:solidFill>
                  <a:srgbClr val="CADCFC"/>
                </a:solidFill>
                <a:latin typeface="Calibri"/>
              </a:rPr>
              <a:t>0.</a:t>
            </a:r>
            <a:r>
              <a:rPr lang="en-US" b="1" i="0" dirty="0" smtClean="0">
                <a:solidFill>
                  <a:srgbClr val="CADCFC"/>
                </a:solidFill>
                <a:latin typeface="Calibri"/>
              </a:rPr>
              <a:t>710</a:t>
            </a:r>
            <a:endParaRPr b="1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21040" y="3849624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CADCFC"/>
                </a:solidFill>
                <a:latin typeface="Calibri"/>
              </a:rPr>
              <a:t>New Err₅ = </a:t>
            </a:r>
            <a:r>
              <a:rPr lang="en-US" b="1" dirty="0" smtClean="0">
                <a:solidFill>
                  <a:srgbClr val="CADCFC"/>
                </a:solidFill>
                <a:latin typeface="Calibri"/>
              </a:rPr>
              <a:t>0.0597</a:t>
            </a:r>
            <a:endParaRPr b="1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21039" y="4401836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CADCFC"/>
                </a:solidFill>
                <a:latin typeface="Calibri"/>
              </a:rPr>
              <a:t>Network is converging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172200"/>
            <a:ext cx="11548872" cy="502920"/>
          </a:xfrm>
          <a:prstGeom prst="rect">
            <a:avLst/>
          </a:prstGeom>
          <a:solidFill>
            <a:srgbClr val="28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9E795"/>
                </a:solidFill>
                <a:latin typeface="Calibri"/>
              </a:rPr>
              <a:t>Training continues iterating over all tuples until the global error is minimized (convergence)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1144</Words>
  <Application>Microsoft Office PowerPoint</Application>
  <PresentationFormat>Custom</PresentationFormat>
  <Paragraphs>181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Georgia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Anum Hamid</cp:lastModifiedBy>
  <cp:revision>11</cp:revision>
  <dcterms:created xsi:type="dcterms:W3CDTF">2013-01-27T09:14:16Z</dcterms:created>
  <dcterms:modified xsi:type="dcterms:W3CDTF">2026-04-27T09:34:20Z</dcterms:modified>
  <cp:category/>
</cp:coreProperties>
</file>