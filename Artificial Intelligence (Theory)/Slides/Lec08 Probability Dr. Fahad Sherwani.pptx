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6" r:id="rId2"/>
  </p:sldMasterIdLst>
  <p:notesMasterIdLst>
    <p:notesMasterId r:id="rId18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6157DB-A3AF-4D76-B431-FBBA3C992388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EC431B-9592-4B47-AD9B-BD4A1712D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279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8350"/>
            <a:ext cx="6823075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DC6BF3-9149-4969-B6BD-1F311D26688A}" type="slidenum">
              <a:rPr kumimoji="0" lang="en-MY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MY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07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52033" y="120691"/>
            <a:ext cx="11687929" cy="26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9" b="1" i="0">
                <a:solidFill>
                  <a:schemeClr val="bg1"/>
                </a:solidFill>
                <a:latin typeface="LM Sans 10"/>
                <a:cs typeface="LM Sans 10"/>
              </a:defRPr>
            </a:lvl1pPr>
          </a:lstStyle>
          <a:p>
            <a:pPr marL="25168">
              <a:lnSpc>
                <a:spcPts val="1397"/>
              </a:lnSpc>
            </a:pPr>
            <a:r>
              <a:rPr lang="en-US" b="0" i="1" spc="-248" smtClean="0">
                <a:latin typeface="Linux Biolinum O"/>
                <a:cs typeface="Linux Biolinum O"/>
              </a:rPr>
              <a:t> </a:t>
            </a:r>
            <a:endParaRPr lang="en-US"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89" b="1" i="0">
                <a:solidFill>
                  <a:schemeClr val="bg1"/>
                </a:solidFill>
                <a:latin typeface="LM Sans 10"/>
                <a:cs typeface="LM Sans 10"/>
              </a:defRPr>
            </a:lvl1pPr>
          </a:lstStyle>
          <a:p>
            <a:pPr marL="25168">
              <a:lnSpc>
                <a:spcPts val="1357"/>
              </a:lnSpc>
            </a:pPr>
            <a:r>
              <a:rPr lang="en-US" spc="-10" smtClean="0"/>
              <a:t>Artificial Intelligence , </a:t>
            </a:r>
            <a:r>
              <a:rPr lang="en-US" spc="-20" smtClean="0"/>
              <a:t>Page</a:t>
            </a:r>
            <a:r>
              <a:rPr lang="en-US" spc="50" smtClean="0"/>
              <a:t> </a:t>
            </a:r>
            <a:fld id="{81D60167-4931-47E6-BA6A-407CBD079E47}" type="slidenum">
              <a:rPr spc="-10" smtClean="0"/>
              <a:pPr marL="25168">
                <a:lnSpc>
                  <a:spcPts val="1357"/>
                </a:lnSpc>
              </a:pPr>
              <a:t>‹#›</a:t>
            </a:fld>
            <a:endParaRPr spc="-10" dirty="0"/>
          </a:p>
        </p:txBody>
      </p:sp>
    </p:spTree>
    <p:extLst>
      <p:ext uri="{BB962C8B-B14F-4D97-AF65-F5344CB8AC3E}">
        <p14:creationId xmlns:p14="http://schemas.microsoft.com/office/powerpoint/2010/main" val="2813118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2033" y="120691"/>
            <a:ext cx="11687929" cy="518475"/>
          </a:xfrm>
        </p:spPr>
        <p:txBody>
          <a:bodyPr lIns="0" tIns="0" rIns="0" bIns="0"/>
          <a:lstStyle>
            <a:lvl1pPr>
              <a:defRPr sz="3369" b="0" i="0">
                <a:solidFill>
                  <a:schemeClr val="bg1"/>
                </a:solidFill>
                <a:latin typeface="LM Sans 17"/>
                <a:cs typeface="LM Sans 17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7704" y="1351938"/>
            <a:ext cx="10039085" cy="365934"/>
          </a:xfrm>
        </p:spPr>
        <p:txBody>
          <a:bodyPr lIns="0" tIns="0" rIns="0" bIns="0"/>
          <a:lstStyle>
            <a:lvl1pPr>
              <a:defRPr sz="2378" b="0" i="0">
                <a:solidFill>
                  <a:schemeClr val="tx1"/>
                </a:solidFill>
                <a:latin typeface="LM Sans 12"/>
                <a:cs typeface="LM Sans 1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9" b="1" i="0">
                <a:solidFill>
                  <a:schemeClr val="bg1"/>
                </a:solidFill>
                <a:latin typeface="LM Sans 10"/>
                <a:cs typeface="LM Sans 10"/>
              </a:defRPr>
            </a:lvl1pPr>
          </a:lstStyle>
          <a:p>
            <a:pPr marL="25168">
              <a:lnSpc>
                <a:spcPts val="1397"/>
              </a:lnSpc>
            </a:pPr>
            <a:r>
              <a:rPr lang="en-US" b="0" i="1" spc="-248" smtClean="0">
                <a:latin typeface="Linux Biolinum O"/>
                <a:cs typeface="Linux Biolinum O"/>
              </a:rPr>
              <a:t> </a:t>
            </a:r>
            <a:endParaRPr lang="en-US"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89" b="1" i="0">
                <a:solidFill>
                  <a:schemeClr val="bg1"/>
                </a:solidFill>
                <a:latin typeface="LM Sans 10"/>
                <a:cs typeface="LM Sans 10"/>
              </a:defRPr>
            </a:lvl1pPr>
          </a:lstStyle>
          <a:p>
            <a:pPr marL="25168">
              <a:lnSpc>
                <a:spcPts val="1357"/>
              </a:lnSpc>
            </a:pPr>
            <a:r>
              <a:rPr lang="en-US" spc="-10" smtClean="0"/>
              <a:t>Artificial Intelligence , </a:t>
            </a:r>
            <a:r>
              <a:rPr lang="en-US" spc="-20" smtClean="0"/>
              <a:t>Page</a:t>
            </a:r>
            <a:r>
              <a:rPr lang="en-US" spc="50" smtClean="0"/>
              <a:t> </a:t>
            </a:r>
            <a:fld id="{81D60167-4931-47E6-BA6A-407CBD079E47}" type="slidenum">
              <a:rPr spc="-10" smtClean="0"/>
              <a:pPr marL="25168">
                <a:lnSpc>
                  <a:spcPts val="1357"/>
                </a:lnSpc>
              </a:pPr>
              <a:t>‹#›</a:t>
            </a:fld>
            <a:endParaRPr spc="-10" dirty="0"/>
          </a:p>
        </p:txBody>
      </p:sp>
    </p:spTree>
    <p:extLst>
      <p:ext uri="{BB962C8B-B14F-4D97-AF65-F5344CB8AC3E}">
        <p14:creationId xmlns:p14="http://schemas.microsoft.com/office/powerpoint/2010/main" val="1171367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2033" y="120691"/>
            <a:ext cx="11687929" cy="518475"/>
          </a:xfrm>
        </p:spPr>
        <p:txBody>
          <a:bodyPr lIns="0" tIns="0" rIns="0" bIns="0"/>
          <a:lstStyle>
            <a:lvl1pPr>
              <a:defRPr sz="3369" b="0" i="0">
                <a:solidFill>
                  <a:schemeClr val="bg1"/>
                </a:solidFill>
                <a:latin typeface="LM Sans 17"/>
                <a:cs typeface="LM Sans 17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1" y="1577340"/>
            <a:ext cx="5303519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19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9" b="1" i="0">
                <a:solidFill>
                  <a:schemeClr val="bg1"/>
                </a:solidFill>
                <a:latin typeface="LM Sans 10"/>
                <a:cs typeface="LM Sans 10"/>
              </a:defRPr>
            </a:lvl1pPr>
          </a:lstStyle>
          <a:p>
            <a:pPr marL="25168">
              <a:lnSpc>
                <a:spcPts val="1397"/>
              </a:lnSpc>
            </a:pPr>
            <a:r>
              <a:rPr lang="en-US" b="0" i="1" spc="-248" smtClean="0">
                <a:latin typeface="Linux Biolinum O"/>
                <a:cs typeface="Linux Biolinum O"/>
              </a:rPr>
              <a:t> </a:t>
            </a:r>
            <a:endParaRPr lang="en-US"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89" b="1" i="0">
                <a:solidFill>
                  <a:schemeClr val="bg1"/>
                </a:solidFill>
                <a:latin typeface="LM Sans 10"/>
                <a:cs typeface="LM Sans 10"/>
              </a:defRPr>
            </a:lvl1pPr>
          </a:lstStyle>
          <a:p>
            <a:pPr marL="25168">
              <a:lnSpc>
                <a:spcPts val="1357"/>
              </a:lnSpc>
            </a:pPr>
            <a:r>
              <a:rPr lang="en-US" spc="-10" smtClean="0"/>
              <a:t>Artificial Intelligence , </a:t>
            </a:r>
            <a:r>
              <a:rPr lang="en-US" spc="-20" smtClean="0"/>
              <a:t>Page</a:t>
            </a:r>
            <a:r>
              <a:rPr lang="en-US" spc="50" smtClean="0"/>
              <a:t> </a:t>
            </a:r>
            <a:fld id="{81D60167-4931-47E6-BA6A-407CBD079E47}" type="slidenum">
              <a:rPr spc="-10" smtClean="0"/>
              <a:pPr marL="25168">
                <a:lnSpc>
                  <a:spcPts val="1357"/>
                </a:lnSpc>
              </a:pPr>
              <a:t>‹#›</a:t>
            </a:fld>
            <a:endParaRPr spc="-10" dirty="0"/>
          </a:p>
        </p:txBody>
      </p:sp>
    </p:spTree>
    <p:extLst>
      <p:ext uri="{BB962C8B-B14F-4D97-AF65-F5344CB8AC3E}">
        <p14:creationId xmlns:p14="http://schemas.microsoft.com/office/powerpoint/2010/main" val="365780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2033" y="120691"/>
            <a:ext cx="11687929" cy="518475"/>
          </a:xfrm>
        </p:spPr>
        <p:txBody>
          <a:bodyPr lIns="0" tIns="0" rIns="0" bIns="0"/>
          <a:lstStyle>
            <a:lvl1pPr>
              <a:defRPr sz="3369" b="0" i="0">
                <a:solidFill>
                  <a:schemeClr val="bg1"/>
                </a:solidFill>
                <a:latin typeface="LM Sans 17"/>
                <a:cs typeface="LM Sans 17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9" b="1" i="0">
                <a:solidFill>
                  <a:schemeClr val="bg1"/>
                </a:solidFill>
                <a:latin typeface="LM Sans 10"/>
                <a:cs typeface="LM Sans 10"/>
              </a:defRPr>
            </a:lvl1pPr>
          </a:lstStyle>
          <a:p>
            <a:pPr marL="25168">
              <a:lnSpc>
                <a:spcPts val="1397"/>
              </a:lnSpc>
            </a:pPr>
            <a:r>
              <a:rPr lang="en-US" b="0" i="1" spc="-248" smtClean="0">
                <a:latin typeface="Linux Biolinum O"/>
                <a:cs typeface="Linux Biolinum O"/>
              </a:rPr>
              <a:t> </a:t>
            </a:r>
            <a:endParaRPr lang="en-US"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89" b="1" i="0">
                <a:solidFill>
                  <a:schemeClr val="bg1"/>
                </a:solidFill>
                <a:latin typeface="LM Sans 10"/>
                <a:cs typeface="LM Sans 10"/>
              </a:defRPr>
            </a:lvl1pPr>
          </a:lstStyle>
          <a:p>
            <a:pPr marL="25168">
              <a:lnSpc>
                <a:spcPts val="1357"/>
              </a:lnSpc>
            </a:pPr>
            <a:r>
              <a:rPr lang="en-US" spc="-10" smtClean="0"/>
              <a:t>Artificial Intelligence , </a:t>
            </a:r>
            <a:r>
              <a:rPr lang="en-US" spc="-20" smtClean="0"/>
              <a:t>Page</a:t>
            </a:r>
            <a:r>
              <a:rPr lang="en-US" spc="50" smtClean="0"/>
              <a:t> </a:t>
            </a:r>
            <a:fld id="{81D60167-4931-47E6-BA6A-407CBD079E47}" type="slidenum">
              <a:rPr spc="-10" smtClean="0"/>
              <a:pPr marL="25168">
                <a:lnSpc>
                  <a:spcPts val="1357"/>
                </a:lnSpc>
              </a:pPr>
              <a:t>‹#›</a:t>
            </a:fld>
            <a:endParaRPr spc="-10" dirty="0"/>
          </a:p>
        </p:txBody>
      </p:sp>
    </p:spTree>
    <p:extLst>
      <p:ext uri="{BB962C8B-B14F-4D97-AF65-F5344CB8AC3E}">
        <p14:creationId xmlns:p14="http://schemas.microsoft.com/office/powerpoint/2010/main" val="2989393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699753" y="6430663"/>
            <a:ext cx="114195" cy="60401"/>
          </a:xfrm>
          <a:custGeom>
            <a:avLst/>
            <a:gdLst/>
            <a:ahLst/>
            <a:cxnLst/>
            <a:rect l="l" t="t" r="r" b="b"/>
            <a:pathLst>
              <a:path w="43179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489195" y="6422811"/>
            <a:ext cx="67174" cy="75501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959415" y="6422811"/>
            <a:ext cx="67174" cy="75501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9" b="1" i="0">
                <a:solidFill>
                  <a:schemeClr val="bg1"/>
                </a:solidFill>
                <a:latin typeface="LM Sans 10"/>
                <a:cs typeface="LM Sans 10"/>
              </a:defRPr>
            </a:lvl1pPr>
          </a:lstStyle>
          <a:p>
            <a:pPr marL="25168">
              <a:lnSpc>
                <a:spcPts val="1397"/>
              </a:lnSpc>
            </a:pPr>
            <a:r>
              <a:rPr lang="en-US" b="0" i="1" spc="-248" smtClean="0">
                <a:latin typeface="Linux Biolinum O"/>
                <a:cs typeface="Linux Biolinum O"/>
              </a:rPr>
              <a:t> </a:t>
            </a:r>
            <a:endParaRPr lang="en-US"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89" b="1" i="0">
                <a:solidFill>
                  <a:schemeClr val="bg1"/>
                </a:solidFill>
                <a:latin typeface="LM Sans 10"/>
                <a:cs typeface="LM Sans 10"/>
              </a:defRPr>
            </a:lvl1pPr>
          </a:lstStyle>
          <a:p>
            <a:pPr marL="25168">
              <a:lnSpc>
                <a:spcPts val="1357"/>
              </a:lnSpc>
            </a:pPr>
            <a:r>
              <a:rPr lang="en-US" spc="-10" smtClean="0"/>
              <a:t>Artificial Intelligence , </a:t>
            </a:r>
            <a:r>
              <a:rPr lang="en-US" spc="-20" smtClean="0"/>
              <a:t>Page</a:t>
            </a:r>
            <a:r>
              <a:rPr lang="en-US" spc="50" smtClean="0"/>
              <a:t> </a:t>
            </a:r>
            <a:fld id="{81D60167-4931-47E6-BA6A-407CBD079E47}" type="slidenum">
              <a:rPr spc="-10" smtClean="0"/>
              <a:pPr marL="25168">
                <a:lnSpc>
                  <a:spcPts val="1357"/>
                </a:lnSpc>
              </a:pPr>
              <a:t>‹#›</a:t>
            </a:fld>
            <a:endParaRPr spc="-10" dirty="0"/>
          </a:p>
        </p:txBody>
      </p:sp>
    </p:spTree>
    <p:extLst>
      <p:ext uri="{BB962C8B-B14F-4D97-AF65-F5344CB8AC3E}">
        <p14:creationId xmlns:p14="http://schemas.microsoft.com/office/powerpoint/2010/main" val="149156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044578"/>
            <a:ext cx="12192000" cy="14700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657600"/>
            <a:ext cx="12192000" cy="15240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ADABA8-4680-42FF-B10E-AE1FC3D1E35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557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8BB908-676B-418D-A0F9-ADA2F5DFB00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008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78" indent="0">
              <a:buNone/>
              <a:defRPr sz="1900"/>
            </a:lvl2pPr>
            <a:lvl3pPr marL="914354" indent="0">
              <a:buNone/>
              <a:defRPr sz="1600"/>
            </a:lvl3pPr>
            <a:lvl4pPr marL="1371532" indent="0">
              <a:buNone/>
              <a:defRPr sz="1500"/>
            </a:lvl4pPr>
            <a:lvl5pPr marL="1828709" indent="0">
              <a:buNone/>
              <a:defRPr sz="1500"/>
            </a:lvl5pPr>
            <a:lvl6pPr marL="2285886" indent="0">
              <a:buNone/>
              <a:defRPr sz="1500"/>
            </a:lvl6pPr>
            <a:lvl7pPr marL="2743062" indent="0">
              <a:buNone/>
              <a:defRPr sz="1500"/>
            </a:lvl7pPr>
            <a:lvl8pPr marL="3200240" indent="0">
              <a:buNone/>
              <a:defRPr sz="1500"/>
            </a:lvl8pPr>
            <a:lvl9pPr marL="3657418" indent="0">
              <a:buNone/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BDCFCB-D7C5-4C75-A1E1-65873653C07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139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DC6CEC-5ACE-4C3E-B007-68E11368228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12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9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9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49AE46-61FD-4518-BCFE-BA431E71537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632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FAF4E-C055-4FE6-A9E8-15AB39EB0F9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8269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F14710-EB38-4062-9830-60CCA75232E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7237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3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500"/>
            </a:lvl1pPr>
            <a:lvl2pPr marL="457178" indent="0">
              <a:buNone/>
              <a:defRPr sz="1200"/>
            </a:lvl2pPr>
            <a:lvl3pPr marL="914354" indent="0">
              <a:buNone/>
              <a:defRPr sz="11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1E0DB1-D860-4CA1-A6A1-6DFDDFDEC21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6154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500"/>
            </a:lvl1pPr>
            <a:lvl2pPr marL="457178" indent="0">
              <a:buNone/>
              <a:defRPr sz="1200"/>
            </a:lvl2pPr>
            <a:lvl3pPr marL="914354" indent="0">
              <a:buNone/>
              <a:defRPr sz="11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B9DFEB-451B-4D89-A1CD-CEA9DA588C4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26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210310-2E6D-4EA4-A70B-C328C85CE24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6284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CB455C-2F30-403D-8294-12A3DB8E9C4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76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699753" y="6430663"/>
            <a:ext cx="114195" cy="60401"/>
          </a:xfrm>
          <a:custGeom>
            <a:avLst/>
            <a:gdLst/>
            <a:ahLst/>
            <a:cxnLst/>
            <a:rect l="l" t="t" r="r" b="b"/>
            <a:pathLst>
              <a:path w="43179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489195" y="6422811"/>
            <a:ext cx="67174" cy="75501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959415" y="6422811"/>
            <a:ext cx="67174" cy="75501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" y="0"/>
            <a:ext cx="12186962" cy="772626"/>
          </a:xfrm>
          <a:custGeom>
            <a:avLst/>
            <a:gdLst/>
            <a:ahLst/>
            <a:cxnLst/>
            <a:rect l="l" t="t" r="r" b="b"/>
            <a:pathLst>
              <a:path w="4608195" h="389890">
                <a:moveTo>
                  <a:pt x="4608004" y="0"/>
                </a:moveTo>
                <a:lnTo>
                  <a:pt x="0" y="0"/>
                </a:lnTo>
                <a:lnTo>
                  <a:pt x="0" y="389623"/>
                </a:lnTo>
                <a:lnTo>
                  <a:pt x="4608004" y="389623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2033" y="120691"/>
            <a:ext cx="11687929" cy="26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bg1"/>
                </a:solidFill>
                <a:latin typeface="LM Sans 17"/>
                <a:cs typeface="LM Sans 17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7704" y="1351938"/>
            <a:ext cx="10039085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LM Sans 12"/>
                <a:cs typeface="LM Sans 1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420331" y="6623983"/>
            <a:ext cx="3420813" cy="179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89" b="1" i="0">
                <a:solidFill>
                  <a:schemeClr val="bg1"/>
                </a:solidFill>
                <a:latin typeface="LM Sans 10"/>
                <a:cs typeface="LM Sans 10"/>
              </a:defRPr>
            </a:lvl1pPr>
          </a:lstStyle>
          <a:p>
            <a:pPr marL="25168">
              <a:lnSpc>
                <a:spcPts val="1397"/>
              </a:lnSpc>
            </a:pPr>
            <a:r>
              <a:rPr lang="en-US" b="0" i="1" spc="-248" smtClean="0">
                <a:latin typeface="Linux Biolinum O"/>
                <a:cs typeface="Linux Biolinum O"/>
              </a:rPr>
              <a:t> </a:t>
            </a:r>
            <a:endParaRPr lang="en-US"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1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345247" y="6628514"/>
            <a:ext cx="4092549" cy="179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89" b="1" i="0">
                <a:solidFill>
                  <a:schemeClr val="bg1"/>
                </a:solidFill>
                <a:latin typeface="LM Sans 10"/>
                <a:cs typeface="LM Sans 10"/>
              </a:defRPr>
            </a:lvl1pPr>
          </a:lstStyle>
          <a:p>
            <a:pPr marL="25168">
              <a:lnSpc>
                <a:spcPts val="1357"/>
              </a:lnSpc>
            </a:pPr>
            <a:r>
              <a:rPr lang="en-US" spc="-10" smtClean="0"/>
              <a:t>Artificial Intelligence , </a:t>
            </a:r>
            <a:r>
              <a:rPr lang="en-US" spc="-20" smtClean="0"/>
              <a:t>Page</a:t>
            </a:r>
            <a:r>
              <a:rPr lang="en-US" spc="50" smtClean="0"/>
              <a:t> </a:t>
            </a:r>
            <a:fld id="{81D60167-4931-47E6-BA6A-407CBD079E47}" type="slidenum">
              <a:rPr spc="-10" smtClean="0"/>
              <a:pPr marL="25168">
                <a:lnSpc>
                  <a:spcPts val="1357"/>
                </a:lnSpc>
              </a:pPr>
              <a:t>‹#›</a:t>
            </a:fld>
            <a:endParaRPr spc="-10" dirty="0"/>
          </a:p>
        </p:txBody>
      </p:sp>
    </p:spTree>
    <p:extLst>
      <p:ext uri="{BB962C8B-B14F-4D97-AF65-F5344CB8AC3E}">
        <p14:creationId xmlns:p14="http://schemas.microsoft.com/office/powerpoint/2010/main" val="588679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906033">
        <a:defRPr>
          <a:latin typeface="+mn-lt"/>
          <a:ea typeface="+mn-ea"/>
          <a:cs typeface="+mn-cs"/>
        </a:defRPr>
      </a:lvl2pPr>
      <a:lvl3pPr marL="1812066">
        <a:defRPr>
          <a:latin typeface="+mn-lt"/>
          <a:ea typeface="+mn-ea"/>
          <a:cs typeface="+mn-cs"/>
        </a:defRPr>
      </a:lvl3pPr>
      <a:lvl4pPr marL="2718100">
        <a:defRPr>
          <a:latin typeface="+mn-lt"/>
          <a:ea typeface="+mn-ea"/>
          <a:cs typeface="+mn-cs"/>
        </a:defRPr>
      </a:lvl4pPr>
      <a:lvl5pPr marL="3624133">
        <a:defRPr>
          <a:latin typeface="+mn-lt"/>
          <a:ea typeface="+mn-ea"/>
          <a:cs typeface="+mn-cs"/>
        </a:defRPr>
      </a:lvl5pPr>
      <a:lvl6pPr marL="4530166">
        <a:defRPr>
          <a:latin typeface="+mn-lt"/>
          <a:ea typeface="+mn-ea"/>
          <a:cs typeface="+mn-cs"/>
        </a:defRPr>
      </a:lvl6pPr>
      <a:lvl7pPr marL="5436199">
        <a:defRPr>
          <a:latin typeface="+mn-lt"/>
          <a:ea typeface="+mn-ea"/>
          <a:cs typeface="+mn-cs"/>
        </a:defRPr>
      </a:lvl7pPr>
      <a:lvl8pPr marL="6342233">
        <a:defRPr>
          <a:latin typeface="+mn-lt"/>
          <a:ea typeface="+mn-ea"/>
          <a:cs typeface="+mn-cs"/>
        </a:defRPr>
      </a:lvl8pPr>
      <a:lvl9pPr marL="7248266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906033">
        <a:defRPr>
          <a:latin typeface="+mn-lt"/>
          <a:ea typeface="+mn-ea"/>
          <a:cs typeface="+mn-cs"/>
        </a:defRPr>
      </a:lvl2pPr>
      <a:lvl3pPr marL="1812066">
        <a:defRPr>
          <a:latin typeface="+mn-lt"/>
          <a:ea typeface="+mn-ea"/>
          <a:cs typeface="+mn-cs"/>
        </a:defRPr>
      </a:lvl3pPr>
      <a:lvl4pPr marL="2718100">
        <a:defRPr>
          <a:latin typeface="+mn-lt"/>
          <a:ea typeface="+mn-ea"/>
          <a:cs typeface="+mn-cs"/>
        </a:defRPr>
      </a:lvl4pPr>
      <a:lvl5pPr marL="3624133">
        <a:defRPr>
          <a:latin typeface="+mn-lt"/>
          <a:ea typeface="+mn-ea"/>
          <a:cs typeface="+mn-cs"/>
        </a:defRPr>
      </a:lvl5pPr>
      <a:lvl6pPr marL="4530166">
        <a:defRPr>
          <a:latin typeface="+mn-lt"/>
          <a:ea typeface="+mn-ea"/>
          <a:cs typeface="+mn-cs"/>
        </a:defRPr>
      </a:lvl6pPr>
      <a:lvl7pPr marL="5436199">
        <a:defRPr>
          <a:latin typeface="+mn-lt"/>
          <a:ea typeface="+mn-ea"/>
          <a:cs typeface="+mn-cs"/>
        </a:defRPr>
      </a:lvl7pPr>
      <a:lvl8pPr marL="6342233">
        <a:defRPr>
          <a:latin typeface="+mn-lt"/>
          <a:ea typeface="+mn-ea"/>
          <a:cs typeface="+mn-cs"/>
        </a:defRPr>
      </a:lvl8pPr>
      <a:lvl9pPr marL="7248266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254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6400" y="1397001"/>
            <a:ext cx="11379200" cy="4729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>
              <a:defRPr sz="15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algn="ctr">
              <a:defRPr sz="15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algn="r">
              <a:defRPr sz="1500"/>
            </a:lvl1pPr>
          </a:lstStyle>
          <a:p>
            <a:pPr>
              <a:defRPr/>
            </a:pPr>
            <a:fld id="{4E5CA303-B04A-41A5-A1FA-65C0783B1EA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0" y="1031242"/>
            <a:ext cx="12192000" cy="60959"/>
          </a:xfrm>
          <a:prstGeom prst="rect">
            <a:avLst/>
          </a:prstGeom>
          <a:gradFill rotWithShape="1">
            <a:gsLst>
              <a:gs pos="0">
                <a:srgbClr val="0000CC"/>
              </a:gs>
              <a:gs pos="100000">
                <a:schemeClr val="tx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6" tIns="45718" rIns="91436" bIns="45718" anchor="ctr"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991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882" indent="-342882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3200">
          <a:solidFill>
            <a:schemeClr val="accent2"/>
          </a:solidFill>
          <a:latin typeface="Calibri" pitchFamily="34" charset="0"/>
          <a:ea typeface="+mn-ea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800">
          <a:solidFill>
            <a:schemeClr val="tx1"/>
          </a:solidFill>
          <a:latin typeface="Calibri" pitchFamily="34" charset="0"/>
        </a:defRPr>
      </a:lvl2pPr>
      <a:lvl3pPr marL="1142942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120" indent="-228589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474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652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8829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006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Fahad.sherwani@nu.edu.p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5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image" Target="../media/image13.png"/><Relationship Id="rId17" Type="http://schemas.openxmlformats.org/officeDocument/2006/relationships/image" Target="../media/image20.png"/><Relationship Id="rId2" Type="http://schemas.openxmlformats.org/officeDocument/2006/relationships/tags" Target="../tags/tag4.xml"/><Relationship Id="rId16" Type="http://schemas.openxmlformats.org/officeDocument/2006/relationships/image" Target="../media/image19.png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image" Target="../media/image12.png"/><Relationship Id="rId5" Type="http://schemas.openxmlformats.org/officeDocument/2006/relationships/tags" Target="../tags/tag7.xml"/><Relationship Id="rId15" Type="http://schemas.openxmlformats.org/officeDocument/2006/relationships/image" Target="../media/image18.png"/><Relationship Id="rId10" Type="http://schemas.openxmlformats.org/officeDocument/2006/relationships/slideLayout" Target="../slideLayouts/slideLayout7.xml"/><Relationship Id="rId19" Type="http://schemas.openxmlformats.org/officeDocument/2006/relationships/image" Target="../media/image22.png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6CA707-0000-47D9-88EF-C4661BE56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859" y="1904214"/>
            <a:ext cx="5421465" cy="3049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579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3001" y="485764"/>
            <a:ext cx="9684091" cy="370523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/>
          <a:p>
            <a:pPr marL="2103755" marR="2090420" algn="ctr" defTabSz="457200">
              <a:lnSpc>
                <a:spcPct val="90000"/>
              </a:lnSpc>
            </a:pPr>
            <a:r>
              <a:rPr lang="en-US" sz="4900" b="1" spc="-5" dirty="0">
                <a:solidFill>
                  <a:srgbClr val="FFC000"/>
                </a:solidFill>
              </a:rPr>
              <a:t/>
            </a:r>
            <a:br>
              <a:rPr lang="en-US" sz="4900" b="1" spc="-5" dirty="0">
                <a:solidFill>
                  <a:srgbClr val="FFC000"/>
                </a:solidFill>
              </a:rPr>
            </a:br>
            <a:r>
              <a:rPr lang="en-US" sz="4000" b="1" spc="-5" dirty="0">
                <a:solidFill>
                  <a:srgbClr val="FFC000"/>
                </a:solidFill>
              </a:rPr>
              <a:t>Artificial Intelligence (CS-401)</a:t>
            </a:r>
            <a:br>
              <a:rPr lang="en-US" sz="4000" b="1" spc="-5" dirty="0">
                <a:solidFill>
                  <a:srgbClr val="FFC000"/>
                </a:solidFill>
              </a:rPr>
            </a:br>
            <a:r>
              <a:rPr lang="en-US" sz="3900" b="1" spc="-235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900" b="1" spc="-235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b="1" spc="-5" dirty="0">
                <a:solidFill>
                  <a:schemeClr val="tx1"/>
                </a:solidFill>
              </a:rPr>
              <a:t>Lecture 8:</a:t>
            </a:r>
            <a:br>
              <a:rPr lang="en-US" sz="3100" b="1" spc="-5" dirty="0">
                <a:solidFill>
                  <a:schemeClr val="tx1"/>
                </a:solidFill>
              </a:rPr>
            </a:br>
            <a:r>
              <a:rPr lang="en-US" sz="3100" b="1" spc="-5" dirty="0">
                <a:solidFill>
                  <a:schemeClr val="tx1"/>
                </a:solidFill>
              </a:rPr>
              <a:t>Probability and Uncertainty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68183" y="5079043"/>
            <a:ext cx="8419643" cy="162976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5155">
                  <a:lumMod val="40000"/>
                  <a:lumOff val="60000"/>
                </a:srgbClr>
              </a:buClr>
              <a:buSzPct val="80000"/>
              <a:buFontTx/>
              <a:buNone/>
              <a:tabLst/>
              <a:defRPr/>
            </a:pPr>
            <a:r>
              <a:rPr kumimoji="0" lang="en-US" sz="2100" b="1" i="0" u="none" strike="noStrike" kern="1200" cap="none" spc="-150" normalizeH="0" baseline="0" noProof="0" dirty="0">
                <a:ln>
                  <a:noFill/>
                </a:ln>
                <a:solidFill>
                  <a:srgbClr val="B01513"/>
                </a:solidFill>
                <a:effectLst/>
                <a:uLnTx/>
                <a:uFillTx/>
                <a:latin typeface="Century Gothic" panose="020B0502020202020204"/>
                <a:ea typeface="+mn-ea"/>
                <a:cs typeface="Times New Roman" panose="02020603050405020304" pitchFamily="18" charset="0"/>
              </a:rPr>
              <a:t>Dr. </a:t>
            </a:r>
            <a:r>
              <a:rPr kumimoji="0" lang="en-US" sz="2100" b="1" i="0" u="none" strike="noStrike" kern="1200" cap="none" spc="-150" normalizeH="0" baseline="0" noProof="0" dirty="0" err="1">
                <a:ln>
                  <a:noFill/>
                </a:ln>
                <a:solidFill>
                  <a:srgbClr val="B01513"/>
                </a:solidFill>
                <a:effectLst/>
                <a:uLnTx/>
                <a:uFillTx/>
                <a:latin typeface="Century Gothic" panose="020B0502020202020204"/>
                <a:ea typeface="+mn-ea"/>
                <a:cs typeface="Times New Roman" panose="02020603050405020304" pitchFamily="18" charset="0"/>
              </a:rPr>
              <a:t>Fahad</a:t>
            </a:r>
            <a:r>
              <a:rPr kumimoji="0" lang="en-US" sz="2100" b="1" i="0" u="none" strike="noStrike" kern="1200" cap="none" spc="-150" normalizeH="0" baseline="0" noProof="0" dirty="0">
                <a:ln>
                  <a:noFill/>
                </a:ln>
                <a:solidFill>
                  <a:srgbClr val="B01513"/>
                </a:solidFill>
                <a:effectLst/>
                <a:uLnTx/>
                <a:uFillTx/>
                <a:latin typeface="Century Gothic" panose="020B0502020202020204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100" b="1" i="0" u="none" strike="noStrike" kern="1200" cap="none" spc="-150" normalizeH="0" baseline="0" noProof="0" dirty="0" err="1">
                <a:ln>
                  <a:noFill/>
                </a:ln>
                <a:solidFill>
                  <a:srgbClr val="B01513"/>
                </a:solidFill>
                <a:effectLst/>
                <a:uLnTx/>
                <a:uFillTx/>
                <a:latin typeface="Century Gothic" panose="020B0502020202020204"/>
                <a:ea typeface="+mn-ea"/>
                <a:cs typeface="Times New Roman" panose="02020603050405020304" pitchFamily="18" charset="0"/>
              </a:rPr>
              <a:t>Sherwani</a:t>
            </a:r>
            <a:r>
              <a:rPr kumimoji="0" lang="en-US" sz="2100" b="1" i="0" u="none" strike="noStrike" kern="1200" cap="none" spc="-150" normalizeH="0" baseline="0" noProof="0" dirty="0">
                <a:ln>
                  <a:noFill/>
                </a:ln>
                <a:solidFill>
                  <a:srgbClr val="B01513"/>
                </a:solidFill>
                <a:effectLst/>
                <a:uLnTx/>
                <a:uFillTx/>
                <a:latin typeface="Century Gothic" panose="020B0502020202020204"/>
                <a:ea typeface="+mn-ea"/>
                <a:cs typeface="Times New Roman" panose="02020603050405020304" pitchFamily="18" charset="0"/>
              </a:rPr>
              <a:t> (Assistant Professor – FAST NUCES)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5155">
                  <a:lumMod val="40000"/>
                  <a:lumOff val="60000"/>
                </a:srgbClr>
              </a:buClr>
              <a:buSzPct val="80000"/>
              <a:buFontTx/>
              <a:buNone/>
              <a:tabLst/>
              <a:defRPr/>
            </a:pPr>
            <a:r>
              <a:rPr kumimoji="0" lang="en-US" sz="2100" b="1" i="0" u="none" strike="noStrike" kern="1200" cap="none" spc="-15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Times New Roman" panose="02020603050405020304" pitchFamily="18" charset="0"/>
              </a:rPr>
              <a:t>PhD in Artificial Intelligence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5155">
                  <a:lumMod val="40000"/>
                  <a:lumOff val="60000"/>
                </a:srgbClr>
              </a:buClr>
              <a:buSzPct val="80000"/>
              <a:buFontTx/>
              <a:buNone/>
              <a:tabLst/>
              <a:defRPr/>
            </a:pPr>
            <a:r>
              <a:rPr kumimoji="0" lang="en-US" sz="2100" b="1" i="0" u="none" strike="noStrike" kern="1200" cap="none" spc="-15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Times New Roman" panose="02020603050405020304" pitchFamily="18" charset="0"/>
              </a:rPr>
              <a:t>Universiti Tun Hussein </a:t>
            </a:r>
            <a:r>
              <a:rPr kumimoji="0" lang="en-US" sz="2100" b="1" i="0" u="none" strike="noStrike" kern="1200" cap="none" spc="-15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Times New Roman" panose="02020603050405020304" pitchFamily="18" charset="0"/>
              </a:rPr>
              <a:t>Onn</a:t>
            </a:r>
            <a:r>
              <a:rPr kumimoji="0" lang="en-US" sz="2100" b="1" i="0" u="none" strike="noStrike" kern="1200" cap="none" spc="-15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Times New Roman" panose="02020603050405020304" pitchFamily="18" charset="0"/>
              </a:rPr>
              <a:t> Malaysia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5155">
                  <a:lumMod val="40000"/>
                  <a:lumOff val="60000"/>
                </a:srgbClr>
              </a:buClr>
              <a:buSzPct val="80000"/>
              <a:buFontTx/>
              <a:buNone/>
              <a:tabLst/>
              <a:defRPr/>
            </a:pPr>
            <a:r>
              <a:rPr kumimoji="0" lang="en-US" sz="2400" b="1" i="0" u="none" strike="noStrike" kern="1200" cap="none" spc="-5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3"/>
              </a:rPr>
              <a:t>fahad.sherwani@nu.edu.pk</a:t>
            </a:r>
            <a:r>
              <a:rPr kumimoji="0" lang="en-US" sz="2400" b="1" i="0" u="none" strike="noStrike" kern="1200" cap="none" spc="-5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5155">
                  <a:lumMod val="40000"/>
                  <a:lumOff val="60000"/>
                </a:srgbClr>
              </a:buClr>
              <a:buSzPct val="80000"/>
              <a:buFontTx/>
              <a:buNone/>
              <a:tabLst/>
              <a:defRPr/>
            </a:pPr>
            <a:endParaRPr kumimoji="0" lang="en-US" sz="2100" b="1" i="0" u="none" strike="noStrike" kern="1200" cap="none" spc="-15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panose="020B0502020202020204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5155">
                  <a:lumMod val="40000"/>
                  <a:lumOff val="60000"/>
                </a:srgbClr>
              </a:buClr>
              <a:buSzPct val="80000"/>
              <a:buFontTx/>
              <a:buNone/>
              <a:tabLst/>
              <a:defRPr/>
            </a:pPr>
            <a:endParaRPr kumimoji="0" lang="en-US" sz="2100" b="1" i="0" u="none" strike="noStrike" kern="1200" cap="none" spc="-150" normalizeH="0" baseline="0" noProof="0" dirty="0">
              <a:ln>
                <a:noFill/>
              </a:ln>
              <a:solidFill>
                <a:srgbClr val="1E5155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594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7046" y="120692"/>
            <a:ext cx="7096987" cy="548970"/>
          </a:xfrm>
          <a:prstGeom prst="rect">
            <a:avLst/>
          </a:prstGeom>
        </p:spPr>
        <p:txBody>
          <a:bodyPr vert="horz" wrap="square" lIns="0" tIns="30200" rIns="0" bIns="0" rtlCol="0">
            <a:spAutoFit/>
          </a:bodyPr>
          <a:lstStyle/>
          <a:p>
            <a:pPr marL="25168" marR="0" lvl="0" indent="0" algn="l" defTabSz="1812066" rtl="0" eaLnBrk="1" fontAlgn="auto" latinLnBrk="0" hangingPunct="1">
              <a:lnSpc>
                <a:spcPct val="100000"/>
              </a:lnSpc>
              <a:spcBef>
                <a:spcPts val="23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369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M Sans 17"/>
                <a:ea typeface="+mn-ea"/>
                <a:cs typeface="LM Sans 17"/>
              </a:rPr>
              <a:t>Using Uncertainty</a:t>
            </a:r>
            <a:r>
              <a:rPr kumimoji="0" sz="3369" b="0" i="0" u="none" strike="noStrike" kern="120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M Sans 17"/>
                <a:ea typeface="+mn-ea"/>
                <a:cs typeface="LM Sans 17"/>
              </a:rPr>
              <a:t> </a:t>
            </a:r>
            <a:r>
              <a:rPr kumimoji="0" sz="336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M Sans 17"/>
                <a:ea typeface="+mn-ea"/>
                <a:cs typeface="LM Sans 17"/>
              </a:rPr>
              <a:t>Knowledge</a:t>
            </a:r>
            <a:endParaRPr kumimoji="0" sz="336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Sans 17"/>
              <a:ea typeface="+mn-ea"/>
              <a:cs typeface="LM Sans 17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86509" y="2568264"/>
            <a:ext cx="141740" cy="1417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8120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86509" y="3007049"/>
            <a:ext cx="141740" cy="1417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8120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86509" y="3445810"/>
            <a:ext cx="141740" cy="1417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8120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75551" y="3671986"/>
            <a:ext cx="1268415" cy="419028"/>
          </a:xfrm>
          <a:custGeom>
            <a:avLst/>
            <a:gdLst/>
            <a:ahLst/>
            <a:cxnLst/>
            <a:rect l="l" t="t" r="r" b="b"/>
            <a:pathLst>
              <a:path w="640080" h="211455">
                <a:moveTo>
                  <a:pt x="639826" y="0"/>
                </a:moveTo>
                <a:lnTo>
                  <a:pt x="0" y="0"/>
                </a:lnTo>
                <a:lnTo>
                  <a:pt x="0" y="210870"/>
                </a:lnTo>
                <a:lnTo>
                  <a:pt x="639826" y="210870"/>
                </a:lnTo>
                <a:lnTo>
                  <a:pt x="63982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pPr marL="0" marR="0" lvl="0" indent="0" algn="l" defTabSz="18120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75551" y="2371987"/>
            <a:ext cx="8014424" cy="2162473"/>
          </a:xfrm>
          <a:prstGeom prst="rect">
            <a:avLst/>
          </a:prstGeom>
        </p:spPr>
        <p:txBody>
          <a:bodyPr vert="horz" wrap="square" lIns="0" tIns="25167" rIns="0" bIns="0" rtlCol="0">
            <a:spAutoFit/>
          </a:bodyPr>
          <a:lstStyle/>
          <a:p>
            <a:pPr marL="25168" marR="10067" lvl="0" indent="0" algn="l" defTabSz="1812066" rtl="0" eaLnBrk="1" fontAlgn="auto" latinLnBrk="0" hangingPunct="1">
              <a:lnSpc>
                <a:spcPct val="121100"/>
              </a:lnSpc>
              <a:spcBef>
                <a:spcPts val="19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Agents don’t have complete </a:t>
            </a:r>
            <a:r>
              <a:rPr kumimoji="0" sz="2378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knowledge </a:t>
            </a:r>
            <a:r>
              <a:rPr kumimoji="0" sz="237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about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the </a:t>
            </a:r>
            <a:r>
              <a:rPr kumimoji="0" sz="2378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world. 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Agents need to </a:t>
            </a:r>
            <a:r>
              <a:rPr kumimoji="0" sz="2378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make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decisions based on their </a:t>
            </a:r>
            <a:r>
              <a:rPr kumimoji="0" sz="2378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uncertainty. 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It isn’t enough to assume what the </a:t>
            </a:r>
            <a:r>
              <a:rPr kumimoji="0" sz="2378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world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is</a:t>
            </a:r>
            <a:r>
              <a:rPr kumimoji="0" sz="2378" b="0" i="0" u="none" strike="noStrike" kern="1200" cap="none" spc="5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 </a:t>
            </a:r>
            <a:r>
              <a:rPr kumimoji="0" sz="2378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like.</a:t>
            </a:r>
            <a:endParaRPr kumimoji="0" sz="237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Sans 12"/>
              <a:ea typeface="+mn-ea"/>
              <a:cs typeface="LM Sans 12"/>
            </a:endParaRPr>
          </a:p>
          <a:p>
            <a:pPr marL="99412" marR="0" lvl="0" indent="0" algn="l" defTabSz="1812066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78" b="0" i="0" u="none" strike="noStrike" kern="1200" cap="none" spc="-20" normalizeH="0" baseline="0" noProof="0" dirty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Example:</a:t>
            </a:r>
            <a:r>
              <a:rPr kumimoji="0" lang="en-US" sz="2378" b="0" i="0" u="none" strike="noStrike" kern="1200" cap="none" spc="-20" normalizeH="0" baseline="0" noProof="0" dirty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 </a:t>
            </a:r>
            <a:r>
              <a:rPr kumimoji="0" lang="en-US" sz="2378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Autonomous Robot</a:t>
            </a:r>
            <a:endParaRPr kumimoji="0" sz="237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Sans 12"/>
              <a:ea typeface="+mn-ea"/>
              <a:cs typeface="LM Sans 12"/>
            </a:endParaRPr>
          </a:p>
          <a:p>
            <a:pPr marL="25168" marR="0" lvl="0" indent="0" algn="l" defTabSz="1812066" rtl="0" eaLnBrk="1" fontAlgn="auto" latinLnBrk="0" hangingPunct="1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An agent needs to reason </a:t>
            </a:r>
            <a:r>
              <a:rPr kumimoji="0" sz="237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about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its</a:t>
            </a:r>
            <a:r>
              <a:rPr kumimoji="0" sz="237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 </a:t>
            </a:r>
            <a:r>
              <a:rPr kumimoji="0" sz="2378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uncertainty.</a:t>
            </a:r>
            <a:endParaRPr kumimoji="0" sz="237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Sans 12"/>
              <a:ea typeface="+mn-ea"/>
              <a:cs typeface="LM Sans 1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986509" y="4248159"/>
            <a:ext cx="141740" cy="1417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8120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528195" y="6598654"/>
            <a:ext cx="9131836" cy="250409"/>
            <a:chOff x="0" y="3329876"/>
            <a:chExt cx="4608195" cy="126364"/>
          </a:xfrm>
        </p:grpSpPr>
        <p:sp>
          <p:nvSpPr>
            <p:cNvPr id="10" name="object 10"/>
            <p:cNvSpPr/>
            <p:nvPr/>
          </p:nvSpPr>
          <p:spPr>
            <a:xfrm>
              <a:off x="0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181206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pPr marL="0" marR="0" lvl="0" indent="0" algn="l" defTabSz="181206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3341777" y="6623983"/>
            <a:ext cx="256325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marR="0" lvl="0" indent="0" algn="l" defTabSz="1812066" rtl="0" eaLnBrk="1" fontAlgn="auto" latinLnBrk="0" hangingPunct="1">
              <a:lnSpc>
                <a:spcPts val="13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89" b="0" i="1" u="none" strike="noStrike" kern="1200" cap="none" spc="-24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inux Biolinum O"/>
                <a:ea typeface="+mn-ea"/>
                <a:cs typeface="Linux Biolinum O"/>
              </a:rPr>
              <a:t> </a:t>
            </a:r>
            <a:endParaRPr kumimoji="0" sz="1189" b="1" i="0" u="none" strike="noStrike" kern="1200" cap="none" spc="-1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Sans 10"/>
              <a:ea typeface="+mn-e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82764" y="6628514"/>
            <a:ext cx="298354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marR="0" lvl="0" indent="0" algn="l" defTabSz="1812066" rtl="0" eaLnBrk="1" fontAlgn="auto" latinLnBrk="0" hangingPunct="1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89" b="1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Artificial Intelligence</a:t>
            </a:r>
            <a:r>
              <a:rPr kumimoji="0" lang="en-US" sz="1189" b="1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 </a:t>
            </a:r>
            <a:r>
              <a:rPr kumimoji="0" sz="1189" b="1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, </a:t>
            </a:r>
            <a:r>
              <a:rPr kumimoji="0" sz="1189" b="1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Page</a:t>
            </a:r>
            <a:r>
              <a:rPr kumimoji="0" sz="1189" b="1" i="0" u="none" strike="noStrike" kern="1200" cap="none" spc="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 </a:t>
            </a:r>
            <a:fld id="{81D60167-4931-47E6-BA6A-407CBD079E47}" type="slidenum">
              <a:rPr kumimoji="0" sz="1189" b="1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pPr marL="25168" marR="0" lvl="0" indent="0" algn="l" defTabSz="1812066" rtl="0" eaLnBrk="1" fontAlgn="auto" latinLnBrk="0" hangingPunct="1">
                <a:lnSpc>
                  <a:spcPts val="135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sz="118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Sans 10"/>
              <a:ea typeface="+mn-ea"/>
              <a:cs typeface="LM Sans 10"/>
            </a:endParaRPr>
          </a:p>
        </p:txBody>
      </p:sp>
    </p:spTree>
    <p:extLst>
      <p:ext uri="{BB962C8B-B14F-4D97-AF65-F5344CB8AC3E}">
        <p14:creationId xmlns:p14="http://schemas.microsoft.com/office/powerpoint/2010/main" val="1211187926"/>
      </p:ext>
    </p:extLst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17046" y="120691"/>
            <a:ext cx="4187986" cy="548970"/>
          </a:xfrm>
          <a:prstGeom prst="rect">
            <a:avLst/>
          </a:prstGeom>
        </p:spPr>
        <p:txBody>
          <a:bodyPr vert="horz" wrap="square" lIns="0" tIns="30200" rIns="0" bIns="0" rtlCol="0">
            <a:spAutoFit/>
          </a:bodyPr>
          <a:lstStyle/>
          <a:p>
            <a:pPr marL="25168">
              <a:spcBef>
                <a:spcPts val="238"/>
              </a:spcBef>
            </a:pPr>
            <a:r>
              <a:rPr spc="20" dirty="0"/>
              <a:t>Why</a:t>
            </a:r>
            <a:r>
              <a:rPr lang="en-US" spc="20" dirty="0"/>
              <a:t> </a:t>
            </a:r>
            <a:r>
              <a:rPr dirty="0" smtClean="0"/>
              <a:t>Probability</a:t>
            </a:r>
            <a:r>
              <a:rPr dirty="0"/>
              <a:t>?</a:t>
            </a:r>
          </a:p>
        </p:txBody>
      </p:sp>
      <p:sp>
        <p:nvSpPr>
          <p:cNvPr id="3" name="object 3"/>
          <p:cNvSpPr/>
          <p:nvPr/>
        </p:nvSpPr>
        <p:spPr>
          <a:xfrm>
            <a:off x="1528195" y="1350554"/>
            <a:ext cx="141740" cy="1417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8120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41736" y="1171287"/>
            <a:ext cx="7905172" cy="4925741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75503" marR="171140" lvl="0" indent="0" algn="l" defTabSz="1812066" rtl="0" eaLnBrk="1" fontAlgn="auto" latinLnBrk="0" hangingPunct="1">
              <a:lnSpc>
                <a:spcPct val="100000"/>
              </a:lnSpc>
              <a:spcBef>
                <a:spcPts val="18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There is lots of </a:t>
            </a:r>
            <a:r>
              <a:rPr kumimoji="0" sz="2378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uncertainty </a:t>
            </a:r>
            <a:r>
              <a:rPr kumimoji="0" sz="237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about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the </a:t>
            </a:r>
            <a:r>
              <a:rPr kumimoji="0" sz="2378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world,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but agents still need to</a:t>
            </a:r>
            <a:r>
              <a:rPr kumimoji="0" sz="237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act.</a:t>
            </a:r>
            <a:endParaRPr kumimoji="0" sz="237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Sans 12"/>
              <a:ea typeface="+mn-ea"/>
              <a:cs typeface="LM Sans 12"/>
            </a:endParaRPr>
          </a:p>
          <a:p>
            <a:pPr marL="75503" marR="0" lvl="0" indent="0" algn="l" defTabSz="1812066" rtl="0" eaLnBrk="1" fontAlgn="auto" latinLnBrk="0" hangingPunct="1">
              <a:lnSpc>
                <a:spcPct val="100000"/>
              </a:lnSpc>
              <a:spcBef>
                <a:spcPts val="42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Predictions </a:t>
            </a:r>
            <a:r>
              <a:rPr kumimoji="0" sz="2378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are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needed to decide what to</a:t>
            </a:r>
            <a:r>
              <a:rPr kumimoji="0" sz="2378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do:</a:t>
            </a:r>
            <a:endParaRPr kumimoji="0" sz="237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Sans 12"/>
              <a:ea typeface="+mn-ea"/>
              <a:cs typeface="LM Sans 12"/>
            </a:endParaRPr>
          </a:p>
          <a:p>
            <a:pPr marL="382547" marR="0" lvl="0" indent="0" algn="l" defTabSz="1812066" rtl="0" eaLnBrk="1" fontAlgn="auto" latinLnBrk="0" hangingPunct="1">
              <a:lnSpc>
                <a:spcPct val="100000"/>
              </a:lnSpc>
              <a:spcBef>
                <a:spcPts val="42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84" b="0" i="0" u="none" strike="noStrike" kern="1200" cap="none" spc="979" normalizeH="0" baseline="13888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) </a:t>
            </a:r>
            <a:r>
              <a:rPr kumimoji="0" sz="218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definitive </a:t>
            </a:r>
            <a:r>
              <a:rPr kumimoji="0" sz="218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predictions: </a:t>
            </a:r>
            <a:r>
              <a:rPr kumimoji="0" lang="en-US" sz="218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There will be a class tomorrow</a:t>
            </a:r>
            <a:endParaRPr kumimoji="0" sz="21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Sans 10"/>
              <a:ea typeface="+mn-ea"/>
              <a:cs typeface="LM Sans 10"/>
            </a:endParaRPr>
          </a:p>
          <a:p>
            <a:pPr marL="664424" marR="611572" lvl="0" indent="-281877" algn="l" defTabSz="1812066" rtl="0" eaLnBrk="1" fontAlgn="auto" latinLnBrk="0" hangingPunct="1">
              <a:lnSpc>
                <a:spcPct val="1026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84" b="0" i="0" u="none" strike="noStrike" kern="1200" cap="none" spc="979" normalizeH="0" baseline="13888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) </a:t>
            </a:r>
            <a:r>
              <a:rPr kumimoji="0" sz="218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point </a:t>
            </a:r>
            <a:r>
              <a:rPr kumimoji="0" sz="218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probabilities: probability </a:t>
            </a:r>
            <a:r>
              <a:rPr kumimoji="0" lang="en-US" sz="218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of having  a class </a:t>
            </a:r>
            <a:r>
              <a:rPr kumimoji="0" sz="218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tomorrow </a:t>
            </a:r>
            <a:r>
              <a:rPr kumimoji="0" sz="218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is</a:t>
            </a:r>
            <a:r>
              <a:rPr kumimoji="0" sz="218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 </a:t>
            </a:r>
            <a:r>
              <a:rPr kumimoji="0" sz="218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0.002</a:t>
            </a:r>
            <a:endParaRPr kumimoji="0" sz="21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Sans 10"/>
              <a:ea typeface="+mn-ea"/>
              <a:cs typeface="LM Sans 10"/>
            </a:endParaRPr>
          </a:p>
          <a:p>
            <a:pPr marL="664424" marR="60402" lvl="0" indent="-281877" algn="l" defTabSz="1812066" rtl="0" eaLnBrk="1" fontAlgn="auto" latinLnBrk="0" hangingPunct="1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84" b="0" i="0" u="none" strike="noStrike" kern="1200" cap="none" spc="979" normalizeH="0" baseline="13888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) </a:t>
            </a:r>
            <a:r>
              <a:rPr kumimoji="0" sz="218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probability </a:t>
            </a:r>
            <a:r>
              <a:rPr kumimoji="0" sz="218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ranges:</a:t>
            </a:r>
            <a:r>
              <a:rPr kumimoji="0" lang="en-US" sz="218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 The class will be held tomorrow </a:t>
            </a:r>
            <a:r>
              <a:rPr kumimoji="0" sz="218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with </a:t>
            </a:r>
            <a:r>
              <a:rPr kumimoji="0" sz="218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probability </a:t>
            </a:r>
            <a:r>
              <a:rPr kumimoji="0" sz="218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in range</a:t>
            </a:r>
            <a:r>
              <a:rPr kumimoji="0" sz="218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 </a:t>
            </a:r>
            <a:r>
              <a:rPr kumimoji="0" sz="218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[0.001,0.34]</a:t>
            </a:r>
            <a:endParaRPr kumimoji="0" sz="21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Sans 10"/>
              <a:ea typeface="+mn-ea"/>
              <a:cs typeface="LM Sans 10"/>
            </a:endParaRPr>
          </a:p>
          <a:p>
            <a:pPr marL="75503" marR="339762" lvl="0" indent="0" algn="l" defTabSz="1812066" rtl="0" eaLnBrk="1" fontAlgn="auto" latinLnBrk="0" hangingPunct="1">
              <a:lnSpc>
                <a:spcPct val="100000"/>
              </a:lnSpc>
              <a:spcBef>
                <a:spcPts val="64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Acting is gambling: agents who don’t use probabilities  will lose to those who do</a:t>
            </a:r>
            <a:r>
              <a:rPr kumimoji="0" sz="2378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.</a:t>
            </a:r>
            <a:endParaRPr kumimoji="0" sz="237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Sans 12"/>
              <a:ea typeface="+mn-ea"/>
              <a:cs typeface="LM Sans 12"/>
            </a:endParaRPr>
          </a:p>
          <a:p>
            <a:pPr marL="75503" marR="0" lvl="0" indent="0" algn="l" defTabSz="1812066" rtl="0" eaLnBrk="1" fontAlgn="auto" latinLnBrk="0" hangingPunct="1">
              <a:lnSpc>
                <a:spcPct val="100000"/>
              </a:lnSpc>
              <a:spcBef>
                <a:spcPts val="61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Probabilities can </a:t>
            </a:r>
            <a:r>
              <a:rPr kumimoji="0" sz="2378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be </a:t>
            </a:r>
            <a:r>
              <a:rPr kumimoji="0" sz="2378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learned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from</a:t>
            </a:r>
            <a:r>
              <a:rPr kumimoji="0" sz="2378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data.</a:t>
            </a:r>
            <a:endParaRPr kumimoji="0" sz="237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Sans 12"/>
              <a:ea typeface="+mn-ea"/>
              <a:cs typeface="LM Sans 12"/>
            </a:endParaRPr>
          </a:p>
          <a:p>
            <a:pPr marL="75503" marR="702176" lvl="0" indent="0" algn="l" defTabSz="18120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78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Bayes’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rule </a:t>
            </a:r>
            <a:r>
              <a:rPr kumimoji="0" sz="237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specifies </a:t>
            </a:r>
            <a:r>
              <a:rPr kumimoji="0" sz="2378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how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to combine data and </a:t>
            </a:r>
            <a:r>
              <a:rPr kumimoji="0" sz="2378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prior  </a:t>
            </a:r>
            <a:r>
              <a:rPr kumimoji="0" sz="2378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knowledge.</a:t>
            </a:r>
            <a:endParaRPr kumimoji="0" sz="237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Sans 12"/>
              <a:ea typeface="+mn-ea"/>
              <a:cs typeface="LM Sans 1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8195" y="2130328"/>
            <a:ext cx="141740" cy="1417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8120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28195" y="4324208"/>
            <a:ext cx="141740" cy="1417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8120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28195" y="5126557"/>
            <a:ext cx="141740" cy="1417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8120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28195" y="6598654"/>
            <a:ext cx="9131836" cy="250409"/>
            <a:chOff x="0" y="3329876"/>
            <a:chExt cx="4608195" cy="126364"/>
          </a:xfrm>
        </p:grpSpPr>
        <p:sp>
          <p:nvSpPr>
            <p:cNvPr id="9" name="object 9"/>
            <p:cNvSpPr/>
            <p:nvPr/>
          </p:nvSpPr>
          <p:spPr>
            <a:xfrm>
              <a:off x="0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181206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pPr marL="0" marR="0" lvl="0" indent="0" algn="l" defTabSz="181206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3341777" y="6623983"/>
            <a:ext cx="256325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marR="0" lvl="0" indent="0" algn="l" defTabSz="1812066" rtl="0" eaLnBrk="1" fontAlgn="auto" latinLnBrk="0" hangingPunct="1">
              <a:lnSpc>
                <a:spcPts val="13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89" b="0" i="1" u="none" strike="noStrike" kern="1200" cap="none" spc="-24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inux Biolinum O"/>
                <a:ea typeface="+mn-ea"/>
                <a:cs typeface="Linux Biolinum O"/>
              </a:rPr>
              <a:t> </a:t>
            </a:r>
            <a:endParaRPr kumimoji="0" sz="1189" b="1" i="0" u="none" strike="noStrike" kern="1200" cap="none" spc="-1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Sans 10"/>
              <a:ea typeface="+mn-e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82764" y="6628514"/>
            <a:ext cx="298354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marR="0" lvl="0" indent="0" algn="l" defTabSz="1812066" rtl="0" eaLnBrk="1" fontAlgn="auto" latinLnBrk="0" hangingPunct="1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89" b="1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Artificial Intelligence</a:t>
            </a:r>
            <a:r>
              <a:rPr kumimoji="0" lang="en-US" sz="1189" b="1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 </a:t>
            </a:r>
            <a:r>
              <a:rPr kumimoji="0" sz="1189" b="1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, </a:t>
            </a:r>
            <a:r>
              <a:rPr kumimoji="0" sz="1189" b="1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Page</a:t>
            </a:r>
            <a:r>
              <a:rPr kumimoji="0" sz="1189" b="1" i="0" u="none" strike="noStrike" kern="1200" cap="none" spc="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 </a:t>
            </a:r>
            <a:fld id="{81D60167-4931-47E6-BA6A-407CBD079E47}" type="slidenum">
              <a:rPr kumimoji="0" sz="1189" b="1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pPr marL="25168" marR="0" lvl="0" indent="0" algn="l" defTabSz="1812066" rtl="0" eaLnBrk="1" fontAlgn="auto" latinLnBrk="0" hangingPunct="1">
                <a:lnSpc>
                  <a:spcPts val="135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sz="118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Sans 10"/>
              <a:ea typeface="+mn-ea"/>
              <a:cs typeface="LM Sans 10"/>
            </a:endParaRPr>
          </a:p>
        </p:txBody>
      </p:sp>
    </p:spTree>
    <p:extLst>
      <p:ext uri="{BB962C8B-B14F-4D97-AF65-F5344CB8AC3E}">
        <p14:creationId xmlns:p14="http://schemas.microsoft.com/office/powerpoint/2010/main" val="4166019464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17046" y="120691"/>
            <a:ext cx="4680958" cy="548970"/>
          </a:xfrm>
          <a:prstGeom prst="rect">
            <a:avLst/>
          </a:prstGeom>
        </p:spPr>
        <p:txBody>
          <a:bodyPr vert="horz" wrap="square" lIns="0" tIns="30200" rIns="0" bIns="0" rtlCol="0">
            <a:spAutoFit/>
          </a:bodyPr>
          <a:lstStyle/>
          <a:p>
            <a:pPr marL="25168">
              <a:spcBef>
                <a:spcPts val="238"/>
              </a:spcBef>
            </a:pPr>
            <a:r>
              <a:rPr dirty="0" smtClean="0"/>
              <a:t>Probabilit</a:t>
            </a:r>
            <a:r>
              <a:rPr lang="en-US" dirty="0" smtClean="0"/>
              <a:t>y</a:t>
            </a:r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2541744" y="2718485"/>
            <a:ext cx="141740" cy="1417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8120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2140910" y="1351938"/>
            <a:ext cx="7522406" cy="2763691"/>
          </a:xfrm>
          <a:prstGeom prst="rect">
            <a:avLst/>
          </a:prstGeom>
        </p:spPr>
        <p:txBody>
          <a:bodyPr vert="horz" wrap="square" lIns="0" tIns="1211185" rIns="0" bIns="0" rtlCol="0">
            <a:spAutoFit/>
          </a:bodyPr>
          <a:lstStyle/>
          <a:p>
            <a:pPr marL="689592" marR="541103">
              <a:spcBef>
                <a:spcPts val="188"/>
              </a:spcBef>
            </a:pPr>
            <a:r>
              <a:rPr spc="-20" dirty="0"/>
              <a:t>Probability </a:t>
            </a:r>
            <a:r>
              <a:rPr spc="-10" dirty="0"/>
              <a:t>is an agent’s measure of </a:t>
            </a:r>
            <a:r>
              <a:rPr dirty="0"/>
              <a:t>belief </a:t>
            </a:r>
            <a:r>
              <a:rPr spc="-10" dirty="0"/>
              <a:t>in some proposition — </a:t>
            </a:r>
            <a:r>
              <a:rPr spc="-10" dirty="0">
                <a:solidFill>
                  <a:srgbClr val="B20000"/>
                </a:solidFill>
              </a:rPr>
              <a:t>subjective</a:t>
            </a:r>
            <a:r>
              <a:rPr spc="-188" dirty="0">
                <a:solidFill>
                  <a:srgbClr val="B20000"/>
                </a:solidFill>
              </a:rPr>
              <a:t> </a:t>
            </a:r>
            <a:r>
              <a:rPr spc="-40" dirty="0">
                <a:solidFill>
                  <a:srgbClr val="B20000"/>
                </a:solidFill>
              </a:rPr>
              <a:t>probability.</a:t>
            </a:r>
          </a:p>
          <a:p>
            <a:pPr marL="689592" marR="10067">
              <a:spcBef>
                <a:spcPts val="604"/>
              </a:spcBef>
            </a:pPr>
            <a:r>
              <a:rPr spc="-10" dirty="0"/>
              <a:t>An agent’s </a:t>
            </a:r>
            <a:r>
              <a:rPr dirty="0"/>
              <a:t>belief depends </a:t>
            </a:r>
            <a:r>
              <a:rPr spc="-10" dirty="0"/>
              <a:t>on its </a:t>
            </a:r>
            <a:r>
              <a:rPr spc="-40" dirty="0"/>
              <a:t>prior </a:t>
            </a:r>
            <a:r>
              <a:rPr spc="-10" dirty="0"/>
              <a:t>assumptions and what the agent observes.</a:t>
            </a:r>
          </a:p>
        </p:txBody>
      </p:sp>
      <p:sp>
        <p:nvSpPr>
          <p:cNvPr id="5" name="object 5"/>
          <p:cNvSpPr/>
          <p:nvPr/>
        </p:nvSpPr>
        <p:spPr>
          <a:xfrm>
            <a:off x="2541744" y="3520833"/>
            <a:ext cx="141740" cy="1417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8120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528195" y="6598654"/>
            <a:ext cx="9131836" cy="250409"/>
            <a:chOff x="0" y="3329876"/>
            <a:chExt cx="4608195" cy="126364"/>
          </a:xfrm>
        </p:grpSpPr>
        <p:sp>
          <p:nvSpPr>
            <p:cNvPr id="7" name="object 7"/>
            <p:cNvSpPr/>
            <p:nvPr/>
          </p:nvSpPr>
          <p:spPr>
            <a:xfrm>
              <a:off x="0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181206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pPr marL="0" marR="0" lvl="0" indent="0" algn="l" defTabSz="181206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3341777" y="6623983"/>
            <a:ext cx="256325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marR="0" lvl="0" indent="0" algn="l" defTabSz="1812066" rtl="0" eaLnBrk="1" fontAlgn="auto" latinLnBrk="0" hangingPunct="1">
              <a:lnSpc>
                <a:spcPts val="13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89" b="0" i="1" u="none" strike="noStrike" kern="1200" cap="none" spc="-24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inux Biolinum O"/>
                <a:ea typeface="+mn-ea"/>
                <a:cs typeface="Linux Biolinum O"/>
              </a:rPr>
              <a:t> </a:t>
            </a:r>
            <a:endParaRPr kumimoji="0" sz="1189" b="1" i="0" u="none" strike="noStrike" kern="1200" cap="none" spc="-1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Sans 10"/>
              <a:ea typeface="+mn-e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82764" y="6628514"/>
            <a:ext cx="298354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marR="0" lvl="0" indent="0" algn="l" defTabSz="1812066" rtl="0" eaLnBrk="1" fontAlgn="auto" latinLnBrk="0" hangingPunct="1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89" b="1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Artificial Intelligence</a:t>
            </a:r>
            <a:r>
              <a:rPr kumimoji="0" lang="en-US" sz="1189" b="1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 </a:t>
            </a:r>
            <a:r>
              <a:rPr kumimoji="0" sz="1189" b="1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, </a:t>
            </a:r>
            <a:r>
              <a:rPr kumimoji="0" sz="1189" b="1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Page</a:t>
            </a:r>
            <a:r>
              <a:rPr kumimoji="0" sz="1189" b="1" i="0" u="none" strike="noStrike" kern="1200" cap="none" spc="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 </a:t>
            </a:r>
            <a:fld id="{81D60167-4931-47E6-BA6A-407CBD079E47}" type="slidenum">
              <a:rPr kumimoji="0" sz="1189" b="1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pPr marL="25168" marR="0" lvl="0" indent="0" algn="l" defTabSz="1812066" rtl="0" eaLnBrk="1" fontAlgn="auto" latinLnBrk="0" hangingPunct="1">
                <a:lnSpc>
                  <a:spcPts val="135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sz="118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Sans 10"/>
              <a:ea typeface="+mn-ea"/>
              <a:cs typeface="LM Sans 10"/>
            </a:endParaRPr>
          </a:p>
        </p:txBody>
      </p:sp>
    </p:spTree>
    <p:extLst>
      <p:ext uri="{BB962C8B-B14F-4D97-AF65-F5344CB8AC3E}">
        <p14:creationId xmlns:p14="http://schemas.microsoft.com/office/powerpoint/2010/main" val="1636181532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17046" y="120691"/>
            <a:ext cx="6794983" cy="548970"/>
          </a:xfrm>
          <a:prstGeom prst="rect">
            <a:avLst/>
          </a:prstGeom>
        </p:spPr>
        <p:txBody>
          <a:bodyPr vert="horz" wrap="square" lIns="0" tIns="30200" rIns="0" bIns="0" rtlCol="0">
            <a:spAutoFit/>
          </a:bodyPr>
          <a:lstStyle/>
          <a:p>
            <a:pPr marL="25168">
              <a:spcBef>
                <a:spcPts val="238"/>
              </a:spcBef>
            </a:pPr>
            <a:r>
              <a:rPr spc="10" dirty="0"/>
              <a:t>Numerical Measures of</a:t>
            </a:r>
            <a:r>
              <a:rPr spc="-40" dirty="0"/>
              <a:t> </a:t>
            </a:r>
            <a:r>
              <a:rPr spc="10" dirty="0"/>
              <a:t>Belief</a:t>
            </a:r>
          </a:p>
        </p:txBody>
      </p:sp>
      <p:sp>
        <p:nvSpPr>
          <p:cNvPr id="3" name="object 3"/>
          <p:cNvSpPr/>
          <p:nvPr/>
        </p:nvSpPr>
        <p:spPr>
          <a:xfrm>
            <a:off x="1528195" y="1578181"/>
            <a:ext cx="141740" cy="1417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8120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25075" y="1470346"/>
            <a:ext cx="8145592" cy="4327623"/>
          </a:xfrm>
          <a:prstGeom prst="rect">
            <a:avLst/>
          </a:prstGeom>
        </p:spPr>
        <p:txBody>
          <a:bodyPr vert="horz" wrap="square" lIns="0" tIns="17617" rIns="0" bIns="0" rtlCol="0">
            <a:spAutoFit/>
          </a:bodyPr>
          <a:lstStyle/>
          <a:p>
            <a:pPr marL="100670" marR="105704" lvl="0" indent="0" algn="l" defTabSz="1812066" rtl="0" eaLnBrk="1" fontAlgn="auto" latinLnBrk="0" hangingPunct="1">
              <a:lnSpc>
                <a:spcPct val="101499"/>
              </a:lnSpc>
              <a:spcBef>
                <a:spcPts val="13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Belief in proposition, </a:t>
            </a:r>
            <a:r>
              <a:rPr kumimoji="0" sz="2378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f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, can </a:t>
            </a:r>
            <a:r>
              <a:rPr kumimoji="0" sz="2378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be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measured in terms of a  </a:t>
            </a:r>
            <a:r>
              <a:rPr kumimoji="0" sz="237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number </a:t>
            </a:r>
            <a:r>
              <a:rPr kumimoji="0" sz="2378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between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0 and 1 — this is the </a:t>
            </a:r>
            <a:r>
              <a:rPr kumimoji="0" sz="2378" b="0" i="0" u="none" strike="noStrike" kern="1200" cap="none" spc="-20" normalizeH="0" baseline="0" noProof="0" dirty="0">
                <a:ln>
                  <a:noFill/>
                </a:ln>
                <a:solidFill>
                  <a:srgbClr val="B20000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probability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srgbClr val="B20000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of </a:t>
            </a:r>
            <a:r>
              <a:rPr kumimoji="0" sz="2378" b="0" i="1" u="none" strike="noStrike" kern="1200" cap="none" spc="-10" normalizeH="0" baseline="0" noProof="0" dirty="0">
                <a:ln>
                  <a:noFill/>
                </a:ln>
                <a:solidFill>
                  <a:srgbClr val="B20000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f</a:t>
            </a:r>
            <a:r>
              <a:rPr kumimoji="0" sz="2378" b="0" i="1" u="none" strike="noStrike" kern="1200" cap="none" spc="-404" normalizeH="0" baseline="0" noProof="0" dirty="0">
                <a:ln>
                  <a:noFill/>
                </a:ln>
                <a:solidFill>
                  <a:srgbClr val="B20000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srgbClr val="B20000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.</a:t>
            </a:r>
            <a:endParaRPr kumimoji="0" sz="237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Sans 12"/>
              <a:ea typeface="+mn-ea"/>
              <a:cs typeface="LM Sans 12"/>
            </a:endParaRPr>
          </a:p>
          <a:p>
            <a:pPr marL="689592" marR="348571" lvl="0" indent="-281877" algn="l" defTabSz="1812066" rtl="0" eaLnBrk="1" fontAlgn="auto" latinLnBrk="0" hangingPunct="1">
              <a:lnSpc>
                <a:spcPct val="102600"/>
              </a:lnSpc>
              <a:spcBef>
                <a:spcPts val="357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84" b="0" i="0" u="none" strike="noStrike" kern="1200" cap="none" spc="979" normalizeH="0" baseline="13888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) </a:t>
            </a:r>
            <a:r>
              <a:rPr kumimoji="0" sz="218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The </a:t>
            </a:r>
            <a:r>
              <a:rPr kumimoji="0" sz="218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probability </a:t>
            </a:r>
            <a:r>
              <a:rPr kumimoji="0" sz="218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 </a:t>
            </a:r>
            <a:r>
              <a:rPr kumimoji="0" sz="218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is 0 </a:t>
            </a:r>
            <a:r>
              <a:rPr kumimoji="0" sz="218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means </a:t>
            </a:r>
            <a:r>
              <a:rPr kumimoji="0" sz="218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that </a:t>
            </a:r>
            <a:r>
              <a:rPr kumimoji="0" sz="218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 </a:t>
            </a:r>
            <a:r>
              <a:rPr kumimoji="0" sz="218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is believed to </a:t>
            </a:r>
            <a:r>
              <a:rPr kumimoji="0" sz="218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be  </a:t>
            </a:r>
            <a:r>
              <a:rPr kumimoji="0" sz="218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definitely</a:t>
            </a:r>
            <a:r>
              <a:rPr kumimoji="0" sz="218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 </a:t>
            </a:r>
            <a:r>
              <a:rPr kumimoji="0" sz="218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false.</a:t>
            </a:r>
            <a:endParaRPr kumimoji="0" sz="21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Sans 10"/>
              <a:ea typeface="+mn-ea"/>
              <a:cs typeface="LM Sans 10"/>
            </a:endParaRPr>
          </a:p>
          <a:p>
            <a:pPr marL="689592" marR="348571" lvl="0" indent="-281877" algn="l" defTabSz="1812066" rtl="0" eaLnBrk="1" fontAlgn="auto" latinLnBrk="0" hangingPunct="1">
              <a:lnSpc>
                <a:spcPct val="1026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84" b="0" i="0" u="none" strike="noStrike" kern="1200" cap="none" spc="979" normalizeH="0" baseline="13888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) </a:t>
            </a:r>
            <a:r>
              <a:rPr kumimoji="0" sz="218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The </a:t>
            </a:r>
            <a:r>
              <a:rPr kumimoji="0" sz="218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probability </a:t>
            </a:r>
            <a:r>
              <a:rPr kumimoji="0" sz="218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 </a:t>
            </a:r>
            <a:r>
              <a:rPr kumimoji="0" sz="218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is 1 </a:t>
            </a:r>
            <a:r>
              <a:rPr kumimoji="0" sz="218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means </a:t>
            </a:r>
            <a:r>
              <a:rPr kumimoji="0" sz="218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that </a:t>
            </a:r>
            <a:r>
              <a:rPr kumimoji="0" sz="218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 </a:t>
            </a:r>
            <a:r>
              <a:rPr kumimoji="0" sz="218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is believed to </a:t>
            </a:r>
            <a:r>
              <a:rPr kumimoji="0" sz="218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be  </a:t>
            </a:r>
            <a:r>
              <a:rPr kumimoji="0" sz="218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definitely</a:t>
            </a:r>
            <a:r>
              <a:rPr kumimoji="0" sz="218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 </a:t>
            </a:r>
            <a:r>
              <a:rPr kumimoji="0" sz="218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true.</a:t>
            </a:r>
            <a:endParaRPr kumimoji="0" sz="21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Sans 10"/>
              <a:ea typeface="+mn-ea"/>
              <a:cs typeface="LM Sans 10"/>
            </a:endParaRPr>
          </a:p>
          <a:p>
            <a:pPr marL="100670" marR="0" lvl="0" indent="0" algn="l" defTabSz="1812066" rtl="0" eaLnBrk="1" fontAlgn="auto" latinLnBrk="0" hangingPunct="1">
              <a:lnSpc>
                <a:spcPct val="100000"/>
              </a:lnSpc>
              <a:spcBef>
                <a:spcPts val="6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Using 0 and 1 is purely a</a:t>
            </a:r>
            <a:r>
              <a:rPr kumimoji="0" sz="237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convention.</a:t>
            </a:r>
            <a:endParaRPr kumimoji="0" sz="237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Sans 12"/>
              <a:ea typeface="+mn-ea"/>
              <a:cs typeface="LM Sans 12"/>
            </a:endParaRPr>
          </a:p>
          <a:p>
            <a:pPr marL="100670" marR="85570" lvl="0" indent="0" algn="l" defTabSz="1812066" rtl="0" eaLnBrk="1" fontAlgn="auto" latinLnBrk="0" hangingPunct="1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78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f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has a </a:t>
            </a:r>
            <a:r>
              <a:rPr kumimoji="0" sz="2378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probability between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0 and 1, means the agent is  </a:t>
            </a:r>
            <a:r>
              <a:rPr kumimoji="0" sz="2378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ignorant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of its truth</a:t>
            </a:r>
            <a:r>
              <a:rPr kumimoji="0" sz="237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value.</a:t>
            </a:r>
            <a:endParaRPr kumimoji="0" sz="237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Sans 12"/>
              <a:ea typeface="+mn-ea"/>
              <a:cs typeface="LM Sans 12"/>
            </a:endParaRPr>
          </a:p>
          <a:p>
            <a:pPr marL="100670" marR="996637" lvl="0" indent="0" algn="l" defTabSz="1812066" rtl="0" eaLnBrk="1" fontAlgn="auto" latinLnBrk="0" hangingPunct="1">
              <a:lnSpc>
                <a:spcPct val="1211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78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Probability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is a measure of an agent’s </a:t>
            </a:r>
            <a:r>
              <a:rPr kumimoji="0" sz="2378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ignorance.  Probability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is </a:t>
            </a:r>
            <a:r>
              <a:rPr kumimoji="0" sz="2378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not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a measure of degree of</a:t>
            </a:r>
            <a:r>
              <a:rPr kumimoji="0" sz="2378" b="0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truth.</a:t>
            </a:r>
            <a:endParaRPr kumimoji="0" sz="237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Sans 12"/>
              <a:ea typeface="+mn-ea"/>
              <a:cs typeface="LM Sans 1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8195" y="3798813"/>
            <a:ext cx="141740" cy="1417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8120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28195" y="4237575"/>
            <a:ext cx="141740" cy="1417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8120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28195" y="5039921"/>
            <a:ext cx="141740" cy="1417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8120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28195" y="5478683"/>
            <a:ext cx="141740" cy="1417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8120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528195" y="6598654"/>
            <a:ext cx="9131836" cy="250409"/>
            <a:chOff x="0" y="3329876"/>
            <a:chExt cx="4608195" cy="126364"/>
          </a:xfrm>
        </p:grpSpPr>
        <p:sp>
          <p:nvSpPr>
            <p:cNvPr id="10" name="object 10"/>
            <p:cNvSpPr/>
            <p:nvPr/>
          </p:nvSpPr>
          <p:spPr>
            <a:xfrm>
              <a:off x="0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181206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pPr marL="0" marR="0" lvl="0" indent="0" algn="l" defTabSz="181206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2781612" y="6139001"/>
            <a:ext cx="256325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marR="0" lvl="0" indent="0" algn="l" defTabSz="1812066" rtl="0" eaLnBrk="1" fontAlgn="auto" latinLnBrk="0" hangingPunct="1">
              <a:lnSpc>
                <a:spcPts val="13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89" b="0" i="1" u="none" strike="noStrike" kern="1200" cap="none" spc="-24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inux Biolinum O"/>
                <a:ea typeface="+mn-ea"/>
                <a:cs typeface="Linux Biolinum O"/>
              </a:rPr>
              <a:t> </a:t>
            </a:r>
            <a:endParaRPr kumimoji="0" sz="1189" b="1" i="0" u="none" strike="noStrike" kern="1200" cap="none" spc="-1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Sans 10"/>
              <a:ea typeface="+mn-e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22598" y="6143532"/>
            <a:ext cx="298354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marR="0" lvl="0" indent="0" algn="l" defTabSz="1812066" rtl="0" eaLnBrk="1" fontAlgn="auto" latinLnBrk="0" hangingPunct="1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89" b="1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Artificial Intelligence</a:t>
            </a:r>
            <a:r>
              <a:rPr kumimoji="0" lang="en-US" sz="1189" b="1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 </a:t>
            </a:r>
            <a:r>
              <a:rPr kumimoji="0" sz="1189" b="1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, </a:t>
            </a:r>
            <a:r>
              <a:rPr kumimoji="0" sz="1189" b="1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Page</a:t>
            </a:r>
            <a:r>
              <a:rPr kumimoji="0" sz="1189" b="1" i="0" u="none" strike="noStrike" kern="1200" cap="none" spc="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t> </a:t>
            </a:r>
            <a:fld id="{81D60167-4931-47E6-BA6A-407CBD079E47}" type="slidenum">
              <a:rPr kumimoji="0" sz="1189" b="1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M Sans 10"/>
                <a:ea typeface="+mn-ea"/>
                <a:cs typeface="LM Sans 10"/>
              </a:rPr>
              <a:pPr marL="25168" marR="0" lvl="0" indent="0" algn="l" defTabSz="1812066" rtl="0" eaLnBrk="1" fontAlgn="auto" latinLnBrk="0" hangingPunct="1">
                <a:lnSpc>
                  <a:spcPts val="135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sz="118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Sans 10"/>
              <a:ea typeface="+mn-ea"/>
              <a:cs typeface="LM Sans 10"/>
            </a:endParaRPr>
          </a:p>
        </p:txBody>
      </p:sp>
    </p:spTree>
    <p:extLst>
      <p:ext uri="{BB962C8B-B14F-4D97-AF65-F5344CB8AC3E}">
        <p14:creationId xmlns:p14="http://schemas.microsoft.com/office/powerpoint/2010/main" val="1462830843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17046" y="120692"/>
            <a:ext cx="4982961" cy="548970"/>
          </a:xfrm>
          <a:prstGeom prst="rect">
            <a:avLst/>
          </a:prstGeom>
        </p:spPr>
        <p:txBody>
          <a:bodyPr vert="horz" wrap="square" lIns="0" tIns="30200" rIns="0" bIns="0" rtlCol="0">
            <a:spAutoFit/>
          </a:bodyPr>
          <a:lstStyle/>
          <a:p>
            <a:pPr marL="25168">
              <a:spcBef>
                <a:spcPts val="238"/>
              </a:spcBef>
            </a:pPr>
            <a:r>
              <a:rPr spc="20" dirty="0"/>
              <a:t>Random</a:t>
            </a:r>
            <a:r>
              <a:rPr spc="-119" dirty="0"/>
              <a:t> </a:t>
            </a:r>
            <a:r>
              <a:rPr spc="-10" dirty="0"/>
              <a:t>Variables</a:t>
            </a:r>
          </a:p>
        </p:txBody>
      </p:sp>
      <p:sp>
        <p:nvSpPr>
          <p:cNvPr id="3" name="object 3"/>
          <p:cNvSpPr/>
          <p:nvPr/>
        </p:nvSpPr>
        <p:spPr>
          <a:xfrm>
            <a:off x="2541744" y="1755697"/>
            <a:ext cx="141740" cy="1417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8120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23654" y="1618286"/>
            <a:ext cx="2102701" cy="359888"/>
          </a:xfrm>
          <a:custGeom>
            <a:avLst/>
            <a:gdLst/>
            <a:ahLst/>
            <a:cxnLst/>
            <a:rect l="l" t="t" r="r" b="b"/>
            <a:pathLst>
              <a:path w="1061085" h="181609">
                <a:moveTo>
                  <a:pt x="1060602" y="0"/>
                </a:moveTo>
                <a:lnTo>
                  <a:pt x="0" y="0"/>
                </a:lnTo>
                <a:lnTo>
                  <a:pt x="0" y="181356"/>
                </a:lnTo>
                <a:lnTo>
                  <a:pt x="1060602" y="181356"/>
                </a:lnTo>
                <a:lnTo>
                  <a:pt x="106060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pPr marL="0" marR="0" lvl="0" indent="0" algn="l" defTabSz="18120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41744" y="2558020"/>
            <a:ext cx="141740" cy="1417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8120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411993" y="2495834"/>
            <a:ext cx="821702" cy="343529"/>
          </a:xfrm>
          <a:custGeom>
            <a:avLst/>
            <a:gdLst/>
            <a:ahLst/>
            <a:cxnLst/>
            <a:rect l="l" t="t" r="r" b="b"/>
            <a:pathLst>
              <a:path w="414655" h="173355">
                <a:moveTo>
                  <a:pt x="414273" y="0"/>
                </a:moveTo>
                <a:lnTo>
                  <a:pt x="0" y="0"/>
                </a:lnTo>
                <a:lnTo>
                  <a:pt x="0" y="172923"/>
                </a:lnTo>
                <a:lnTo>
                  <a:pt x="414273" y="172923"/>
                </a:lnTo>
                <a:lnTo>
                  <a:pt x="41427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pPr marL="0" marR="0" lvl="0" indent="0" algn="l" defTabSz="18120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41744" y="3360369"/>
            <a:ext cx="141740" cy="1417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8120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541744" y="4526254"/>
            <a:ext cx="141740" cy="1417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8120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41744" y="4965039"/>
            <a:ext cx="141740" cy="1417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8120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123654" y="4832638"/>
            <a:ext cx="1504985" cy="413997"/>
          </a:xfrm>
          <a:custGeom>
            <a:avLst/>
            <a:gdLst/>
            <a:ahLst/>
            <a:cxnLst/>
            <a:rect l="l" t="t" r="r" b="b"/>
            <a:pathLst>
              <a:path w="759460" h="208914">
                <a:moveTo>
                  <a:pt x="758850" y="0"/>
                </a:moveTo>
                <a:lnTo>
                  <a:pt x="0" y="0"/>
                </a:lnTo>
                <a:lnTo>
                  <a:pt x="0" y="208343"/>
                </a:lnTo>
                <a:lnTo>
                  <a:pt x="758850" y="208343"/>
                </a:lnTo>
                <a:lnTo>
                  <a:pt x="75885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pPr marL="0" marR="0" lvl="0" indent="0" algn="l" defTabSz="18120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29450" y="1576405"/>
            <a:ext cx="7464524" cy="3991254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201341" marR="366188" lvl="0" indent="0" algn="l" defTabSz="1812066" rtl="0" eaLnBrk="1" fontAlgn="auto" latinLnBrk="0" hangingPunct="1">
              <a:lnSpc>
                <a:spcPct val="100000"/>
              </a:lnSpc>
              <a:spcBef>
                <a:spcPts val="18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A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srgbClr val="B20000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random </a:t>
            </a:r>
            <a:r>
              <a:rPr kumimoji="0" sz="2378" b="0" i="0" u="none" strike="noStrike" kern="1200" cap="none" spc="-20" normalizeH="0" baseline="0" noProof="0" dirty="0">
                <a:ln>
                  <a:noFill/>
                </a:ln>
                <a:solidFill>
                  <a:srgbClr val="B20000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variable</a:t>
            </a:r>
            <a:r>
              <a:rPr kumimoji="0" sz="2378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is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a term in a language that can </a:t>
            </a:r>
            <a:r>
              <a:rPr kumimoji="0" sz="2378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take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one of a </a:t>
            </a:r>
            <a:r>
              <a:rPr kumimoji="0" sz="237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number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of </a:t>
            </a:r>
            <a:r>
              <a:rPr kumimoji="0" sz="2378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different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 values.</a:t>
            </a:r>
            <a:endParaRPr kumimoji="0" sz="237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Sans 12"/>
              <a:ea typeface="+mn-ea"/>
              <a:cs typeface="LM Sans 12"/>
            </a:endParaRPr>
          </a:p>
          <a:p>
            <a:pPr marL="200082" marR="314595" lvl="0" indent="0" algn="l" defTabSz="1812066" rtl="0" eaLnBrk="1" fontAlgn="auto" latinLnBrk="0" hangingPunct="1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Tx/>
              <a:buSzTx/>
              <a:buFontTx/>
              <a:buNone/>
              <a:tabLst>
                <a:tab pos="3303246" algn="l"/>
              </a:tabLst>
              <a:defRPr/>
            </a:pP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The 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srgbClr val="B20000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range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of</a:t>
            </a:r>
            <a:r>
              <a:rPr kumimoji="0" sz="2378" b="0" i="0" u="none" strike="noStrike" kern="1200" cap="none" spc="-12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a</a:t>
            </a:r>
            <a:r>
              <a:rPr kumimoji="0" sz="2378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 </a:t>
            </a:r>
            <a:r>
              <a:rPr kumimoji="0" sz="2378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variable	</a:t>
            </a:r>
            <a:r>
              <a:rPr kumimoji="0" sz="2378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X</a:t>
            </a:r>
            <a:r>
              <a:rPr kumimoji="0" sz="2378" b="0" i="1" u="none" strike="noStrike" kern="1200" cap="none" spc="-46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,</a:t>
            </a:r>
            <a:r>
              <a:rPr kumimoji="0" sz="2378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written</a:t>
            </a:r>
            <a:r>
              <a:rPr kumimoji="0" sz="2378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 </a:t>
            </a:r>
            <a:r>
              <a:rPr kumimoji="0" sz="2378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range</a:t>
            </a:r>
            <a:r>
              <a:rPr kumimoji="0" lang="en-US" sz="2378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 </a:t>
            </a:r>
            <a:r>
              <a:rPr kumimoji="0" sz="2378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(</a:t>
            </a:r>
            <a:r>
              <a:rPr kumimoji="0" sz="2378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X</a:t>
            </a:r>
            <a:r>
              <a:rPr kumimoji="0" sz="2378" b="0" i="1" u="none" strike="noStrike" kern="1200" cap="none" spc="-46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),</a:t>
            </a:r>
            <a:r>
              <a:rPr kumimoji="0" sz="2378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is the</a:t>
            </a:r>
            <a:r>
              <a:rPr kumimoji="0" sz="2378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set of values </a:t>
            </a:r>
            <a:r>
              <a:rPr kumimoji="0" sz="2378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X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can</a:t>
            </a:r>
            <a:r>
              <a:rPr kumimoji="0" sz="2378" b="0" i="0" u="none" strike="noStrike" kern="1200" cap="none" spc="-47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 </a:t>
            </a:r>
            <a:r>
              <a:rPr kumimoji="0" sz="2378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take.</a:t>
            </a:r>
            <a:endParaRPr kumimoji="0" sz="237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Sans 12"/>
              <a:ea typeface="+mn-ea"/>
              <a:cs typeface="LM Sans 12"/>
            </a:endParaRPr>
          </a:p>
          <a:p>
            <a:pPr marL="201341" marR="161073" lvl="0" indent="0" algn="l" defTabSz="1812066" rtl="0" eaLnBrk="1" fontAlgn="auto" latinLnBrk="0" hangingPunct="1">
              <a:lnSpc>
                <a:spcPct val="100000"/>
              </a:lnSpc>
              <a:spcBef>
                <a:spcPts val="61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A tuple of random </a:t>
            </a:r>
            <a:r>
              <a:rPr kumimoji="0" sz="2378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variables </a:t>
            </a:r>
            <a:r>
              <a:rPr kumimoji="0" sz="2378" b="0" i="1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 Condensed"/>
                <a:ea typeface="+mn-ea"/>
                <a:cs typeface="DejaVu Sans Condensed"/>
              </a:rPr>
              <a:t>(</a:t>
            </a:r>
            <a:r>
              <a:rPr kumimoji="0" sz="2378" b="0" i="1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X</a:t>
            </a:r>
            <a:r>
              <a:rPr kumimoji="0" sz="2378" b="0" i="0" u="none" strike="noStrike" kern="1200" cap="none" spc="44" normalizeH="0" baseline="-13888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8"/>
                <a:ea typeface="+mn-ea"/>
                <a:cs typeface="LM Roman 8"/>
              </a:rPr>
              <a:t>1</a:t>
            </a:r>
            <a:r>
              <a:rPr kumimoji="0" sz="2378" b="0" i="1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, </a:t>
            </a:r>
            <a:r>
              <a:rPr kumimoji="0" sz="2378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. . . , </a:t>
            </a:r>
            <a:r>
              <a:rPr kumimoji="0" sz="2378" b="0" i="1" u="none" strike="noStrike" kern="1200" cap="none" spc="5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X</a:t>
            </a:r>
            <a:r>
              <a:rPr kumimoji="0" sz="2378" b="0" i="1" u="none" strike="noStrike" kern="1200" cap="none" spc="87" normalizeH="0" baseline="-13888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8"/>
                <a:ea typeface="+mn-ea"/>
                <a:cs typeface="LM Sans 8"/>
              </a:rPr>
              <a:t>n</a:t>
            </a:r>
            <a:r>
              <a:rPr kumimoji="0" sz="2378" b="0" i="1" u="none" strike="noStrike" kern="1200" cap="none" spc="5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 Condensed"/>
                <a:ea typeface="+mn-ea"/>
                <a:cs typeface="DejaVu Sans Condensed"/>
              </a:rPr>
              <a:t>)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is a complex random </a:t>
            </a:r>
            <a:r>
              <a:rPr kumimoji="0" sz="2378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variable</a:t>
            </a:r>
            <a:r>
              <a:rPr kumimoji="0" sz="237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with range</a:t>
            </a:r>
            <a:r>
              <a:rPr kumimoji="0" sz="2378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 </a:t>
            </a:r>
            <a:r>
              <a:rPr kumimoji="0" sz="2378" b="0" i="1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range</a:t>
            </a:r>
            <a:r>
              <a:rPr kumimoji="0" sz="2378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(</a:t>
            </a:r>
            <a:r>
              <a:rPr kumimoji="0" sz="2378" b="0" i="1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X</a:t>
            </a:r>
            <a:r>
              <a:rPr kumimoji="0" sz="2378" b="0" i="0" u="none" strike="noStrike" kern="1200" cap="none" spc="30" normalizeH="0" baseline="-13888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8"/>
                <a:ea typeface="+mn-ea"/>
                <a:cs typeface="LM Roman 8"/>
              </a:rPr>
              <a:t>1</a:t>
            </a:r>
            <a:r>
              <a:rPr kumimoji="0" sz="2378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)</a:t>
            </a:r>
            <a:r>
              <a:rPr kumimoji="0" sz="2378" b="0" i="0" u="none" strike="noStrike" kern="1200" cap="none" spc="-24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 </a:t>
            </a:r>
            <a:r>
              <a:rPr kumimoji="0" sz="2378" b="0" i="1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 Condensed"/>
                <a:ea typeface="+mn-ea"/>
                <a:cs typeface="DejaVu Sans Condensed"/>
              </a:rPr>
              <a:t>×</a:t>
            </a:r>
            <a:r>
              <a:rPr kumimoji="0" sz="2378" b="0" i="1" u="none" strike="noStrike" kern="1200" cap="none" spc="-15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 Condensed"/>
                <a:ea typeface="+mn-ea"/>
                <a:cs typeface="DejaVu Sans Condensed"/>
              </a:rPr>
              <a:t> </a:t>
            </a:r>
            <a:r>
              <a:rPr kumimoji="0" sz="2378" b="0" i="1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 Condensed"/>
                <a:ea typeface="+mn-ea"/>
                <a:cs typeface="DejaVu Sans Condensed"/>
              </a:rPr>
              <a:t>·</a:t>
            </a:r>
            <a:r>
              <a:rPr kumimoji="0" sz="2378" b="0" i="1" u="none" strike="noStrike" kern="1200" cap="none" spc="-28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 Condensed"/>
                <a:ea typeface="+mn-ea"/>
                <a:cs typeface="DejaVu Sans Condensed"/>
              </a:rPr>
              <a:t> </a:t>
            </a:r>
            <a:r>
              <a:rPr kumimoji="0" sz="2378" b="0" i="1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 Condensed"/>
                <a:ea typeface="+mn-ea"/>
                <a:cs typeface="DejaVu Sans Condensed"/>
              </a:rPr>
              <a:t>·</a:t>
            </a:r>
            <a:r>
              <a:rPr kumimoji="0" sz="2378" b="0" i="1" u="none" strike="noStrike" kern="1200" cap="none" spc="-28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 Condensed"/>
                <a:ea typeface="+mn-ea"/>
                <a:cs typeface="DejaVu Sans Condensed"/>
              </a:rPr>
              <a:t> </a:t>
            </a:r>
            <a:r>
              <a:rPr kumimoji="0" sz="2378" b="0" i="1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 Condensed"/>
                <a:ea typeface="+mn-ea"/>
                <a:cs typeface="DejaVu Sans Condensed"/>
              </a:rPr>
              <a:t>·</a:t>
            </a:r>
            <a:r>
              <a:rPr kumimoji="0" sz="2378" b="0" i="1" u="none" strike="noStrike" kern="1200" cap="none" spc="-15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 Condensed"/>
                <a:ea typeface="+mn-ea"/>
                <a:cs typeface="DejaVu Sans Condensed"/>
              </a:rPr>
              <a:t> </a:t>
            </a:r>
            <a:r>
              <a:rPr kumimoji="0" sz="2378" b="0" i="1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 Condensed"/>
                <a:ea typeface="+mn-ea"/>
                <a:cs typeface="DejaVu Sans Condensed"/>
              </a:rPr>
              <a:t>×</a:t>
            </a:r>
            <a:r>
              <a:rPr kumimoji="0" sz="2378" b="0" i="1" u="none" strike="noStrike" kern="1200" cap="none" spc="-15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 Condensed"/>
                <a:ea typeface="+mn-ea"/>
                <a:cs typeface="DejaVu Sans Condensed"/>
              </a:rPr>
              <a:t> </a:t>
            </a:r>
            <a:r>
              <a:rPr kumimoji="0" sz="2378" b="0" i="1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range</a:t>
            </a:r>
            <a:r>
              <a:rPr kumimoji="0" sz="2378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(</a:t>
            </a:r>
            <a:r>
              <a:rPr kumimoji="0" sz="2378" b="0" i="1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X</a:t>
            </a:r>
            <a:r>
              <a:rPr kumimoji="0" sz="2378" b="0" i="1" u="none" strike="noStrike" kern="1200" cap="none" spc="30" normalizeH="0" baseline="-13888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8"/>
                <a:ea typeface="+mn-ea"/>
                <a:cs typeface="LM Sans 8"/>
              </a:rPr>
              <a:t>n</a:t>
            </a:r>
            <a:r>
              <a:rPr kumimoji="0" sz="2378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). 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Often</a:t>
            </a:r>
            <a:r>
              <a:rPr kumimoji="0" sz="2378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the</a:t>
            </a:r>
            <a:r>
              <a:rPr kumimoji="0" sz="237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tuple is</a:t>
            </a:r>
            <a:r>
              <a:rPr kumimoji="0" sz="237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written</a:t>
            </a:r>
            <a:r>
              <a:rPr kumimoji="0" sz="237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as </a:t>
            </a:r>
            <a:r>
              <a:rPr kumimoji="0" sz="2378" b="0" i="1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X</a:t>
            </a:r>
            <a:r>
              <a:rPr kumimoji="0" sz="2378" b="0" i="0" u="none" strike="noStrike" kern="1200" cap="none" spc="30" normalizeH="0" baseline="-13888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8"/>
                <a:ea typeface="+mn-ea"/>
                <a:cs typeface="LM Roman 8"/>
              </a:rPr>
              <a:t>1</a:t>
            </a:r>
            <a:r>
              <a:rPr kumimoji="0" sz="2378" b="0" i="1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,</a:t>
            </a:r>
            <a:r>
              <a:rPr kumimoji="0" sz="2378" b="0" i="1" u="none" strike="noStrike" kern="1200" cap="none" spc="-26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378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.</a:t>
            </a:r>
            <a:r>
              <a:rPr kumimoji="0" sz="2378" b="0" i="1" u="none" strike="noStrike" kern="1200" cap="none" spc="-27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378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.</a:t>
            </a:r>
            <a:r>
              <a:rPr kumimoji="0" sz="2378" b="0" i="1" u="none" strike="noStrike" kern="1200" cap="none" spc="-26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378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.</a:t>
            </a:r>
            <a:r>
              <a:rPr kumimoji="0" sz="2378" b="0" i="1" u="none" strike="noStrike" kern="1200" cap="none" spc="-26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378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,</a:t>
            </a:r>
            <a:r>
              <a:rPr kumimoji="0" sz="2378" b="0" i="1" u="none" strike="noStrike" kern="1200" cap="none" spc="-26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378" b="0" i="1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X</a:t>
            </a:r>
            <a:r>
              <a:rPr kumimoji="0" sz="2378" b="0" i="1" u="none" strike="noStrike" kern="1200" cap="none" spc="44" normalizeH="0" baseline="-13888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8"/>
                <a:ea typeface="+mn-ea"/>
                <a:cs typeface="LM Sans 8"/>
              </a:rPr>
              <a:t>n</a:t>
            </a:r>
            <a:r>
              <a:rPr kumimoji="0" sz="2378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.</a:t>
            </a:r>
            <a:endParaRPr kumimoji="0" sz="237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Sans 12"/>
              <a:ea typeface="+mn-ea"/>
              <a:cs typeface="LM Sans 12"/>
            </a:endParaRPr>
          </a:p>
          <a:p>
            <a:pPr marL="201341" marR="0" lvl="0" indent="0" algn="l" defTabSz="1812066" rtl="0" eaLnBrk="1" fontAlgn="auto" latinLnBrk="0" hangingPunct="1">
              <a:lnSpc>
                <a:spcPct val="100000"/>
              </a:lnSpc>
              <a:spcBef>
                <a:spcPts val="62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Assignment </a:t>
            </a:r>
            <a:r>
              <a:rPr kumimoji="0" sz="2378" b="0" i="1" u="none" strike="noStrike" kern="1200" cap="none" spc="-10" normalizeH="0" baseline="0" noProof="0" dirty="0">
                <a:ln>
                  <a:noFill/>
                </a:ln>
                <a:solidFill>
                  <a:srgbClr val="B20000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X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srgbClr val="B20000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= </a:t>
            </a:r>
            <a:r>
              <a:rPr kumimoji="0" sz="2378" b="0" i="1" u="none" strike="noStrike" kern="1200" cap="none" spc="-10" normalizeH="0" baseline="0" noProof="0" dirty="0">
                <a:ln>
                  <a:noFill/>
                </a:ln>
                <a:solidFill>
                  <a:srgbClr val="B20000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x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means </a:t>
            </a:r>
            <a:r>
              <a:rPr kumimoji="0" sz="2378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variable </a:t>
            </a:r>
            <a:r>
              <a:rPr kumimoji="0" sz="2378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X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has value </a:t>
            </a:r>
            <a:r>
              <a:rPr kumimoji="0" sz="2378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x</a:t>
            </a:r>
            <a:r>
              <a:rPr kumimoji="0" sz="2378" b="0" i="1" u="none" strike="noStrike" kern="1200" cap="none" spc="-2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.</a:t>
            </a:r>
            <a:endParaRPr kumimoji="0" sz="237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Sans 12"/>
              <a:ea typeface="+mn-ea"/>
              <a:cs typeface="LM Sans 12"/>
            </a:endParaRPr>
          </a:p>
          <a:p>
            <a:pPr marL="201341" marR="1570458" lvl="0" indent="0" algn="l" defTabSz="1812066" rtl="0" eaLnBrk="1" fontAlgn="auto" latinLnBrk="0" hangingPunct="1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A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srgbClr val="B20000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proposition</a:t>
            </a:r>
            <a:r>
              <a:rPr kumimoji="0" lang="en-US" sz="2378" b="0" i="0" u="none" strike="noStrike" kern="1200" cap="none" spc="-10" normalizeH="0" baseline="0" noProof="0" dirty="0">
                <a:ln>
                  <a:noFill/>
                </a:ln>
                <a:solidFill>
                  <a:srgbClr val="B20000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is a </a:t>
            </a:r>
            <a:r>
              <a:rPr kumimoji="0" sz="237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Boolean </a:t>
            </a:r>
            <a:r>
              <a:rPr kumimoji="0" sz="2378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formula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made from assignments of values to</a:t>
            </a:r>
            <a:r>
              <a:rPr kumimoji="0" sz="237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 </a:t>
            </a:r>
            <a:r>
              <a:rPr kumimoji="0" sz="2378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variables.</a:t>
            </a:r>
            <a:endParaRPr kumimoji="0" sz="237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Sans 12"/>
              <a:ea typeface="+mn-ea"/>
              <a:cs typeface="LM Sans 12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528195" y="6598654"/>
            <a:ext cx="9131836" cy="250409"/>
            <a:chOff x="0" y="3329876"/>
            <a:chExt cx="4608195" cy="126364"/>
          </a:xfrm>
        </p:grpSpPr>
        <p:sp>
          <p:nvSpPr>
            <p:cNvPr id="13" name="object 13"/>
            <p:cNvSpPr/>
            <p:nvPr/>
          </p:nvSpPr>
          <p:spPr>
            <a:xfrm>
              <a:off x="0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181206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2303995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pPr marL="0" marR="0" lvl="0" indent="0" algn="l" defTabSz="181206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3341777" y="6623983"/>
            <a:ext cx="256325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marR="0" lvl="0" indent="0" algn="l" defTabSz="1812066" rtl="0" eaLnBrk="1" fontAlgn="auto" latinLnBrk="0" hangingPunct="1">
              <a:lnSpc>
                <a:spcPts val="13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89" b="0" i="1" u="none" strike="noStrike" kern="1200" cap="none" spc="-24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inux Biolinum O"/>
                <a:ea typeface="+mn-ea"/>
                <a:cs typeface="Linux Biolinum O"/>
              </a:rPr>
              <a:t> </a:t>
            </a:r>
            <a:endParaRPr kumimoji="0" sz="1189" b="1" i="0" u="none" strike="noStrike" kern="1200" cap="none" spc="-1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Sans 10"/>
              <a:ea typeface="+mn-e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6282764" y="6628514"/>
            <a:ext cx="30665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marR="0" lvl="0" indent="0" algn="l" defTabSz="1812066" rtl="0" eaLnBrk="1" fontAlgn="auto" latinLnBrk="0" hangingPunct="1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89" b="1" i="0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Sans 10"/>
                <a:ea typeface="+mn-ea"/>
              </a:rPr>
              <a:t>Artificial Intelligence</a:t>
            </a:r>
            <a:r>
              <a:rPr kumimoji="0" lang="en-US" sz="1189" b="1" i="0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Sans 10"/>
                <a:ea typeface="+mn-ea"/>
              </a:rPr>
              <a:t> </a:t>
            </a:r>
            <a:r>
              <a:rPr kumimoji="0" sz="1189" b="1" i="0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Sans 10"/>
                <a:ea typeface="+mn-ea"/>
              </a:rPr>
              <a:t>, </a:t>
            </a:r>
            <a:r>
              <a:rPr kumimoji="0" sz="1189" b="1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Sans 10"/>
                <a:ea typeface="+mn-ea"/>
              </a:rPr>
              <a:t>Page</a:t>
            </a:r>
            <a:r>
              <a:rPr kumimoji="0" sz="1189" b="1" i="0" u="none" strike="noStrike" kern="1200" cap="none" spc="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Sans 10"/>
                <a:ea typeface="+mn-ea"/>
              </a:rPr>
              <a:t> </a:t>
            </a:r>
            <a:fld id="{81D60167-4931-47E6-BA6A-407CBD079E47}" type="slidenum">
              <a:rPr kumimoji="0" sz="1189" b="1" i="0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Sans 10"/>
                <a:ea typeface="+mn-ea"/>
              </a:rPr>
              <a:pPr marL="25168" marR="0" lvl="0" indent="0" algn="l" defTabSz="1812066" rtl="0" eaLnBrk="1" fontAlgn="auto" latinLnBrk="0" hangingPunct="1">
                <a:lnSpc>
                  <a:spcPts val="135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sz="1189" b="1" i="0" u="none" strike="noStrike" kern="1200" cap="none" spc="-1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Sans 1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57631642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17046" y="120692"/>
            <a:ext cx="5888972" cy="548970"/>
          </a:xfrm>
          <a:prstGeom prst="rect">
            <a:avLst/>
          </a:prstGeom>
        </p:spPr>
        <p:txBody>
          <a:bodyPr vert="horz" wrap="square" lIns="0" tIns="30200" rIns="0" bIns="0" rtlCol="0">
            <a:spAutoFit/>
          </a:bodyPr>
          <a:lstStyle/>
          <a:p>
            <a:pPr marL="25168">
              <a:spcBef>
                <a:spcPts val="238"/>
              </a:spcBef>
            </a:pPr>
            <a:r>
              <a:rPr dirty="0"/>
              <a:t>Possible </a:t>
            </a:r>
            <a:r>
              <a:rPr spc="-20" dirty="0"/>
              <a:t>World</a:t>
            </a:r>
            <a:r>
              <a:rPr spc="-79" dirty="0"/>
              <a:t> </a:t>
            </a:r>
            <a:r>
              <a:rPr spc="10" dirty="0"/>
              <a:t>Semantics</a:t>
            </a:r>
          </a:p>
        </p:txBody>
      </p:sp>
      <p:sp>
        <p:nvSpPr>
          <p:cNvPr id="3" name="object 3"/>
          <p:cNvSpPr/>
          <p:nvPr/>
        </p:nvSpPr>
        <p:spPr>
          <a:xfrm>
            <a:off x="1323236" y="1907575"/>
            <a:ext cx="141740" cy="1417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8120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05147" y="1770189"/>
            <a:ext cx="1853548" cy="419028"/>
          </a:xfrm>
          <a:custGeom>
            <a:avLst/>
            <a:gdLst/>
            <a:ahLst/>
            <a:cxnLst/>
            <a:rect l="l" t="t" r="r" b="b"/>
            <a:pathLst>
              <a:path w="935355" h="211455">
                <a:moveTo>
                  <a:pt x="935329" y="0"/>
                </a:moveTo>
                <a:lnTo>
                  <a:pt x="0" y="0"/>
                </a:lnTo>
                <a:lnTo>
                  <a:pt x="0" y="210870"/>
                </a:lnTo>
                <a:lnTo>
                  <a:pt x="935329" y="210870"/>
                </a:lnTo>
                <a:lnTo>
                  <a:pt x="935329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pPr marL="0" marR="0" lvl="0" indent="0" algn="l" defTabSz="18120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05145" y="1778832"/>
            <a:ext cx="7763585" cy="3702009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25168" marR="162331" lvl="0" indent="0" algn="l" defTabSz="1812066" rtl="0" eaLnBrk="1" fontAlgn="auto" latinLnBrk="0" hangingPunct="1">
              <a:lnSpc>
                <a:spcPct val="100000"/>
              </a:lnSpc>
              <a:spcBef>
                <a:spcPts val="18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A </a:t>
            </a:r>
            <a:r>
              <a:rPr kumimoji="0" sz="2378" b="0" i="0" u="none" strike="noStrike" kern="1200" cap="none" spc="0" normalizeH="0" baseline="0" noProof="0" dirty="0">
                <a:ln>
                  <a:noFill/>
                </a:ln>
                <a:solidFill>
                  <a:srgbClr val="B20000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possible </a:t>
            </a:r>
            <a:r>
              <a:rPr kumimoji="0" sz="2378" b="0" i="0" u="none" strike="noStrike" kern="1200" cap="none" spc="-20" normalizeH="0" baseline="0" noProof="0" dirty="0">
                <a:ln>
                  <a:noFill/>
                </a:ln>
                <a:solidFill>
                  <a:srgbClr val="B20000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world</a:t>
            </a:r>
            <a:r>
              <a:rPr kumimoji="0" lang="en-US" sz="2378" b="0" i="0" u="none" strike="noStrike" kern="1200" cap="none" spc="-20" normalizeH="0" baseline="0" noProof="0" dirty="0">
                <a:ln>
                  <a:noFill/>
                </a:ln>
                <a:solidFill>
                  <a:srgbClr val="B20000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 </a:t>
            </a:r>
            <a:r>
              <a:rPr kumimoji="0" sz="2378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specifies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an assignment of one value to each random </a:t>
            </a:r>
            <a:r>
              <a:rPr kumimoji="0" sz="2378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variable.</a:t>
            </a:r>
            <a:endParaRPr kumimoji="0" sz="237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Sans 12"/>
              <a:ea typeface="+mn-ea"/>
              <a:cs typeface="LM Sans 12"/>
            </a:endParaRPr>
          </a:p>
          <a:p>
            <a:pPr marL="25168" marR="10067" lvl="0" indent="0" algn="l" defTabSz="1812066" rtl="0" eaLnBrk="1" fontAlgn="auto" latinLnBrk="0" hangingPunct="1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A random </a:t>
            </a:r>
            <a:r>
              <a:rPr kumimoji="0" sz="2378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variable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is a function from </a:t>
            </a:r>
            <a:r>
              <a:rPr kumimoji="0" sz="237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possible </a:t>
            </a:r>
            <a:r>
              <a:rPr kumimoji="0" sz="2378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worlds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into the range of the random</a:t>
            </a:r>
            <a:r>
              <a:rPr kumimoji="0" sz="237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 </a:t>
            </a:r>
            <a:r>
              <a:rPr kumimoji="0" sz="2378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variable.</a:t>
            </a:r>
            <a:endParaRPr kumimoji="0" sz="237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Sans 12"/>
              <a:ea typeface="+mn-ea"/>
              <a:cs typeface="LM Sans 12"/>
            </a:endParaRPr>
          </a:p>
          <a:p>
            <a:pPr marL="25168" marR="0" lvl="0" indent="0" algn="l" defTabSz="1812066" rtl="0" eaLnBrk="1" fontAlgn="auto" latinLnBrk="0" hangingPunct="1">
              <a:lnSpc>
                <a:spcPct val="100000"/>
              </a:lnSpc>
              <a:spcBef>
                <a:spcPts val="61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78" b="0" i="1" u="none" strike="noStrike" kern="1200" cap="none" spc="-41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ω </a:t>
            </a:r>
            <a:r>
              <a:rPr kumimoji="0" sz="2378" b="0" i="1" u="none" strike="noStrike" kern="1200" cap="none" spc="-2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 Condensed"/>
                <a:ea typeface="+mn-ea"/>
                <a:cs typeface="DejaVu Sans Condensed"/>
              </a:rPr>
              <a:t>|</a:t>
            </a:r>
            <a:r>
              <a:rPr kumimoji="0" sz="2378" b="0" i="0" u="none" strike="noStrike" kern="1200" cap="none" spc="-2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= </a:t>
            </a:r>
            <a:r>
              <a:rPr kumimoji="0" sz="2378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X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=</a:t>
            </a:r>
            <a:r>
              <a:rPr kumimoji="0" sz="2378" b="0" i="0" u="none" strike="noStrike" kern="1200" cap="none" spc="19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 </a:t>
            </a:r>
            <a:r>
              <a:rPr kumimoji="0" sz="2378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x</a:t>
            </a:r>
            <a:endParaRPr kumimoji="0" sz="237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Sans 12"/>
              <a:ea typeface="+mn-ea"/>
              <a:cs typeface="LM Sans 12"/>
            </a:endParaRPr>
          </a:p>
          <a:p>
            <a:pPr marL="25168" marR="0" lvl="0" indent="0" algn="l" defTabSz="1812066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means </a:t>
            </a:r>
            <a:r>
              <a:rPr kumimoji="0" sz="2378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variable </a:t>
            </a:r>
            <a:r>
              <a:rPr kumimoji="0" sz="2378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X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is assigned value </a:t>
            </a:r>
            <a:r>
              <a:rPr kumimoji="0" sz="2378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x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in </a:t>
            </a:r>
            <a:r>
              <a:rPr kumimoji="0" sz="2378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world</a:t>
            </a:r>
            <a:r>
              <a:rPr kumimoji="0" sz="2378" b="0" i="0" u="none" strike="noStrike" kern="1200" cap="none" spc="-22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 </a:t>
            </a:r>
            <a:r>
              <a:rPr kumimoji="0" sz="2378" b="0" i="1" u="none" strike="noStrike" kern="1200" cap="none" spc="-16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ω</a:t>
            </a:r>
            <a:r>
              <a:rPr kumimoji="0" sz="2378" b="0" i="0" u="none" strike="noStrike" kern="1200" cap="none" spc="-16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.</a:t>
            </a:r>
            <a:endParaRPr kumimoji="0" sz="237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Sans 12"/>
              <a:ea typeface="+mn-ea"/>
              <a:cs typeface="LM Sans 12"/>
            </a:endParaRPr>
          </a:p>
          <a:p>
            <a:pPr marL="25168" marR="0" lvl="0" indent="0" algn="l" defTabSz="1812066" rtl="0" eaLnBrk="1" fontAlgn="auto" latinLnBrk="0" hangingPunct="1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Logical connectives have their </a:t>
            </a:r>
            <a:r>
              <a:rPr kumimoji="0" sz="2378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standard</a:t>
            </a:r>
            <a:r>
              <a:rPr kumimoji="0" sz="2378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meaning:</a:t>
            </a:r>
            <a:endParaRPr kumimoji="0" sz="237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Sans 12"/>
              <a:ea typeface="+mn-ea"/>
              <a:cs typeface="LM Sans 12"/>
            </a:endParaRPr>
          </a:p>
          <a:p>
            <a:pPr marL="614089" marR="2506692" lvl="0" indent="0" algn="l" defTabSz="1812066" rtl="0" eaLnBrk="1" fontAlgn="auto" latinLnBrk="0" hangingPunct="1">
              <a:lnSpc>
                <a:spcPct val="12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78" b="0" i="1" u="none" strike="noStrike" kern="1200" cap="none" spc="-41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ω </a:t>
            </a:r>
            <a:r>
              <a:rPr kumimoji="0" sz="2378" b="0" i="1" u="none" strike="noStrike" kern="1200" cap="none" spc="-2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 Condensed"/>
                <a:ea typeface="+mn-ea"/>
                <a:cs typeface="DejaVu Sans Condensed"/>
              </a:rPr>
              <a:t>|</a:t>
            </a:r>
            <a:r>
              <a:rPr kumimoji="0" sz="2378" b="0" i="0" u="none" strike="noStrike" kern="1200" cap="none" spc="-2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= </a:t>
            </a:r>
            <a:r>
              <a:rPr kumimoji="0" sz="2378" b="0" i="1" u="none" strike="noStrike" kern="1200" cap="none" spc="10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α </a:t>
            </a:r>
            <a:r>
              <a:rPr kumimoji="0" sz="2378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 Condensed"/>
                <a:ea typeface="+mn-ea"/>
                <a:cs typeface="DejaVu Sans Condensed"/>
              </a:rPr>
              <a:t>∧ </a:t>
            </a:r>
            <a:r>
              <a:rPr kumimoji="0" sz="2378" b="0" i="1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β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if </a:t>
            </a:r>
            <a:r>
              <a:rPr kumimoji="0" sz="2378" b="0" i="1" u="none" strike="noStrike" kern="1200" cap="none" spc="-41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ω </a:t>
            </a:r>
            <a:r>
              <a:rPr kumimoji="0" sz="2378" b="0" i="1" u="none" strike="noStrike" kern="1200" cap="none" spc="-2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 Condensed"/>
                <a:ea typeface="+mn-ea"/>
                <a:cs typeface="DejaVu Sans Condensed"/>
              </a:rPr>
              <a:t>|</a:t>
            </a:r>
            <a:r>
              <a:rPr kumimoji="0" sz="2378" b="0" i="0" u="none" strike="noStrike" kern="1200" cap="none" spc="-2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= </a:t>
            </a:r>
            <a:r>
              <a:rPr kumimoji="0" sz="2378" b="0" i="1" u="none" strike="noStrike" kern="1200" cap="none" spc="10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α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and </a:t>
            </a:r>
            <a:r>
              <a:rPr kumimoji="0" sz="2378" b="0" i="1" u="none" strike="noStrike" kern="1200" cap="none" spc="-41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ω </a:t>
            </a:r>
            <a:r>
              <a:rPr kumimoji="0" sz="2378" b="0" i="1" u="none" strike="noStrike" kern="1200" cap="none" spc="-2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 Condensed"/>
                <a:ea typeface="+mn-ea"/>
                <a:cs typeface="DejaVu Sans Condensed"/>
              </a:rPr>
              <a:t>|</a:t>
            </a:r>
            <a:r>
              <a:rPr kumimoji="0" sz="2378" b="0" i="0" u="none" strike="noStrike" kern="1200" cap="none" spc="-2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= </a:t>
            </a:r>
            <a:r>
              <a:rPr kumimoji="0" sz="2378" b="0" i="1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β  </a:t>
            </a:r>
            <a:endParaRPr kumimoji="0" lang="en-US" sz="2378" b="0" i="1" u="none" strike="noStrike" kern="120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614089" marR="2506692" lvl="0" indent="0" algn="l" defTabSz="1812066" rtl="0" eaLnBrk="1" fontAlgn="auto" latinLnBrk="0" hangingPunct="1">
              <a:lnSpc>
                <a:spcPct val="12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78" b="0" i="1" u="none" strike="noStrike" kern="1200" cap="none" spc="-41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ω </a:t>
            </a:r>
            <a:r>
              <a:rPr kumimoji="0" sz="2378" b="0" i="1" u="none" strike="noStrike" kern="1200" cap="none" spc="-2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 Condensed"/>
                <a:ea typeface="+mn-ea"/>
                <a:cs typeface="DejaVu Sans Condensed"/>
              </a:rPr>
              <a:t>|</a:t>
            </a:r>
            <a:r>
              <a:rPr kumimoji="0" sz="2378" b="0" i="0" u="none" strike="noStrike" kern="1200" cap="none" spc="-2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= </a:t>
            </a:r>
            <a:r>
              <a:rPr kumimoji="0" sz="2378" b="0" i="1" u="none" strike="noStrike" kern="1200" cap="none" spc="10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α </a:t>
            </a:r>
            <a:r>
              <a:rPr kumimoji="0" sz="2378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 Condensed"/>
                <a:ea typeface="+mn-ea"/>
                <a:cs typeface="DejaVu Sans Condensed"/>
              </a:rPr>
              <a:t>∨ </a:t>
            </a:r>
            <a:r>
              <a:rPr kumimoji="0" sz="2378" b="0" i="1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β </a:t>
            </a:r>
            <a:r>
              <a:rPr kumimoji="0" sz="2378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if </a:t>
            </a:r>
            <a:r>
              <a:rPr kumimoji="0" sz="2378" b="0" i="1" u="none" strike="noStrike" kern="1200" cap="none" spc="-41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ω </a:t>
            </a:r>
            <a:r>
              <a:rPr kumimoji="0" sz="2378" b="0" i="1" u="none" strike="noStrike" kern="1200" cap="none" spc="-2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 Condensed"/>
                <a:ea typeface="+mn-ea"/>
                <a:cs typeface="DejaVu Sans Condensed"/>
              </a:rPr>
              <a:t>|</a:t>
            </a:r>
            <a:r>
              <a:rPr kumimoji="0" sz="2378" b="0" i="0" u="none" strike="noStrike" kern="1200" cap="none" spc="-2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= </a:t>
            </a:r>
            <a:r>
              <a:rPr kumimoji="0" sz="2378" b="0" i="1" u="none" strike="noStrike" kern="1200" cap="none" spc="10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α </a:t>
            </a:r>
            <a:r>
              <a:rPr kumimoji="0" sz="2378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or </a:t>
            </a:r>
            <a:r>
              <a:rPr kumimoji="0" sz="2378" b="0" i="1" u="none" strike="noStrike" kern="1200" cap="none" spc="-41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ω </a:t>
            </a:r>
            <a:r>
              <a:rPr kumimoji="0" sz="2378" b="0" i="1" u="none" strike="noStrike" kern="1200" cap="none" spc="-2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jaVu Sans Condensed"/>
                <a:ea typeface="+mn-ea"/>
                <a:cs typeface="DejaVu Sans Condensed"/>
              </a:rPr>
              <a:t>|</a:t>
            </a:r>
            <a:r>
              <a:rPr kumimoji="0" sz="2378" b="0" i="0" u="none" strike="noStrike" kern="1200" cap="none" spc="-2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Sans 12"/>
                <a:ea typeface="+mn-ea"/>
                <a:cs typeface="LM Sans 12"/>
              </a:rPr>
              <a:t>= </a:t>
            </a:r>
            <a:r>
              <a:rPr kumimoji="0" sz="2378" b="0" i="1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β </a:t>
            </a:r>
            <a:endParaRPr kumimoji="0" lang="en-US" sz="2378" b="0" i="1" u="none" strike="noStrike" kern="120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23236" y="2709898"/>
            <a:ext cx="141740" cy="1417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8120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23236" y="3512247"/>
            <a:ext cx="141740" cy="1417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8120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23236" y="4314570"/>
            <a:ext cx="141740" cy="1417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8120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528195" y="6598654"/>
            <a:ext cx="9131836" cy="250409"/>
            <a:chOff x="0" y="3329876"/>
            <a:chExt cx="4608195" cy="126364"/>
          </a:xfrm>
        </p:grpSpPr>
        <p:sp>
          <p:nvSpPr>
            <p:cNvPr id="11" name="object 11"/>
            <p:cNvSpPr/>
            <p:nvPr/>
          </p:nvSpPr>
          <p:spPr>
            <a:xfrm>
              <a:off x="0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181206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303995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pPr marL="0" marR="0" lvl="0" indent="0" algn="l" defTabSz="181206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3341777" y="6623983"/>
            <a:ext cx="256325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marR="0" lvl="0" indent="0" algn="l" defTabSz="1812066" rtl="0" eaLnBrk="1" fontAlgn="auto" latinLnBrk="0" hangingPunct="1">
              <a:lnSpc>
                <a:spcPts val="13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89" b="0" i="1" u="none" strike="noStrike" kern="1200" cap="none" spc="-24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inux Biolinum O"/>
                <a:ea typeface="+mn-ea"/>
                <a:cs typeface="Linux Biolinum O"/>
              </a:rPr>
              <a:t> </a:t>
            </a:r>
            <a:endParaRPr kumimoji="0" sz="1189" b="1" i="0" u="none" strike="noStrike" kern="1200" cap="none" spc="-1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Sans 10"/>
              <a:ea typeface="+mn-e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6282764" y="6628514"/>
            <a:ext cx="30665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marR="0" lvl="0" indent="0" algn="l" defTabSz="1812066" rtl="0" eaLnBrk="1" fontAlgn="auto" latinLnBrk="0" hangingPunct="1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89" b="1" i="0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Sans 10"/>
                <a:ea typeface="+mn-ea"/>
              </a:rPr>
              <a:t>Artificial Intelligence</a:t>
            </a:r>
            <a:r>
              <a:rPr kumimoji="0" lang="en-US" sz="1189" b="1" i="0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Sans 10"/>
                <a:ea typeface="+mn-ea"/>
              </a:rPr>
              <a:t> </a:t>
            </a:r>
            <a:r>
              <a:rPr kumimoji="0" sz="1189" b="1" i="0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Sans 10"/>
                <a:ea typeface="+mn-ea"/>
              </a:rPr>
              <a:t>, </a:t>
            </a:r>
            <a:r>
              <a:rPr kumimoji="0" sz="1189" b="1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Sans 10"/>
                <a:ea typeface="+mn-ea"/>
              </a:rPr>
              <a:t>Page</a:t>
            </a:r>
            <a:r>
              <a:rPr kumimoji="0" sz="1189" b="1" i="0" u="none" strike="noStrike" kern="1200" cap="none" spc="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Sans 10"/>
                <a:ea typeface="+mn-ea"/>
              </a:rPr>
              <a:t> </a:t>
            </a:r>
            <a:fld id="{81D60167-4931-47E6-BA6A-407CBD079E47}" type="slidenum">
              <a:rPr kumimoji="0" sz="1189" b="1" i="0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Sans 10"/>
                <a:ea typeface="+mn-ea"/>
              </a:rPr>
              <a:pPr marL="25168" marR="0" lvl="0" indent="0" algn="l" defTabSz="1812066" rtl="0" eaLnBrk="1" fontAlgn="auto" latinLnBrk="0" hangingPunct="1">
                <a:lnSpc>
                  <a:spcPts val="135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sz="1189" b="1" i="0" u="none" strike="noStrike" kern="1200" cap="none" spc="-1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Sans 1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07987595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17046" y="120692"/>
            <a:ext cx="5888972" cy="548970"/>
          </a:xfrm>
          <a:prstGeom prst="rect">
            <a:avLst/>
          </a:prstGeom>
        </p:spPr>
        <p:txBody>
          <a:bodyPr vert="horz" wrap="square" lIns="0" tIns="30200" rIns="0" bIns="0" rtlCol="0">
            <a:spAutoFit/>
          </a:bodyPr>
          <a:lstStyle/>
          <a:p>
            <a:pPr marL="25168">
              <a:spcBef>
                <a:spcPts val="238"/>
              </a:spcBef>
            </a:pPr>
            <a:r>
              <a:rPr dirty="0"/>
              <a:t>Possible </a:t>
            </a:r>
            <a:r>
              <a:rPr spc="-20" dirty="0"/>
              <a:t>World</a:t>
            </a:r>
            <a:r>
              <a:rPr spc="-79" dirty="0"/>
              <a:t> </a:t>
            </a:r>
            <a:r>
              <a:rPr spc="10" dirty="0"/>
              <a:t>Semantics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1528195" y="6598654"/>
            <a:ext cx="9131836" cy="250409"/>
            <a:chOff x="0" y="3329876"/>
            <a:chExt cx="4608195" cy="126364"/>
          </a:xfrm>
        </p:grpSpPr>
        <p:sp>
          <p:nvSpPr>
            <p:cNvPr id="11" name="object 11"/>
            <p:cNvSpPr/>
            <p:nvPr/>
          </p:nvSpPr>
          <p:spPr>
            <a:xfrm>
              <a:off x="0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181206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303995" y="3329876"/>
              <a:ext cx="2304415" cy="126364"/>
            </a:xfrm>
            <a:custGeom>
              <a:avLst/>
              <a:gdLst/>
              <a:ahLst/>
              <a:cxnLst/>
              <a:rect l="l" t="t" r="r" b="b"/>
              <a:pathLst>
                <a:path w="2304415" h="126364">
                  <a:moveTo>
                    <a:pt x="2303995" y="0"/>
                  </a:moveTo>
                  <a:lnTo>
                    <a:pt x="0" y="0"/>
                  </a:lnTo>
                  <a:lnTo>
                    <a:pt x="0" y="126123"/>
                  </a:lnTo>
                  <a:lnTo>
                    <a:pt x="2303995" y="12612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pPr marL="0" marR="0" lvl="0" indent="0" algn="l" defTabSz="181206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3341777" y="6623983"/>
            <a:ext cx="256325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marR="0" lvl="0" indent="0" algn="l" defTabSz="1812066" rtl="0" eaLnBrk="1" fontAlgn="auto" latinLnBrk="0" hangingPunct="1">
              <a:lnSpc>
                <a:spcPts val="13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89" b="0" i="1" u="none" strike="noStrike" kern="1200" cap="none" spc="-24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inux Biolinum O"/>
                <a:ea typeface="+mn-ea"/>
                <a:cs typeface="Linux Biolinum O"/>
              </a:rPr>
              <a:t> </a:t>
            </a:r>
            <a:endParaRPr kumimoji="0" sz="1189" b="1" i="0" u="none" strike="noStrike" kern="1200" cap="none" spc="-1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Sans 10"/>
              <a:ea typeface="+mn-e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6282764" y="6628514"/>
            <a:ext cx="30665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marR="0" lvl="0" indent="0" algn="l" defTabSz="1812066" rtl="0" eaLnBrk="1" fontAlgn="auto" latinLnBrk="0" hangingPunct="1">
              <a:lnSpc>
                <a:spcPts val="135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89" b="1" i="0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Sans 10"/>
                <a:ea typeface="+mn-ea"/>
              </a:rPr>
              <a:t>Artificial Intelligence</a:t>
            </a:r>
            <a:r>
              <a:rPr kumimoji="0" lang="en-US" sz="1189" b="1" i="0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Sans 10"/>
                <a:ea typeface="+mn-ea"/>
              </a:rPr>
              <a:t> </a:t>
            </a:r>
            <a:r>
              <a:rPr kumimoji="0" sz="1189" b="1" i="0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Sans 10"/>
                <a:ea typeface="+mn-ea"/>
              </a:rPr>
              <a:t>, </a:t>
            </a:r>
            <a:r>
              <a:rPr kumimoji="0" sz="1189" b="1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Sans 10"/>
                <a:ea typeface="+mn-ea"/>
              </a:rPr>
              <a:t>Page</a:t>
            </a:r>
            <a:r>
              <a:rPr kumimoji="0" sz="1189" b="1" i="0" u="none" strike="noStrike" kern="1200" cap="none" spc="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Sans 10"/>
                <a:ea typeface="+mn-ea"/>
              </a:rPr>
              <a:t> </a:t>
            </a:r>
            <a:fld id="{81D60167-4931-47E6-BA6A-407CBD079E47}" type="slidenum">
              <a:rPr kumimoji="0" sz="1189" b="1" i="0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Sans 10"/>
                <a:ea typeface="+mn-ea"/>
              </a:rPr>
              <a:pPr marL="25168" marR="0" lvl="0" indent="0" algn="l" defTabSz="1812066" rtl="0" eaLnBrk="1" fontAlgn="auto" latinLnBrk="0" hangingPunct="1">
                <a:lnSpc>
                  <a:spcPts val="135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sz="1189" b="1" i="0" u="none" strike="noStrike" kern="1200" cap="none" spc="-1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Sans 10"/>
              <a:ea typeface="+mn-ea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b="6987"/>
          <a:stretch/>
        </p:blipFill>
        <p:spPr>
          <a:xfrm>
            <a:off x="2482599" y="780905"/>
            <a:ext cx="7222622" cy="5706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697660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Inference in Ghostbusters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821723" y="1407090"/>
            <a:ext cx="3901072" cy="3756660"/>
          </a:xfrm>
        </p:spPr>
        <p:txBody>
          <a:bodyPr/>
          <a:lstStyle/>
          <a:p>
            <a:r>
              <a:rPr lang="en-US" sz="2400" dirty="0" smtClean="0"/>
              <a:t>A ghost is in the grid somewhere</a:t>
            </a:r>
          </a:p>
          <a:p>
            <a:r>
              <a:rPr lang="en-US" sz="2400" dirty="0" smtClean="0"/>
              <a:t>Sensor readings tell how close a square is to the ghost</a:t>
            </a:r>
          </a:p>
          <a:p>
            <a:pPr lvl="1"/>
            <a:r>
              <a:rPr lang="en-US" sz="2000" dirty="0" smtClean="0"/>
              <a:t>On the ghost: red</a:t>
            </a:r>
          </a:p>
          <a:p>
            <a:pPr lvl="1"/>
            <a:r>
              <a:rPr lang="en-US" sz="2000" dirty="0" smtClean="0"/>
              <a:t>1 or 2 away: orange</a:t>
            </a:r>
          </a:p>
          <a:p>
            <a:pPr lvl="1"/>
            <a:r>
              <a:rPr lang="en-US" sz="2000" dirty="0" smtClean="0"/>
              <a:t>3 or 4 away: yellow</a:t>
            </a:r>
          </a:p>
          <a:p>
            <a:pPr lvl="1"/>
            <a:r>
              <a:rPr lang="en-US" sz="2000" dirty="0" smtClean="0"/>
              <a:t>5+ away: green</a:t>
            </a:r>
          </a:p>
        </p:txBody>
      </p:sp>
      <p:pic>
        <p:nvPicPr>
          <p:cNvPr id="6148" name="Picture 2" descr="\\.host\Shared Folders\Shared with PC\ghostbuster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0498" y="1639398"/>
            <a:ext cx="444817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Group 242"/>
          <p:cNvGraphicFramePr>
            <a:graphicFrameLocks noGrp="1"/>
          </p:cNvGraphicFramePr>
          <p:nvPr>
            <p:extLst/>
          </p:nvPr>
        </p:nvGraphicFramePr>
        <p:xfrm>
          <a:off x="1470007" y="5701911"/>
          <a:ext cx="7367588" cy="792408"/>
        </p:xfrm>
        <a:graphic>
          <a:graphicData uri="http://schemas.openxmlformats.org/drawingml/2006/table">
            <a:tbl>
              <a:tblPr/>
              <a:tblGrid>
                <a:gridCol w="18418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8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18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18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0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P(red | 3)</a:t>
                      </a:r>
                    </a:p>
                  </a:txBody>
                  <a:tcPr marL="91435" marR="91435"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P(orange | 3)</a:t>
                      </a:r>
                    </a:p>
                  </a:txBody>
                  <a:tcPr marL="91435" marR="91435"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P(yellow | 3)</a:t>
                      </a:r>
                    </a:p>
                  </a:txBody>
                  <a:tcPr marL="91435" marR="91435"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P(green | 3)</a:t>
                      </a:r>
                    </a:p>
                  </a:txBody>
                  <a:tcPr marL="91435" marR="91435"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0.05</a:t>
                      </a:r>
                    </a:p>
                  </a:txBody>
                  <a:tcPr marL="91435" marR="91435"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0.15</a:t>
                      </a:r>
                    </a:p>
                  </a:txBody>
                  <a:tcPr marL="91435" marR="91435"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0.5</a:t>
                      </a:r>
                    </a:p>
                  </a:txBody>
                  <a:tcPr marL="91435" marR="91435"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0.3</a:t>
                      </a:r>
                    </a:p>
                  </a:txBody>
                  <a:tcPr marL="91435" marR="91435"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328719" y="5074849"/>
            <a:ext cx="8194675" cy="54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 Sensors are noisy, but we know P(Color | Distance)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8975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Video of Demo Ghostbuster – No probability</a:t>
            </a:r>
            <a:endParaRPr lang="en-US" dirty="0"/>
          </a:p>
        </p:txBody>
      </p:sp>
      <p:pic>
        <p:nvPicPr>
          <p:cNvPr id="5" name="Ghostbusters - No probability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09686" y="1134315"/>
            <a:ext cx="8572628" cy="5357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892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Uncertainty</a:t>
            </a:r>
          </a:p>
        </p:txBody>
      </p:sp>
      <p:sp>
        <p:nvSpPr>
          <p:cNvPr id="1030" name="Rectangle 3"/>
          <p:cNvSpPr>
            <a:spLocks noGrp="1" noChangeArrowheads="1"/>
          </p:cNvSpPr>
          <p:nvPr>
            <p:ph idx="1"/>
          </p:nvPr>
        </p:nvSpPr>
        <p:spPr>
          <a:xfrm>
            <a:off x="967676" y="1500583"/>
            <a:ext cx="6689285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 smtClean="0"/>
              <a:t>General situation:</a:t>
            </a:r>
          </a:p>
          <a:p>
            <a:pPr lvl="2">
              <a:lnSpc>
                <a:spcPct val="80000"/>
              </a:lnSpc>
            </a:pPr>
            <a:endParaRPr lang="en-US" sz="1600" dirty="0" smtClean="0"/>
          </a:p>
          <a:p>
            <a:pPr lvl="1" eaLnBrk="1" hangingPunct="1">
              <a:lnSpc>
                <a:spcPct val="80000"/>
              </a:lnSpc>
            </a:pPr>
            <a:r>
              <a:rPr lang="en-US" sz="2000" b="1" dirty="0" smtClean="0"/>
              <a:t>Observed variables (evidence)</a:t>
            </a:r>
            <a:r>
              <a:rPr lang="en-US" sz="2000" dirty="0" smtClean="0"/>
              <a:t>: Agent knows certain things about the state of the world (e.g., sensor readings or symptoms)</a:t>
            </a:r>
          </a:p>
          <a:p>
            <a:pPr lvl="4">
              <a:lnSpc>
                <a:spcPct val="80000"/>
              </a:lnSpc>
            </a:pPr>
            <a:endParaRPr lang="en-US" sz="1200" dirty="0" smtClean="0"/>
          </a:p>
          <a:p>
            <a:pPr lvl="1" eaLnBrk="1" hangingPunct="1">
              <a:lnSpc>
                <a:spcPct val="80000"/>
              </a:lnSpc>
            </a:pPr>
            <a:r>
              <a:rPr lang="en-US" sz="2000" b="1" dirty="0" smtClean="0"/>
              <a:t>Unobserved variables</a:t>
            </a:r>
            <a:r>
              <a:rPr lang="en-US" sz="2000" dirty="0" smtClean="0"/>
              <a:t>: Agent needs to reason about other aspects (e.g. where an object is or what disease is present)</a:t>
            </a:r>
          </a:p>
          <a:p>
            <a:pPr lvl="4">
              <a:lnSpc>
                <a:spcPct val="80000"/>
              </a:lnSpc>
            </a:pPr>
            <a:endParaRPr lang="en-US" sz="1200" dirty="0" smtClean="0"/>
          </a:p>
          <a:p>
            <a:pPr lvl="1" eaLnBrk="1" hangingPunct="1">
              <a:lnSpc>
                <a:spcPct val="80000"/>
              </a:lnSpc>
            </a:pPr>
            <a:r>
              <a:rPr lang="en-US" sz="2000" b="1" dirty="0" smtClean="0"/>
              <a:t>Model</a:t>
            </a:r>
            <a:r>
              <a:rPr lang="en-US" sz="2000" dirty="0" smtClean="0"/>
              <a:t>: Agent knows something about how the known variables relate to the unknown variables</a:t>
            </a:r>
          </a:p>
          <a:p>
            <a:pPr>
              <a:lnSpc>
                <a:spcPct val="80000"/>
              </a:lnSpc>
            </a:pPr>
            <a:endParaRPr lang="en-US" sz="2400" dirty="0" smtClean="0"/>
          </a:p>
          <a:p>
            <a:pPr lvl="6">
              <a:lnSpc>
                <a:spcPct val="80000"/>
              </a:lnSpc>
            </a:pPr>
            <a:endParaRPr lang="en-US" sz="1200" dirty="0" smtClean="0"/>
          </a:p>
          <a:p>
            <a:pPr eaLnBrk="1" hangingPunct="1">
              <a:lnSpc>
                <a:spcPct val="80000"/>
              </a:lnSpc>
            </a:pPr>
            <a:r>
              <a:rPr lang="en-US" sz="2400" dirty="0" smtClean="0"/>
              <a:t>Probabilistic reasoning gives us a framework for managing our </a:t>
            </a:r>
            <a:r>
              <a:rPr lang="en-US" sz="2400" dirty="0" smtClean="0">
                <a:solidFill>
                  <a:srgbClr val="FF0000"/>
                </a:solidFill>
              </a:rPr>
              <a:t>beliefs</a:t>
            </a:r>
            <a:r>
              <a:rPr lang="en-US" sz="2400" dirty="0" smtClean="0"/>
              <a:t> and </a:t>
            </a:r>
            <a:r>
              <a:rPr lang="en-US" sz="2400" dirty="0" smtClean="0">
                <a:solidFill>
                  <a:srgbClr val="FF0000"/>
                </a:solidFill>
              </a:rPr>
              <a:t>knowledge</a:t>
            </a:r>
          </a:p>
        </p:txBody>
      </p:sp>
      <p:graphicFrame>
        <p:nvGraphicFramePr>
          <p:cNvPr id="1026" name="Object 6"/>
          <p:cNvGraphicFramePr>
            <a:graphicFrameLocks noChangeAspect="1"/>
          </p:cNvGraphicFramePr>
          <p:nvPr>
            <p:extLst/>
          </p:nvPr>
        </p:nvGraphicFramePr>
        <p:xfrm>
          <a:off x="8542273" y="1526975"/>
          <a:ext cx="1387475" cy="138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Photo Editor Photo" r:id="rId3" imgW="2430476" imgH="2430476" progId="MSPhotoEd.3">
                  <p:embed/>
                </p:oleObj>
              </mc:Choice>
              <mc:Fallback>
                <p:oleObj name="Photo Editor Photo" r:id="rId3" imgW="2430476" imgH="2430476" progId="MSPhotoEd.3">
                  <p:embed/>
                  <p:pic>
                    <p:nvPicPr>
                      <p:cNvPr id="102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2273" y="1526975"/>
                        <a:ext cx="1387475" cy="1387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7"/>
          <p:cNvGraphicFramePr>
            <a:graphicFrameLocks noChangeAspect="1"/>
          </p:cNvGraphicFramePr>
          <p:nvPr>
            <p:extLst/>
          </p:nvPr>
        </p:nvGraphicFramePr>
        <p:xfrm>
          <a:off x="8542273" y="3127175"/>
          <a:ext cx="1425575" cy="142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Photo Editor Photo" r:id="rId5" imgW="2491956" imgH="2491956" progId="MSPhotoEd.3">
                  <p:embed/>
                </p:oleObj>
              </mc:Choice>
              <mc:Fallback>
                <p:oleObj name="Photo Editor Photo" r:id="rId5" imgW="2491956" imgH="2491956" progId="MSPhotoEd.3">
                  <p:embed/>
                  <p:pic>
                    <p:nvPicPr>
                      <p:cNvPr id="102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2273" y="3127175"/>
                        <a:ext cx="1425575" cy="1425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31" name="Group 13"/>
          <p:cNvGrpSpPr>
            <a:grpSpLocks/>
          </p:cNvGrpSpPr>
          <p:nvPr/>
        </p:nvGrpSpPr>
        <p:grpSpPr bwMode="auto">
          <a:xfrm>
            <a:off x="8534336" y="4727375"/>
            <a:ext cx="1414462" cy="1439863"/>
            <a:chOff x="4027" y="3072"/>
            <a:chExt cx="891" cy="907"/>
          </a:xfrm>
        </p:grpSpPr>
        <p:graphicFrame>
          <p:nvGraphicFramePr>
            <p:cNvPr id="1028" name="Object 8"/>
            <p:cNvGraphicFramePr>
              <a:graphicFrameLocks noChangeAspect="1"/>
            </p:cNvGraphicFramePr>
            <p:nvPr/>
          </p:nvGraphicFramePr>
          <p:xfrm>
            <a:off x="4032" y="3072"/>
            <a:ext cx="886" cy="8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8" name="Photo Editor Photo" r:id="rId7" imgW="2461473" imgH="2446232" progId="MSPhotoEd.3">
                    <p:embed/>
                  </p:oleObj>
                </mc:Choice>
                <mc:Fallback>
                  <p:oleObj name="Photo Editor Photo" r:id="rId7" imgW="2461473" imgH="2446232" progId="MSPhotoEd.3">
                    <p:embed/>
                    <p:pic>
                      <p:nvPicPr>
                        <p:cNvPr id="1028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3072"/>
                          <a:ext cx="886" cy="8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033" name="Picture 12"/>
            <p:cNvPicPr>
              <a:picLocks noChangeAspect="1" noChangeArrowheads="1"/>
            </p:cNvPicPr>
            <p:nvPr/>
          </p:nvPicPr>
          <p:blipFill>
            <a:blip r:embed="rId9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4143" r="62584" b="-1559"/>
            <a:stretch>
              <a:fillRect/>
            </a:stretch>
          </p:blipFill>
          <p:spPr bwMode="auto">
            <a:xfrm>
              <a:off x="4027" y="3643"/>
              <a:ext cx="336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04259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Random Variables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498013" y="1421905"/>
            <a:ext cx="7669413" cy="4729164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A random variable is some aspect of the world about which we (may) have uncertainty</a:t>
            </a:r>
          </a:p>
          <a:p>
            <a:pPr lvl="8">
              <a:lnSpc>
                <a:spcPct val="90000"/>
              </a:lnSpc>
            </a:pPr>
            <a:endParaRPr lang="en-US" sz="1200" dirty="0" smtClean="0"/>
          </a:p>
          <a:p>
            <a:pPr lvl="1" eaLnBrk="1" hangingPunct="1">
              <a:lnSpc>
                <a:spcPct val="90000"/>
              </a:lnSpc>
            </a:pPr>
            <a:r>
              <a:rPr lang="en-US" sz="2000" dirty="0" smtClean="0"/>
              <a:t>R = Is it raining?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 smtClean="0"/>
              <a:t>T = Is it hot or cold?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 smtClean="0"/>
              <a:t>D = How long will it take to drive to work?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 smtClean="0"/>
              <a:t>L = Where is the ghost?</a:t>
            </a:r>
          </a:p>
          <a:p>
            <a:pPr lvl="2">
              <a:lnSpc>
                <a:spcPct val="90000"/>
              </a:lnSpc>
            </a:pPr>
            <a:endParaRPr lang="en-US" sz="1600" dirty="0" smtClean="0"/>
          </a:p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We denote random variables with capital letters</a:t>
            </a:r>
          </a:p>
          <a:p>
            <a:pPr lvl="2">
              <a:lnSpc>
                <a:spcPct val="90000"/>
              </a:lnSpc>
            </a:pPr>
            <a:endParaRPr lang="en-US" sz="1600" dirty="0" smtClean="0"/>
          </a:p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Like variables in a CSP, random variables have domains</a:t>
            </a:r>
          </a:p>
          <a:p>
            <a:pPr lvl="8">
              <a:lnSpc>
                <a:spcPct val="90000"/>
              </a:lnSpc>
            </a:pPr>
            <a:endParaRPr lang="en-US" sz="1200" dirty="0" smtClean="0"/>
          </a:p>
          <a:p>
            <a:pPr lvl="1" eaLnBrk="1" hangingPunct="1">
              <a:lnSpc>
                <a:spcPct val="90000"/>
              </a:lnSpc>
            </a:pPr>
            <a:r>
              <a:rPr lang="en-US" sz="2000" dirty="0" smtClean="0"/>
              <a:t>R in {true, false}   (often write as {+r, </a:t>
            </a:r>
            <a:r>
              <a:rPr lang="en-US" sz="2000" dirty="0" smtClean="0">
                <a:sym typeface="Symbol" pitchFamily="18" charset="2"/>
              </a:rPr>
              <a:t>-</a:t>
            </a:r>
            <a:r>
              <a:rPr lang="en-US" sz="2000" dirty="0" smtClean="0"/>
              <a:t>r})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 smtClean="0"/>
              <a:t>T in {hot, cold}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 smtClean="0"/>
              <a:t>D in [0, </a:t>
            </a:r>
            <a:r>
              <a:rPr lang="en-US" sz="2000" dirty="0" smtClean="0">
                <a:sym typeface="Symbol" pitchFamily="18" charset="2"/>
              </a:rPr>
              <a:t>)</a:t>
            </a:r>
            <a:endParaRPr lang="en-US" sz="2000" dirty="0" smtClean="0"/>
          </a:p>
          <a:p>
            <a:pPr lvl="1" eaLnBrk="1" hangingPunct="1">
              <a:lnSpc>
                <a:spcPct val="90000"/>
              </a:lnSpc>
            </a:pPr>
            <a:r>
              <a:rPr lang="en-US" sz="2000" dirty="0" smtClean="0"/>
              <a:t>L in possible locations, maybe {(0,0), (0,1), …}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820" y="1332374"/>
            <a:ext cx="4094076" cy="412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195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Probability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098" y="1304126"/>
            <a:ext cx="6882626" cy="4706149"/>
          </a:xfrm>
        </p:spPr>
        <p:txBody>
          <a:bodyPr/>
          <a:lstStyle/>
          <a:p>
            <a:r>
              <a:rPr lang="en-US" sz="2400" dirty="0" smtClean="0"/>
              <a:t>Associate a probability with each value</a:t>
            </a:r>
          </a:p>
          <a:p>
            <a:endParaRPr lang="en-US" sz="2400" dirty="0"/>
          </a:p>
          <a:p>
            <a:pPr lvl="1"/>
            <a:r>
              <a:rPr lang="en-US" sz="2000" dirty="0" smtClean="0"/>
              <a:t>Temperature:</a:t>
            </a:r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pPr lvl="3"/>
            <a:endParaRPr lang="en-US" sz="1200" dirty="0" smtClean="0"/>
          </a:p>
        </p:txBody>
      </p:sp>
      <p:graphicFrame>
        <p:nvGraphicFramePr>
          <p:cNvPr id="5" name="Group 56"/>
          <p:cNvGraphicFramePr>
            <a:graphicFrameLocks noGrp="1"/>
          </p:cNvGraphicFramePr>
          <p:nvPr>
            <p:extLst/>
          </p:nvPr>
        </p:nvGraphicFramePr>
        <p:xfrm>
          <a:off x="3527323" y="3884723"/>
          <a:ext cx="1428750" cy="1114425"/>
        </p:xfrm>
        <a:graphic>
          <a:graphicData uri="http://schemas.openxmlformats.org/drawingml/2006/table">
            <a:tbl>
              <a:tblPr/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hot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cold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Picture 91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1498" y="3506898"/>
            <a:ext cx="731837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Group 70"/>
          <p:cNvGraphicFramePr>
            <a:graphicFrameLocks noGrp="1"/>
          </p:cNvGraphicFramePr>
          <p:nvPr>
            <p:extLst/>
          </p:nvPr>
        </p:nvGraphicFramePr>
        <p:xfrm>
          <a:off x="9748222" y="3636086"/>
          <a:ext cx="1922463" cy="1857375"/>
        </p:xfrm>
        <a:graphic>
          <a:graphicData uri="http://schemas.openxmlformats.org/drawingml/2006/table">
            <a:tbl>
              <a:tblPr/>
              <a:tblGrid>
                <a:gridCol w="1153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W</a:t>
                      </a:r>
                    </a:p>
                  </a:txBody>
                  <a:tcPr marL="91437" marR="914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P</a:t>
                      </a:r>
                    </a:p>
                  </a:txBody>
                  <a:tcPr marL="91437" marR="914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sun</a:t>
                      </a:r>
                    </a:p>
                  </a:txBody>
                  <a:tcPr marL="91437" marR="914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0.6</a:t>
                      </a:r>
                    </a:p>
                  </a:txBody>
                  <a:tcPr marL="91437" marR="914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rain</a:t>
                      </a:r>
                    </a:p>
                  </a:txBody>
                  <a:tcPr marL="91437" marR="914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0.1</a:t>
                      </a:r>
                    </a:p>
                  </a:txBody>
                  <a:tcPr marL="91437" marR="914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fog</a:t>
                      </a:r>
                    </a:p>
                  </a:txBody>
                  <a:tcPr marL="91437" marR="914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0.3</a:t>
                      </a:r>
                    </a:p>
                  </a:txBody>
                  <a:tcPr marL="91437" marR="914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meteor</a:t>
                      </a:r>
                    </a:p>
                  </a:txBody>
                  <a:tcPr marL="91437" marR="914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0.0</a:t>
                      </a:r>
                    </a:p>
                  </a:txBody>
                  <a:tcPr marL="91437" marR="914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90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6709" y="3189898"/>
            <a:ext cx="85090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999" y="3235290"/>
            <a:ext cx="2544888" cy="2382941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094" y="3352677"/>
            <a:ext cx="3211282" cy="2140854"/>
          </a:xfrm>
          <a:prstGeom prst="rect">
            <a:avLst/>
          </a:prstGeom>
        </p:spPr>
      </p:pic>
      <p:sp>
        <p:nvSpPr>
          <p:cNvPr id="29" name="Content Placeholder 2"/>
          <p:cNvSpPr txBox="1">
            <a:spLocks/>
          </p:cNvSpPr>
          <p:nvPr/>
        </p:nvSpPr>
        <p:spPr bwMode="auto">
          <a:xfrm>
            <a:off x="6399477" y="1244840"/>
            <a:ext cx="4709342" cy="1569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3200">
                <a:solidFill>
                  <a:schemeClr val="accent2"/>
                </a:solidFill>
                <a:latin typeface="Calibri" pitchFamily="34" charset="0"/>
                <a:ea typeface="+mn-ea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294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120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474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00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882" marR="0" lvl="0" indent="-342882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  <a:p>
            <a:pPr marL="342882" marR="0" lvl="0" indent="-342882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Weather: </a:t>
            </a:r>
          </a:p>
          <a:p>
            <a:pPr marL="342882" marR="0" lvl="0" indent="-342882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  <a:p>
            <a:pPr marL="342882" marR="0" lvl="0" indent="-342882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  <a:p>
            <a:pPr marL="342882" marR="0" lvl="0" indent="-342882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  <a:p>
            <a:pPr marL="342882" marR="0" lvl="0" indent="-342882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  <a:p>
            <a:pPr marL="342882" marR="0" lvl="0" indent="-342882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  <a:p>
            <a:pPr marL="1600120" marR="0" lvl="3" indent="-228589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2293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/>
          <p:cNvSpPr txBox="1">
            <a:spLocks/>
          </p:cNvSpPr>
          <p:nvPr/>
        </p:nvSpPr>
        <p:spPr bwMode="auto">
          <a:xfrm>
            <a:off x="7517598" y="1500630"/>
            <a:ext cx="4535502" cy="3137521"/>
          </a:xfrm>
          <a:prstGeom prst="rect">
            <a:avLst/>
          </a:prstGeom>
          <a:noFill/>
          <a:ln w="34925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3200">
                <a:solidFill>
                  <a:schemeClr val="accent2"/>
                </a:solidFill>
                <a:latin typeface="Calibri" pitchFamily="34" charset="0"/>
                <a:ea typeface="+mn-ea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294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120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474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00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	Shorthand notation:</a:t>
            </a:r>
          </a:p>
          <a:p>
            <a:pPr marL="342882" marR="0" lvl="0" indent="-342882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  <a:p>
            <a:pPr marL="342882" marR="0" lvl="0" indent="-342882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  <a:p>
            <a:pPr marL="342882" marR="0" lvl="0" indent="-342882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  <a:p>
            <a:pPr marL="342882" marR="0" lvl="0" indent="-342882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  <a:p>
            <a:pPr marL="342882" marR="0" lvl="0" indent="-342882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OK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if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all domain entries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are unique</a:t>
            </a:r>
          </a:p>
          <a:p>
            <a:pPr marL="342882" marR="0" lvl="0" indent="-342882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  <a:p>
            <a:pPr marL="342882" marR="0" lvl="0" indent="-342882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Probability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098" y="1304126"/>
            <a:ext cx="6882626" cy="4706149"/>
          </a:xfrm>
        </p:spPr>
        <p:txBody>
          <a:bodyPr/>
          <a:lstStyle/>
          <a:p>
            <a:r>
              <a:rPr lang="en-US" sz="2400" dirty="0" smtClean="0"/>
              <a:t>Unobserved random variables have distributions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pPr lvl="3"/>
            <a:endParaRPr lang="en-US" sz="1200" dirty="0" smtClean="0"/>
          </a:p>
          <a:p>
            <a:r>
              <a:rPr lang="en-US" sz="2400" dirty="0" smtClean="0"/>
              <a:t>A distribution is a TABLE of probabilities of values</a:t>
            </a:r>
          </a:p>
          <a:p>
            <a:pPr lvl="8"/>
            <a:endParaRPr lang="en-US" sz="1200" dirty="0" smtClean="0"/>
          </a:p>
          <a:p>
            <a:r>
              <a:rPr lang="en-US" sz="2400" dirty="0" smtClean="0"/>
              <a:t>A probability (lower case value) is a single number</a:t>
            </a:r>
          </a:p>
          <a:p>
            <a:pPr lvl="2"/>
            <a:endParaRPr lang="en-US" sz="1600" dirty="0" smtClean="0"/>
          </a:p>
          <a:p>
            <a:endParaRPr lang="en-US" sz="2400" dirty="0" smtClean="0"/>
          </a:p>
          <a:p>
            <a:r>
              <a:rPr lang="en-US" sz="2400" dirty="0" smtClean="0"/>
              <a:t>Must have:                                                 and</a:t>
            </a:r>
          </a:p>
        </p:txBody>
      </p:sp>
      <p:graphicFrame>
        <p:nvGraphicFramePr>
          <p:cNvPr id="5" name="Group 56"/>
          <p:cNvGraphicFramePr>
            <a:graphicFrameLocks noGrp="1"/>
          </p:cNvGraphicFramePr>
          <p:nvPr>
            <p:extLst/>
          </p:nvPr>
        </p:nvGraphicFramePr>
        <p:xfrm>
          <a:off x="1360963" y="2216140"/>
          <a:ext cx="1428750" cy="1114425"/>
        </p:xfrm>
        <a:graphic>
          <a:graphicData uri="http://schemas.openxmlformats.org/drawingml/2006/table">
            <a:tbl>
              <a:tblPr/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hot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cold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Picture 91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138" y="1838315"/>
            <a:ext cx="731837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Group 70"/>
          <p:cNvGraphicFramePr>
            <a:graphicFrameLocks noGrp="1"/>
          </p:cNvGraphicFramePr>
          <p:nvPr>
            <p:extLst/>
          </p:nvPr>
        </p:nvGraphicFramePr>
        <p:xfrm>
          <a:off x="3410425" y="2216140"/>
          <a:ext cx="1922463" cy="1857375"/>
        </p:xfrm>
        <a:graphic>
          <a:graphicData uri="http://schemas.openxmlformats.org/drawingml/2006/table">
            <a:tbl>
              <a:tblPr/>
              <a:tblGrid>
                <a:gridCol w="1153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W</a:t>
                      </a:r>
                    </a:p>
                  </a:txBody>
                  <a:tcPr marL="91437" marR="914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P</a:t>
                      </a:r>
                    </a:p>
                  </a:txBody>
                  <a:tcPr marL="91437" marR="914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sun</a:t>
                      </a:r>
                    </a:p>
                  </a:txBody>
                  <a:tcPr marL="91437" marR="914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0.6</a:t>
                      </a:r>
                    </a:p>
                  </a:txBody>
                  <a:tcPr marL="91437" marR="914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rain</a:t>
                      </a:r>
                    </a:p>
                  </a:txBody>
                  <a:tcPr marL="91437" marR="914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0.1</a:t>
                      </a:r>
                    </a:p>
                  </a:txBody>
                  <a:tcPr marL="91437" marR="914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fog</a:t>
                      </a:r>
                    </a:p>
                  </a:txBody>
                  <a:tcPr marL="91437" marR="914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0.3</a:t>
                      </a:r>
                    </a:p>
                  </a:txBody>
                  <a:tcPr marL="91437" marR="914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meteor</a:t>
                      </a:r>
                    </a:p>
                  </a:txBody>
                  <a:tcPr marL="91437" marR="914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0.0</a:t>
                      </a:r>
                    </a:p>
                  </a:txBody>
                  <a:tcPr marL="91437" marR="914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90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8913" y="1844665"/>
            <a:ext cx="85090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3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9033" y="5504778"/>
            <a:ext cx="285115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 descr="txp_fig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88064" y="6118003"/>
            <a:ext cx="2583980" cy="29872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 xmlns="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xmlns="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 xmlns=""/>
            </a:ext>
          </a:extLst>
        </p:spPr>
      </p:pic>
      <p:pic>
        <p:nvPicPr>
          <p:cNvPr id="10" name="Picture 9" descr="txp_fig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74588" y="6045653"/>
            <a:ext cx="2492511" cy="56715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 xmlns="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xmlns="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 xmlns=""/>
            </a:ext>
          </a:extLst>
        </p:spPr>
      </p:pic>
      <p:pic>
        <p:nvPicPr>
          <p:cNvPr id="17" name="Picture 16" descr="txp_fig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63848" y="3327456"/>
            <a:ext cx="3627379" cy="2985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 xmlns="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xmlns="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 xmlns=""/>
            </a:ext>
          </a:extLst>
        </p:spPr>
      </p:pic>
      <p:pic>
        <p:nvPicPr>
          <p:cNvPr id="18" name="Picture 17" descr="txp_fig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13387" y="2289137"/>
            <a:ext cx="3179555" cy="2985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 xmlns="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xmlns="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 xmlns=""/>
            </a:ext>
          </a:extLst>
        </p:spPr>
      </p:pic>
      <p:pic>
        <p:nvPicPr>
          <p:cNvPr id="11" name="Picture 10" descr="txp_fig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10015" y="2815765"/>
            <a:ext cx="3373612" cy="2985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 xmlns="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xmlns="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 xmlns=""/>
            </a:ext>
          </a:extLst>
        </p:spPr>
      </p:pic>
      <p:pic>
        <p:nvPicPr>
          <p:cNvPr id="13" name="Picture 12" descr="txp_fig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266830" y="3922124"/>
            <a:ext cx="328405" cy="5971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 xmlns="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xmlns="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 xmlns=""/>
            </a:ext>
          </a:extLst>
        </p:spPr>
      </p:pic>
    </p:spTree>
    <p:extLst>
      <p:ext uri="{BB962C8B-B14F-4D97-AF65-F5344CB8AC3E}">
        <p14:creationId xmlns:p14="http://schemas.microsoft.com/office/powerpoint/2010/main" val="2637931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(T)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49"/>
  <p:tag name="PICTUREFILESIZE" val="273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W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57"/>
  <p:tag name="PICTUREFILESIZE" val="349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(T)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49"/>
  <p:tag name="PICTUREFILESIZE" val="273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W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57"/>
  <p:tag name="PICTUREFILESIZE" val="349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W=rain) = 0.1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91"/>
  <p:tag name="PICTUREFILESIZE" val="827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\forall x \ \, P(X=x) \ge 0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73"/>
  <p:tag name="PICTUREFILESIZE" val="844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\sum_x P(X=x) = 1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67"/>
  <p:tag name="PICTUREFILESIZE" val="888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rain) = P(W=rain), 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43"/>
  <p:tag name="PICTUREFILESIZE" val="1194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&#10;\[&#10;P(hot) = P(T = hot),   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13"/>
  <p:tag name="PICTUREFILESIZE" val="965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&#10;\[&#10;P(cold) = P(T = cold),   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26"/>
  <p:tag name="PICTUREFILESIZE" val="1044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\ldots 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2"/>
  <p:tag name="PICTUREFILESIZE" val="314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an-berkeley-nlp-v1">
  <a:themeElements>
    <a:clrScheme name="dan-berkeley-nlp-v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an-berkeley-nlp-v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an-berkeley-nlp-v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809</Words>
  <Application>Microsoft Office PowerPoint</Application>
  <PresentationFormat>Widescreen</PresentationFormat>
  <Paragraphs>169</Paragraphs>
  <Slides>15</Slides>
  <Notes>1</Notes>
  <HiddenSlides>0</HiddenSlides>
  <MMClips>1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32" baseType="lpstr">
      <vt:lpstr>Arial</vt:lpstr>
      <vt:lpstr>Calibri</vt:lpstr>
      <vt:lpstr>Carlito</vt:lpstr>
      <vt:lpstr>Century Gothic</vt:lpstr>
      <vt:lpstr>DejaVu Sans Condensed</vt:lpstr>
      <vt:lpstr>Linux Biolinum O</vt:lpstr>
      <vt:lpstr>LM Roman 8</vt:lpstr>
      <vt:lpstr>LM Sans 10</vt:lpstr>
      <vt:lpstr>LM Sans 12</vt:lpstr>
      <vt:lpstr>LM Sans 17</vt:lpstr>
      <vt:lpstr>LM Sans 8</vt:lpstr>
      <vt:lpstr>Symbol</vt:lpstr>
      <vt:lpstr>Times New Roman</vt:lpstr>
      <vt:lpstr>Wingdings</vt:lpstr>
      <vt:lpstr>1_Office Theme</vt:lpstr>
      <vt:lpstr>dan-berkeley-nlp-v1</vt:lpstr>
      <vt:lpstr>Photo Editor Photo</vt:lpstr>
      <vt:lpstr>PowerPoint Presentation</vt:lpstr>
      <vt:lpstr> Artificial Intelligence (CS-401)  Lecture 8: Probability and Uncertainty</vt:lpstr>
      <vt:lpstr>PowerPoint Presentation</vt:lpstr>
      <vt:lpstr>Why Probability?</vt:lpstr>
      <vt:lpstr>Probability</vt:lpstr>
      <vt:lpstr>Numerical Measures of Belief</vt:lpstr>
      <vt:lpstr>Random Variables</vt:lpstr>
      <vt:lpstr>Possible World Semantics</vt:lpstr>
      <vt:lpstr>Possible World Semantics</vt:lpstr>
      <vt:lpstr>Inference in Ghostbusters</vt:lpstr>
      <vt:lpstr>Video of Demo Ghostbuster – No probability</vt:lpstr>
      <vt:lpstr>Uncertainty</vt:lpstr>
      <vt:lpstr>Random Variables</vt:lpstr>
      <vt:lpstr>Probability Distributions</vt:lpstr>
      <vt:lpstr>Probability Distributions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fast</dc:creator>
  <cp:lastModifiedBy>fast</cp:lastModifiedBy>
  <cp:revision>1</cp:revision>
  <dcterms:created xsi:type="dcterms:W3CDTF">2020-04-06T06:29:20Z</dcterms:created>
  <dcterms:modified xsi:type="dcterms:W3CDTF">2020-04-06T06:29:57Z</dcterms:modified>
</cp:coreProperties>
</file>